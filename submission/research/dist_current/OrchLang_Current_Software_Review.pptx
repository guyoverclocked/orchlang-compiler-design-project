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3d9d8fc43b48b8" /><Relationship Type="http://schemas.openxmlformats.org/officeDocument/2006/relationships/extended-properties" Target="/docProps/app.xml" Id="R480f1e9fd7304a92" /><Relationship Type="http://schemas.openxmlformats.org/officeDocument/2006/relationships/officeDocument" Target="/ppt/presentation.xml" Id="R28ef282dfc23485c" /></Relationships>
</file>

<file path=ppt/presentation.xml><?xml version="1.0" encoding="utf-8"?>
<p:presentation xmlns:p="http://schemas.openxmlformats.org/presentationml/2006/main">
  <p:sldMasterIdLst>
    <p:sldMasterId xmlns:r="http://schemas.openxmlformats.org/officeDocument/2006/relationships" id="2147483648" r:id="R9c1ef50e97c34db7"/>
  </p:sldMasterIdLst>
  <p:notesMasterIdLst>
    <p:notesMasterId xmlns:r="http://schemas.openxmlformats.org/officeDocument/2006/relationships" r:id="R387dd98d28574e3b"/>
  </p:notesMasterIdLst>
  <p:sldIdLst>
    <p:sldId xmlns:r="http://schemas.openxmlformats.org/officeDocument/2006/relationships" id="256" r:id="Rfdd6c23dc7f8458e"/>
    <p:sldId xmlns:r="http://schemas.openxmlformats.org/officeDocument/2006/relationships" id="257" r:id="R8c4c1b4d3e284f28"/>
    <p:sldId xmlns:r="http://schemas.openxmlformats.org/officeDocument/2006/relationships" id="258" r:id="R792a7b8ee98d4664"/>
    <p:sldId xmlns:r="http://schemas.openxmlformats.org/officeDocument/2006/relationships" id="259" r:id="Rba1df6fa28e84f2e"/>
    <p:sldId xmlns:r="http://schemas.openxmlformats.org/officeDocument/2006/relationships" id="260" r:id="R2b16655a5a7b4f19"/>
    <p:sldId xmlns:r="http://schemas.openxmlformats.org/officeDocument/2006/relationships" id="261" r:id="R094b504e1a694e27"/>
    <p:sldId xmlns:r="http://schemas.openxmlformats.org/officeDocument/2006/relationships" id="262" r:id="Ra77ee8b88e1246c6"/>
    <p:sldId xmlns:r="http://schemas.openxmlformats.org/officeDocument/2006/relationships" id="263" r:id="R341a3542c5b34b89"/>
    <p:sldId xmlns:r="http://schemas.openxmlformats.org/officeDocument/2006/relationships" id="264" r:id="Rad21563dab3540c1"/>
    <p:sldId xmlns:r="http://schemas.openxmlformats.org/officeDocument/2006/relationships" id="265" r:id="R52e4d246fc0549e8"/>
    <p:sldId xmlns:r="http://schemas.openxmlformats.org/officeDocument/2006/relationships" id="266" r:id="R9792c35f09644f53"/>
    <p:sldId xmlns:r="http://schemas.openxmlformats.org/officeDocument/2006/relationships" id="267" r:id="Rb867f691f30b4fa1"/>
    <p:sldId xmlns:r="http://schemas.openxmlformats.org/officeDocument/2006/relationships" id="268" r:id="R1651e8c7ff5a49fb"/>
    <p:sldId xmlns:r="http://schemas.openxmlformats.org/officeDocument/2006/relationships" id="269" r:id="Rf4a93ddd6ac7404c"/>
    <p:sldId xmlns:r="http://schemas.openxmlformats.org/officeDocument/2006/relationships" id="270" r:id="R60dcc1dc4bac406b"/>
    <p:sldId xmlns:r="http://schemas.openxmlformats.org/officeDocument/2006/relationships" id="271" r:id="R3d912fbc4aee4d98"/>
    <p:sldId xmlns:r="http://schemas.openxmlformats.org/officeDocument/2006/relationships" id="272" r:id="Reab2475289b147b6"/>
    <p:sldId xmlns:r="http://schemas.openxmlformats.org/officeDocument/2006/relationships" id="273" r:id="Ra23161edf5014da3"/>
    <p:sldId xmlns:r="http://schemas.openxmlformats.org/officeDocument/2006/relationships" id="274" r:id="Rd16bb3c42f814f35"/>
    <p:sldId xmlns:r="http://schemas.openxmlformats.org/officeDocument/2006/relationships" id="275" r:id="R5e5bd6ae834d4a4f"/>
    <p:sldId xmlns:r="http://schemas.openxmlformats.org/officeDocument/2006/relationships" id="276" r:id="R8c2c5a3745c442f9"/>
    <p:sldId xmlns:r="http://schemas.openxmlformats.org/officeDocument/2006/relationships" id="277" r:id="R568049bd5d7a4de3"/>
    <p:sldId xmlns:r="http://schemas.openxmlformats.org/officeDocument/2006/relationships" id="278" r:id="R25d8a59a185a487d"/>
    <p:sldId xmlns:r="http://schemas.openxmlformats.org/officeDocument/2006/relationships" id="279" r:id="R40e04f9412c34a8c"/>
    <p:sldId xmlns:r="http://schemas.openxmlformats.org/officeDocument/2006/relationships" id="280" r:id="Rf17764e3f5e54c8f"/>
    <p:sldId xmlns:r="http://schemas.openxmlformats.org/officeDocument/2006/relationships" id="281" r:id="R0a1973ee70d74ee3"/>
    <p:sldId xmlns:r="http://schemas.openxmlformats.org/officeDocument/2006/relationships" id="282" r:id="R809ea8c4da874358"/>
    <p:sldId xmlns:r="http://schemas.openxmlformats.org/officeDocument/2006/relationships" id="283" r:id="R04321b3f31544e6d"/>
    <p:sldId xmlns:r="http://schemas.openxmlformats.org/officeDocument/2006/relationships" id="284" r:id="R3f071672e828412e"/>
    <p:sldId xmlns:r="http://schemas.openxmlformats.org/officeDocument/2006/relationships" id="285" r:id="R2133ba6dec964b75"/>
    <p:sldId xmlns:r="http://schemas.openxmlformats.org/officeDocument/2006/relationships" id="286" r:id="Rfa2ade5b635e4b1d"/>
    <p:sldId xmlns:r="http://schemas.openxmlformats.org/officeDocument/2006/relationships" id="287" r:id="R2ee22d22c84341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717ac7fb774ae4" /><Relationship Type="http://schemas.openxmlformats.org/officeDocument/2006/relationships/slideMaster" Target="/ppt/slideMasters/slideMaster1.xml" Id="R9c1ef50e97c34db7" /><Relationship Type="http://schemas.openxmlformats.org/officeDocument/2006/relationships/notesMaster" Target="/ppt/notesMasters/notesMaster1.xml" Id="R387dd98d28574e3b" /><Relationship Type="http://schemas.openxmlformats.org/officeDocument/2006/relationships/presProps" Target="/ppt/presProps.xml" Id="R0da0f4a673c14f92" /><Relationship Type="http://schemas.openxmlformats.org/officeDocument/2006/relationships/tableStyles" Target="/ppt/tableStyles.xml" Id="Re95d2412e2be4ef6" /><Relationship Type="http://schemas.openxmlformats.org/officeDocument/2006/relationships/slide" Target="/ppt/slides/slide1.xml" Id="Rfdd6c23dc7f8458e" /><Relationship Type="http://schemas.openxmlformats.org/officeDocument/2006/relationships/slide" Target="/ppt/slides/slide2.xml" Id="R8c4c1b4d3e284f28" /><Relationship Type="http://schemas.openxmlformats.org/officeDocument/2006/relationships/slide" Target="/ppt/slides/slide3.xml" Id="R792a7b8ee98d4664" /><Relationship Type="http://schemas.openxmlformats.org/officeDocument/2006/relationships/slide" Target="/ppt/slides/slide4.xml" Id="Rba1df6fa28e84f2e" /><Relationship Type="http://schemas.openxmlformats.org/officeDocument/2006/relationships/slide" Target="/ppt/slides/slide5.xml" Id="R2b16655a5a7b4f19" /><Relationship Type="http://schemas.openxmlformats.org/officeDocument/2006/relationships/slide" Target="/ppt/slides/slide6.xml" Id="R094b504e1a694e27" /><Relationship Type="http://schemas.openxmlformats.org/officeDocument/2006/relationships/slide" Target="/ppt/slides/slide7.xml" Id="Ra77ee8b88e1246c6" /><Relationship Type="http://schemas.openxmlformats.org/officeDocument/2006/relationships/slide" Target="/ppt/slides/slide8.xml" Id="R341a3542c5b34b89" /><Relationship Type="http://schemas.openxmlformats.org/officeDocument/2006/relationships/slide" Target="/ppt/slides/slide9.xml" Id="Rad21563dab3540c1" /><Relationship Type="http://schemas.openxmlformats.org/officeDocument/2006/relationships/slide" Target="/ppt/slides/slide10.xml" Id="R52e4d246fc0549e8" /><Relationship Type="http://schemas.openxmlformats.org/officeDocument/2006/relationships/slide" Target="/ppt/slides/slide11.xml" Id="R9792c35f09644f53" /><Relationship Type="http://schemas.openxmlformats.org/officeDocument/2006/relationships/slide" Target="/ppt/slides/slide12.xml" Id="Rb867f691f30b4fa1" /><Relationship Type="http://schemas.openxmlformats.org/officeDocument/2006/relationships/slide" Target="/ppt/slides/slide13.xml" Id="R1651e8c7ff5a49fb" /><Relationship Type="http://schemas.openxmlformats.org/officeDocument/2006/relationships/slide" Target="/ppt/slides/slide14.xml" Id="Rf4a93ddd6ac7404c" /><Relationship Type="http://schemas.openxmlformats.org/officeDocument/2006/relationships/slide" Target="/ppt/slides/slide15.xml" Id="R60dcc1dc4bac406b" /><Relationship Type="http://schemas.openxmlformats.org/officeDocument/2006/relationships/slide" Target="/ppt/slides/slide16.xml" Id="R3d912fbc4aee4d98" /><Relationship Type="http://schemas.openxmlformats.org/officeDocument/2006/relationships/slide" Target="/ppt/slides/slide17.xml" Id="Reab2475289b147b6" /><Relationship Type="http://schemas.openxmlformats.org/officeDocument/2006/relationships/slide" Target="/ppt/slides/slide18.xml" Id="Ra23161edf5014da3" /><Relationship Type="http://schemas.openxmlformats.org/officeDocument/2006/relationships/slide" Target="/ppt/slides/slide19.xml" Id="Rd16bb3c42f814f35" /><Relationship Type="http://schemas.openxmlformats.org/officeDocument/2006/relationships/slide" Target="/ppt/slides/slide20.xml" Id="R5e5bd6ae834d4a4f" /><Relationship Type="http://schemas.openxmlformats.org/officeDocument/2006/relationships/slide" Target="/ppt/slides/slide21.xml" Id="R8c2c5a3745c442f9" /><Relationship Type="http://schemas.openxmlformats.org/officeDocument/2006/relationships/slide" Target="/ppt/slides/slide22.xml" Id="R568049bd5d7a4de3" /><Relationship Type="http://schemas.openxmlformats.org/officeDocument/2006/relationships/slide" Target="/ppt/slides/slide23.xml" Id="R25d8a59a185a487d" /><Relationship Type="http://schemas.openxmlformats.org/officeDocument/2006/relationships/slide" Target="/ppt/slides/slide24.xml" Id="R40e04f9412c34a8c" /><Relationship Type="http://schemas.openxmlformats.org/officeDocument/2006/relationships/slide" Target="/ppt/slides/slide25.xml" Id="Rf17764e3f5e54c8f" /><Relationship Type="http://schemas.openxmlformats.org/officeDocument/2006/relationships/slide" Target="/ppt/slides/slide26.xml" Id="R0a1973ee70d74ee3" /><Relationship Type="http://schemas.openxmlformats.org/officeDocument/2006/relationships/slide" Target="/ppt/slides/slide27.xml" Id="R809ea8c4da874358" /><Relationship Type="http://schemas.openxmlformats.org/officeDocument/2006/relationships/slide" Target="/ppt/slides/slide28.xml" Id="R04321b3f31544e6d" /><Relationship Type="http://schemas.openxmlformats.org/officeDocument/2006/relationships/slide" Target="/ppt/slides/slide29.xml" Id="R3f071672e828412e" /><Relationship Type="http://schemas.openxmlformats.org/officeDocument/2006/relationships/slide" Target="/ppt/slides/slide30.xml" Id="R2133ba6dec964b75" /><Relationship Type="http://schemas.openxmlformats.org/officeDocument/2006/relationships/slide" Target="/ppt/slides/slide31.xml" Id="Rfa2ade5b635e4b1d" /><Relationship Type="http://schemas.openxmlformats.org/officeDocument/2006/relationships/slide" Target="/ppt/slides/slide32.xml" Id="R2ee22d22c84341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c50afdaae64c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20b5cf19554131" /><Relationship Type="http://schemas.openxmlformats.org/officeDocument/2006/relationships/notesMaster" Target="/ppt/notesMasters/notesMaster1.xml" Id="Rb805008caeb94e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7d5d6931a44fc4" /><Relationship Type="http://schemas.openxmlformats.org/officeDocument/2006/relationships/notesMaster" Target="/ppt/notesMasters/notesMaster1.xml" Id="Rf706d42edb9440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c02bd532284fd2" /><Relationship Type="http://schemas.openxmlformats.org/officeDocument/2006/relationships/notesMaster" Target="/ppt/notesMasters/notesMaster1.xml" Id="Rd49a851c35024f6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e6869719e2e4547" /><Relationship Type="http://schemas.openxmlformats.org/officeDocument/2006/relationships/notesMaster" Target="/ppt/notesMasters/notesMaster1.xml" Id="Rca239dd654974c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c8037060aa4f22" /><Relationship Type="http://schemas.openxmlformats.org/officeDocument/2006/relationships/notesMaster" Target="/ppt/notesMasters/notesMaster1.xml" Id="Rd33e252f55d648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4ed08b25584a57" /><Relationship Type="http://schemas.openxmlformats.org/officeDocument/2006/relationships/notesMaster" Target="/ppt/notesMasters/notesMaster1.xml" Id="R01997f126e4f42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2d4272e466426d" /><Relationship Type="http://schemas.openxmlformats.org/officeDocument/2006/relationships/notesMaster" Target="/ppt/notesMasters/notesMaster1.xml" Id="Ref9198d5818441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c267c5f3ef4bd6" /><Relationship Type="http://schemas.openxmlformats.org/officeDocument/2006/relationships/notesMaster" Target="/ppt/notesMasters/notesMaster1.xml" Id="R784be9e8c44b4c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22ea257edf4678" /><Relationship Type="http://schemas.openxmlformats.org/officeDocument/2006/relationships/notesMaster" Target="/ppt/notesMasters/notesMaster1.xml" Id="R74639b652c0c42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0fd7534a8e4636" /><Relationship Type="http://schemas.openxmlformats.org/officeDocument/2006/relationships/notesMaster" Target="/ppt/notesMasters/notesMaster1.xml" Id="R79aac6e79eaa490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2d19304d73948f1" /><Relationship Type="http://schemas.openxmlformats.org/officeDocument/2006/relationships/notesMaster" Target="/ppt/notesMasters/notesMaster1.xml" Id="Rc4e54e39de70435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2dc4dd4f6841ae" /><Relationship Type="http://schemas.openxmlformats.org/officeDocument/2006/relationships/notesMaster" Target="/ppt/notesMasters/notesMaster1.xml" Id="Rcc4367f581d0435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0c20702d864485f" /><Relationship Type="http://schemas.openxmlformats.org/officeDocument/2006/relationships/notesMaster" Target="/ppt/notesMasters/notesMaster1.xml" Id="R3f753c3558de48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1fadf43d62e4614" /><Relationship Type="http://schemas.openxmlformats.org/officeDocument/2006/relationships/notesMaster" Target="/ppt/notesMasters/notesMaster1.xml" Id="R6bf20c5872c44ef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d9c4a8c95d547ba" /><Relationship Type="http://schemas.openxmlformats.org/officeDocument/2006/relationships/notesMaster" Target="/ppt/notesMasters/notesMaster1.xml" Id="R73e1fda80d2a4d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1754f1e9c744ea0" /><Relationship Type="http://schemas.openxmlformats.org/officeDocument/2006/relationships/notesMaster" Target="/ppt/notesMasters/notesMaster1.xml" Id="Re7c8b3afb569474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f55911f07d4f16" /><Relationship Type="http://schemas.openxmlformats.org/officeDocument/2006/relationships/notesMaster" Target="/ppt/notesMasters/notesMaster1.xml" Id="Rebf33c2c83dc458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6b203f2ee94824" /><Relationship Type="http://schemas.openxmlformats.org/officeDocument/2006/relationships/notesMaster" Target="/ppt/notesMasters/notesMaster1.xml" Id="R83df27aaeebc40d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8559d2ac89d4da5" /><Relationship Type="http://schemas.openxmlformats.org/officeDocument/2006/relationships/notesMaster" Target="/ppt/notesMasters/notesMaster1.xml" Id="R610acfa0c05143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8dca1eb4d643a7" /><Relationship Type="http://schemas.openxmlformats.org/officeDocument/2006/relationships/notesMaster" Target="/ppt/notesMasters/notesMaster1.xml" Id="R2bc92dff2f0543f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0aa0d40735142b4" /><Relationship Type="http://schemas.openxmlformats.org/officeDocument/2006/relationships/notesMaster" Target="/ppt/notesMasters/notesMaster1.xml" Id="R1c60d27d79814c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a8254d38cd440e" /><Relationship Type="http://schemas.openxmlformats.org/officeDocument/2006/relationships/notesMaster" Target="/ppt/notesMasters/notesMaster1.xml" Id="R7f6cb986e6444a4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fc0c361e2e435c" /><Relationship Type="http://schemas.openxmlformats.org/officeDocument/2006/relationships/notesMaster" Target="/ppt/notesMasters/notesMaster1.xml" Id="R43cf5c9745dd4f5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a27ddde41a04a8b" /><Relationship Type="http://schemas.openxmlformats.org/officeDocument/2006/relationships/notesMaster" Target="/ppt/notesMasters/notesMaster1.xml" Id="Ra1b1995564c64a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506232146943de" /><Relationship Type="http://schemas.openxmlformats.org/officeDocument/2006/relationships/notesMaster" Target="/ppt/notesMasters/notesMaster1.xml" Id="R4f49e65d73b84a2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5f6e4c35b8640ef" /><Relationship Type="http://schemas.openxmlformats.org/officeDocument/2006/relationships/notesMaster" Target="/ppt/notesMasters/notesMaster1.xml" Id="Rf735217c93cf433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aaa29b2c40a4843" /><Relationship Type="http://schemas.openxmlformats.org/officeDocument/2006/relationships/notesMaster" Target="/ppt/notesMasters/notesMaster1.xml" Id="Rfc68329f278e4df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d8cac04c93d454b" /><Relationship Type="http://schemas.openxmlformats.org/officeDocument/2006/relationships/notesMaster" Target="/ppt/notesMasters/notesMaster1.xml" Id="Rcb7fb75312ec419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ae91c09e68d450b" /><Relationship Type="http://schemas.openxmlformats.org/officeDocument/2006/relationships/notesMaster" Target="/ppt/notesMasters/notesMaster1.xml" Id="R478a3728afb04dc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e1fe72fae8488d" /><Relationship Type="http://schemas.openxmlformats.org/officeDocument/2006/relationships/notesMaster" Target="/ppt/notesMasters/notesMaster1.xml" Id="R9e1b92f15b844dc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f3a952cb08b4239" /><Relationship Type="http://schemas.openxmlformats.org/officeDocument/2006/relationships/notesMaster" Target="/ppt/notesMasters/notesMaster1.xml" Id="R0b61e42036764f2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9c4a6bd497140e1" /><Relationship Type="http://schemas.openxmlformats.org/officeDocument/2006/relationships/notesMaster" Target="/ppt/notesMasters/notesMaster1.xml" Id="Ra46bfafedc2b43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observation problem. The deck covers a bounded C++ compiler, a separate finite-control JSON graph checker, source-linked runtime studies, finite-kernel channel analysis, sufficient bisimulation, and exact finite-word trace equivalence. Their inputs and guarantees differ.</a:t>
            </a:r>
          </a:p>
          <a:p xmlns:a="http://schemas.openxmlformats.org/drawingml/2006/main">
            <a:r>
              <a:t/>
            </a:r>
          </a:p>
          <a:p xmlns:a="http://schemas.openxmlformats.org/drawingml/2006/main">
            <a:r>
              <a:t>Sources: docs/PAPER.md; docs/FORMAL_CONTRACT.md; docs/PROBABILISTIC_CHANNELS.md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`same_mean_distinct_laws` graph has one call on each secret branch. Template A returns output usage 1 or 3 with probability 1/2 each; template B returns 2 with probability 1. Both templates have one byte and the input usage is 1. Under the uniform prior, this supplied finite kernel yields pairwise TV 1, Bayes vulnerability 1, prior vulnerability 1/2, and a mutual-information display of 1 bit. The logarithm display is approximate; the exact channel quantities are in the report. This describes a hand-authored finite kernel, not a measured provider distribution.</a:t>
            </a:r>
          </a:p>
          <a:p xmlns:a="http://schemas.openxmlformats.org/drawingml/2006/main">
            <a:r>
              <a:t/>
            </a:r>
          </a:p>
          <a:p xmlns:a="http://schemas.openxmlformats.org/drawingml/2006/main">
            <a:r>
              <a:t>Sources: examples/channels/same_mean_distinct_laws.graph.json; examples/channels/same_mean_distinct_laws.kernel.json; bench/results/probabilistic_channels/same_mean_distinct_laws.h1.aggregate.json; docs/PROBABILISTIC_CHANNELS.md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`aggregate_hides_order` at H=2, branch A emits output usage (1,3) and branch B emits (3,1). Both have two calls, input total 2, output total 4, and stop. The aggregate usage distributions have TV 0. The ordered trace distributions have TV 1. This is an exact result under this authored finite kernel and uniform two-scenario prior. It illustrates that the observer definition changes the conclusion.</a:t>
            </a:r>
          </a:p>
          <a:p xmlns:a="http://schemas.openxmlformats.org/drawingml/2006/main">
            <a:r>
              <a:t/>
            </a:r>
          </a:p>
          <a:p xmlns:a="http://schemas.openxmlformats.org/drawingml/2006/main">
            <a:r>
              <a:t>Sources: examples/channels/aggregate_hides_order.graph.json; examples/channels/aggregate_hides_order.kernel.json; bench/results/probabilistic_channels/aggregate_hides_order.h2.aggregate.json; bench/results/probabilistic_channels/aggregate_hides_order.h2.trace.json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unary cost analysis bounds one run under declared accounting premises. A relational check compares two executions under equal public inputs and a shared outcome relation. A finite quantitative-channel analysis computes observation laws for explicit scenarios and kernels. Keep the methods, evidence and assumptions separate.</a:t>
            </a:r>
          </a:p>
          <a:p xmlns:a="http://schemas.openxmlformats.org/drawingml/2006/main">
            <a:r>
              <a:t/>
            </a:r>
          </a:p>
          <a:p xmlns:a="http://schemas.openxmlformats.org/drawingml/2006/main">
            <a:r>
              <a:t>Sources: docs/PAPER.md §§3–5; docs/FORMAL_CONTRACT.md; docs/PROBABILISTIC_CHANNELS.md; Ngo et al., IEEE S&amp;P 2017 https://doi.org/10.1109/SP.2017.53; Çiçek et al., POPL 2017 https://doi.org/10.1145/3009837.3009858; Mandel et al., ICML 2026 https://proceedings.mlr.press/v306/mandel26a.html; Smith, QIF foundations https://doi.org/10.1007/978-3-642-00596-1_21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 compiler analyzes bounded OrchLang source. The Python graph producer checks strict versioned JSON with finite control and productive call cycles. A source bridge exports a narrow OrchLang subset, while a separate Python AST frontend extracts a restricted LangGraph `StateGraph` source subset. The finite-kernel path contains exact channel enumeration, a sufficient bisimulation check, and exact row-span trace equivalence. The runtime adapter executes tested graphs using pinned LangGraph 1.2.14 and an offline response session. These pieces do not establish a verified end-to-end deployment pipeline.</a:t>
            </a:r>
          </a:p>
          <a:p xmlns:a="http://schemas.openxmlformats.org/drawingml/2006/main">
            <a:r>
              <a:t/>
            </a:r>
          </a:p>
          <a:p xmlns:a="http://schemas.openxmlformats.org/drawingml/2006/main">
            <a:r>
              <a:t>Sources: docs/PAPER.md §§2–5; docs/SOURCE_GRAPH_BRIDGE.md; integrations/langgraph/source_frontend/README.md; docs/PROBABILISTIC_CHANNELS.md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rejected OrchLang example declares two public text inputs with the same maximum. A secret selects which value reaches the same model call. The worst-case input and output envelope can be equal while realized input usage differs. The secret is not itself a prompt argument. This motivates a relation across executions rather than a one-run ceiling alone.</a:t>
            </a:r>
          </a:p>
          <a:p xmlns:a="http://schemas.openxmlformats.org/drawingml/2006/main">
            <a:r>
              <a:t/>
            </a:r>
          </a:p>
          <a:p xmlns:a="http://schemas.openxmlformats.org/drawingml/2006/main">
            <a:r>
              <a:t>Sources: examples/research/rejected/equal_bounds_different_inputs.orch; docs/PAPER.md §1; docs/LANGUAGE_SPEC.md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call, the C++ relational checker compares the resolved provider/model/cap/price contract, exact decoded template bytes, ordered typed literals and resolved values. Public guards normalize their predicate and related subject. A later call can use aligned earlier results. In the final source-derived projection study, 15 of 15 balanced patterns pass, versus 8 of 15 under the frozen preceding compiler. The 15 examples are partial projections from three frameworks with authored bounded variants, not complete framework ports. The check remains sufficient and incomplete.</a:t>
            </a:r>
          </a:p>
          <a:p xmlns:a="http://schemas.openxmlformats.org/drawingml/2006/main">
            <a:r>
              <a:t/>
            </a:r>
          </a:p>
          <a:p xmlns:a="http://schemas.openxmlformats.org/drawingml/2006/main">
            <a:r>
              <a:t>Sources: src/relational.cpp; include/symbol_table.hpp; bench/results/sourced.json; bench/sourced/manifest.json; docs/PAPER.md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work item is `(pcL,pcR,R)`. Public inputs with the same declared identity seed R. Matched calls compare full modeled request descriptors. Under shared Ω, their result registers can be related. The relation is bookkeeping for the values justified equal; it is not general value-flow taint.</a:t>
            </a:r>
          </a:p>
          <a:p xmlns:a="http://schemas.openxmlformats.org/drawingml/2006/main">
            <a:r>
              <a:t/>
            </a:r>
          </a:p>
          <a:p xmlns:a="http://schemas.openxmlformats.org/drawingml/2006/main">
            <a:r>
              <a:t>Sources: audit/orchgraph.py; docs/CYCLIC_METHOD_REVIEW.md; docs/CYCLIC_WORKFLOWS.md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product aligns silent control movement, synchronizes matching public tests over related values, universally explores all left/right secret successors, matches exact call contracts/templates/ordered atoms, and requires stop on both sides. A mismatch rejects. Product caps do not produce acceptance.</a:t>
            </a:r>
          </a:p>
          <a:p xmlns:a="http://schemas.openxmlformats.org/drawingml/2006/main">
            <a:r>
              <a:t/>
            </a:r>
          </a:p>
          <a:p xmlns:a="http://schemas.openxmlformats.org/drawingml/2006/main">
            <a:r>
              <a:t>Sources: audit/orchgraph.py; audit/test_orchgraph.py;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`unbounded_productive_cycle` fixture. The product closure revisits a control pair with the same justified register relation after matched calls. Under the declared shared complete-outcome oracle, this supports equality of every finite usage-event prefix. It does not establish that a run terminates or has a finite total-token, price, or call-count bound.</a:t>
            </a:r>
          </a:p>
          <a:p xmlns:a="http://schemas.openxmlformats.org/drawingml/2006/main">
            <a:r>
              <a:t/>
            </a:r>
          </a:p>
          <a:p xmlns:a="http://schemas.openxmlformats.org/drawingml/2006/main">
            <a:r>
              <a:t>Sources: examples/graphs/accepted/unbounded_productive_cycle.json; audit/orchgraph.py; docs/CYCLIC_METHOD_REVIEW.md; docs/FORMAL_CONTRACT.md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rejected graph, the first pair is `a↔x`. A subsequent call overwrites `a` and creates `y`, so the current relation is `a↔y`; it no longer contains `a↔x`. A later request using current `a` versus stale `x` cannot be matched. Show the single finite witness only as an example of the rejection behavior.</a:t>
            </a:r>
          </a:p>
          <a:p xmlns:a="http://schemas.openxmlformats.org/drawingml/2006/main">
            <a:r>
              <a:t/>
            </a:r>
          </a:p>
          <a:p xmlns:a="http://schemas.openxmlformats.org/drawingml/2006/main">
            <a:r>
              <a:t>Sources: examples/graphs/rejected/overwritten_result_relation.json; audit/orchgraph.py; bench/results/graphs.json;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independent graph replayer strict-parses and normalizes the source, binds raw graph bytes, rebuilds reachable graph states, and reconstructs product nodes, relations, local rules and successor closure. It rejects omissions, extras, malformed data and cap violations. This is independent implementation of certificate replay; it does not mechanize the relational theorem or prove graph-to-source fidelity.</a:t>
            </a:r>
          </a:p>
          <a:p xmlns:a="http://schemas.openxmlformats.org/drawingml/2006/main">
            <a:r>
              <a:t/>
            </a:r>
          </a:p>
          <a:p xmlns:a="http://schemas.openxmlformats.org/drawingml/2006/main">
            <a:r>
              <a:t>Sources: audit/replay_graph_certificate.py; audit/test_graph_replay.py;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source-to-graph bridge attempted five research examples and fifteen source-derived bounded projections. All twenty passed the C++ compiler gate. Seventeen exported; three retry examples fell outside graph version one. Across exported graphs, the finite offline probe compared 720 source/graph execution pairs and 360 secret-trace pairs with zero difference. The adapter has its own source parser and is unverified; provenance hashes detect stale artifacts but do not establish translation correctness.</a:t>
            </a:r>
          </a:p>
          <a:p xmlns:a="http://schemas.openxmlformats.org/drawingml/2006/main">
            <a:r>
              <a:t/>
            </a:r>
          </a:p>
          <a:p xmlns:a="http://schemas.openxmlformats.org/drawingml/2006/main">
            <a:r>
              <a:t>Sources: docs/SOURCE_GRAPH_BRIDGE.md; bench/results/source_graphs/evaluation.json; bench/results/source_graphs/corpus_mapping.json; audit/source_to_graph.py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source-study report has 36 source executions. Thirty accepted trace comparisons and six expected-rejection value probes matched. The report covers authored restricted StateGraph programs, with fifteen secret assignment pairs, twelve equal traces and three intentional differences in a rejected secret-template case. The frontend test count is taken from the final reproduction manifest. These figures do not validate arbitrary Python source.</a:t>
            </a:r>
          </a:p>
          <a:p xmlns:a="http://schemas.openxmlformats.org/drawingml/2006/main">
            <a:r>
              <a:t/>
            </a:r>
          </a:p>
          <a:p xmlns:a="http://schemas.openxmlformats.org/drawingml/2006/main">
            <a:r>
              <a:t>Sources: integrations/langgraph/source_frontend/README.md; integrations/langgraph/source_frontend/study.py; bench/results/langgraph_source_study.json; audit/final/manifest.json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integration report pins LangGraph 1.2.14. It runs six authored graph fixtures and seventeen source-bridge exports, totaling 888 offline executions. The harness compared 4,528 call-event pairs and recorded zero execution differences. It reports 864 stopped executions and 24 truncated executions at the call horizon. The backend uses a deterministic offline response session; these results are not live provider behavior or a termination proof.</a:t>
            </a:r>
          </a:p>
          <a:p xmlns:a="http://schemas.openxmlformats.org/drawingml/2006/main">
            <a:r>
              <a:t/>
            </a:r>
          </a:p>
          <a:p xmlns:a="http://schemas.openxmlformats.org/drawingml/2006/main">
            <a:r>
              <a:t>Sources: integrations/langgraph/requirements.lock; integrations/langgraph/backend.py; integrations/langgraph/benchmark.py; bench/results/langgraph_integration.json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final `relational_stress.json` values loaded by the strict evidence builder. The study uses generated AST programs and a separately written Python full-text reference. Its reference does not import C++ runtime facts. Of the finite rejection grid, any mutation without a witness remains unknown. These cases are synthetic; the byte token model and offline hash oracle do not imply provider billing accuracy.</a:t>
            </a:r>
          </a:p>
          <a:p xmlns:a="http://schemas.openxmlformats.org/drawingml/2006/main">
            <a:r>
              <a:t/>
            </a:r>
          </a:p>
          <a:p xmlns:a="http://schemas.openxmlformats.org/drawingml/2006/main">
            <a:r>
              <a:t>Sources: docs/RELATIONAL_STRESS.md; audit/relational_stress.py; bench/results/relational_stress.json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analyzer takes a graph, finite rational outcome kernels, exact positive priors over explicit secret assignments, a fixed public store, one of two usage observers and horizon 1–32. Kernel matching is ordered and conditions on the declared request fields, call ordinal and retained history. It analyzes a finite model; it does not fit a provider distribution. Only successful call outcomes are represented.</a:t>
            </a:r>
          </a:p>
          <a:p xmlns:a="http://schemas.openxmlformats.org/drawingml/2006/main">
            <a:r>
              <a:t/>
            </a:r>
          </a:p>
          <a:p xmlns:a="http://schemas.openxmlformats.org/drawingml/2006/main">
            <a:r>
              <a:t>Sources: audit/probabilistic_channels.py; audit/probabilistic_reference.py; docs/PROBABILISTIC_CHANNELS.md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DP state includes control position, initialized values, per-contract ordinals, usage, the selected ordered trace, retained history and resource accounting. At each call it multiplies exact rational mass by each finite outcome probability. It merges only identical complete states. The no-merge DFS computes path measures independently. This is an implementation-level induction argument plus differential tests, not mechanized verification. Resource limits can return unknown.</a:t>
            </a:r>
          </a:p>
          <a:p xmlns:a="http://schemas.openxmlformats.org/drawingml/2006/main">
            <a:r>
              <a:t/>
            </a:r>
          </a:p>
          <a:p xmlns:a="http://schemas.openxmlformats.org/drawingml/2006/main">
            <a:r>
              <a:t>Sources: audit/probabilistic_channels.py; audit/probabilistic_reference.py; audit/replay_probabilistic_report.py; docs/PROBABILISTIC_CHANNELS.md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stochastic checker builds a finite transducer for one fixed public store and explicit secret scenarios. It retains control, values, finite rational-kernel history, and contract ordinals saturated at 33 because kernel ordinal/history literals stop at 32. Partition refinement checks visible call labels and exact probability mass into successor blocks. If initial states share a final block, ordered success-only usage laws agree at every finite call horizon. Different blocks are inconclusive, not a leakage witness. The next exact trace-law checker can resolve some splits. The method follows established probabilistic bisimulation, not a new bisimulation theory.</a:t>
            </a:r>
          </a:p>
          <a:p xmlns:a="http://schemas.openxmlformats.org/drawingml/2006/main">
            <a:r>
              <a:t/>
            </a:r>
          </a:p>
          <a:p xmlns:a="http://schemas.openxmlformats.org/drawingml/2006/main">
            <a:r>
              <a:t>Sources: audit/stochastic_bisimulation.py; submission/research/manuscript/OrchLang_SCP_OSP.tex §Software description; docs/STOCHASTIC_BISIMULATION.md; Larsen &amp; Skou, probabilistic bisimulation (1991) https://doi.org/10.1016/0890-5401(91)90030-6; Kamaleson et al., finite-horizon partition refinement (2016) https://doi.org/10.1007/978-3-319-32582-8_10; docs/PRIOR_ART_MATRIX.md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frozen report covers 11 authored fixtures: five prove equal laws, six are inconclusive, and all 11 normal certificates replay independently. For the five proved cases, 60 exact DP checks across six horizons and two observers compared 120 unit-mass scenario histograms. Eleven fresh state-cap probes returned UNKNOWN with fresh UNKNOWN attestations. Producer and replayer have 17 and 12 tests. These are finite explicit stores and supplied kernels, with bounded history and ordinal saturation. They omit cumulative runtime resource monitors, provider-kernel validity, termination probabilities and infinite-run laws. Tests support implementation behavior but do not mechanize a soundness proof.</a:t>
            </a:r>
          </a:p>
          <a:p xmlns:a="http://schemas.openxmlformats.org/drawingml/2006/main">
            <a:r>
              <a:t/>
            </a:r>
          </a:p>
          <a:p xmlns:a="http://schemas.openxmlformats.org/drawingml/2006/main">
            <a:r>
              <a:t>Sources: audit/stochastic_bisimulation.py; audit/replay_stochastic_certificate.py; audit/test_stochastic_bisimulation.py; audit/test_stochastic_replay.py; bench/results/stochastic_bisimulation.json; audit/final/manifest.json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authored `trace_equal_not_bisimilar` fixture is the concrete limitation that motivates the extension. One secret branch uses the first call's red/blue response in its next request. The other uses the literal `pink`, whose next-call kernel independently emits output usage 1 or 3 with probability one half. Both first calls emit usage 1. The two ordered usage laws therefore assign probability one half to output-count words (1,1) and (1,3), so the H=2 ordered TV is zero. The strong-bisimulation checker splits the successor states and reports inconclusive; that status is a fresh analyzer comparison, not independently replayed in this trace-equivalence study. The exact checker closes the reachable rational row span under each observed event label and checks both STOP and still-live output columns. Zero dot products for every basis row prove equality of every finite observed word for this finite supplied model. A nonzero result supplies a finite distinguishing word; a cap returns UNKNOWN without a partial equality or witness claim. An independent replayer reconstructs the finite semantic closure and checks the exact span certificate. Tzeng's probabilistic-automata equivalence and APEX predate this application; the contribution is a specialization to the finite success-only LLM usage observer and replayable artifact, not a new general equivalence algorithm. No provider distribution, termination or cumulative-billing claim follows.</a:t>
            </a:r>
          </a:p>
          <a:p xmlns:a="http://schemas.openxmlformats.org/drawingml/2006/main">
            <a:r>
              <a:t/>
            </a:r>
          </a:p>
          <a:p xmlns:a="http://schemas.openxmlformats.org/drawingml/2006/main">
            <a:r>
              <a:t>Sources: examples/channels/trace_equal_not_bisimilar.graph.json; examples/channels/trace_equal_not_bisimilar.kernel.json; audit/trace_equivalence.py; audit/replay_trace_equivalence.py; audit/evaluate_trace_equivalence.py; bench/results/trace_equivalence.json; docs/TRACE_EQUIVALENCE.md; research/trace_equivalence_primary_sources.md; Tzeng, SIAM J. Comput. 1992 https://doi.org/10.1137/0221017; Kiefer et al., CAV 2011 https://doi.org/10.1007/978-3-642-22110-1_42; APEX, CAV 2012 https://doi.org/10.1007/978-3-642-31424-7_51; Kiefer et al., LMCS 2013 https://doi.org/10.2168/LMCS-9(1:8)2013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each row accurately. Resource-aware IFC and RelCost address resource behavior across executions. PPDL analyzes uncertainty in multi-call LLM/tool flows. Quantitative information flow supplies standard channel quantities. Tzeng's probabilistic-automata algorithm, weighted-automata equivalence, APEX and trace-probability work establish the general finite-word equivalence method. AgentFlow and Agentproof preprints include static workflow checks. Dickerson's author-reported 2026 Petri-net note covers unary cumulative LLM workflow costs and is not peer reviewed. The applied delta is a specific success-only LLM usage alphabet and a replayable exact certificate pipeline. No broad novelty claim follows from the table.</a:t>
            </a:r>
          </a:p>
          <a:p xmlns:a="http://schemas.openxmlformats.org/drawingml/2006/main">
            <a:r>
              <a:t/>
            </a:r>
          </a:p>
          <a:p xmlns:a="http://schemas.openxmlformats.org/drawingml/2006/main">
            <a:r>
              <a:t>Sources: docs/PRIOR_ART_MATRIX.md; submission/research/current_review_sources.md; research/trace_equivalence_primary_sources.md; resource-aware IFC https://doi.org/10.1109/SP.2017.53; RelCost https://doi.org/10.1145/3009837.3009858; PPDL https://proceedings.mlr.press/v306/mandel26a.html; QIF https://doi.org/10.1007/978-3-642-00596-1_21; Tzeng https://doi.org/10.1137/0221017; APEX https://doi.org/10.1007/978-3-642-31424-7_51; Kiefer et al. https://doi.org/10.2168/LMCS-9(1:8)2013; Fijalkow et al. https://doi.org/10.23638/LMCS-16(2:10)2020; Larsen &amp; Skou https://doi.org/10.1016/0890-5401(91)90030-6; Agentproof https://arxiv.org/abs/2603.20356; AgentFlow https://arxiv.org/abs/2608.22868; Dickerson https://loom.technology/research/bounded-llm-cost/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conditional premise. Runs share public-input identity. Matched events use the same resolved contract and call index, exact modeled request, and relevant history under Ω. Input usage follows the declared additive byte-divisor model; output usage respects declared caps. Real deployments need to include every relevant serialization field and hidden state such as provider, account, cache and routing behavior. The prototype does not establish those conditions for a provider.</a:t>
            </a:r>
          </a:p>
          <a:p xmlns:a="http://schemas.openxmlformats.org/drawingml/2006/main">
            <a:r>
              <a:t/>
            </a:r>
          </a:p>
          <a:p xmlns:a="http://schemas.openxmlformats.org/drawingml/2006/main">
            <a:r>
              <a:t>Sources: docs/FORMAL_CONTRACT.md; docs/PAPER.md §3; docs/PROBABILISTIC_CHANNELS.md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repository map and current manifest-bound evidence. The C++ compiler has its regression suite; the graph producer, source bridge, LangGraph integration and finite-kernel analyzers have separate test and evaluation reports. Independent replayers inspect cyclic product, stable-partition and exact trace-span certificates. MIT licensing and reproducibility commands are present. This evidence supports inspection, but does not prove every component or imply a venue decision. Do not show any numeric score unless a final independent assessment has been frozen by the parent.</a:t>
            </a:r>
          </a:p>
          <a:p xmlns:a="http://schemas.openxmlformats.org/drawingml/2006/main">
            <a:r>
              <a:t/>
            </a:r>
          </a:p>
          <a:p xmlns:a="http://schemas.openxmlformats.org/drawingml/2006/main">
            <a:r>
              <a:t>Sources: audit/final/manifest.json; docs/REPRODUCIBILITY.md; docs/TRACE_EQUIVALENCE.md; LICENSE; CITATION.cff; docs/SCP_AUTHOR_REQUIREMENTS.md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main talk by naming the results separately. The bounded compiler checks a sufficient request relation on finite syntax. The graph product extends prefix reasoning to a declared finite-control model with productive cycles and independent certificate replay. Finite-kernel tools compute exact channels, prove some all-horizon equalities by sufficient bisimulation, and resolve a concrete bisimulation split with exact row-span trace equivalence. The source and runtime studies add finite offline evidence. Invite questions; the final slide is the live demonstration.</a:t>
            </a:r>
          </a:p>
          <a:p xmlns:a="http://schemas.openxmlformats.org/drawingml/2006/main">
            <a:r>
              <a:t/>
            </a:r>
          </a:p>
          <a:p xmlns:a="http://schemas.openxmlformats.org/drawingml/2006/main">
            <a:r>
              <a:t>Sources: docs/PAPER.md; docs/PROBABILISTIC_CHANNELS.md; docs/TRACE_EQUIVALENCE.md; docs/PUBLICATION_READINESS.md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formal contract defines the event and observers. The static cyclic guarantee is pathwise under Ω. Finite channel analysis uses explicit probabilities. Strong bisimulation proves a sufficient equality; exact row-span equivalence checks every finite usage word by comparing stopped and still-live mass. A stochastic-kernel corollary follows from identity coupling when conditional kernels agree; this is standard coupling reasoning, not a provider theorem.</a:t>
            </a:r>
          </a:p>
          <a:p xmlns:a="http://schemas.openxmlformats.org/drawingml/2006/main">
            <a:r>
              <a:t/>
            </a:r>
          </a:p>
          <a:p xmlns:a="http://schemas.openxmlformats.org/drawingml/2006/main">
            <a:r>
              <a:t>Sources: docs/FORMAL_CONTRACT.md; docs/PAPER.md §3; docs/PROBABILISTIC_CHANNELS.md; docs/CYCLIC_METHOD_REVIEW.md; audit/trace_equivalence.py; audit/replay_trace_equivalence.py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JSON schema is independent from the C++ grammar. Productive call cycles can close; reachable call-free cycles fail validation. Certificate replay reconstructs closure under versioned rules and binds the graph bytes. It does not verify external source fidelity or mechanize soundness.</a:t>
            </a:r>
          </a:p>
          <a:p xmlns:a="http://schemas.openxmlformats.org/drawingml/2006/main">
            <a:r>
              <a:t/>
            </a:r>
          </a:p>
          <a:p xmlns:a="http://schemas.openxmlformats.org/drawingml/2006/main">
            <a:r>
              <a:t>Sources: audit/orchgraph.py; audit/replay_graph_certificate.py; docs/CYCLIC_WORKFLOWS.md; docs/CYCLIC_METHOD_REVIEW.md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bridge rejects tools, effects, releases, retries, unsupported syntax and secret prompt values. The Python AST front end accepts a restricted static subset and rejects dynamic control, reducers, fan-out and effects. Both have finite evidence for authored examples; neither is a verified translation.</a:t>
            </a:r>
          </a:p>
          <a:p xmlns:a="http://schemas.openxmlformats.org/drawingml/2006/main">
            <a:r>
              <a:t/>
            </a:r>
          </a:p>
          <a:p xmlns:a="http://schemas.openxmlformats.org/drawingml/2006/main">
            <a:r>
              <a:t>Sources: docs/SOURCE_GRAPH_BRIDGE.md; integrations/langgraph/source_frontend/README.md; bench/results/source_graphs/evaluation.json; bench/results/langgraph_source_study.json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each denominator from its own report. The evidence families use different generators, execution models, observers and scopes. Do not add their counts or treat repeated mock modes as independent patterns.</a:t>
            </a:r>
          </a:p>
          <a:p xmlns:a="http://schemas.openxmlformats.org/drawingml/2006/main">
            <a:r>
              <a:t/>
            </a:r>
          </a:p>
          <a:p xmlns:a="http://schemas.openxmlformats.org/drawingml/2006/main">
            <a:r>
              <a:t>Exact trace-law report: 12 authored fixtures; 6 proved equal and 6 finite-witness unequal; 6 proof certificates and 6 witnesses independently replayed; 12 fresh resource-cap probes returned UNKNOWN; 12 semantic tamper reports were rejected. Exact DP cross-checks: 48 equal-case checks across 96 scenario histograms; 6 witness-case checks with 6 distinguishing. These counts belong only to this finite-kernel study.</a:t>
            </a:r>
          </a:p>
          <a:p xmlns:a="http://schemas.openxmlformats.org/drawingml/2006/main">
            <a:r>
              <a:t/>
            </a:r>
          </a:p>
          <a:p xmlns:a="http://schemas.openxmlformats.org/drawingml/2006/main">
            <a:r>
              <a:t>Sources: bench/results/sourced.json; bench/results/relational_stress.json; bench/results/graphs.json; bench/results/langgraph_integration.json; bench/results/probabilistic_channels.json; bench/results/stochastic_bisimulation.json; bench/results/trace_equivalence.json; audit/final/manifest.json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 from the formal contract and the evidence ledger. Keep implementation facts separate from theorem premises and finite probes. Use the references appendix when a question calls for prior work.</a:t>
            </a:r>
          </a:p>
          <a:p xmlns:a="http://schemas.openxmlformats.org/drawingml/2006/main">
            <a:r>
              <a:t/>
            </a:r>
          </a:p>
          <a:p xmlns:a="http://schemas.openxmlformats.org/drawingml/2006/main">
            <a:r>
              <a:t>Sources: docs/FORMAL_CONTRACT.md; docs/PRIOR_ART_MATRIX.md; docs/PROBABILISTIC_CHANNELS.md; docs/SOURCE_GRAPH_BRIDGE.md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citations and stable links are also in `current_review_sources.md`. Tzeng, weighted-automata work, APEX and trace-probability equivalence are established prior art for the row-span method. Distinguish peer-reviewed papers from preprints and the author-reported Petri-net note. No broad novelty or priority claim is made.</a:t>
            </a:r>
          </a:p>
          <a:p xmlns:a="http://schemas.openxmlformats.org/drawingml/2006/main">
            <a:r>
              <a:t/>
            </a:r>
          </a:p>
          <a:p xmlns:a="http://schemas.openxmlformats.org/drawingml/2006/main">
            <a:r>
              <a:t>Sources: submission/research/current_review_sources.md; docs/PRIOR_ART_MATRIX.md; research/trace_equivalence_primary_sources.md; https://doi.org/10.1109/SP.2017.53; https://doi.org/10.1145/3009837.3009858; https://doi.org/10.1145/3192366.3192394; https://proceedings.mlr.press/v306/mandel26a.html; https://doi.org/10.1145/1315245.1315282; https://doi.org/10.1137/0221017; https://doi.org/10.1007/978-3-642-22110-1_42; https://doi.org/10.1007/978-3-642-31424-7_51; https://doi.org/10.2168/LMCS-9(1:8)2013; https://doi.org/10.23638/LMCS-16(2:10)2020; https://doi.org/10.1016/0890-5401(91)90030-6; https://doi.org/10.1007/978-3-319-32582-8_10; https://www.usenix.org/conference/usenixsecurity24/presentation/weiss; https://arxiv.org/abs/2603.20356; https://arxiv.org/abs/2608.22868; https://loom.technology/research/bounded-llm-cost/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closing demo. Open the local URL and run the authored fixtures. First show equal aggregate totals versus different ordered traces at horizon two. Then show equal expected output usage with different one-call laws. Finish on `trace_equal_not_bisimilar`: the strong-bisimulation inconclusive status is a fresh analyzer comparison, not independently replayed in this trace-equivalence study; H=2 ordered TV is zero; and exact rational row-span equivalence proves all finite ordered usage-word laws for this supplied finite kernel. The independent replayer verifies the exact certificate. Explain that a nonzero residual would give a finite distinguishing word, while a cap returns UNKNOWN. Displayed probabilities belong to the supplied finite kernel. The interface runs offline and does not contact a model provider.</a:t>
            </a:r>
          </a:p>
          <a:p xmlns:a="http://schemas.openxmlformats.org/drawingml/2006/main">
            <a:r>
              <a:t/>
            </a:r>
          </a:p>
          <a:p xmlns:a="http://schemas.openxmlformats.org/drawingml/2006/main">
            <a:r>
              <a:t>Sources: demo/README.md; demo/index.html; demo/offline_evidence.json; docs/PROBABILISTIC_CHANNELS.md; docs/TRACE_EQUIVALENCE.md; audit/trace_equivalence.py; audit/replay_trace_equivalence.py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e356733d4841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4634e52043d42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7b635adea84d5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2b5549992d148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be151b33cf04f1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d33bcb5bb940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371F92-2D80-4499-B5E3-0DC03AE0E8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EA1EA49-D361-4DB4-A84F-A982CC9B23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283D48-2780-46F5-B625-DCFBEB83671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D31BA4-F569-42FC-9B12-4B0A88DA8E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14E17A-17BD-45A5-9FA3-52BAEBDF5F7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ACE300-D839-4B3A-B7EF-430E36793F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2A3496-524D-4DCE-B174-7C4A9DD73C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69C675B-097F-4CE0-AB51-84512BBE84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548CC9-0965-4BD9-A06A-5BCA6ED382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6E8C351-C6AC-4B28-8453-84803A1638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a2545556b84e94" /><Relationship Type="http://schemas.openxmlformats.org/officeDocument/2006/relationships/slideLayout" Target="/ppt/slideLayouts/slideLayout1.xml" Id="Rcdb1b686ffba4198" /><Relationship Type="http://schemas.openxmlformats.org/officeDocument/2006/relationships/slideLayout" Target="/ppt/slideLayouts/slideLayout2.xml" Id="R62142cb399cd4999" /><Relationship Type="http://schemas.openxmlformats.org/officeDocument/2006/relationships/slideLayout" Target="/ppt/slideLayouts/slideLayout3.xml" Id="Rdaf0f4e59f59460f" /><Relationship Type="http://schemas.openxmlformats.org/officeDocument/2006/relationships/slideLayout" Target="/ppt/slideLayouts/slideLayout4.xml" Id="Rf576e22934c04852" /><Relationship Type="http://schemas.openxmlformats.org/officeDocument/2006/relationships/slideLayout" Target="/ppt/slideLayouts/slideLayout5.xml" Id="R816a6fcfa130459c" /><Relationship Type="http://schemas.openxmlformats.org/officeDocument/2006/relationships/slideLayout" Target="/ppt/slideLayouts/slideLayout6.xml" Id="Raa6118df6a8c4a3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b1b686ffba4198"/>
    <p:sldLayoutId xmlns:r="http://schemas.openxmlformats.org/officeDocument/2006/relationships" id="2147483650" r:id="R62142cb399cd4999"/>
    <p:sldLayoutId xmlns:r="http://schemas.openxmlformats.org/officeDocument/2006/relationships" id="2147483651" r:id="Rdaf0f4e59f59460f"/>
    <p:sldLayoutId xmlns:r="http://schemas.openxmlformats.org/officeDocument/2006/relationships" id="2147483652" r:id="Rf576e22934c04852"/>
    <p:sldLayoutId xmlns:r="http://schemas.openxmlformats.org/officeDocument/2006/relationships" id="2147483653" r:id="R816a6fcfa130459c"/>
    <p:sldLayoutId xmlns:r="http://schemas.openxmlformats.org/officeDocument/2006/relationships" id="2147483654" r:id="Raa6118df6a8c4a3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f12a03da6c0421a" /><Relationship Type="http://schemas.openxmlformats.org/officeDocument/2006/relationships/notesSlide" Target="/ppt/notesSlides/notesSlide1.xml" Id="R7e237003cade4b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dc4639a4a8a4839" /><Relationship Type="http://schemas.openxmlformats.org/officeDocument/2006/relationships/notesSlide" Target="/ppt/notesSlides/notesSlide2.xml" Id="Rb717eeecd50449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c0de30aae274981" /><Relationship Type="http://schemas.openxmlformats.org/officeDocument/2006/relationships/notesSlide" Target="/ppt/notesSlides/notesSlide3.xml" Id="Rf6b879bfc9c34b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c23c04ec9de460b" /><Relationship Type="http://schemas.openxmlformats.org/officeDocument/2006/relationships/notesSlide" Target="/ppt/notesSlides/notesSlide4.xml" Id="R70731113c5cc4b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1b8ca3d6b954fef" /><Relationship Type="http://schemas.openxmlformats.org/officeDocument/2006/relationships/notesSlide" Target="/ppt/notesSlides/notesSlide5.xml" Id="Ra59de24b810545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3a13eab37674075" /><Relationship Type="http://schemas.openxmlformats.org/officeDocument/2006/relationships/notesSlide" Target="/ppt/notesSlides/notesSlide6.xml" Id="Raa1b86a5871245a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5c5a3999a642f0" /><Relationship Type="http://schemas.openxmlformats.org/officeDocument/2006/relationships/notesSlide" Target="/ppt/notesSlides/notesSlide7.xml" Id="R35fec0d0adf047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9d830c7dc04d5b" /><Relationship Type="http://schemas.openxmlformats.org/officeDocument/2006/relationships/notesSlide" Target="/ppt/notesSlides/notesSlide8.xml" Id="R7c1df2434f9e4c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4aa1e29d8e84b4e" /><Relationship Type="http://schemas.openxmlformats.org/officeDocument/2006/relationships/notesSlide" Target="/ppt/notesSlides/notesSlide9.xml" Id="Rf133a763ca884a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a2ccf4e8ba04548" /><Relationship Type="http://schemas.openxmlformats.org/officeDocument/2006/relationships/notesSlide" Target="/ppt/notesSlides/notesSlide10.xml" Id="Rd4ff822d6b174b1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7e8ad75c7744b2a" /><Relationship Type="http://schemas.openxmlformats.org/officeDocument/2006/relationships/notesSlide" Target="/ppt/notesSlides/notesSlide11.xml" Id="Rc0c309a0d3c943c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da0e6ec4a654780" /><Relationship Type="http://schemas.openxmlformats.org/officeDocument/2006/relationships/notesSlide" Target="/ppt/notesSlides/notesSlide12.xml" Id="Rf2fcbc4b1901480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5a4c8bad1de4ac3" /><Relationship Type="http://schemas.openxmlformats.org/officeDocument/2006/relationships/notesSlide" Target="/ppt/notesSlides/notesSlide13.xml" Id="Rcbac228d5d3748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e5c2cdecb6ba47fa" /><Relationship Type="http://schemas.openxmlformats.org/officeDocument/2006/relationships/notesSlide" Target="/ppt/notesSlides/notesSlide14.xml" Id="R00d09bfba26d434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44ce2250d134289" /><Relationship Type="http://schemas.openxmlformats.org/officeDocument/2006/relationships/notesSlide" Target="/ppt/notesSlides/notesSlide15.xml" Id="R998c39de90ab40e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1bd42d901fb4355" /><Relationship Type="http://schemas.openxmlformats.org/officeDocument/2006/relationships/notesSlide" Target="/ppt/notesSlides/notesSlide16.xml" Id="Rbeff68976f294f7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7aa646a6c554f5b" /><Relationship Type="http://schemas.openxmlformats.org/officeDocument/2006/relationships/notesSlide" Target="/ppt/notesSlides/notesSlide17.xml" Id="Ree2308e4191e43a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5a3aae9e32e47f6" /><Relationship Type="http://schemas.openxmlformats.org/officeDocument/2006/relationships/notesSlide" Target="/ppt/notesSlides/notesSlide18.xml" Id="R2748c3835755426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3f3137b9a4a4c51" /><Relationship Type="http://schemas.openxmlformats.org/officeDocument/2006/relationships/notesSlide" Target="/ppt/notesSlides/notesSlide19.xml" Id="R508965e2583d439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bf744da86e646a9" /><Relationship Type="http://schemas.openxmlformats.org/officeDocument/2006/relationships/notesSlide" Target="/ppt/notesSlides/notesSlide20.xml" Id="R6cf06cc8435c443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2070101e7934fcc" /><Relationship Type="http://schemas.openxmlformats.org/officeDocument/2006/relationships/notesSlide" Target="/ppt/notesSlides/notesSlide21.xml" Id="R22d914f8120c45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7452ccef8c44209" /><Relationship Type="http://schemas.openxmlformats.org/officeDocument/2006/relationships/notesSlide" Target="/ppt/notesSlides/notesSlide22.xml" Id="Re87574ed6db2413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05cac761e434a82" /><Relationship Type="http://schemas.openxmlformats.org/officeDocument/2006/relationships/notesSlide" Target="/ppt/notesSlides/notesSlide23.xml" Id="R518e5e22158642f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a41de7f09cf47dc" /><Relationship Type="http://schemas.openxmlformats.org/officeDocument/2006/relationships/notesSlide" Target="/ppt/notesSlides/notesSlide24.xml" Id="Rcb204e909c5c4fd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1593ecd866a4d80" /><Relationship Type="http://schemas.openxmlformats.org/officeDocument/2006/relationships/notesSlide" Target="/ppt/notesSlides/notesSlide25.xml" Id="Racf662ff07c4468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10d15ad795f4f9a" /><Relationship Type="http://schemas.openxmlformats.org/officeDocument/2006/relationships/notesSlide" Target="/ppt/notesSlides/notesSlide26.xml" Id="Rbdfc34d7ba584e9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609b7441e804bea" /><Relationship Type="http://schemas.openxmlformats.org/officeDocument/2006/relationships/notesSlide" Target="/ppt/notesSlides/notesSlide27.xml" Id="R42488f74d12d4e5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f0062e7841f42b5" /><Relationship Type="http://schemas.openxmlformats.org/officeDocument/2006/relationships/notesSlide" Target="/ppt/notesSlides/notesSlide28.xml" Id="R6f2324d372a2488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1d24049f6074f72" /><Relationship Type="http://schemas.openxmlformats.org/officeDocument/2006/relationships/notesSlide" Target="/ppt/notesSlides/notesSlide29.xml" Id="R1ad8601c62d2469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67bb8bbd787402a" /><Relationship Type="http://schemas.openxmlformats.org/officeDocument/2006/relationships/notesSlide" Target="/ppt/notesSlides/notesSlide30.xml" Id="R3b307042af7d4da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d9182e4ef38e4aaa" /><Relationship Type="http://schemas.openxmlformats.org/officeDocument/2006/relationships/notesSlide" Target="/ppt/notesSlides/notesSlide31.xml" Id="R90c6e40a81f040f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6985fdbe48848fc" /><Relationship Type="http://schemas.openxmlformats.org/officeDocument/2006/relationships/hyperlink" Target="http://127.0.0.1:8765/" TargetMode="External" Id="Rd97bc83471bc4625" /><Relationship Type="http://schemas.openxmlformats.org/officeDocument/2006/relationships/notesSlide" Target="/ppt/notesSlides/notesSlide32.xml" Id="R9a8008d96725447d" /></Relationships>
</file>

<file path=ppt/slides/slide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7" name="cover-coral-rail">
            <a:extLst xmlns:a="http://schemas.openxmlformats.org/drawingml/2006/main">
              <a:ext uri="{FF2B5EF4-FFF2-40B4-BE49-F238E27FC236}">
                <a16:creationId xmlns:a16="http://schemas.microsoft.com/office/drawing/2014/main" id="{722B8553-90FA-4A40-926A-E23B2778D46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 name="cover-eyebrow">
            <a:extLst xmlns:a="http://schemas.openxmlformats.org/drawingml/2006/main">
              <a:ext uri="{FF2B5EF4-FFF2-40B4-BE49-F238E27FC236}">
                <a16:creationId xmlns:a16="http://schemas.microsoft.com/office/drawing/2014/main" id="{E508F89B-918C-4C11-A436-82A43A922622}"/>
              </a:ext>
            </a:extLst>
          </p:cNvPr>
          <p:cNvSpPr>
            <a:spLocks xmlns:a="http://schemas.openxmlformats.org/drawingml/2006/main" noGrp="1"/>
          </p:cNvSpPr>
          <p:nvPr/>
        </p:nvSpPr>
        <p:spPr>
          <a:xfrm xmlns:a="http://schemas.openxmlformats.org/drawingml/2006/main">
            <a:off x="723900" y="6096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646B7A"/>
                </a:solidFill>
                <a:latin typeface="Avenir Next"/>
                <a:ea typeface="Avenir Next"/>
                <a:cs typeface="Avenir Next"/>
              </a:defRPr>
            </a:defPPr>
          </a:lstStyle>
          <a:p xmlns:a="http://schemas.openxmlformats.org/drawingml/2006/main">
            <a:pPr algn="l">
              <a:defRPr sz="1125" b="1" i="0">
                <a:solidFill>
                  <a:srgbClr val="646B7A"/>
                </a:solidFill>
                <a:latin typeface="Avenir Next"/>
                <a:ea typeface="Avenir Next"/>
                <a:cs typeface="Avenir Next"/>
              </a:defRPr>
            </a:pPr>
            <a:r>
              <a:rPr sz="1125" b="1" i="0">
                <a:solidFill>
                  <a:srgbClr val="646B7A"/>
                </a:solidFill>
                <a:latin typeface="Avenir Next"/>
                <a:ea typeface="Avenir Next"/>
                <a:cs typeface="Avenir Next"/>
              </a:rPr>
              <a:t>ORCHLANG  /  COMPILER DESIGN REVIEW</a:t>
            </a:r>
          </a:p>
        </p:txBody>
      </p:sp>
      <p:sp>
        <p:nvSpPr>
          <p:cNvPr id="3" name="cover-title">
            <a:extLst xmlns:a="http://schemas.openxmlformats.org/drawingml/2006/main">
              <a:ext uri="{FF2B5EF4-FFF2-40B4-BE49-F238E27FC236}">
                <a16:creationId xmlns:a16="http://schemas.microsoft.com/office/drawing/2014/main" id="{6CDD1FE6-E872-4337-81EC-CB6B9A27D279}"/>
              </a:ext>
            </a:extLst>
          </p:cNvPr>
          <p:cNvSpPr>
            <a:spLocks xmlns:a="http://schemas.openxmlformats.org/drawingml/2006/main" noGrp="1"/>
          </p:cNvSpPr>
          <p:nvPr/>
        </p:nvSpPr>
        <p:spPr>
          <a:xfrm xmlns:a="http://schemas.openxmlformats.org/drawingml/2006/main">
            <a:off x="704850" y="133350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5100" b="1" i="0">
                <a:solidFill>
                  <a:srgbClr val="141B2B"/>
                </a:solidFill>
                <a:latin typeface="Avenir Next"/>
                <a:ea typeface="Avenir Next"/>
                <a:cs typeface="Avenir Next"/>
              </a:defRPr>
            </a:defPPr>
          </a:lstStyle>
          <a:p xmlns:a="http://schemas.openxmlformats.org/drawingml/2006/main">
            <a:pPr algn="l">
              <a:defRPr sz="5100" b="1" i="0">
                <a:solidFill>
                  <a:srgbClr val="141B2B"/>
                </a:solidFill>
                <a:latin typeface="Avenir Next"/>
                <a:ea typeface="Avenir Next"/>
                <a:cs typeface="Avenir Next"/>
              </a:defRPr>
            </a:pPr>
            <a:r>
              <a:rPr sz="5100" b="1" i="0">
                <a:solidFill>
                  <a:srgbClr val="141B2B"/>
                </a:solidFill>
                <a:latin typeface="Avenir Next"/>
                <a:ea typeface="Avenir Next"/>
                <a:cs typeface="Avenir Next"/>
              </a:rPr>
              <a:t>OrchLang</a:t>
            </a:r>
          </a:p>
        </p:txBody>
      </p:sp>
      <p:sp>
        <p:nvSpPr>
          <p:cNvPr id="4" name="cover-subtitle">
            <a:extLst xmlns:a="http://schemas.openxmlformats.org/drawingml/2006/main">
              <a:ext uri="{FF2B5EF4-FFF2-40B4-BE49-F238E27FC236}">
                <a16:creationId xmlns:a16="http://schemas.microsoft.com/office/drawing/2014/main" id="{9B458637-AFD7-4827-AB45-6F1EBED8F697}"/>
              </a:ext>
            </a:extLst>
          </p:cNvPr>
          <p:cNvSpPr>
            <a:spLocks xmlns:a="http://schemas.openxmlformats.org/drawingml/2006/main" noGrp="1"/>
          </p:cNvSpPr>
          <p:nvPr/>
        </p:nvSpPr>
        <p:spPr>
          <a:xfrm xmlns:a="http://schemas.openxmlformats.org/drawingml/2006/main">
            <a:off x="742950" y="3600450"/>
            <a:ext cx="5905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i="0">
                <a:solidFill>
                  <a:srgbClr val="646B7A"/>
                </a:solidFill>
                <a:latin typeface="Avenir Next"/>
                <a:ea typeface="Avenir Next"/>
                <a:cs typeface="Avenir Next"/>
              </a:defRPr>
            </a:defPPr>
          </a:lstStyle>
          <a:p xmlns:a="http://schemas.openxmlformats.org/drawingml/2006/main">
            <a:pPr algn="l">
              <a:defRPr sz="1950" b="0" i="0">
                <a:solidFill>
                  <a:srgbClr val="646B7A"/>
                </a:solidFill>
                <a:latin typeface="Avenir Next"/>
                <a:ea typeface="Avenir Next"/>
                <a:cs typeface="Avenir Next"/>
              </a:defRPr>
            </a:pPr>
            <a:r>
              <a:rPr sz="1950" b="0" i="0">
                <a:solidFill>
                  <a:srgbClr val="646B7A"/>
                </a:solidFill>
                <a:latin typeface="Avenir Next"/>
                <a:ea typeface="Avenir Next"/>
                <a:cs typeface="Avenir Next"/>
              </a:rPr>
              <a:t>Replayable Contracts for Token Usage and Request-Equivalent LLM Workflows</a:t>
            </a:r>
          </a:p>
        </p:txBody>
      </p:sp>
      <p:sp>
        <p:nvSpPr>
          <p:cNvPr id="5" name="cover-byline">
            <a:extLst xmlns:a="http://schemas.openxmlformats.org/drawingml/2006/main">
              <a:ext uri="{FF2B5EF4-FFF2-40B4-BE49-F238E27FC236}">
                <a16:creationId xmlns:a16="http://schemas.microsoft.com/office/drawing/2014/main" id="{68ADC586-42AC-4FB0-A908-A92F488D0405}"/>
              </a:ext>
            </a:extLst>
          </p:cNvPr>
          <p:cNvSpPr>
            <a:spLocks xmlns:a="http://schemas.openxmlformats.org/drawingml/2006/main" noGrp="1"/>
          </p:cNvSpPr>
          <p:nvPr/>
        </p:nvSpPr>
        <p:spPr>
          <a:xfrm xmlns:a="http://schemas.openxmlformats.org/drawingml/2006/main">
            <a:off x="742950" y="5505450"/>
            <a:ext cx="619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141B2B"/>
                </a:solidFill>
                <a:latin typeface="Avenir Next"/>
                <a:ea typeface="Avenir Next"/>
                <a:cs typeface="Avenir Next"/>
              </a:defRPr>
            </a:defPPr>
          </a:lstStyle>
          <a:p xmlns:a="http://schemas.openxmlformats.org/drawingml/2006/main">
            <a:pPr algn="l">
              <a:defRPr sz="1200" b="1" i="0">
                <a:solidFill>
                  <a:srgbClr val="141B2B"/>
                </a:solidFill>
                <a:latin typeface="Avenir Next"/>
                <a:ea typeface="Avenir Next"/>
                <a:cs typeface="Avenir Next"/>
              </a:defRPr>
            </a:pPr>
            <a:r>
              <a:rPr sz="1200" b="1" i="0">
                <a:solidFill>
                  <a:srgbClr val="141B2B"/>
                </a:solidFill>
                <a:latin typeface="Avenir Next"/>
                <a:ea typeface="Avenir Next"/>
                <a:cs typeface="Avenir Next"/>
              </a:rPr>
              <a:t>Nambi Rajan M · 24BAI0072 · Vellore Institute of Technology</a:t>
            </a:r>
          </a:p>
        </p:txBody>
      </p:sp>
      <p:sp>
        <p:nvSpPr>
          <p:cNvPr id="6" name="cover-evidence-panel">
            <a:extLst xmlns:a="http://schemas.openxmlformats.org/drawingml/2006/main">
              <a:ext uri="{FF2B5EF4-FFF2-40B4-BE49-F238E27FC236}">
                <a16:creationId xmlns:a16="http://schemas.microsoft.com/office/drawing/2014/main" id="{4DE94FD8-A307-4F35-A884-9395A8202970}"/>
              </a:ext>
            </a:extLst>
          </p:cNvPr>
          <p:cNvSpPr>
            <a:spLocks xmlns:a="http://schemas.openxmlformats.org/drawingml/2006/main" noGrp="1"/>
          </p:cNvSpPr>
          <p:nvPr/>
        </p:nvSpPr>
        <p:spPr>
          <a:xfrm xmlns:a="http://schemas.openxmlformats.org/drawingml/2006/main">
            <a:off x="7696200" y="666750"/>
            <a:ext cx="3848100" cy="5476875"/>
          </a:xfrm>
          <a:prstGeom xmlns:a="http://schemas.openxmlformats.org/drawingml/2006/main" prst="roundRect">
            <a:avLst>
              <a:gd name="adj" fmla="val 2970"/>
            </a:avLst>
          </a:prstGeom>
          <a:solidFill xmlns:a="http://schemas.openxmlformats.org/drawingml/2006/main">
            <a:srgbClr val="131A29"/>
          </a:solidFill>
          <a:ln xmlns:a="http://schemas.openxmlformats.org/drawingml/2006/main" w="0">
            <a:noFill/>
            <a:prstDash val="solid"/>
          </a:ln>
        </p:spPr>
      </p:sp>
      <p:sp>
        <p:nvSpPr>
          <p:cNvPr id="7" name="cover-relation-pill">
            <a:extLst xmlns:a="http://schemas.openxmlformats.org/drawingml/2006/main">
              <a:ext uri="{FF2B5EF4-FFF2-40B4-BE49-F238E27FC236}">
                <a16:creationId xmlns:a16="http://schemas.microsoft.com/office/drawing/2014/main" id="{6463FFE2-3BA0-4777-819C-7BD05939E906}"/>
              </a:ext>
            </a:extLst>
          </p:cNvPr>
          <p:cNvSpPr>
            <a:spLocks xmlns:a="http://schemas.openxmlformats.org/drawingml/2006/main" noGrp="1"/>
          </p:cNvSpPr>
          <p:nvPr/>
        </p:nvSpPr>
        <p:spPr>
          <a:xfrm xmlns:a="http://schemas.openxmlformats.org/drawingml/2006/main">
            <a:off x="8058150" y="952500"/>
            <a:ext cx="1809750" cy="266700"/>
          </a:xfrm>
          <a:prstGeom xmlns:a="http://schemas.openxmlformats.org/drawingml/2006/main" prst="roundRect">
            <a:avLst>
              <a:gd name="adj" fmla="val 35714"/>
            </a:avLst>
          </a:prstGeom>
          <a:solidFill xmlns:a="http://schemas.openxmlformats.org/drawingml/2006/main">
            <a:srgbClr val="343D50"/>
          </a:solidFill>
          <a:ln xmlns:a="http://schemas.openxmlformats.org/drawingml/2006/main" w="0">
            <a:noFill/>
            <a:prstDash val="solid"/>
          </a:ln>
        </p:spPr>
      </p:sp>
      <p:sp>
        <p:nvSpPr>
          <p:cNvPr id="8" name="cover-relation-text">
            <a:extLst xmlns:a="http://schemas.openxmlformats.org/drawingml/2006/main">
              <a:ext uri="{FF2B5EF4-FFF2-40B4-BE49-F238E27FC236}">
                <a16:creationId xmlns:a16="http://schemas.microsoft.com/office/drawing/2014/main" id="{73F8205E-3879-469D-B3C2-842767A00A5A}"/>
              </a:ext>
            </a:extLst>
          </p:cNvPr>
          <p:cNvSpPr>
            <a:spLocks xmlns:a="http://schemas.openxmlformats.org/drawingml/2006/main" noGrp="1"/>
          </p:cNvSpPr>
          <p:nvPr/>
        </p:nvSpPr>
        <p:spPr>
          <a:xfrm xmlns:a="http://schemas.openxmlformats.org/drawingml/2006/main">
            <a:off x="8153400" y="100012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B8C1D1"/>
                </a:solidFill>
                <a:latin typeface="Avenir Next"/>
                <a:ea typeface="Avenir Next"/>
                <a:cs typeface="Avenir Next"/>
              </a:defRPr>
            </a:defPPr>
          </a:lstStyle>
          <a:p xmlns:a="http://schemas.openxmlformats.org/drawingml/2006/main">
            <a:pPr algn="ctr">
              <a:defRPr sz="975" b="1" i="0">
                <a:solidFill>
                  <a:srgbClr val="B8C1D1"/>
                </a:solidFill>
                <a:latin typeface="Avenir Next"/>
                <a:ea typeface="Avenir Next"/>
                <a:cs typeface="Avenir Next"/>
              </a:defRPr>
            </a:pPr>
            <a:r>
              <a:rPr sz="975" b="1" i="0">
                <a:solidFill>
                  <a:srgbClr val="B8C1D1"/>
                </a:solidFill>
                <a:latin typeface="Avenir Next"/>
                <a:ea typeface="Avenir Next"/>
                <a:cs typeface="Avenir Next"/>
              </a:rPr>
              <a:t>MODELED COMPARISON</a:t>
            </a:r>
          </a:p>
        </p:txBody>
      </p:sp>
      <p:sp>
        <p:nvSpPr>
          <p:cNvPr id="9" name="cover-cond-0-head">
            <a:extLst xmlns:a="http://schemas.openxmlformats.org/drawingml/2006/main">
              <a:ext uri="{FF2B5EF4-FFF2-40B4-BE49-F238E27FC236}">
                <a16:creationId xmlns:a16="http://schemas.microsoft.com/office/drawing/2014/main" id="{C33C3561-F360-46B6-8DE1-57911D56E08D}"/>
              </a:ext>
            </a:extLst>
          </p:cNvPr>
          <p:cNvSpPr>
            <a:spLocks xmlns:a="http://schemas.openxmlformats.org/drawingml/2006/main" noGrp="1"/>
          </p:cNvSpPr>
          <p:nvPr/>
        </p:nvSpPr>
        <p:spPr>
          <a:xfrm xmlns:a="http://schemas.openxmlformats.org/drawingml/2006/main">
            <a:off x="8058150" y="145732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OBSERVER</a:t>
            </a:r>
          </a:p>
        </p:txBody>
      </p:sp>
      <p:sp>
        <p:nvSpPr>
          <p:cNvPr id="10" name="cover-cond-0-value">
            <a:extLst xmlns:a="http://schemas.openxmlformats.org/drawingml/2006/main">
              <a:ext uri="{FF2B5EF4-FFF2-40B4-BE49-F238E27FC236}">
                <a16:creationId xmlns:a16="http://schemas.microsoft.com/office/drawing/2014/main" id="{BA80CF43-D61E-4BFB-9CF3-347B0BA50DDC}"/>
              </a:ext>
            </a:extLst>
          </p:cNvPr>
          <p:cNvSpPr>
            <a:spLocks xmlns:a="http://schemas.openxmlformats.org/drawingml/2006/main" noGrp="1"/>
          </p:cNvSpPr>
          <p:nvPr/>
        </p:nvSpPr>
        <p:spPr>
          <a:xfrm xmlns:a="http://schemas.openxmlformats.org/drawingml/2006/main">
            <a:off x="9763125" y="14478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72"/>
          </a:bodyPr>
          <a:lstStyle xmlns:a="http://schemas.openxmlformats.org/drawingml/2006/main">
            <a:defPPr algn="r">
              <a:defRPr sz="1200" b="1" i="0">
                <a:solidFill>
                  <a:srgbClr val="D9CBB6"/>
                </a:solidFill>
                <a:latin typeface="Avenir Next"/>
                <a:ea typeface="Avenir Next"/>
                <a:cs typeface="Avenir Next"/>
              </a:defRPr>
            </a:defPPr>
          </a:lstStyle>
          <a:p xmlns:a="http://schemas.openxmlformats.org/drawingml/2006/main">
            <a:pPr algn="r">
              <a:defRPr sz="1200" b="1" i="0">
                <a:solidFill>
                  <a:srgbClr val="D9CBB6"/>
                </a:solidFill>
                <a:latin typeface="Avenir Next"/>
                <a:ea typeface="Avenir Next"/>
                <a:cs typeface="Avenir Next"/>
              </a:defRPr>
            </a:pPr>
            <a:r>
              <a:rPr sz="1200" b="1" i="0">
                <a:solidFill>
                  <a:srgbClr val="D9CBB6"/>
                </a:solidFill>
                <a:latin typeface="Avenir Next"/>
                <a:ea typeface="Avenir Next"/>
                <a:cs typeface="Avenir Next"/>
              </a:rPr>
              <a:t>itemized model usage</a:t>
            </a:r>
          </a:p>
        </p:txBody>
      </p:sp>
      <p:sp>
        <p:nvSpPr>
          <p:cNvPr id="11" name="cover-cond-0-rule">
            <a:extLst xmlns:a="http://schemas.openxmlformats.org/drawingml/2006/main">
              <a:ext uri="{FF2B5EF4-FFF2-40B4-BE49-F238E27FC236}">
                <a16:creationId xmlns:a16="http://schemas.microsoft.com/office/drawing/2014/main" id="{AD9E7ECC-537F-4B10-8FDE-0D1CD4DE1245}"/>
              </a:ext>
            </a:extLst>
          </p:cNvPr>
          <p:cNvSpPr>
            <a:spLocks xmlns:a="http://schemas.openxmlformats.org/drawingml/2006/main" noGrp="1"/>
          </p:cNvSpPr>
          <p:nvPr/>
        </p:nvSpPr>
        <p:spPr>
          <a:xfrm xmlns:a="http://schemas.openxmlformats.org/drawingml/2006/main">
            <a:off x="8058150" y="175260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2" name="cover-cond-1-head">
            <a:extLst xmlns:a="http://schemas.openxmlformats.org/drawingml/2006/main">
              <a:ext uri="{FF2B5EF4-FFF2-40B4-BE49-F238E27FC236}">
                <a16:creationId xmlns:a16="http://schemas.microsoft.com/office/drawing/2014/main" id="{C8DCC86C-CF5B-4C9F-9C69-364B8DAA6269}"/>
              </a:ext>
            </a:extLst>
          </p:cNvPr>
          <p:cNvSpPr>
            <a:spLocks xmlns:a="http://schemas.openxmlformats.org/drawingml/2006/main" noGrp="1"/>
          </p:cNvSpPr>
          <p:nvPr/>
        </p:nvSpPr>
        <p:spPr>
          <a:xfrm xmlns:a="http://schemas.openxmlformats.org/drawingml/2006/main">
            <a:off x="8058150" y="19240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PUBLIC INPUTS</a:t>
            </a:r>
          </a:p>
        </p:txBody>
      </p:sp>
      <p:sp>
        <p:nvSpPr>
          <p:cNvPr id="13" name="cover-cond-1-value">
            <a:extLst xmlns:a="http://schemas.openxmlformats.org/drawingml/2006/main">
              <a:ext uri="{FF2B5EF4-FFF2-40B4-BE49-F238E27FC236}">
                <a16:creationId xmlns:a16="http://schemas.microsoft.com/office/drawing/2014/main" id="{AD609458-FFA4-4D7F-ACB5-16ED27686106}"/>
              </a:ext>
            </a:extLst>
          </p:cNvPr>
          <p:cNvSpPr>
            <a:spLocks xmlns:a="http://schemas.openxmlformats.org/drawingml/2006/main" noGrp="1"/>
          </p:cNvSpPr>
          <p:nvPr/>
        </p:nvSpPr>
        <p:spPr>
          <a:xfrm xmlns:a="http://schemas.openxmlformats.org/drawingml/2006/main">
            <a:off x="9763125" y="191452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5CC8B8"/>
                </a:solidFill>
                <a:latin typeface="Avenir Next"/>
                <a:ea typeface="Avenir Next"/>
                <a:cs typeface="Avenir Next"/>
              </a:defRPr>
            </a:defPPr>
          </a:lstStyle>
          <a:p xmlns:a="http://schemas.openxmlformats.org/drawingml/2006/main">
            <a:pPr algn="r">
              <a:defRPr sz="1200" b="1" i="0">
                <a:solidFill>
                  <a:srgbClr val="5CC8B8"/>
                </a:solidFill>
                <a:latin typeface="Avenir Next"/>
                <a:ea typeface="Avenir Next"/>
                <a:cs typeface="Avenir Next"/>
              </a:defRPr>
            </a:pPr>
            <a:r>
              <a:rPr sz="1200" b="1" i="0">
                <a:solidFill>
                  <a:srgbClr val="5CC8B8"/>
                </a:solidFill>
                <a:latin typeface="Avenir Next"/>
                <a:ea typeface="Avenir Next"/>
                <a:cs typeface="Avenir Next"/>
              </a:rPr>
              <a:t>held equal</a:t>
            </a:r>
          </a:p>
        </p:txBody>
      </p:sp>
      <p:sp>
        <p:nvSpPr>
          <p:cNvPr id="14" name="cover-cond-1-rule">
            <a:extLst xmlns:a="http://schemas.openxmlformats.org/drawingml/2006/main">
              <a:ext uri="{FF2B5EF4-FFF2-40B4-BE49-F238E27FC236}">
                <a16:creationId xmlns:a16="http://schemas.microsoft.com/office/drawing/2014/main" id="{C30DD5B0-06A3-4138-9DEC-F308D29136A3}"/>
              </a:ext>
            </a:extLst>
          </p:cNvPr>
          <p:cNvSpPr>
            <a:spLocks xmlns:a="http://schemas.openxmlformats.org/drawingml/2006/main" noGrp="1"/>
          </p:cNvSpPr>
          <p:nvPr/>
        </p:nvSpPr>
        <p:spPr>
          <a:xfrm xmlns:a="http://schemas.openxmlformats.org/drawingml/2006/main">
            <a:off x="8058150" y="2219325"/>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5" name="cover-cond-2-head">
            <a:extLst xmlns:a="http://schemas.openxmlformats.org/drawingml/2006/main">
              <a:ext uri="{FF2B5EF4-FFF2-40B4-BE49-F238E27FC236}">
                <a16:creationId xmlns:a16="http://schemas.microsoft.com/office/drawing/2014/main" id="{BB820F68-6383-4DF0-8474-5F5BEDFFE5E4}"/>
              </a:ext>
            </a:extLst>
          </p:cNvPr>
          <p:cNvSpPr>
            <a:spLocks xmlns:a="http://schemas.openxmlformats.org/drawingml/2006/main" noGrp="1"/>
          </p:cNvSpPr>
          <p:nvPr/>
        </p:nvSpPr>
        <p:spPr>
          <a:xfrm xmlns:a="http://schemas.openxmlformats.org/drawingml/2006/main">
            <a:off x="8058150" y="23907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MODEL BEHAVIOR</a:t>
            </a:r>
          </a:p>
        </p:txBody>
      </p:sp>
      <p:sp>
        <p:nvSpPr>
          <p:cNvPr id="16" name="cover-cond-2-value">
            <a:extLst xmlns:a="http://schemas.openxmlformats.org/drawingml/2006/main">
              <a:ext uri="{FF2B5EF4-FFF2-40B4-BE49-F238E27FC236}">
                <a16:creationId xmlns:a16="http://schemas.microsoft.com/office/drawing/2014/main" id="{D4759206-8456-4731-8677-7D7298FAE196}"/>
              </a:ext>
            </a:extLst>
          </p:cNvPr>
          <p:cNvSpPr>
            <a:spLocks xmlns:a="http://schemas.openxmlformats.org/drawingml/2006/main" noGrp="1"/>
          </p:cNvSpPr>
          <p:nvPr/>
        </p:nvSpPr>
        <p:spPr>
          <a:xfrm xmlns:a="http://schemas.openxmlformats.org/drawingml/2006/main">
            <a:off x="9763125" y="23812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5CC8B8"/>
                </a:solidFill>
                <a:latin typeface="Avenir Next"/>
                <a:ea typeface="Avenir Next"/>
                <a:cs typeface="Avenir Next"/>
              </a:defRPr>
            </a:defPPr>
          </a:lstStyle>
          <a:p xmlns:a="http://schemas.openxmlformats.org/drawingml/2006/main">
            <a:pPr algn="r">
              <a:defRPr sz="1200" b="1" i="0">
                <a:solidFill>
                  <a:srgbClr val="5CC8B8"/>
                </a:solidFill>
                <a:latin typeface="Avenir Next"/>
                <a:ea typeface="Avenir Next"/>
                <a:cs typeface="Avenir Next"/>
              </a:defRPr>
            </a:pPr>
            <a:r>
              <a:rPr sz="1200" b="1" i="0">
                <a:solidFill>
                  <a:srgbClr val="5CC8B8"/>
                </a:solidFill>
                <a:latin typeface="Avenir Next"/>
                <a:ea typeface="Avenir Next"/>
                <a:cs typeface="Avenir Next"/>
              </a:rPr>
              <a:t>aligned by relation</a:t>
            </a:r>
          </a:p>
        </p:txBody>
      </p:sp>
      <p:sp>
        <p:nvSpPr>
          <p:cNvPr id="17" name="cover-cond-2-rule">
            <a:extLst xmlns:a="http://schemas.openxmlformats.org/drawingml/2006/main">
              <a:ext uri="{FF2B5EF4-FFF2-40B4-BE49-F238E27FC236}">
                <a16:creationId xmlns:a16="http://schemas.microsoft.com/office/drawing/2014/main" id="{F0752F72-24C9-4EE4-8894-557DE560E710}"/>
              </a:ext>
            </a:extLst>
          </p:cNvPr>
          <p:cNvSpPr>
            <a:spLocks xmlns:a="http://schemas.openxmlformats.org/drawingml/2006/main" noGrp="1"/>
          </p:cNvSpPr>
          <p:nvPr/>
        </p:nvSpPr>
        <p:spPr>
          <a:xfrm xmlns:a="http://schemas.openxmlformats.org/drawingml/2006/main">
            <a:off x="8058150" y="268605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8" name="cover-cond-3-head">
            <a:extLst xmlns:a="http://schemas.openxmlformats.org/drawingml/2006/main">
              <a:ext uri="{FF2B5EF4-FFF2-40B4-BE49-F238E27FC236}">
                <a16:creationId xmlns:a16="http://schemas.microsoft.com/office/drawing/2014/main" id="{00C03FBB-9FF0-4ACD-A5A4-6ED394003674}"/>
              </a:ext>
            </a:extLst>
          </p:cNvPr>
          <p:cNvSpPr>
            <a:spLocks xmlns:a="http://schemas.openxmlformats.org/drawingml/2006/main" noGrp="1"/>
          </p:cNvSpPr>
          <p:nvPr/>
        </p:nvSpPr>
        <p:spPr>
          <a:xfrm xmlns:a="http://schemas.openxmlformats.org/drawingml/2006/main">
            <a:off x="8058150" y="28575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SECRET</a:t>
            </a:r>
          </a:p>
        </p:txBody>
      </p:sp>
      <p:sp>
        <p:nvSpPr>
          <p:cNvPr id="19" name="cover-cond-3-value">
            <a:extLst xmlns:a="http://schemas.openxmlformats.org/drawingml/2006/main">
              <a:ext uri="{FF2B5EF4-FFF2-40B4-BE49-F238E27FC236}">
                <a16:creationId xmlns:a16="http://schemas.microsoft.com/office/drawing/2014/main" id="{BF9FEF95-BC5C-44DB-952A-9E3DE8B803D9}"/>
              </a:ext>
            </a:extLst>
          </p:cNvPr>
          <p:cNvSpPr>
            <a:spLocks xmlns:a="http://schemas.openxmlformats.org/drawingml/2006/main" noGrp="1"/>
          </p:cNvSpPr>
          <p:nvPr/>
        </p:nvSpPr>
        <p:spPr>
          <a:xfrm xmlns:a="http://schemas.openxmlformats.org/drawingml/2006/main">
            <a:off x="9763125" y="2847975"/>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i="0">
                <a:solidFill>
                  <a:srgbClr val="FF8A5C"/>
                </a:solidFill>
                <a:latin typeface="Avenir Next"/>
                <a:ea typeface="Avenir Next"/>
                <a:cs typeface="Avenir Next"/>
              </a:defRPr>
            </a:defPPr>
          </a:lstStyle>
          <a:p xmlns:a="http://schemas.openxmlformats.org/drawingml/2006/main">
            <a:pPr algn="r">
              <a:defRPr sz="1200" b="1" i="0">
                <a:solidFill>
                  <a:srgbClr val="FF8A5C"/>
                </a:solidFill>
                <a:latin typeface="Avenir Next"/>
                <a:ea typeface="Avenir Next"/>
                <a:cs typeface="Avenir Next"/>
              </a:defRPr>
            </a:pPr>
            <a:r>
              <a:rPr sz="1200" b="1" i="0">
                <a:solidFill>
                  <a:srgbClr val="FF8A5C"/>
                </a:solidFill>
                <a:latin typeface="Avenir Next"/>
                <a:ea typeface="Avenir Next"/>
                <a:cs typeface="Avenir Next"/>
              </a:rPr>
              <a:t>varies</a:t>
            </a:r>
          </a:p>
        </p:txBody>
      </p:sp>
      <p:sp>
        <p:nvSpPr>
          <p:cNvPr id="20" name="cover-cond-3-rule">
            <a:extLst xmlns:a="http://schemas.openxmlformats.org/drawingml/2006/main">
              <a:ext uri="{FF2B5EF4-FFF2-40B4-BE49-F238E27FC236}">
                <a16:creationId xmlns:a16="http://schemas.microsoft.com/office/drawing/2014/main" id="{5D949ED8-B2A4-40CC-A76E-70340FC05565}"/>
              </a:ext>
            </a:extLst>
          </p:cNvPr>
          <p:cNvSpPr>
            <a:spLocks xmlns:a="http://schemas.openxmlformats.org/drawingml/2006/main" noGrp="1"/>
          </p:cNvSpPr>
          <p:nvPr/>
        </p:nvSpPr>
        <p:spPr>
          <a:xfrm xmlns:a="http://schemas.openxmlformats.org/drawingml/2006/main">
            <a:off x="8058150" y="3152775"/>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1" name="cover-invoice-title">
            <a:extLst xmlns:a="http://schemas.openxmlformats.org/drawingml/2006/main">
              <a:ext uri="{FF2B5EF4-FFF2-40B4-BE49-F238E27FC236}">
                <a16:creationId xmlns:a16="http://schemas.microsoft.com/office/drawing/2014/main" id="{EACCBC39-E990-4F3F-B249-CA66A8618FFC}"/>
              </a:ext>
            </a:extLst>
          </p:cNvPr>
          <p:cNvSpPr>
            <a:spLocks xmlns:a="http://schemas.openxmlformats.org/drawingml/2006/main" noGrp="1"/>
          </p:cNvSpPr>
          <p:nvPr/>
        </p:nvSpPr>
        <p:spPr>
          <a:xfrm xmlns:a="http://schemas.openxmlformats.org/drawingml/2006/main">
            <a:off x="8058150" y="3486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MODEL USAGE TRACE</a:t>
            </a:r>
          </a:p>
        </p:txBody>
      </p:sp>
      <p:sp>
        <p:nvSpPr>
          <p:cNvPr id="22" name="cover-invoice-head">
            <a:extLst xmlns:a="http://schemas.openxmlformats.org/drawingml/2006/main">
              <a:ext uri="{FF2B5EF4-FFF2-40B4-BE49-F238E27FC236}">
                <a16:creationId xmlns:a16="http://schemas.microsoft.com/office/drawing/2014/main" id="{28E29784-C725-4A82-9BF7-806C0D9AA1F6}"/>
              </a:ext>
            </a:extLst>
          </p:cNvPr>
          <p:cNvSpPr>
            <a:spLocks xmlns:a="http://schemas.openxmlformats.org/drawingml/2006/main" noGrp="1"/>
          </p:cNvSpPr>
          <p:nvPr/>
        </p:nvSpPr>
        <p:spPr>
          <a:xfrm xmlns:a="http://schemas.openxmlformats.org/drawingml/2006/main">
            <a:off x="8058150" y="3838575"/>
            <a:ext cx="3219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Menlo"/>
                <a:ea typeface="Menlo"/>
                <a:cs typeface="Menlo"/>
              </a:defRPr>
            </a:defPPr>
          </a:lstStyle>
          <a:p xmlns:a="http://schemas.openxmlformats.org/drawingml/2006/main">
            <a:pPr algn="l">
              <a:defRPr sz="1050" b="1" i="0">
                <a:solidFill>
                  <a:srgbClr val="B8C1D1"/>
                </a:solidFill>
                <a:latin typeface="Menlo"/>
                <a:ea typeface="Menlo"/>
                <a:cs typeface="Menlo"/>
              </a:defRPr>
            </a:pPr>
            <a:r>
              <a:rPr sz="1050" b="1" i="0">
                <a:solidFill>
                  <a:srgbClr val="B8C1D1"/>
                </a:solidFill>
                <a:latin typeface="Menlo"/>
                <a:ea typeface="Menlo"/>
                <a:cs typeface="Menlo"/>
              </a:rPr>
              <a:t>MODEL        USAGE EVENT</a:t>
            </a:r>
          </a:p>
        </p:txBody>
      </p:sp>
      <p:sp>
        <p:nvSpPr>
          <p:cNvPr id="23" name="cover-invoice-row-a">
            <a:extLst xmlns:a="http://schemas.openxmlformats.org/drawingml/2006/main">
              <a:ext uri="{FF2B5EF4-FFF2-40B4-BE49-F238E27FC236}">
                <a16:creationId xmlns:a16="http://schemas.microsoft.com/office/drawing/2014/main" id="{E0DD57D2-DC16-4122-AAD1-6E8781AFB9FC}"/>
              </a:ext>
            </a:extLst>
          </p:cNvPr>
          <p:cNvSpPr>
            <a:spLocks xmlns:a="http://schemas.openxmlformats.org/drawingml/2006/main" noGrp="1"/>
          </p:cNvSpPr>
          <p:nvPr/>
        </p:nvSpPr>
        <p:spPr>
          <a:xfrm xmlns:a="http://schemas.openxmlformats.org/drawingml/2006/main">
            <a:off x="8058150" y="421957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Menlo"/>
                <a:ea typeface="Menlo"/>
                <a:cs typeface="Menlo"/>
              </a:defRPr>
            </a:defPPr>
          </a:lstStyle>
          <a:p xmlns:a="http://schemas.openxmlformats.org/drawingml/2006/main">
            <a:pPr algn="l">
              <a:defRPr sz="1350" b="0" i="0">
                <a:solidFill>
                  <a:srgbClr val="F5F2EA"/>
                </a:solidFill>
                <a:latin typeface="Menlo"/>
                <a:ea typeface="Menlo"/>
                <a:cs typeface="Menlo"/>
              </a:defRPr>
            </a:pPr>
            <a:r>
              <a:rPr sz="1350" b="0" i="0">
                <a:solidFill>
                  <a:srgbClr val="F5F2EA"/>
                </a:solidFill>
                <a:latin typeface="Menlo"/>
                <a:ea typeface="Menlo"/>
                <a:cs typeface="Menlo"/>
              </a:rPr>
              <a:t>fast         branch A</a:t>
            </a:r>
          </a:p>
        </p:txBody>
      </p:sp>
      <p:sp>
        <p:nvSpPr>
          <p:cNvPr id="24" name="cover-invoice-row-b">
            <a:extLst xmlns:a="http://schemas.openxmlformats.org/drawingml/2006/main">
              <a:ext uri="{FF2B5EF4-FFF2-40B4-BE49-F238E27FC236}">
                <a16:creationId xmlns:a16="http://schemas.microsoft.com/office/drawing/2014/main" id="{5ED4D0E2-8754-43B0-AC90-F6620915C76D}"/>
              </a:ext>
            </a:extLst>
          </p:cNvPr>
          <p:cNvSpPr>
            <a:spLocks xmlns:a="http://schemas.openxmlformats.org/drawingml/2006/main" noGrp="1"/>
          </p:cNvSpPr>
          <p:nvPr/>
        </p:nvSpPr>
        <p:spPr>
          <a:xfrm xmlns:a="http://schemas.openxmlformats.org/drawingml/2006/main">
            <a:off x="8058150" y="4619625"/>
            <a:ext cx="3219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F8A5C"/>
                </a:solidFill>
                <a:latin typeface="Menlo"/>
                <a:ea typeface="Menlo"/>
                <a:cs typeface="Menlo"/>
              </a:defRPr>
            </a:defPPr>
          </a:lstStyle>
          <a:p xmlns:a="http://schemas.openxmlformats.org/drawingml/2006/main">
            <a:pPr algn="l">
              <a:defRPr sz="1350" b="0" i="0">
                <a:solidFill>
                  <a:srgbClr val="FF8A5C"/>
                </a:solidFill>
                <a:latin typeface="Menlo"/>
                <a:ea typeface="Menlo"/>
                <a:cs typeface="Menlo"/>
              </a:defRPr>
            </a:pPr>
            <a:r>
              <a:rPr sz="1350" b="0" i="0">
                <a:solidFill>
                  <a:srgbClr val="FF8A5C"/>
                </a:solidFill>
                <a:latin typeface="Menlo"/>
                <a:ea typeface="Menlo"/>
                <a:cs typeface="Menlo"/>
              </a:rPr>
              <a:t>large        branch B</a:t>
            </a:r>
          </a:p>
        </p:txBody>
      </p:sp>
      <p:sp>
        <p:nvSpPr>
          <p:cNvPr id="25" name="cover-invoice-rule">
            <a:extLst xmlns:a="http://schemas.openxmlformats.org/drawingml/2006/main">
              <a:ext uri="{FF2B5EF4-FFF2-40B4-BE49-F238E27FC236}">
                <a16:creationId xmlns:a16="http://schemas.microsoft.com/office/drawing/2014/main" id="{2EEC22AA-2C79-462D-9E28-8280ACDEDB92}"/>
              </a:ext>
            </a:extLst>
          </p:cNvPr>
          <p:cNvSpPr>
            <a:spLocks xmlns:a="http://schemas.openxmlformats.org/drawingml/2006/main" noGrp="1"/>
          </p:cNvSpPr>
          <p:nvPr/>
        </p:nvSpPr>
        <p:spPr>
          <a:xfrm xmlns:a="http://schemas.openxmlformats.org/drawingml/2006/main">
            <a:off x="8058150" y="5010150"/>
            <a:ext cx="32194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6" name="cover-conclusion">
            <a:extLst xmlns:a="http://schemas.openxmlformats.org/drawingml/2006/main">
              <a:ext uri="{FF2B5EF4-FFF2-40B4-BE49-F238E27FC236}">
                <a16:creationId xmlns:a16="http://schemas.microsoft.com/office/drawing/2014/main" id="{CAE4FEA4-3807-4E99-B88D-B41A7D46FE4D}"/>
              </a:ext>
            </a:extLst>
          </p:cNvPr>
          <p:cNvSpPr>
            <a:spLocks xmlns:a="http://schemas.openxmlformats.org/drawingml/2006/main" noGrp="1"/>
          </p:cNvSpPr>
          <p:nvPr/>
        </p:nvSpPr>
        <p:spPr>
          <a:xfrm xmlns:a="http://schemas.openxmlformats.org/drawingml/2006/main">
            <a:off x="8058150" y="5229225"/>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5CC8B8"/>
                </a:solidFill>
                <a:latin typeface="Avenir Next"/>
                <a:ea typeface="Avenir Next"/>
                <a:cs typeface="Avenir Next"/>
              </a:defRPr>
            </a:defPPr>
          </a:lstStyle>
          <a:p xmlns:a="http://schemas.openxmlformats.org/drawingml/2006/main">
            <a:pPr algn="l">
              <a:defRPr sz="1350" b="1" i="0">
                <a:solidFill>
                  <a:srgbClr val="5CC8B8"/>
                </a:solidFill>
                <a:latin typeface="Avenir Next"/>
                <a:ea typeface="Avenir Next"/>
                <a:cs typeface="Avenir Next"/>
              </a:defRPr>
            </a:pPr>
            <a:r>
              <a:rPr sz="1350" b="1" i="0">
                <a:solidFill>
                  <a:srgbClr val="5CC8B8"/>
                </a:solidFill>
                <a:latin typeface="Avenir Next"/>
                <a:ea typeface="Avenir Next"/>
                <a:cs typeface="Avenir Next"/>
              </a:rPr>
              <a:t>If usage is itemized, the selected path is visible.</a:t>
            </a:r>
          </a:p>
        </p:txBody>
      </p:sp>
    </p:spTree>
    <p:extLst>
      <p:ext uri="{BB962C8B-B14F-4D97-AF65-F5344CB8AC3E}">
        <p14:creationId xmlns:p14="http://schemas.microsoft.com/office/powerpoint/2010/main" val="1772357561"/>
      </p:ext>
    </p:extLst>
  </p:cSld>
</p:sld>
</file>

<file path=ppt/slides/slide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3" name="s2-brand">
            <a:extLst xmlns:a="http://schemas.openxmlformats.org/drawingml/2006/main">
              <a:ext uri="{FF2B5EF4-FFF2-40B4-BE49-F238E27FC236}">
                <a16:creationId xmlns:a16="http://schemas.microsoft.com/office/drawing/2014/main" id="{BA4C7832-30D4-4816-98DD-559EBB5C045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section">
            <a:extLst xmlns:a="http://schemas.openxmlformats.org/drawingml/2006/main">
              <a:ext uri="{FF2B5EF4-FFF2-40B4-BE49-F238E27FC236}">
                <a16:creationId xmlns:a16="http://schemas.microsoft.com/office/drawing/2014/main" id="{433399B1-9958-4A4B-A907-56998815841B}"/>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FINITE CHANNEL · HOOK</a:t>
            </a:r>
          </a:p>
        </p:txBody>
      </p:sp>
      <p:sp>
        <p:nvSpPr>
          <p:cNvPr id="3" name="s2-title">
            <a:extLst xmlns:a="http://schemas.openxmlformats.org/drawingml/2006/main">
              <a:ext uri="{FF2B5EF4-FFF2-40B4-BE49-F238E27FC236}">
                <a16:creationId xmlns:a16="http://schemas.microsoft.com/office/drawing/2014/main" id="{D81B49BF-4937-450E-9C1C-6E3B93275264}"/>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Equal means can hide different usage laws</a:t>
            </a:r>
          </a:p>
        </p:txBody>
      </p:sp>
      <p:sp>
        <p:nvSpPr>
          <p:cNvPr id="4" name="s2-subtitle">
            <a:extLst xmlns:a="http://schemas.openxmlformats.org/drawingml/2006/main">
              <a:ext uri="{FF2B5EF4-FFF2-40B4-BE49-F238E27FC236}">
                <a16:creationId xmlns:a16="http://schemas.microsoft.com/office/drawing/2014/main" id="{FE4A842A-40B6-4422-B9A0-3FB389B8A139}"/>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Both branches average two output tokens. The finite usage distributions are disjoint.</a:t>
            </a:r>
          </a:p>
        </p:txBody>
      </p:sp>
      <p:sp>
        <p:nvSpPr>
          <p:cNvPr id="5" name="s2-source-rule">
            <a:extLst xmlns:a="http://schemas.openxmlformats.org/drawingml/2006/main">
              <a:ext uri="{FF2B5EF4-FFF2-40B4-BE49-F238E27FC236}">
                <a16:creationId xmlns:a16="http://schemas.microsoft.com/office/drawing/2014/main" id="{1DEA20CE-7BB0-440A-AE8F-D52172CCD90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2-sources">
            <a:extLst xmlns:a="http://schemas.openxmlformats.org/drawingml/2006/main">
              <a:ext uri="{FF2B5EF4-FFF2-40B4-BE49-F238E27FC236}">
                <a16:creationId xmlns:a16="http://schemas.microsoft.com/office/drawing/2014/main" id="{3ED66626-8CE2-4213-9192-D0C54FAFEB21}"/>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examples/channels/same_mean_distinct_laws.graph.json</a:t>
            </a:r>
          </a:p>
        </p:txBody>
      </p:sp>
      <p:sp>
        <p:nvSpPr>
          <p:cNvPr id="7" name="s2-footer-rule">
            <a:extLst xmlns:a="http://schemas.openxmlformats.org/drawingml/2006/main">
              <a:ext uri="{FF2B5EF4-FFF2-40B4-BE49-F238E27FC236}">
                <a16:creationId xmlns:a16="http://schemas.microsoft.com/office/drawing/2014/main" id="{10AE9586-B641-4D1E-83E6-5567349D3E69}"/>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2-footer">
            <a:extLst xmlns:a="http://schemas.openxmlformats.org/drawingml/2006/main">
              <a:ext uri="{FF2B5EF4-FFF2-40B4-BE49-F238E27FC236}">
                <a16:creationId xmlns:a16="http://schemas.microsoft.com/office/drawing/2014/main" id="{1CE4C0CB-33FD-4305-977B-1D535B5B3460}"/>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2-page">
            <a:extLst xmlns:a="http://schemas.openxmlformats.org/drawingml/2006/main">
              <a:ext uri="{FF2B5EF4-FFF2-40B4-BE49-F238E27FC236}">
                <a16:creationId xmlns:a16="http://schemas.microsoft.com/office/drawing/2014/main" id="{0228F1EB-1C6F-4336-AC27-97CAFDF3EE4C}"/>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2</a:t>
            </a:r>
          </a:p>
        </p:txBody>
      </p:sp>
      <p:sp>
        <p:nvSpPr>
          <p:cNvPr id="10" name="laws-axis-title">
            <a:extLst xmlns:a="http://schemas.openxmlformats.org/drawingml/2006/main">
              <a:ext uri="{FF2B5EF4-FFF2-40B4-BE49-F238E27FC236}">
                <a16:creationId xmlns:a16="http://schemas.microsoft.com/office/drawing/2014/main" id="{EE93B740-D7CF-4354-AC75-97B199AC2104}"/>
              </a:ext>
            </a:extLst>
          </p:cNvPr>
          <p:cNvSpPr>
            <a:spLocks xmlns:a="http://schemas.openxmlformats.org/drawingml/2006/main" noGrp="1"/>
          </p:cNvSpPr>
          <p:nvPr/>
        </p:nvSpPr>
        <p:spPr>
          <a:xfrm xmlns:a="http://schemas.openxmlformats.org/drawingml/2006/main">
            <a:off x="857250" y="23241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OUTPUT USAGE PER CALL  ·  tokens</a:t>
            </a:r>
          </a:p>
        </p:txBody>
      </p:sp>
      <p:sp>
        <p:nvSpPr>
          <p:cNvPr id="11" name="laws-axis-1">
            <a:extLst xmlns:a="http://schemas.openxmlformats.org/drawingml/2006/main">
              <a:ext uri="{FF2B5EF4-FFF2-40B4-BE49-F238E27FC236}">
                <a16:creationId xmlns:a16="http://schemas.microsoft.com/office/drawing/2014/main" id="{8A049625-4398-4E37-844C-2A0BFEA5306A}"/>
              </a:ext>
            </a:extLst>
          </p:cNvPr>
          <p:cNvSpPr>
            <a:spLocks xmlns:a="http://schemas.openxmlformats.org/drawingml/2006/main" noGrp="1"/>
          </p:cNvSpPr>
          <p:nvPr/>
        </p:nvSpPr>
        <p:spPr>
          <a:xfrm xmlns:a="http://schemas.openxmlformats.org/drawingml/2006/main">
            <a:off x="3952875" y="53340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B8C1D1"/>
                </a:solidFill>
                <a:latin typeface="Menlo"/>
                <a:ea typeface="Menlo"/>
                <a:cs typeface="Menlo"/>
              </a:defRPr>
            </a:defPPr>
          </a:lstStyle>
          <a:p xmlns:a="http://schemas.openxmlformats.org/drawingml/2006/main">
            <a:pPr algn="ctr">
              <a:defRPr sz="1125" b="0" i="0">
                <a:solidFill>
                  <a:srgbClr val="B8C1D1"/>
                </a:solidFill>
                <a:latin typeface="Menlo"/>
                <a:ea typeface="Menlo"/>
                <a:cs typeface="Menlo"/>
              </a:defRPr>
            </a:pPr>
            <a:r>
              <a:rPr sz="1125" b="0" i="0">
                <a:solidFill>
                  <a:srgbClr val="B8C1D1"/>
                </a:solidFill>
                <a:latin typeface="Menlo"/>
                <a:ea typeface="Menlo"/>
                <a:cs typeface="Menlo"/>
              </a:rPr>
              <a:t>1</a:t>
            </a:r>
          </a:p>
        </p:txBody>
      </p:sp>
      <p:sp>
        <p:nvSpPr>
          <p:cNvPr id="12" name="laws-axis-2">
            <a:extLst xmlns:a="http://schemas.openxmlformats.org/drawingml/2006/main">
              <a:ext uri="{FF2B5EF4-FFF2-40B4-BE49-F238E27FC236}">
                <a16:creationId xmlns:a16="http://schemas.microsoft.com/office/drawing/2014/main" id="{8BA4482D-18DB-4506-AB1C-7885A9C1DFA9}"/>
              </a:ext>
            </a:extLst>
          </p:cNvPr>
          <p:cNvSpPr>
            <a:spLocks xmlns:a="http://schemas.openxmlformats.org/drawingml/2006/main" noGrp="1"/>
          </p:cNvSpPr>
          <p:nvPr/>
        </p:nvSpPr>
        <p:spPr>
          <a:xfrm xmlns:a="http://schemas.openxmlformats.org/drawingml/2006/main">
            <a:off x="5314950" y="53340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B8C1D1"/>
                </a:solidFill>
                <a:latin typeface="Menlo"/>
                <a:ea typeface="Menlo"/>
                <a:cs typeface="Menlo"/>
              </a:defRPr>
            </a:defPPr>
          </a:lstStyle>
          <a:p xmlns:a="http://schemas.openxmlformats.org/drawingml/2006/main">
            <a:pPr algn="ctr">
              <a:defRPr sz="1125" b="0" i="0">
                <a:solidFill>
                  <a:srgbClr val="B8C1D1"/>
                </a:solidFill>
                <a:latin typeface="Menlo"/>
                <a:ea typeface="Menlo"/>
                <a:cs typeface="Menlo"/>
              </a:defRPr>
            </a:pPr>
            <a:r>
              <a:rPr sz="1125" b="0" i="0">
                <a:solidFill>
                  <a:srgbClr val="B8C1D1"/>
                </a:solidFill>
                <a:latin typeface="Menlo"/>
                <a:ea typeface="Menlo"/>
                <a:cs typeface="Menlo"/>
              </a:rPr>
              <a:t>2</a:t>
            </a:r>
          </a:p>
        </p:txBody>
      </p:sp>
      <p:sp>
        <p:nvSpPr>
          <p:cNvPr id="13" name="laws-axis-3">
            <a:extLst xmlns:a="http://schemas.openxmlformats.org/drawingml/2006/main">
              <a:ext uri="{FF2B5EF4-FFF2-40B4-BE49-F238E27FC236}">
                <a16:creationId xmlns:a16="http://schemas.microsoft.com/office/drawing/2014/main" id="{B26DAA4F-EE4E-4CE8-839B-FDA8B8D9B3A1}"/>
              </a:ext>
            </a:extLst>
          </p:cNvPr>
          <p:cNvSpPr>
            <a:spLocks xmlns:a="http://schemas.openxmlformats.org/drawingml/2006/main" noGrp="1"/>
          </p:cNvSpPr>
          <p:nvPr/>
        </p:nvSpPr>
        <p:spPr>
          <a:xfrm xmlns:a="http://schemas.openxmlformats.org/drawingml/2006/main">
            <a:off x="6677025" y="53340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B8C1D1"/>
                </a:solidFill>
                <a:latin typeface="Menlo"/>
                <a:ea typeface="Menlo"/>
                <a:cs typeface="Menlo"/>
              </a:defRPr>
            </a:defPPr>
          </a:lstStyle>
          <a:p xmlns:a="http://schemas.openxmlformats.org/drawingml/2006/main">
            <a:pPr algn="ctr">
              <a:defRPr sz="1125" b="0" i="0">
                <a:solidFill>
                  <a:srgbClr val="B8C1D1"/>
                </a:solidFill>
                <a:latin typeface="Menlo"/>
                <a:ea typeface="Menlo"/>
                <a:cs typeface="Menlo"/>
              </a:defRPr>
            </a:pPr>
            <a:r>
              <a:rPr sz="1125" b="0" i="0">
                <a:solidFill>
                  <a:srgbClr val="B8C1D1"/>
                </a:solidFill>
                <a:latin typeface="Menlo"/>
                <a:ea typeface="Menlo"/>
                <a:cs typeface="Menlo"/>
              </a:rPr>
              <a:t>3</a:t>
            </a:r>
          </a:p>
        </p:txBody>
      </p:sp>
      <p:sp>
        <p:nvSpPr>
          <p:cNvPr id="14" name="laws-a">
            <a:extLst xmlns:a="http://schemas.openxmlformats.org/drawingml/2006/main">
              <a:ext uri="{FF2B5EF4-FFF2-40B4-BE49-F238E27FC236}">
                <a16:creationId xmlns:a16="http://schemas.microsoft.com/office/drawing/2014/main" id="{5ED5B89B-AE59-4C34-8C62-15CFCFEEE60A}"/>
              </a:ext>
            </a:extLst>
          </p:cNvPr>
          <p:cNvSpPr>
            <a:spLocks xmlns:a="http://schemas.openxmlformats.org/drawingml/2006/main" noGrp="1"/>
          </p:cNvSpPr>
          <p:nvPr/>
        </p:nvSpPr>
        <p:spPr>
          <a:xfrm xmlns:a="http://schemas.openxmlformats.org/drawingml/2006/main">
            <a:off x="857250" y="2905125"/>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FF8A5C"/>
                </a:solidFill>
                <a:latin typeface="Avenir Next"/>
                <a:ea typeface="Avenir Next"/>
                <a:cs typeface="Avenir Next"/>
              </a:defRPr>
            </a:defPPr>
          </a:lstStyle>
          <a:p xmlns:a="http://schemas.openxmlformats.org/drawingml/2006/main">
            <a:pPr algn="l">
              <a:defRPr sz="1200" b="1" i="0">
                <a:solidFill>
                  <a:srgbClr val="FF8A5C"/>
                </a:solidFill>
                <a:latin typeface="Avenir Next"/>
                <a:ea typeface="Avenir Next"/>
                <a:cs typeface="Avenir Next"/>
              </a:defRPr>
            </a:pPr>
            <a:r>
              <a:rPr sz="1200" b="1" i="0">
                <a:solidFill>
                  <a:srgbClr val="FF8A5C"/>
                </a:solidFill>
                <a:latin typeface="Avenir Next"/>
                <a:ea typeface="Avenir Next"/>
                <a:cs typeface="Avenir Next"/>
              </a:rPr>
              <a:t>TEMPLATE A</a:t>
            </a:r>
          </a:p>
        </p:txBody>
      </p:sp>
      <p:sp>
        <p:nvSpPr>
          <p:cNvPr id="15" name="laws-a-sub">
            <a:extLst xmlns:a="http://schemas.openxmlformats.org/drawingml/2006/main">
              <a:ext uri="{FF2B5EF4-FFF2-40B4-BE49-F238E27FC236}">
                <a16:creationId xmlns:a16="http://schemas.microsoft.com/office/drawing/2014/main" id="{2E516238-0AD3-4CEF-B69F-F55CFCC01AE7}"/>
              </a:ext>
            </a:extLst>
          </p:cNvPr>
          <p:cNvSpPr>
            <a:spLocks xmlns:a="http://schemas.openxmlformats.org/drawingml/2006/main" noGrp="1"/>
          </p:cNvSpPr>
          <p:nvPr/>
        </p:nvSpPr>
        <p:spPr>
          <a:xfrm xmlns:a="http://schemas.openxmlformats.org/drawingml/2006/main">
            <a:off x="857250" y="3190875"/>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Menlo"/>
                <a:ea typeface="Menlo"/>
                <a:cs typeface="Menlo"/>
              </a:defRPr>
            </a:defPPr>
          </a:lstStyle>
          <a:p xmlns:a="http://schemas.openxmlformats.org/drawingml/2006/main">
            <a:pPr algn="l">
              <a:defRPr sz="1350" b="0" i="0">
                <a:solidFill>
                  <a:srgbClr val="F5F2EA"/>
                </a:solidFill>
                <a:latin typeface="Menlo"/>
                <a:ea typeface="Menlo"/>
                <a:cs typeface="Menlo"/>
              </a:defRPr>
            </a:pPr>
            <a:r>
              <a:rPr sz="1350" b="0" i="0">
                <a:solidFill>
                  <a:srgbClr val="F5F2EA"/>
                </a:solidFill>
                <a:latin typeface="Menlo"/>
                <a:ea typeface="Menlo"/>
                <a:cs typeface="Menlo"/>
              </a:rPr>
              <a:t>P(1)=1/2   P(3)=1/2</a:t>
            </a:r>
          </a:p>
        </p:txBody>
      </p:sp>
      <p:sp>
        <p:nvSpPr>
          <p:cNvPr id="16" name="laws-a-baseline">
            <a:extLst xmlns:a="http://schemas.openxmlformats.org/drawingml/2006/main">
              <a:ext uri="{FF2B5EF4-FFF2-40B4-BE49-F238E27FC236}">
                <a16:creationId xmlns:a16="http://schemas.microsoft.com/office/drawing/2014/main" id="{28D50A4E-CBBA-4AC6-827D-BADED88E9BCC}"/>
              </a:ext>
            </a:extLst>
          </p:cNvPr>
          <p:cNvSpPr>
            <a:spLocks xmlns:a="http://schemas.openxmlformats.org/drawingml/2006/main" noGrp="1"/>
          </p:cNvSpPr>
          <p:nvPr/>
        </p:nvSpPr>
        <p:spPr>
          <a:xfrm xmlns:a="http://schemas.openxmlformats.org/drawingml/2006/main">
            <a:off x="3429000" y="3676650"/>
            <a:ext cx="41910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7" name="laws-a-bar1">
            <a:extLst xmlns:a="http://schemas.openxmlformats.org/drawingml/2006/main">
              <a:ext uri="{FF2B5EF4-FFF2-40B4-BE49-F238E27FC236}">
                <a16:creationId xmlns:a16="http://schemas.microsoft.com/office/drawing/2014/main" id="{CF5CDFFB-C9E6-4E3F-8439-B60C3F202A97}"/>
              </a:ext>
            </a:extLst>
          </p:cNvPr>
          <p:cNvSpPr>
            <a:spLocks xmlns:a="http://schemas.openxmlformats.org/drawingml/2006/main" noGrp="1"/>
          </p:cNvSpPr>
          <p:nvPr/>
        </p:nvSpPr>
        <p:spPr>
          <a:xfrm xmlns:a="http://schemas.openxmlformats.org/drawingml/2006/main">
            <a:off x="3857625" y="3009900"/>
            <a:ext cx="514350" cy="6667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8" name="laws-a-bar3">
            <a:extLst xmlns:a="http://schemas.openxmlformats.org/drawingml/2006/main">
              <a:ext uri="{FF2B5EF4-FFF2-40B4-BE49-F238E27FC236}">
                <a16:creationId xmlns:a16="http://schemas.microsoft.com/office/drawing/2014/main" id="{95490831-A372-4E6C-B614-5A7CC7231042}"/>
              </a:ext>
            </a:extLst>
          </p:cNvPr>
          <p:cNvSpPr>
            <a:spLocks xmlns:a="http://schemas.openxmlformats.org/drawingml/2006/main" noGrp="1"/>
          </p:cNvSpPr>
          <p:nvPr/>
        </p:nvSpPr>
        <p:spPr>
          <a:xfrm xmlns:a="http://schemas.openxmlformats.org/drawingml/2006/main">
            <a:off x="6581775" y="3009900"/>
            <a:ext cx="514350" cy="6667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9" name="laws-a-prob1">
            <a:extLst xmlns:a="http://schemas.openxmlformats.org/drawingml/2006/main">
              <a:ext uri="{FF2B5EF4-FFF2-40B4-BE49-F238E27FC236}">
                <a16:creationId xmlns:a16="http://schemas.microsoft.com/office/drawing/2014/main" id="{81CC437E-54D1-4454-A364-9A7D418D2ADA}"/>
              </a:ext>
            </a:extLst>
          </p:cNvPr>
          <p:cNvSpPr>
            <a:spLocks xmlns:a="http://schemas.openxmlformats.org/drawingml/2006/main" noGrp="1"/>
          </p:cNvSpPr>
          <p:nvPr/>
        </p:nvSpPr>
        <p:spPr>
          <a:xfrm xmlns:a="http://schemas.openxmlformats.org/drawingml/2006/main">
            <a:off x="3876675" y="27051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F5F2EA"/>
                </a:solidFill>
                <a:latin typeface="Menlo"/>
                <a:ea typeface="Menlo"/>
                <a:cs typeface="Menlo"/>
              </a:defRPr>
            </a:defPPr>
          </a:lstStyle>
          <a:p xmlns:a="http://schemas.openxmlformats.org/drawingml/2006/main">
            <a:pPr algn="ctr">
              <a:defRPr sz="1125" b="1" i="0">
                <a:solidFill>
                  <a:srgbClr val="F5F2EA"/>
                </a:solidFill>
                <a:latin typeface="Menlo"/>
                <a:ea typeface="Menlo"/>
                <a:cs typeface="Menlo"/>
              </a:defRPr>
            </a:pPr>
            <a:r>
              <a:rPr sz="1125" b="1" i="0">
                <a:solidFill>
                  <a:srgbClr val="F5F2EA"/>
                </a:solidFill>
                <a:latin typeface="Menlo"/>
                <a:ea typeface="Menlo"/>
                <a:cs typeface="Menlo"/>
              </a:rPr>
              <a:t>1/2</a:t>
            </a:r>
          </a:p>
        </p:txBody>
      </p:sp>
      <p:sp>
        <p:nvSpPr>
          <p:cNvPr id="20" name="laws-a-prob3">
            <a:extLst xmlns:a="http://schemas.openxmlformats.org/drawingml/2006/main">
              <a:ext uri="{FF2B5EF4-FFF2-40B4-BE49-F238E27FC236}">
                <a16:creationId xmlns:a16="http://schemas.microsoft.com/office/drawing/2014/main" id="{73279252-B6BB-4D90-AF79-F92FC001FC59}"/>
              </a:ext>
            </a:extLst>
          </p:cNvPr>
          <p:cNvSpPr>
            <a:spLocks xmlns:a="http://schemas.openxmlformats.org/drawingml/2006/main" noGrp="1"/>
          </p:cNvSpPr>
          <p:nvPr/>
        </p:nvSpPr>
        <p:spPr>
          <a:xfrm xmlns:a="http://schemas.openxmlformats.org/drawingml/2006/main">
            <a:off x="6600825" y="27051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F5F2EA"/>
                </a:solidFill>
                <a:latin typeface="Menlo"/>
                <a:ea typeface="Menlo"/>
                <a:cs typeface="Menlo"/>
              </a:defRPr>
            </a:defPPr>
          </a:lstStyle>
          <a:p xmlns:a="http://schemas.openxmlformats.org/drawingml/2006/main">
            <a:pPr algn="ctr">
              <a:defRPr sz="1125" b="1" i="0">
                <a:solidFill>
                  <a:srgbClr val="F5F2EA"/>
                </a:solidFill>
                <a:latin typeface="Menlo"/>
                <a:ea typeface="Menlo"/>
                <a:cs typeface="Menlo"/>
              </a:defRPr>
            </a:pPr>
            <a:r>
              <a:rPr sz="1125" b="1" i="0">
                <a:solidFill>
                  <a:srgbClr val="F5F2EA"/>
                </a:solidFill>
                <a:latin typeface="Menlo"/>
                <a:ea typeface="Menlo"/>
                <a:cs typeface="Menlo"/>
              </a:rPr>
              <a:t>1/2</a:t>
            </a:r>
          </a:p>
        </p:txBody>
      </p:sp>
      <p:sp>
        <p:nvSpPr>
          <p:cNvPr id="21" name="laws-b">
            <a:extLst xmlns:a="http://schemas.openxmlformats.org/drawingml/2006/main">
              <a:ext uri="{FF2B5EF4-FFF2-40B4-BE49-F238E27FC236}">
                <a16:creationId xmlns:a16="http://schemas.microsoft.com/office/drawing/2014/main" id="{48CAC555-CC82-4ED2-8827-4723D9C03A8E}"/>
              </a:ext>
            </a:extLst>
          </p:cNvPr>
          <p:cNvSpPr>
            <a:spLocks xmlns:a="http://schemas.openxmlformats.org/drawingml/2006/main" noGrp="1"/>
          </p:cNvSpPr>
          <p:nvPr/>
        </p:nvSpPr>
        <p:spPr>
          <a:xfrm xmlns:a="http://schemas.openxmlformats.org/drawingml/2006/main">
            <a:off x="857250" y="4324350"/>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i="0">
                <a:solidFill>
                  <a:srgbClr val="5CC8B8"/>
                </a:solidFill>
                <a:latin typeface="Avenir Next"/>
                <a:ea typeface="Avenir Next"/>
                <a:cs typeface="Avenir Next"/>
              </a:defRPr>
            </a:defPPr>
          </a:lstStyle>
          <a:p xmlns:a="http://schemas.openxmlformats.org/drawingml/2006/main">
            <a:pPr algn="l">
              <a:defRPr sz="1200" b="1" i="0">
                <a:solidFill>
                  <a:srgbClr val="5CC8B8"/>
                </a:solidFill>
                <a:latin typeface="Avenir Next"/>
                <a:ea typeface="Avenir Next"/>
                <a:cs typeface="Avenir Next"/>
              </a:defRPr>
            </a:pPr>
            <a:r>
              <a:rPr sz="1200" b="1" i="0">
                <a:solidFill>
                  <a:srgbClr val="5CC8B8"/>
                </a:solidFill>
                <a:latin typeface="Avenir Next"/>
                <a:ea typeface="Avenir Next"/>
                <a:cs typeface="Avenir Next"/>
              </a:rPr>
              <a:t>TEMPLATE B</a:t>
            </a:r>
          </a:p>
        </p:txBody>
      </p:sp>
      <p:sp>
        <p:nvSpPr>
          <p:cNvPr id="22" name="laws-b-sub">
            <a:extLst xmlns:a="http://schemas.openxmlformats.org/drawingml/2006/main">
              <a:ext uri="{FF2B5EF4-FFF2-40B4-BE49-F238E27FC236}">
                <a16:creationId xmlns:a16="http://schemas.microsoft.com/office/drawing/2014/main" id="{BBE1593B-B66E-4BA1-9D02-53A0D6C29611}"/>
              </a:ext>
            </a:extLst>
          </p:cNvPr>
          <p:cNvSpPr>
            <a:spLocks xmlns:a="http://schemas.openxmlformats.org/drawingml/2006/main" noGrp="1"/>
          </p:cNvSpPr>
          <p:nvPr/>
        </p:nvSpPr>
        <p:spPr>
          <a:xfrm xmlns:a="http://schemas.openxmlformats.org/drawingml/2006/main">
            <a:off x="857250" y="461010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Menlo"/>
                <a:ea typeface="Menlo"/>
                <a:cs typeface="Menlo"/>
              </a:defRPr>
            </a:defPPr>
          </a:lstStyle>
          <a:p xmlns:a="http://schemas.openxmlformats.org/drawingml/2006/main">
            <a:pPr algn="l">
              <a:defRPr sz="1350" b="0" i="0">
                <a:solidFill>
                  <a:srgbClr val="F5F2EA"/>
                </a:solidFill>
                <a:latin typeface="Menlo"/>
                <a:ea typeface="Menlo"/>
                <a:cs typeface="Menlo"/>
              </a:defRPr>
            </a:pPr>
            <a:r>
              <a:rPr sz="1350" b="0" i="0">
                <a:solidFill>
                  <a:srgbClr val="F5F2EA"/>
                </a:solidFill>
                <a:latin typeface="Menlo"/>
                <a:ea typeface="Menlo"/>
                <a:cs typeface="Menlo"/>
              </a:rPr>
              <a:t>P(2)=1</a:t>
            </a:r>
          </a:p>
        </p:txBody>
      </p:sp>
      <p:sp>
        <p:nvSpPr>
          <p:cNvPr id="23" name="laws-b-baseline">
            <a:extLst xmlns:a="http://schemas.openxmlformats.org/drawingml/2006/main">
              <a:ext uri="{FF2B5EF4-FFF2-40B4-BE49-F238E27FC236}">
                <a16:creationId xmlns:a16="http://schemas.microsoft.com/office/drawing/2014/main" id="{62D038A2-87AF-4792-9877-DB22AEC4A9A5}"/>
              </a:ext>
            </a:extLst>
          </p:cNvPr>
          <p:cNvSpPr>
            <a:spLocks xmlns:a="http://schemas.openxmlformats.org/drawingml/2006/main" noGrp="1"/>
          </p:cNvSpPr>
          <p:nvPr/>
        </p:nvSpPr>
        <p:spPr>
          <a:xfrm xmlns:a="http://schemas.openxmlformats.org/drawingml/2006/main">
            <a:off x="3429000" y="5095875"/>
            <a:ext cx="41910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4" name="laws-b-bar2">
            <a:extLst xmlns:a="http://schemas.openxmlformats.org/drawingml/2006/main">
              <a:ext uri="{FF2B5EF4-FFF2-40B4-BE49-F238E27FC236}">
                <a16:creationId xmlns:a16="http://schemas.microsoft.com/office/drawing/2014/main" id="{A06F0018-55AE-4EF5-99DC-D846FA9D2047}"/>
              </a:ext>
            </a:extLst>
          </p:cNvPr>
          <p:cNvSpPr>
            <a:spLocks xmlns:a="http://schemas.openxmlformats.org/drawingml/2006/main" noGrp="1"/>
          </p:cNvSpPr>
          <p:nvPr/>
        </p:nvSpPr>
        <p:spPr>
          <a:xfrm xmlns:a="http://schemas.openxmlformats.org/drawingml/2006/main">
            <a:off x="5219700" y="3952875"/>
            <a:ext cx="514350" cy="11430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5" name="laws-b-prob2">
            <a:extLst xmlns:a="http://schemas.openxmlformats.org/drawingml/2006/main">
              <a:ext uri="{FF2B5EF4-FFF2-40B4-BE49-F238E27FC236}">
                <a16:creationId xmlns:a16="http://schemas.microsoft.com/office/drawing/2014/main" id="{67E18401-E982-4D85-A648-F00747E731E3}"/>
              </a:ext>
            </a:extLst>
          </p:cNvPr>
          <p:cNvSpPr>
            <a:spLocks xmlns:a="http://schemas.openxmlformats.org/drawingml/2006/main" noGrp="1"/>
          </p:cNvSpPr>
          <p:nvPr/>
        </p:nvSpPr>
        <p:spPr>
          <a:xfrm xmlns:a="http://schemas.openxmlformats.org/drawingml/2006/main">
            <a:off x="5238750" y="3648075"/>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F5F2EA"/>
                </a:solidFill>
                <a:latin typeface="Menlo"/>
                <a:ea typeface="Menlo"/>
                <a:cs typeface="Menlo"/>
              </a:defRPr>
            </a:defPPr>
          </a:lstStyle>
          <a:p xmlns:a="http://schemas.openxmlformats.org/drawingml/2006/main">
            <a:pPr algn="ctr">
              <a:defRPr sz="1125" b="1" i="0">
                <a:solidFill>
                  <a:srgbClr val="F5F2EA"/>
                </a:solidFill>
                <a:latin typeface="Menlo"/>
                <a:ea typeface="Menlo"/>
                <a:cs typeface="Menlo"/>
              </a:defRPr>
            </a:pPr>
            <a:r>
              <a:rPr sz="1125" b="1" i="0">
                <a:solidFill>
                  <a:srgbClr val="F5F2EA"/>
                </a:solidFill>
                <a:latin typeface="Menlo"/>
                <a:ea typeface="Menlo"/>
                <a:cs typeface="Menlo"/>
              </a:rPr>
              <a:t>1</a:t>
            </a:r>
          </a:p>
        </p:txBody>
      </p:sp>
      <p:sp>
        <p:nvSpPr>
          <p:cNvPr id="26" name="laws-stat-divider">
            <a:extLst xmlns:a="http://schemas.openxmlformats.org/drawingml/2006/main">
              <a:ext uri="{FF2B5EF4-FFF2-40B4-BE49-F238E27FC236}">
                <a16:creationId xmlns:a16="http://schemas.microsoft.com/office/drawing/2014/main" id="{7B850B95-B304-4BC9-BB23-5FAB61D13161}"/>
              </a:ext>
            </a:extLst>
          </p:cNvPr>
          <p:cNvSpPr>
            <a:spLocks xmlns:a="http://schemas.openxmlformats.org/drawingml/2006/main" noGrp="1"/>
          </p:cNvSpPr>
          <p:nvPr/>
        </p:nvSpPr>
        <p:spPr>
          <a:xfrm xmlns:a="http://schemas.openxmlformats.org/drawingml/2006/main">
            <a:off x="8001000" y="2514600"/>
            <a:ext cx="9525" cy="307657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7" name="laws-mean-label">
            <a:extLst xmlns:a="http://schemas.openxmlformats.org/drawingml/2006/main">
              <a:ext uri="{FF2B5EF4-FFF2-40B4-BE49-F238E27FC236}">
                <a16:creationId xmlns:a16="http://schemas.microsoft.com/office/drawing/2014/main" id="{E39BDEE4-1023-4DC1-A3E8-76F057BE9CA9}"/>
              </a:ext>
            </a:extLst>
          </p:cNvPr>
          <p:cNvSpPr>
            <a:spLocks xmlns:a="http://schemas.openxmlformats.org/drawingml/2006/main" noGrp="1"/>
          </p:cNvSpPr>
          <p:nvPr/>
        </p:nvSpPr>
        <p:spPr>
          <a:xfrm xmlns:a="http://schemas.openxmlformats.org/drawingml/2006/main">
            <a:off x="8382000" y="2724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EXPECTED OUTPUT</a:t>
            </a:r>
          </a:p>
        </p:txBody>
      </p:sp>
      <p:sp>
        <p:nvSpPr>
          <p:cNvPr id="28" name="laws-mean-value">
            <a:extLst xmlns:a="http://schemas.openxmlformats.org/drawingml/2006/main">
              <a:ext uri="{FF2B5EF4-FFF2-40B4-BE49-F238E27FC236}">
                <a16:creationId xmlns:a16="http://schemas.microsoft.com/office/drawing/2014/main" id="{4A31D6DA-2B26-4175-82E8-8CC84FF4B992}"/>
              </a:ext>
            </a:extLst>
          </p:cNvPr>
          <p:cNvSpPr>
            <a:spLocks xmlns:a="http://schemas.openxmlformats.org/drawingml/2006/main" noGrp="1"/>
          </p:cNvSpPr>
          <p:nvPr/>
        </p:nvSpPr>
        <p:spPr>
          <a:xfrm xmlns:a="http://schemas.openxmlformats.org/drawingml/2006/main">
            <a:off x="8343900" y="3086100"/>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F5F2EA"/>
                </a:solidFill>
                <a:latin typeface="Menlo"/>
                <a:ea typeface="Menlo"/>
                <a:cs typeface="Menlo"/>
              </a:defRPr>
            </a:defPPr>
          </a:lstStyle>
          <a:p xmlns:a="http://schemas.openxmlformats.org/drawingml/2006/main">
            <a:pPr algn="ctr">
              <a:defRPr sz="2550" b="1" i="0">
                <a:solidFill>
                  <a:srgbClr val="F5F2EA"/>
                </a:solidFill>
                <a:latin typeface="Menlo"/>
                <a:ea typeface="Menlo"/>
                <a:cs typeface="Menlo"/>
              </a:defRPr>
            </a:pPr>
            <a:r>
              <a:rPr sz="2550" b="1" i="0">
                <a:solidFill>
                  <a:srgbClr val="F5F2EA"/>
                </a:solidFill>
                <a:latin typeface="Menlo"/>
                <a:ea typeface="Menlo"/>
                <a:cs typeface="Menlo"/>
              </a:rPr>
              <a:t>2  =  2</a:t>
            </a:r>
          </a:p>
        </p:txBody>
      </p:sp>
      <p:sp>
        <p:nvSpPr>
          <p:cNvPr id="29" name="laws-mean-rule">
            <a:extLst xmlns:a="http://schemas.openxmlformats.org/drawingml/2006/main">
              <a:ext uri="{FF2B5EF4-FFF2-40B4-BE49-F238E27FC236}">
                <a16:creationId xmlns:a16="http://schemas.microsoft.com/office/drawing/2014/main" id="{E453AE50-93A5-4EFC-B220-E08569C2B014}"/>
              </a:ext>
            </a:extLst>
          </p:cNvPr>
          <p:cNvSpPr>
            <a:spLocks xmlns:a="http://schemas.openxmlformats.org/drawingml/2006/main" noGrp="1"/>
          </p:cNvSpPr>
          <p:nvPr/>
        </p:nvSpPr>
        <p:spPr>
          <a:xfrm xmlns:a="http://schemas.openxmlformats.org/drawingml/2006/main">
            <a:off x="8477250" y="3743325"/>
            <a:ext cx="2619375"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30" name="laws-tv">
            <a:extLst xmlns:a="http://schemas.openxmlformats.org/drawingml/2006/main">
              <a:ext uri="{FF2B5EF4-FFF2-40B4-BE49-F238E27FC236}">
                <a16:creationId xmlns:a16="http://schemas.microsoft.com/office/drawing/2014/main" id="{4E2ED555-BCFA-4E19-8DC3-963D37697FF0}"/>
              </a:ext>
            </a:extLst>
          </p:cNvPr>
          <p:cNvSpPr>
            <a:spLocks xmlns:a="http://schemas.openxmlformats.org/drawingml/2006/main" noGrp="1"/>
          </p:cNvSpPr>
          <p:nvPr/>
        </p:nvSpPr>
        <p:spPr>
          <a:xfrm xmlns:a="http://schemas.openxmlformats.org/drawingml/2006/main">
            <a:off x="8343900" y="40386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1" i="0">
                <a:solidFill>
                  <a:srgbClr val="FF8A5C"/>
                </a:solidFill>
                <a:latin typeface="Menlo"/>
                <a:ea typeface="Menlo"/>
                <a:cs typeface="Menlo"/>
              </a:defRPr>
            </a:defPPr>
          </a:lstStyle>
          <a:p xmlns:a="http://schemas.openxmlformats.org/drawingml/2006/main">
            <a:pPr algn="ctr">
              <a:defRPr sz="2250" b="1" i="0">
                <a:solidFill>
                  <a:srgbClr val="FF8A5C"/>
                </a:solidFill>
                <a:latin typeface="Menlo"/>
                <a:ea typeface="Menlo"/>
                <a:cs typeface="Menlo"/>
              </a:defRPr>
            </a:pPr>
            <a:r>
              <a:rPr sz="2250" b="1" i="0">
                <a:solidFill>
                  <a:srgbClr val="FF8A5C"/>
                </a:solidFill>
                <a:latin typeface="Menlo"/>
                <a:ea typeface="Menlo"/>
                <a:cs typeface="Menlo"/>
              </a:rPr>
              <a:t>TV  =  1</a:t>
            </a:r>
          </a:p>
        </p:txBody>
      </p:sp>
      <p:sp>
        <p:nvSpPr>
          <p:cNvPr id="31" name="laws-mi">
            <a:extLst xmlns:a="http://schemas.openxmlformats.org/drawingml/2006/main">
              <a:ext uri="{FF2B5EF4-FFF2-40B4-BE49-F238E27FC236}">
                <a16:creationId xmlns:a16="http://schemas.microsoft.com/office/drawing/2014/main" id="{F41BE6A4-1DA6-4C10-909D-60929D350031}"/>
              </a:ext>
            </a:extLst>
          </p:cNvPr>
          <p:cNvSpPr>
            <a:spLocks xmlns:a="http://schemas.openxmlformats.org/drawingml/2006/main" noGrp="1"/>
          </p:cNvSpPr>
          <p:nvPr/>
        </p:nvSpPr>
        <p:spPr>
          <a:xfrm xmlns:a="http://schemas.openxmlformats.org/drawingml/2006/main">
            <a:off x="8191500" y="4629150"/>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5CC8B8"/>
                </a:solidFill>
                <a:latin typeface="Menlo"/>
                <a:ea typeface="Menlo"/>
                <a:cs typeface="Menlo"/>
              </a:defRPr>
            </a:defPPr>
          </a:lstStyle>
          <a:p xmlns:a="http://schemas.openxmlformats.org/drawingml/2006/main">
            <a:pPr algn="ctr">
              <a:defRPr sz="1350" b="1" i="0">
                <a:solidFill>
                  <a:srgbClr val="5CC8B8"/>
                </a:solidFill>
                <a:latin typeface="Menlo"/>
                <a:ea typeface="Menlo"/>
                <a:cs typeface="Menlo"/>
              </a:defRPr>
            </a:pPr>
            <a:r>
              <a:rPr sz="1350" b="1" i="0">
                <a:solidFill>
                  <a:srgbClr val="5CC8B8"/>
                </a:solidFill>
                <a:latin typeface="Menlo"/>
                <a:ea typeface="Menlo"/>
                <a:cs typeface="Menlo"/>
              </a:rPr>
              <a:t>I(secret ; usage)  ≈  1 bit</a:t>
            </a:r>
          </a:p>
        </p:txBody>
      </p:sp>
      <p:sp>
        <p:nvSpPr>
          <p:cNvPr id="32" name="laws-scope">
            <a:extLst xmlns:a="http://schemas.openxmlformats.org/drawingml/2006/main">
              <a:ext uri="{FF2B5EF4-FFF2-40B4-BE49-F238E27FC236}">
                <a16:creationId xmlns:a16="http://schemas.microsoft.com/office/drawing/2014/main" id="{35AD4E4B-5DB6-4FC8-BB01-73BEE032BB88}"/>
              </a:ext>
            </a:extLst>
          </p:cNvPr>
          <p:cNvSpPr>
            <a:spLocks xmlns:a="http://schemas.openxmlformats.org/drawingml/2006/main" noGrp="1"/>
          </p:cNvSpPr>
          <p:nvPr/>
        </p:nvSpPr>
        <p:spPr>
          <a:xfrm xmlns:a="http://schemas.openxmlformats.org/drawingml/2006/main">
            <a:off x="1466850" y="5724525"/>
            <a:ext cx="935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B8C1D1"/>
                </a:solidFill>
                <a:latin typeface="Avenir Next"/>
                <a:ea typeface="Avenir Next"/>
                <a:cs typeface="Avenir Next"/>
              </a:defRPr>
            </a:defPPr>
          </a:lstStyle>
          <a:p xmlns:a="http://schemas.openxmlformats.org/drawingml/2006/main">
            <a:pPr algn="ctr">
              <a:defRPr sz="1125" b="0" i="0">
                <a:solidFill>
                  <a:srgbClr val="B8C1D1"/>
                </a:solidFill>
                <a:latin typeface="Avenir Next"/>
                <a:ea typeface="Avenir Next"/>
                <a:cs typeface="Avenir Next"/>
              </a:defRPr>
            </a:pPr>
            <a:r>
              <a:rPr sz="1125" b="0" i="0">
                <a:solidFill>
                  <a:srgbClr val="B8C1D1"/>
                </a:solidFill>
                <a:latin typeface="Avenir Next"/>
                <a:ea typeface="Avenir Next"/>
                <a:cs typeface="Avenir Next"/>
              </a:rPr>
              <a:t>Uniform prior · finite authored kernel · H=1</a:t>
            </a:r>
          </a:p>
        </p:txBody>
      </p:sp>
    </p:spTree>
    <p:extLst>
      <p:ext uri="{BB962C8B-B14F-4D97-AF65-F5344CB8AC3E}">
        <p14:creationId xmlns:p14="http://schemas.microsoft.com/office/powerpoint/2010/main" val="113071317"/>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5" name="s3-brand">
            <a:extLst xmlns:a="http://schemas.openxmlformats.org/drawingml/2006/main">
              <a:ext uri="{FF2B5EF4-FFF2-40B4-BE49-F238E27FC236}">
                <a16:creationId xmlns:a16="http://schemas.microsoft.com/office/drawing/2014/main" id="{1FEBE74B-7FDE-450F-9B7D-B7262E4F3C26}"/>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3-section">
            <a:extLst xmlns:a="http://schemas.openxmlformats.org/drawingml/2006/main">
              <a:ext uri="{FF2B5EF4-FFF2-40B4-BE49-F238E27FC236}">
                <a16:creationId xmlns:a16="http://schemas.microsoft.com/office/drawing/2014/main" id="{339F33C8-BE68-4FC0-9455-A337729DDA0E}"/>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OBSERVER · HOOK</a:t>
            </a:r>
          </a:p>
        </p:txBody>
      </p:sp>
      <p:sp>
        <p:nvSpPr>
          <p:cNvPr id="3" name="s3-title">
            <a:extLst xmlns:a="http://schemas.openxmlformats.org/drawingml/2006/main">
              <a:ext uri="{FF2B5EF4-FFF2-40B4-BE49-F238E27FC236}">
                <a16:creationId xmlns:a16="http://schemas.microsoft.com/office/drawing/2014/main" id="{0BDD5FA6-4611-4AE7-9F53-1163E9F5EE18}"/>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Aggregate totals can hide call order</a:t>
            </a:r>
          </a:p>
        </p:txBody>
      </p:sp>
      <p:sp>
        <p:nvSpPr>
          <p:cNvPr id="4" name="s3-subtitle">
            <a:extLst xmlns:a="http://schemas.openxmlformats.org/drawingml/2006/main">
              <a:ext uri="{FF2B5EF4-FFF2-40B4-BE49-F238E27FC236}">
                <a16:creationId xmlns:a16="http://schemas.microsoft.com/office/drawing/2014/main" id="{EC6AE0ED-19B2-495B-B973-156FA1ED3EC2}"/>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At horizon two, the aggregate law matches while the ordered trace differs.</a:t>
            </a:r>
          </a:p>
        </p:txBody>
      </p:sp>
      <p:sp>
        <p:nvSpPr>
          <p:cNvPr id="5" name="s3-source-rule">
            <a:extLst xmlns:a="http://schemas.openxmlformats.org/drawingml/2006/main">
              <a:ext uri="{FF2B5EF4-FFF2-40B4-BE49-F238E27FC236}">
                <a16:creationId xmlns:a16="http://schemas.microsoft.com/office/drawing/2014/main" id="{C6101851-5209-4056-9358-AB83E69365B4}"/>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3-sources">
            <a:extLst xmlns:a="http://schemas.openxmlformats.org/drawingml/2006/main">
              <a:ext uri="{FF2B5EF4-FFF2-40B4-BE49-F238E27FC236}">
                <a16:creationId xmlns:a16="http://schemas.microsoft.com/office/drawing/2014/main" id="{E6974E46-B31C-4088-A546-6D4BEF48ECEC}"/>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examples/channels/aggregate_hides_order.graph.json</a:t>
            </a:r>
          </a:p>
        </p:txBody>
      </p:sp>
      <p:sp>
        <p:nvSpPr>
          <p:cNvPr id="7" name="s3-footer-rule">
            <a:extLst xmlns:a="http://schemas.openxmlformats.org/drawingml/2006/main">
              <a:ext uri="{FF2B5EF4-FFF2-40B4-BE49-F238E27FC236}">
                <a16:creationId xmlns:a16="http://schemas.microsoft.com/office/drawing/2014/main" id="{96F2A0F0-8EAA-40C2-97AB-52AF22D1BEE8}"/>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3-footer">
            <a:extLst xmlns:a="http://schemas.openxmlformats.org/drawingml/2006/main">
              <a:ext uri="{FF2B5EF4-FFF2-40B4-BE49-F238E27FC236}">
                <a16:creationId xmlns:a16="http://schemas.microsoft.com/office/drawing/2014/main" id="{516125EE-93EB-46A2-9C43-C03FD31496C4}"/>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3-page">
            <a:extLst xmlns:a="http://schemas.openxmlformats.org/drawingml/2006/main">
              <a:ext uri="{FF2B5EF4-FFF2-40B4-BE49-F238E27FC236}">
                <a16:creationId xmlns:a16="http://schemas.microsoft.com/office/drawing/2014/main" id="{40644AAD-EFA4-44F8-A659-72BA2A5D03D3}"/>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3</a:t>
            </a:r>
          </a:p>
        </p:txBody>
      </p:sp>
      <p:sp>
        <p:nvSpPr>
          <p:cNvPr id="10" name="obs-setup">
            <a:extLst xmlns:a="http://schemas.openxmlformats.org/drawingml/2006/main">
              <a:ext uri="{FF2B5EF4-FFF2-40B4-BE49-F238E27FC236}">
                <a16:creationId xmlns:a16="http://schemas.microsoft.com/office/drawing/2014/main" id="{9231E4FE-2F65-4FCE-889B-D68E21228D58}"/>
              </a:ext>
            </a:extLst>
          </p:cNvPr>
          <p:cNvSpPr>
            <a:spLocks xmlns:a="http://schemas.openxmlformats.org/drawingml/2006/main" noGrp="1"/>
          </p:cNvSpPr>
          <p:nvPr/>
        </p:nvSpPr>
        <p:spPr>
          <a:xfrm xmlns:a="http://schemas.openxmlformats.org/drawingml/2006/main">
            <a:off x="857250" y="22669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1" i="0">
                <a:solidFill>
                  <a:srgbClr val="1F6F66"/>
                </a:solidFill>
                <a:latin typeface="Menlo"/>
                <a:ea typeface="Menlo"/>
                <a:cs typeface="Menlo"/>
              </a:defRPr>
            </a:defPPr>
          </a:lstStyle>
          <a:p xmlns:a="http://schemas.openxmlformats.org/drawingml/2006/main">
            <a:pPr algn="ctr">
              <a:defRPr sz="1050" b="1" i="0">
                <a:solidFill>
                  <a:srgbClr val="1F6F66"/>
                </a:solidFill>
                <a:latin typeface="Menlo"/>
                <a:ea typeface="Menlo"/>
                <a:cs typeface="Menlo"/>
              </a:defRPr>
            </a:pPr>
            <a:r>
              <a:rPr sz="1050" b="1" i="0">
                <a:solidFill>
                  <a:srgbClr val="1F6F66"/>
                </a:solidFill>
                <a:latin typeface="Menlo"/>
                <a:ea typeface="Menlo"/>
                <a:cs typeface="Menlo"/>
              </a:rPr>
              <a:t>TWO CALLS  ·  SAME MODEL  ·  BOTH RUNS STOP</a:t>
            </a:r>
          </a:p>
        </p:txBody>
      </p:sp>
      <p:sp>
        <p:nvSpPr>
          <p:cNvPr id="11" name="obs-left-a-panel">
            <a:extLst xmlns:a="http://schemas.openxmlformats.org/drawingml/2006/main">
              <a:ext uri="{FF2B5EF4-FFF2-40B4-BE49-F238E27FC236}">
                <a16:creationId xmlns:a16="http://schemas.microsoft.com/office/drawing/2014/main" id="{7FEA5292-D13F-4F1C-8969-FDD7A6F6104F}"/>
              </a:ext>
            </a:extLst>
          </p:cNvPr>
          <p:cNvSpPr>
            <a:spLocks xmlns:a="http://schemas.openxmlformats.org/drawingml/2006/main" noGrp="1"/>
          </p:cNvSpPr>
          <p:nvPr/>
        </p:nvSpPr>
        <p:spPr>
          <a:xfrm xmlns:a="http://schemas.openxmlformats.org/drawingml/2006/main">
            <a:off x="819150" y="2686050"/>
            <a:ext cx="47625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12" name="obs-left-a-accent">
            <a:extLst xmlns:a="http://schemas.openxmlformats.org/drawingml/2006/main">
              <a:ext uri="{FF2B5EF4-FFF2-40B4-BE49-F238E27FC236}">
                <a16:creationId xmlns:a16="http://schemas.microsoft.com/office/drawing/2014/main" id="{EFDCF639-4170-4FB9-AFD6-34F1B53BE221}"/>
              </a:ext>
            </a:extLst>
          </p:cNvPr>
          <p:cNvSpPr>
            <a:spLocks xmlns:a="http://schemas.openxmlformats.org/drawingml/2006/main" noGrp="1"/>
          </p:cNvSpPr>
          <p:nvPr/>
        </p:nvSpPr>
        <p:spPr>
          <a:xfrm xmlns:a="http://schemas.openxmlformats.org/drawingml/2006/main">
            <a:off x="819150" y="2686050"/>
            <a:ext cx="57150" cy="876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3" name="obs-left-a-title">
            <a:extLst xmlns:a="http://schemas.openxmlformats.org/drawingml/2006/main">
              <a:ext uri="{FF2B5EF4-FFF2-40B4-BE49-F238E27FC236}">
                <a16:creationId xmlns:a16="http://schemas.microsoft.com/office/drawing/2014/main" id="{7A9461FA-2114-4D0F-B5E8-AA311625CA73}"/>
              </a:ext>
            </a:extLst>
          </p:cNvPr>
          <p:cNvSpPr>
            <a:spLocks xmlns:a="http://schemas.openxmlformats.org/drawingml/2006/main" noGrp="1"/>
          </p:cNvSpPr>
          <p:nvPr/>
        </p:nvSpPr>
        <p:spPr>
          <a:xfrm xmlns:a="http://schemas.openxmlformats.org/drawingml/2006/main">
            <a:off x="1028700" y="2857500"/>
            <a:ext cx="434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SECRET = 0</a:t>
            </a:r>
          </a:p>
        </p:txBody>
      </p:sp>
      <p:sp>
        <p:nvSpPr>
          <p:cNvPr id="14" name="obs-left-a-body">
            <a:extLst xmlns:a="http://schemas.openxmlformats.org/drawingml/2006/main">
              <a:ext uri="{FF2B5EF4-FFF2-40B4-BE49-F238E27FC236}">
                <a16:creationId xmlns:a16="http://schemas.microsoft.com/office/drawing/2014/main" id="{186302B0-70C1-497E-A47C-6D1003BCE685}"/>
              </a:ext>
            </a:extLst>
          </p:cNvPr>
          <p:cNvSpPr>
            <a:spLocks xmlns:a="http://schemas.openxmlformats.org/drawingml/2006/main" noGrp="1"/>
          </p:cNvSpPr>
          <p:nvPr/>
        </p:nvSpPr>
        <p:spPr>
          <a:xfrm xmlns:a="http://schemas.openxmlformats.org/drawingml/2006/main">
            <a:off x="1028700" y="3143250"/>
            <a:ext cx="434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646B7A"/>
                </a:solidFill>
                <a:latin typeface="Menlo"/>
                <a:ea typeface="Menlo"/>
                <a:cs typeface="Menlo"/>
              </a:defRPr>
            </a:defPPr>
          </a:lstStyle>
          <a:p xmlns:a="http://schemas.openxmlformats.org/drawingml/2006/main">
            <a:pPr algn="l">
              <a:defRPr sz="1500" b="0" i="0">
                <a:solidFill>
                  <a:srgbClr val="646B7A"/>
                </a:solidFill>
                <a:latin typeface="Menlo"/>
                <a:ea typeface="Menlo"/>
                <a:cs typeface="Menlo"/>
              </a:defRPr>
            </a:pPr>
            <a:r>
              <a:rPr sz="1500" b="0" i="0">
                <a:solidFill>
                  <a:srgbClr val="646B7A"/>
                </a:solidFill>
                <a:latin typeface="Menlo"/>
                <a:ea typeface="Menlo"/>
                <a:cs typeface="Menlo"/>
              </a:rPr>
              <a:t>output usage: 1  →  3</a:t>
            </a:r>
          </a:p>
        </p:txBody>
      </p:sp>
      <p:sp>
        <p:nvSpPr>
          <p:cNvPr id="15" name="obs-left-b-panel">
            <a:extLst xmlns:a="http://schemas.openxmlformats.org/drawingml/2006/main">
              <a:ext uri="{FF2B5EF4-FFF2-40B4-BE49-F238E27FC236}">
                <a16:creationId xmlns:a16="http://schemas.microsoft.com/office/drawing/2014/main" id="{A604D945-69D4-41C5-829F-579725561ABB}"/>
              </a:ext>
            </a:extLst>
          </p:cNvPr>
          <p:cNvSpPr>
            <a:spLocks xmlns:a="http://schemas.openxmlformats.org/drawingml/2006/main" noGrp="1"/>
          </p:cNvSpPr>
          <p:nvPr/>
        </p:nvSpPr>
        <p:spPr>
          <a:xfrm xmlns:a="http://schemas.openxmlformats.org/drawingml/2006/main">
            <a:off x="819150" y="3752850"/>
            <a:ext cx="47625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16" name="obs-left-b-accent">
            <a:extLst xmlns:a="http://schemas.openxmlformats.org/drawingml/2006/main">
              <a:ext uri="{FF2B5EF4-FFF2-40B4-BE49-F238E27FC236}">
                <a16:creationId xmlns:a16="http://schemas.microsoft.com/office/drawing/2014/main" id="{31E8F0D6-7470-442C-B4DF-57349DC040AE}"/>
              </a:ext>
            </a:extLst>
          </p:cNvPr>
          <p:cNvSpPr>
            <a:spLocks xmlns:a="http://schemas.openxmlformats.org/drawingml/2006/main" noGrp="1"/>
          </p:cNvSpPr>
          <p:nvPr/>
        </p:nvSpPr>
        <p:spPr>
          <a:xfrm xmlns:a="http://schemas.openxmlformats.org/drawingml/2006/main">
            <a:off x="819150" y="3752850"/>
            <a:ext cx="57150" cy="876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7" name="obs-left-b-title">
            <a:extLst xmlns:a="http://schemas.openxmlformats.org/drawingml/2006/main">
              <a:ext uri="{FF2B5EF4-FFF2-40B4-BE49-F238E27FC236}">
                <a16:creationId xmlns:a16="http://schemas.microsoft.com/office/drawing/2014/main" id="{42C19F60-1996-4FA0-BB77-5AEC307F8438}"/>
              </a:ext>
            </a:extLst>
          </p:cNvPr>
          <p:cNvSpPr>
            <a:spLocks xmlns:a="http://schemas.openxmlformats.org/drawingml/2006/main" noGrp="1"/>
          </p:cNvSpPr>
          <p:nvPr/>
        </p:nvSpPr>
        <p:spPr>
          <a:xfrm xmlns:a="http://schemas.openxmlformats.org/drawingml/2006/main">
            <a:off x="1028700" y="3924300"/>
            <a:ext cx="434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SECRET = 1</a:t>
            </a:r>
          </a:p>
        </p:txBody>
      </p:sp>
      <p:sp>
        <p:nvSpPr>
          <p:cNvPr id="18" name="obs-left-b-body">
            <a:extLst xmlns:a="http://schemas.openxmlformats.org/drawingml/2006/main">
              <a:ext uri="{FF2B5EF4-FFF2-40B4-BE49-F238E27FC236}">
                <a16:creationId xmlns:a16="http://schemas.microsoft.com/office/drawing/2014/main" id="{1F487FC9-B936-4760-A464-10CC7D5C874A}"/>
              </a:ext>
            </a:extLst>
          </p:cNvPr>
          <p:cNvSpPr>
            <a:spLocks xmlns:a="http://schemas.openxmlformats.org/drawingml/2006/main" noGrp="1"/>
          </p:cNvSpPr>
          <p:nvPr/>
        </p:nvSpPr>
        <p:spPr>
          <a:xfrm xmlns:a="http://schemas.openxmlformats.org/drawingml/2006/main">
            <a:off x="1028700" y="4210050"/>
            <a:ext cx="434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646B7A"/>
                </a:solidFill>
                <a:latin typeface="Menlo"/>
                <a:ea typeface="Menlo"/>
                <a:cs typeface="Menlo"/>
              </a:defRPr>
            </a:defPPr>
          </a:lstStyle>
          <a:p xmlns:a="http://schemas.openxmlformats.org/drawingml/2006/main">
            <a:pPr algn="l">
              <a:defRPr sz="1500" b="0" i="0">
                <a:solidFill>
                  <a:srgbClr val="646B7A"/>
                </a:solidFill>
                <a:latin typeface="Menlo"/>
                <a:ea typeface="Menlo"/>
                <a:cs typeface="Menlo"/>
              </a:defRPr>
            </a:pPr>
            <a:r>
              <a:rPr sz="1500" b="0" i="0">
                <a:solidFill>
                  <a:srgbClr val="646B7A"/>
                </a:solidFill>
                <a:latin typeface="Menlo"/>
                <a:ea typeface="Menlo"/>
                <a:cs typeface="Menlo"/>
              </a:rPr>
              <a:t>output usage: 3  →  1</a:t>
            </a:r>
          </a:p>
        </p:txBody>
      </p:sp>
      <p:sp>
        <p:nvSpPr>
          <p:cNvPr id="19" name="obs-left-label">
            <a:extLst xmlns:a="http://schemas.openxmlformats.org/drawingml/2006/main">
              <a:ext uri="{FF2B5EF4-FFF2-40B4-BE49-F238E27FC236}">
                <a16:creationId xmlns:a16="http://schemas.microsoft.com/office/drawing/2014/main" id="{DF629A5F-E21A-4B56-A58D-E72AA2C7B6F1}"/>
              </a:ext>
            </a:extLst>
          </p:cNvPr>
          <p:cNvSpPr>
            <a:spLocks xmlns:a="http://schemas.openxmlformats.org/drawingml/2006/main" noGrp="1"/>
          </p:cNvSpPr>
          <p:nvPr/>
        </p:nvSpPr>
        <p:spPr>
          <a:xfrm xmlns:a="http://schemas.openxmlformats.org/drawingml/2006/main">
            <a:off x="857250" y="48291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ORDERED TRACE</a:t>
            </a:r>
          </a:p>
        </p:txBody>
      </p:sp>
      <p:sp>
        <p:nvSpPr>
          <p:cNvPr id="20" name="obs-left-values">
            <a:extLst xmlns:a="http://schemas.openxmlformats.org/drawingml/2006/main">
              <a:ext uri="{FF2B5EF4-FFF2-40B4-BE49-F238E27FC236}">
                <a16:creationId xmlns:a16="http://schemas.microsoft.com/office/drawing/2014/main" id="{FEF2A653-A032-4EC1-AB22-E9C26CC26DF5}"/>
              </a:ext>
            </a:extLst>
          </p:cNvPr>
          <p:cNvSpPr>
            <a:spLocks xmlns:a="http://schemas.openxmlformats.org/drawingml/2006/main" noGrp="1"/>
          </p:cNvSpPr>
          <p:nvPr/>
        </p:nvSpPr>
        <p:spPr>
          <a:xfrm xmlns:a="http://schemas.openxmlformats.org/drawingml/2006/main">
            <a:off x="857250" y="5095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C2461F"/>
                </a:solidFill>
                <a:latin typeface="Menlo"/>
                <a:ea typeface="Menlo"/>
                <a:cs typeface="Menlo"/>
              </a:defRPr>
            </a:defPPr>
          </a:lstStyle>
          <a:p xmlns:a="http://schemas.openxmlformats.org/drawingml/2006/main">
            <a:pPr algn="l">
              <a:defRPr sz="1725" b="1" i="0">
                <a:solidFill>
                  <a:srgbClr val="C2461F"/>
                </a:solidFill>
                <a:latin typeface="Menlo"/>
                <a:ea typeface="Menlo"/>
                <a:cs typeface="Menlo"/>
              </a:defRPr>
            </a:pPr>
            <a:r>
              <a:rPr sz="1725" b="1" i="0">
                <a:solidFill>
                  <a:srgbClr val="C2461F"/>
                </a:solidFill>
                <a:latin typeface="Menlo"/>
                <a:ea typeface="Menlo"/>
                <a:cs typeface="Menlo"/>
              </a:rPr>
              <a:t>(1,3) ≠ (3,1)</a:t>
            </a:r>
          </a:p>
        </p:txBody>
      </p:sp>
      <p:sp>
        <p:nvSpPr>
          <p:cNvPr id="21" name="obs-left-tv">
            <a:extLst xmlns:a="http://schemas.openxmlformats.org/drawingml/2006/main">
              <a:ext uri="{FF2B5EF4-FFF2-40B4-BE49-F238E27FC236}">
                <a16:creationId xmlns:a16="http://schemas.microsoft.com/office/drawing/2014/main" id="{1554EE97-E672-4B17-8C52-9022FF73514D}"/>
              </a:ext>
            </a:extLst>
          </p:cNvPr>
          <p:cNvSpPr>
            <a:spLocks xmlns:a="http://schemas.openxmlformats.org/drawingml/2006/main" noGrp="1"/>
          </p:cNvSpPr>
          <p:nvPr/>
        </p:nvSpPr>
        <p:spPr>
          <a:xfrm xmlns:a="http://schemas.openxmlformats.org/drawingml/2006/main">
            <a:off x="4038600" y="5048250"/>
            <a:ext cx="1371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875" b="1" i="0">
                <a:solidFill>
                  <a:srgbClr val="C2461F"/>
                </a:solidFill>
                <a:latin typeface="Menlo"/>
                <a:ea typeface="Menlo"/>
                <a:cs typeface="Menlo"/>
              </a:defRPr>
            </a:defPPr>
          </a:lstStyle>
          <a:p xmlns:a="http://schemas.openxmlformats.org/drawingml/2006/main">
            <a:pPr algn="r">
              <a:defRPr sz="1875" b="1" i="0">
                <a:solidFill>
                  <a:srgbClr val="C2461F"/>
                </a:solidFill>
                <a:latin typeface="Menlo"/>
                <a:ea typeface="Menlo"/>
                <a:cs typeface="Menlo"/>
              </a:defRPr>
            </a:pPr>
            <a:r>
              <a:rPr sz="1875" b="1" i="0">
                <a:solidFill>
                  <a:srgbClr val="C2461F"/>
                </a:solidFill>
                <a:latin typeface="Menlo"/>
                <a:ea typeface="Menlo"/>
                <a:cs typeface="Menlo"/>
              </a:rPr>
              <a:t>TV = 1</a:t>
            </a:r>
          </a:p>
        </p:txBody>
      </p:sp>
      <p:sp>
        <p:nvSpPr>
          <p:cNvPr id="22" name="obs-split">
            <a:extLst xmlns:a="http://schemas.openxmlformats.org/drawingml/2006/main">
              <a:ext uri="{FF2B5EF4-FFF2-40B4-BE49-F238E27FC236}">
                <a16:creationId xmlns:a16="http://schemas.microsoft.com/office/drawing/2014/main" id="{994E3617-A66E-463C-BAEA-93D8D0B6F20E}"/>
              </a:ext>
            </a:extLst>
          </p:cNvPr>
          <p:cNvSpPr>
            <a:spLocks xmlns:a="http://schemas.openxmlformats.org/drawingml/2006/main" noGrp="1"/>
          </p:cNvSpPr>
          <p:nvPr/>
        </p:nvSpPr>
        <p:spPr>
          <a:xfrm xmlns:a="http://schemas.openxmlformats.org/drawingml/2006/main">
            <a:off x="6000750" y="2590800"/>
            <a:ext cx="9525" cy="2914650"/>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3" name="obs-right-a-panel">
            <a:extLst xmlns:a="http://schemas.openxmlformats.org/drawingml/2006/main">
              <a:ext uri="{FF2B5EF4-FFF2-40B4-BE49-F238E27FC236}">
                <a16:creationId xmlns:a16="http://schemas.microsoft.com/office/drawing/2014/main" id="{6AFCB601-7336-49D8-880D-0A3736EF5AFB}"/>
              </a:ext>
            </a:extLst>
          </p:cNvPr>
          <p:cNvSpPr>
            <a:spLocks xmlns:a="http://schemas.openxmlformats.org/drawingml/2006/main" noGrp="1"/>
          </p:cNvSpPr>
          <p:nvPr/>
        </p:nvSpPr>
        <p:spPr>
          <a:xfrm xmlns:a="http://schemas.openxmlformats.org/drawingml/2006/main">
            <a:off x="6572250" y="2686050"/>
            <a:ext cx="47625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24" name="obs-right-a-accent">
            <a:extLst xmlns:a="http://schemas.openxmlformats.org/drawingml/2006/main">
              <a:ext uri="{FF2B5EF4-FFF2-40B4-BE49-F238E27FC236}">
                <a16:creationId xmlns:a16="http://schemas.microsoft.com/office/drawing/2014/main" id="{CCF95E79-63F1-4E51-BDE9-1212C1D6A5B5}"/>
              </a:ext>
            </a:extLst>
          </p:cNvPr>
          <p:cNvSpPr>
            <a:spLocks xmlns:a="http://schemas.openxmlformats.org/drawingml/2006/main" noGrp="1"/>
          </p:cNvSpPr>
          <p:nvPr/>
        </p:nvSpPr>
        <p:spPr>
          <a:xfrm xmlns:a="http://schemas.openxmlformats.org/drawingml/2006/main">
            <a:off x="6572250" y="2686050"/>
            <a:ext cx="57150" cy="876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5" name="obs-right-a-title">
            <a:extLst xmlns:a="http://schemas.openxmlformats.org/drawingml/2006/main">
              <a:ext uri="{FF2B5EF4-FFF2-40B4-BE49-F238E27FC236}">
                <a16:creationId xmlns:a16="http://schemas.microsoft.com/office/drawing/2014/main" id="{EBA1959A-B93F-47F5-9DA9-40A510CB4D1E}"/>
              </a:ext>
            </a:extLst>
          </p:cNvPr>
          <p:cNvSpPr>
            <a:spLocks xmlns:a="http://schemas.openxmlformats.org/drawingml/2006/main" noGrp="1"/>
          </p:cNvSpPr>
          <p:nvPr/>
        </p:nvSpPr>
        <p:spPr>
          <a:xfrm xmlns:a="http://schemas.openxmlformats.org/drawingml/2006/main">
            <a:off x="6781800" y="2857500"/>
            <a:ext cx="434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SECRET = 0</a:t>
            </a:r>
          </a:p>
        </p:txBody>
      </p:sp>
      <p:sp>
        <p:nvSpPr>
          <p:cNvPr id="26" name="obs-right-a-body">
            <a:extLst xmlns:a="http://schemas.openxmlformats.org/drawingml/2006/main">
              <a:ext uri="{FF2B5EF4-FFF2-40B4-BE49-F238E27FC236}">
                <a16:creationId xmlns:a16="http://schemas.microsoft.com/office/drawing/2014/main" id="{CA80352C-D9C7-431E-B7EE-2940E49FA280}"/>
              </a:ext>
            </a:extLst>
          </p:cNvPr>
          <p:cNvSpPr>
            <a:spLocks xmlns:a="http://schemas.openxmlformats.org/drawingml/2006/main" noGrp="1"/>
          </p:cNvSpPr>
          <p:nvPr/>
        </p:nvSpPr>
        <p:spPr>
          <a:xfrm xmlns:a="http://schemas.openxmlformats.org/drawingml/2006/main">
            <a:off x="6781800" y="3143250"/>
            <a:ext cx="434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646B7A"/>
                </a:solidFill>
                <a:latin typeface="Menlo"/>
                <a:ea typeface="Menlo"/>
                <a:cs typeface="Menlo"/>
              </a:defRPr>
            </a:defPPr>
          </a:lstStyle>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calls=2 · input=2 · output=4</a:t>
            </a:r>
          </a:p>
        </p:txBody>
      </p:sp>
      <p:sp>
        <p:nvSpPr>
          <p:cNvPr id="27" name="obs-right-b-panel">
            <a:extLst xmlns:a="http://schemas.openxmlformats.org/drawingml/2006/main">
              <a:ext uri="{FF2B5EF4-FFF2-40B4-BE49-F238E27FC236}">
                <a16:creationId xmlns:a16="http://schemas.microsoft.com/office/drawing/2014/main" id="{5BE6B5BB-974B-4C60-8C37-4B562B328225}"/>
              </a:ext>
            </a:extLst>
          </p:cNvPr>
          <p:cNvSpPr>
            <a:spLocks xmlns:a="http://schemas.openxmlformats.org/drawingml/2006/main" noGrp="1"/>
          </p:cNvSpPr>
          <p:nvPr/>
        </p:nvSpPr>
        <p:spPr>
          <a:xfrm xmlns:a="http://schemas.openxmlformats.org/drawingml/2006/main">
            <a:off x="6572250" y="3752850"/>
            <a:ext cx="47625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28" name="obs-right-b-accent">
            <a:extLst xmlns:a="http://schemas.openxmlformats.org/drawingml/2006/main">
              <a:ext uri="{FF2B5EF4-FFF2-40B4-BE49-F238E27FC236}">
                <a16:creationId xmlns:a16="http://schemas.microsoft.com/office/drawing/2014/main" id="{20915B68-5889-42ED-904E-4DFE9C5C7BC0}"/>
              </a:ext>
            </a:extLst>
          </p:cNvPr>
          <p:cNvSpPr>
            <a:spLocks xmlns:a="http://schemas.openxmlformats.org/drawingml/2006/main" noGrp="1"/>
          </p:cNvSpPr>
          <p:nvPr/>
        </p:nvSpPr>
        <p:spPr>
          <a:xfrm xmlns:a="http://schemas.openxmlformats.org/drawingml/2006/main">
            <a:off x="6572250" y="3752850"/>
            <a:ext cx="57150" cy="876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9" name="obs-right-b-title">
            <a:extLst xmlns:a="http://schemas.openxmlformats.org/drawingml/2006/main">
              <a:ext uri="{FF2B5EF4-FFF2-40B4-BE49-F238E27FC236}">
                <a16:creationId xmlns:a16="http://schemas.microsoft.com/office/drawing/2014/main" id="{CF1AB632-0E39-44F5-B7D7-A08933DB54EA}"/>
              </a:ext>
            </a:extLst>
          </p:cNvPr>
          <p:cNvSpPr>
            <a:spLocks xmlns:a="http://schemas.openxmlformats.org/drawingml/2006/main" noGrp="1"/>
          </p:cNvSpPr>
          <p:nvPr/>
        </p:nvSpPr>
        <p:spPr>
          <a:xfrm xmlns:a="http://schemas.openxmlformats.org/drawingml/2006/main">
            <a:off x="6781800" y="3924300"/>
            <a:ext cx="4343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SECRET = 1</a:t>
            </a:r>
          </a:p>
        </p:txBody>
      </p:sp>
      <p:sp>
        <p:nvSpPr>
          <p:cNvPr id="30" name="obs-right-b-body">
            <a:extLst xmlns:a="http://schemas.openxmlformats.org/drawingml/2006/main">
              <a:ext uri="{FF2B5EF4-FFF2-40B4-BE49-F238E27FC236}">
                <a16:creationId xmlns:a16="http://schemas.microsoft.com/office/drawing/2014/main" id="{6BB74E3F-0971-4BB3-901E-7BD46DA9C33D}"/>
              </a:ext>
            </a:extLst>
          </p:cNvPr>
          <p:cNvSpPr>
            <a:spLocks xmlns:a="http://schemas.openxmlformats.org/drawingml/2006/main" noGrp="1"/>
          </p:cNvSpPr>
          <p:nvPr/>
        </p:nvSpPr>
        <p:spPr>
          <a:xfrm xmlns:a="http://schemas.openxmlformats.org/drawingml/2006/main">
            <a:off x="6781800" y="4210050"/>
            <a:ext cx="4343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646B7A"/>
                </a:solidFill>
                <a:latin typeface="Menlo"/>
                <a:ea typeface="Menlo"/>
                <a:cs typeface="Menlo"/>
              </a:defRPr>
            </a:defPPr>
          </a:lstStyle>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calls=2 · input=2 · output=4</a:t>
            </a:r>
          </a:p>
        </p:txBody>
      </p:sp>
      <p:sp>
        <p:nvSpPr>
          <p:cNvPr id="31" name="obs-right-label">
            <a:extLst xmlns:a="http://schemas.openxmlformats.org/drawingml/2006/main">
              <a:ext uri="{FF2B5EF4-FFF2-40B4-BE49-F238E27FC236}">
                <a16:creationId xmlns:a16="http://schemas.microsoft.com/office/drawing/2014/main" id="{D1433FA7-AC4F-4DB2-96A7-A243547CF026}"/>
              </a:ext>
            </a:extLst>
          </p:cNvPr>
          <p:cNvSpPr>
            <a:spLocks xmlns:a="http://schemas.openxmlformats.org/drawingml/2006/main" noGrp="1"/>
          </p:cNvSpPr>
          <p:nvPr/>
        </p:nvSpPr>
        <p:spPr>
          <a:xfrm xmlns:a="http://schemas.openxmlformats.org/drawingml/2006/main">
            <a:off x="6610350" y="482917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AGGREGATE VECTOR</a:t>
            </a:r>
          </a:p>
        </p:txBody>
      </p:sp>
      <p:sp>
        <p:nvSpPr>
          <p:cNvPr id="32" name="obs-right-values">
            <a:extLst xmlns:a="http://schemas.openxmlformats.org/drawingml/2006/main">
              <a:ext uri="{FF2B5EF4-FFF2-40B4-BE49-F238E27FC236}">
                <a16:creationId xmlns:a16="http://schemas.microsoft.com/office/drawing/2014/main" id="{100BF631-0BF5-4B8F-8F07-C289EB1DEAD5}"/>
              </a:ext>
            </a:extLst>
          </p:cNvPr>
          <p:cNvSpPr>
            <a:spLocks xmlns:a="http://schemas.openxmlformats.org/drawingml/2006/main" noGrp="1"/>
          </p:cNvSpPr>
          <p:nvPr/>
        </p:nvSpPr>
        <p:spPr>
          <a:xfrm xmlns:a="http://schemas.openxmlformats.org/drawingml/2006/main">
            <a:off x="6610350" y="5095875"/>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F6F66"/>
                </a:solidFill>
                <a:latin typeface="Avenir Next"/>
                <a:ea typeface="Avenir Next"/>
                <a:cs typeface="Avenir Next"/>
              </a:defRPr>
            </a:defPPr>
          </a:lstStyle>
          <a:p xmlns:a="http://schemas.openxmlformats.org/drawingml/2006/main">
            <a:pPr algn="l">
              <a:defRPr sz="1575" b="1" i="0">
                <a:solidFill>
                  <a:srgbClr val="1F6F66"/>
                </a:solidFill>
                <a:latin typeface="Avenir Next"/>
                <a:ea typeface="Avenir Next"/>
                <a:cs typeface="Avenir Next"/>
              </a:defRPr>
            </a:pPr>
            <a:r>
              <a:rPr sz="1575" b="1" i="0">
                <a:solidFill>
                  <a:srgbClr val="1F6F66"/>
                </a:solidFill>
                <a:latin typeface="Avenir Next"/>
                <a:ea typeface="Avenir Next"/>
                <a:cs typeface="Avenir Next"/>
              </a:rPr>
              <a:t>same billing row</a:t>
            </a:r>
          </a:p>
        </p:txBody>
      </p:sp>
      <p:sp>
        <p:nvSpPr>
          <p:cNvPr id="33" name="obs-right-tv">
            <a:extLst xmlns:a="http://schemas.openxmlformats.org/drawingml/2006/main">
              <a:ext uri="{FF2B5EF4-FFF2-40B4-BE49-F238E27FC236}">
                <a16:creationId xmlns:a16="http://schemas.microsoft.com/office/drawing/2014/main" id="{A402FD55-E1B5-4C81-9908-8DB3BF33E69B}"/>
              </a:ext>
            </a:extLst>
          </p:cNvPr>
          <p:cNvSpPr>
            <a:spLocks xmlns:a="http://schemas.openxmlformats.org/drawingml/2006/main" noGrp="1"/>
          </p:cNvSpPr>
          <p:nvPr/>
        </p:nvSpPr>
        <p:spPr>
          <a:xfrm xmlns:a="http://schemas.openxmlformats.org/drawingml/2006/main">
            <a:off x="9791700" y="5048250"/>
            <a:ext cx="13716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875" b="1" i="0">
                <a:solidFill>
                  <a:srgbClr val="1F6F66"/>
                </a:solidFill>
                <a:latin typeface="Menlo"/>
                <a:ea typeface="Menlo"/>
                <a:cs typeface="Menlo"/>
              </a:defRPr>
            </a:defPPr>
          </a:lstStyle>
          <a:p xmlns:a="http://schemas.openxmlformats.org/drawingml/2006/main">
            <a:pPr algn="r">
              <a:defRPr sz="1875" b="1" i="0">
                <a:solidFill>
                  <a:srgbClr val="1F6F66"/>
                </a:solidFill>
                <a:latin typeface="Menlo"/>
                <a:ea typeface="Menlo"/>
                <a:cs typeface="Menlo"/>
              </a:defRPr>
            </a:pPr>
            <a:r>
              <a:rPr sz="1875" b="1" i="0">
                <a:solidFill>
                  <a:srgbClr val="1F6F66"/>
                </a:solidFill>
                <a:latin typeface="Menlo"/>
                <a:ea typeface="Menlo"/>
                <a:cs typeface="Menlo"/>
              </a:rPr>
              <a:t>TV = 0</a:t>
            </a:r>
          </a:p>
        </p:txBody>
      </p:sp>
      <p:sp>
        <p:nvSpPr>
          <p:cNvPr id="34" name="obs-horizon">
            <a:extLst xmlns:a="http://schemas.openxmlformats.org/drawingml/2006/main">
              <a:ext uri="{FF2B5EF4-FFF2-40B4-BE49-F238E27FC236}">
                <a16:creationId xmlns:a16="http://schemas.microsoft.com/office/drawing/2014/main" id="{D68C969B-8317-4DA2-B851-F18AC40784A5}"/>
              </a:ext>
            </a:extLst>
          </p:cNvPr>
          <p:cNvSpPr>
            <a:spLocks xmlns:a="http://schemas.openxmlformats.org/drawingml/2006/main" noGrp="1"/>
          </p:cNvSpPr>
          <p:nvPr/>
        </p:nvSpPr>
        <p:spPr>
          <a:xfrm xmlns:a="http://schemas.openxmlformats.org/drawingml/2006/main">
            <a:off x="1190625" y="5676900"/>
            <a:ext cx="981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Exact channel result at horizon H=2 under the supplied finite kernel</a:t>
            </a:r>
          </a:p>
        </p:txBody>
      </p:sp>
    </p:spTree>
    <p:extLst>
      <p:ext uri="{BB962C8B-B14F-4D97-AF65-F5344CB8AC3E}">
        <p14:creationId xmlns:p14="http://schemas.microsoft.com/office/powerpoint/2010/main" val="126627793"/>
      </p:ext>
    </p:extLst>
  </p:cSld>
</p:sld>
</file>

<file path=ppt/slides/slide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8" name="s4-brand">
            <a:extLst xmlns:a="http://schemas.openxmlformats.org/drawingml/2006/main">
              <a:ext uri="{FF2B5EF4-FFF2-40B4-BE49-F238E27FC236}">
                <a16:creationId xmlns:a16="http://schemas.microsoft.com/office/drawing/2014/main" id="{BB408EF1-1EEA-40B8-8793-7D96E1836F52}"/>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4-section">
            <a:extLst xmlns:a="http://schemas.openxmlformats.org/drawingml/2006/main">
              <a:ext uri="{FF2B5EF4-FFF2-40B4-BE49-F238E27FC236}">
                <a16:creationId xmlns:a16="http://schemas.microsoft.com/office/drawing/2014/main" id="{18BD2711-7843-4C2E-A853-380E48368EB6}"/>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THREE QUESTIONS</a:t>
            </a:r>
          </a:p>
        </p:txBody>
      </p:sp>
      <p:sp>
        <p:nvSpPr>
          <p:cNvPr id="3" name="s4-title">
            <a:extLst xmlns:a="http://schemas.openxmlformats.org/drawingml/2006/main">
              <a:ext uri="{FF2B5EF4-FFF2-40B4-BE49-F238E27FC236}">
                <a16:creationId xmlns:a16="http://schemas.microsoft.com/office/drawing/2014/main" id="{6AF634BE-A694-491A-A621-C4CA5347E34B}"/>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Three questions: budget, trace and channel</a:t>
            </a:r>
          </a:p>
        </p:txBody>
      </p:sp>
      <p:sp>
        <p:nvSpPr>
          <p:cNvPr id="4" name="s4-subtitle">
            <a:extLst xmlns:a="http://schemas.openxmlformats.org/drawingml/2006/main">
              <a:ext uri="{FF2B5EF4-FFF2-40B4-BE49-F238E27FC236}">
                <a16:creationId xmlns:a16="http://schemas.microsoft.com/office/drawing/2014/main" id="{B02903B5-0E42-42B2-826B-33E812D315D4}"/>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Each analysis fixes a different relation and reports a different result.</a:t>
            </a:r>
          </a:p>
        </p:txBody>
      </p:sp>
      <p:sp>
        <p:nvSpPr>
          <p:cNvPr id="5" name="s4-source-rule">
            <a:extLst xmlns:a="http://schemas.openxmlformats.org/drawingml/2006/main">
              <a:ext uri="{FF2B5EF4-FFF2-40B4-BE49-F238E27FC236}">
                <a16:creationId xmlns:a16="http://schemas.microsoft.com/office/drawing/2014/main" id="{8F8A02BA-2234-4107-9D9D-AE65B51CC75C}"/>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4-sources">
            <a:extLst xmlns:a="http://schemas.openxmlformats.org/drawingml/2006/main">
              <a:ext uri="{FF2B5EF4-FFF2-40B4-BE49-F238E27FC236}">
                <a16:creationId xmlns:a16="http://schemas.microsoft.com/office/drawing/2014/main" id="{F7CF0DCC-B8FA-4036-8F05-4FA8AE614510}"/>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docs/PAPER.md §§3–5 · docs/FORMAL_CONTRACT.md · docs/PROBABILISTIC_CHANNELS.md</a:t>
            </a:r>
          </a:p>
        </p:txBody>
      </p:sp>
      <p:sp>
        <p:nvSpPr>
          <p:cNvPr id="7" name="s4-footer-rule">
            <a:extLst xmlns:a="http://schemas.openxmlformats.org/drawingml/2006/main">
              <a:ext uri="{FF2B5EF4-FFF2-40B4-BE49-F238E27FC236}">
                <a16:creationId xmlns:a16="http://schemas.microsoft.com/office/drawing/2014/main" id="{3D4203D4-8A4A-492A-9A74-BF73346B729F}"/>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4-footer">
            <a:extLst xmlns:a="http://schemas.openxmlformats.org/drawingml/2006/main">
              <a:ext uri="{FF2B5EF4-FFF2-40B4-BE49-F238E27FC236}">
                <a16:creationId xmlns:a16="http://schemas.microsoft.com/office/drawing/2014/main" id="{24EA96F6-28F1-4773-A421-317B0DC05C7E}"/>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4-page">
            <a:extLst xmlns:a="http://schemas.openxmlformats.org/drawingml/2006/main">
              <a:ext uri="{FF2B5EF4-FFF2-40B4-BE49-F238E27FC236}">
                <a16:creationId xmlns:a16="http://schemas.microsoft.com/office/drawing/2014/main" id="{24D2BD6D-201B-4A50-9C3A-FB0EA9DB4538}"/>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4</a:t>
            </a:r>
          </a:p>
        </p:txBody>
      </p:sp>
      <p:sp>
        <p:nvSpPr>
          <p:cNvPr id="10" name="questions-0-number">
            <a:extLst xmlns:a="http://schemas.openxmlformats.org/drawingml/2006/main">
              <a:ext uri="{FF2B5EF4-FFF2-40B4-BE49-F238E27FC236}">
                <a16:creationId xmlns:a16="http://schemas.microsoft.com/office/drawing/2014/main" id="{B19946CA-11C3-4F43-B6A3-6E6D2A445973}"/>
              </a:ext>
            </a:extLst>
          </p:cNvPr>
          <p:cNvSpPr>
            <a:spLocks xmlns:a="http://schemas.openxmlformats.org/drawingml/2006/main" noGrp="1"/>
          </p:cNvSpPr>
          <p:nvPr/>
        </p:nvSpPr>
        <p:spPr>
          <a:xfrm xmlns:a="http://schemas.openxmlformats.org/drawingml/2006/main">
            <a:off x="819150" y="2600325"/>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i="0">
                <a:solidFill>
                  <a:srgbClr val="D9CBB6"/>
                </a:solidFill>
                <a:latin typeface="Menlo"/>
                <a:ea typeface="Menlo"/>
                <a:cs typeface="Menlo"/>
              </a:defRPr>
            </a:defPPr>
          </a:lstStyle>
          <a:p xmlns:a="http://schemas.openxmlformats.org/drawingml/2006/main">
            <a:pPr algn="l">
              <a:defRPr sz="2550" b="1" i="0">
                <a:solidFill>
                  <a:srgbClr val="D9CBB6"/>
                </a:solidFill>
                <a:latin typeface="Menlo"/>
                <a:ea typeface="Menlo"/>
                <a:cs typeface="Menlo"/>
              </a:defRPr>
            </a:pPr>
            <a:r>
              <a:rPr sz="2550" b="1" i="0">
                <a:solidFill>
                  <a:srgbClr val="D9CBB6"/>
                </a:solidFill>
                <a:latin typeface="Menlo"/>
                <a:ea typeface="Menlo"/>
                <a:cs typeface="Menlo"/>
              </a:rPr>
              <a:t>01</a:t>
            </a:r>
          </a:p>
        </p:txBody>
      </p:sp>
      <p:sp>
        <p:nvSpPr>
          <p:cNvPr id="11" name="questions-0-rule">
            <a:extLst xmlns:a="http://schemas.openxmlformats.org/drawingml/2006/main">
              <a:ext uri="{FF2B5EF4-FFF2-40B4-BE49-F238E27FC236}">
                <a16:creationId xmlns:a16="http://schemas.microsoft.com/office/drawing/2014/main" id="{201A5133-C668-43DD-9B7B-76A43B70AA6A}"/>
              </a:ext>
            </a:extLst>
          </p:cNvPr>
          <p:cNvSpPr>
            <a:spLocks xmlns:a="http://schemas.openxmlformats.org/drawingml/2006/main" noGrp="1"/>
          </p:cNvSpPr>
          <p:nvPr/>
        </p:nvSpPr>
        <p:spPr>
          <a:xfrm xmlns:a="http://schemas.openxmlformats.org/drawingml/2006/main">
            <a:off x="819150" y="3181350"/>
            <a:ext cx="3009900" cy="28575"/>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2" name="questions-0-title">
            <a:extLst xmlns:a="http://schemas.openxmlformats.org/drawingml/2006/main">
              <a:ext uri="{FF2B5EF4-FFF2-40B4-BE49-F238E27FC236}">
                <a16:creationId xmlns:a16="http://schemas.microsoft.com/office/drawing/2014/main" id="{D3BEE876-03AA-495A-AE10-17DDAD786FAE}"/>
              </a:ext>
            </a:extLst>
          </p:cNvPr>
          <p:cNvSpPr>
            <a:spLocks xmlns:a="http://schemas.openxmlformats.org/drawingml/2006/main" noGrp="1"/>
          </p:cNvSpPr>
          <p:nvPr/>
        </p:nvSpPr>
        <p:spPr>
          <a:xfrm xmlns:a="http://schemas.openxmlformats.org/drawingml/2006/main">
            <a:off x="819150" y="33718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5F2EA"/>
                </a:solidFill>
                <a:latin typeface="Avenir Next"/>
                <a:ea typeface="Avenir Next"/>
                <a:cs typeface="Avenir Next"/>
              </a:defRPr>
            </a:defPPr>
          </a:lstStyle>
          <a:p xmlns:a="http://schemas.openxmlformats.org/drawingml/2006/main">
            <a:pPr algn="l">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Unary bound</a:t>
            </a:r>
          </a:p>
        </p:txBody>
      </p:sp>
      <p:sp>
        <p:nvSpPr>
          <p:cNvPr id="13" name="questions-0-question">
            <a:extLst xmlns:a="http://schemas.openxmlformats.org/drawingml/2006/main">
              <a:ext uri="{FF2B5EF4-FFF2-40B4-BE49-F238E27FC236}">
                <a16:creationId xmlns:a16="http://schemas.microsoft.com/office/drawing/2014/main" id="{1A4EAA1D-52B6-4BFC-B57D-3AE048B22A55}"/>
              </a:ext>
            </a:extLst>
          </p:cNvPr>
          <p:cNvSpPr>
            <a:spLocks xmlns:a="http://schemas.openxmlformats.org/drawingml/2006/main" noGrp="1"/>
          </p:cNvSpPr>
          <p:nvPr/>
        </p:nvSpPr>
        <p:spPr>
          <a:xfrm xmlns:a="http://schemas.openxmlformats.org/drawingml/2006/main">
            <a:off x="819150" y="3819525"/>
            <a:ext cx="304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How much can one run use?</a:t>
            </a:r>
          </a:p>
        </p:txBody>
      </p:sp>
      <p:sp>
        <p:nvSpPr>
          <p:cNvPr id="14" name="questions-0-result">
            <a:extLst xmlns:a="http://schemas.openxmlformats.org/drawingml/2006/main">
              <a:ext uri="{FF2B5EF4-FFF2-40B4-BE49-F238E27FC236}">
                <a16:creationId xmlns:a16="http://schemas.microsoft.com/office/drawing/2014/main" id="{9B6B6050-2F5D-45D5-94D0-676389B0E1FB}"/>
              </a:ext>
            </a:extLst>
          </p:cNvPr>
          <p:cNvSpPr>
            <a:spLocks xmlns:a="http://schemas.openxmlformats.org/drawingml/2006/main" noGrp="1"/>
          </p:cNvSpPr>
          <p:nvPr/>
        </p:nvSpPr>
        <p:spPr>
          <a:xfrm xmlns:a="http://schemas.openxmlformats.org/drawingml/2006/main">
            <a:off x="819150" y="476250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D9CBB6"/>
                </a:solidFill>
                <a:latin typeface="Menlo"/>
                <a:ea typeface="Menlo"/>
                <a:cs typeface="Menlo"/>
              </a:defRPr>
            </a:defPPr>
          </a:lstStyle>
          <a:p xmlns:a="http://schemas.openxmlformats.org/drawingml/2006/main">
            <a:pPr algn="l">
              <a:defRPr sz="1238" b="1" i="0">
                <a:solidFill>
                  <a:srgbClr val="D9CBB6"/>
                </a:solidFill>
                <a:latin typeface="Menlo"/>
                <a:ea typeface="Menlo"/>
                <a:cs typeface="Menlo"/>
              </a:defRPr>
            </a:pPr>
            <a:r>
              <a:rPr sz="1238" b="1" i="0">
                <a:solidFill>
                  <a:srgbClr val="D9CBB6"/>
                </a:solidFill>
                <a:latin typeface="Menlo"/>
                <a:ea typeface="Menlo"/>
                <a:cs typeface="Menlo"/>
              </a:rPr>
              <a:t>C(I) ≤ declared envelope</a:t>
            </a:r>
          </a:p>
        </p:txBody>
      </p:sp>
      <p:sp>
        <p:nvSpPr>
          <p:cNvPr id="15" name="questions-0-separator">
            <a:extLst xmlns:a="http://schemas.openxmlformats.org/drawingml/2006/main">
              <a:ext uri="{FF2B5EF4-FFF2-40B4-BE49-F238E27FC236}">
                <a16:creationId xmlns:a16="http://schemas.microsoft.com/office/drawing/2014/main" id="{69495F48-FED6-43EE-87EF-22F3527A159E}"/>
              </a:ext>
            </a:extLst>
          </p:cNvPr>
          <p:cNvSpPr>
            <a:spLocks xmlns:a="http://schemas.openxmlformats.org/drawingml/2006/main" noGrp="1"/>
          </p:cNvSpPr>
          <p:nvPr/>
        </p:nvSpPr>
        <p:spPr>
          <a:xfrm xmlns:a="http://schemas.openxmlformats.org/drawingml/2006/main">
            <a:off x="4057650" y="2619375"/>
            <a:ext cx="9525" cy="276225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6" name="questions-1-number">
            <a:extLst xmlns:a="http://schemas.openxmlformats.org/drawingml/2006/main">
              <a:ext uri="{FF2B5EF4-FFF2-40B4-BE49-F238E27FC236}">
                <a16:creationId xmlns:a16="http://schemas.microsoft.com/office/drawing/2014/main" id="{32BECE39-AFF9-406C-B4B6-EDA2760244BD}"/>
              </a:ext>
            </a:extLst>
          </p:cNvPr>
          <p:cNvSpPr>
            <a:spLocks xmlns:a="http://schemas.openxmlformats.org/drawingml/2006/main" noGrp="1"/>
          </p:cNvSpPr>
          <p:nvPr/>
        </p:nvSpPr>
        <p:spPr>
          <a:xfrm xmlns:a="http://schemas.openxmlformats.org/drawingml/2006/main">
            <a:off x="4457700" y="2600325"/>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i="0">
                <a:solidFill>
                  <a:srgbClr val="FF8A5C"/>
                </a:solidFill>
                <a:latin typeface="Menlo"/>
                <a:ea typeface="Menlo"/>
                <a:cs typeface="Menlo"/>
              </a:defRPr>
            </a:defPPr>
          </a:lstStyle>
          <a:p xmlns:a="http://schemas.openxmlformats.org/drawingml/2006/main">
            <a:pPr algn="l">
              <a:defRPr sz="2550" b="1" i="0">
                <a:solidFill>
                  <a:srgbClr val="FF8A5C"/>
                </a:solidFill>
                <a:latin typeface="Menlo"/>
                <a:ea typeface="Menlo"/>
                <a:cs typeface="Menlo"/>
              </a:defRPr>
            </a:pPr>
            <a:r>
              <a:rPr sz="2550" b="1" i="0">
                <a:solidFill>
                  <a:srgbClr val="FF8A5C"/>
                </a:solidFill>
                <a:latin typeface="Menlo"/>
                <a:ea typeface="Menlo"/>
                <a:cs typeface="Menlo"/>
              </a:rPr>
              <a:t>02</a:t>
            </a:r>
          </a:p>
        </p:txBody>
      </p:sp>
      <p:sp>
        <p:nvSpPr>
          <p:cNvPr id="17" name="questions-1-rule">
            <a:extLst xmlns:a="http://schemas.openxmlformats.org/drawingml/2006/main">
              <a:ext uri="{FF2B5EF4-FFF2-40B4-BE49-F238E27FC236}">
                <a16:creationId xmlns:a16="http://schemas.microsoft.com/office/drawing/2014/main" id="{9A4580D4-C567-483E-962E-FDDCFAA4ADE6}"/>
              </a:ext>
            </a:extLst>
          </p:cNvPr>
          <p:cNvSpPr>
            <a:spLocks xmlns:a="http://schemas.openxmlformats.org/drawingml/2006/main" noGrp="1"/>
          </p:cNvSpPr>
          <p:nvPr/>
        </p:nvSpPr>
        <p:spPr>
          <a:xfrm xmlns:a="http://schemas.openxmlformats.org/drawingml/2006/main">
            <a:off x="4457700" y="3181350"/>
            <a:ext cx="3009900" cy="28575"/>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8" name="questions-1-title">
            <a:extLst xmlns:a="http://schemas.openxmlformats.org/drawingml/2006/main">
              <a:ext uri="{FF2B5EF4-FFF2-40B4-BE49-F238E27FC236}">
                <a16:creationId xmlns:a16="http://schemas.microsoft.com/office/drawing/2014/main" id="{23942A5C-B2EE-46CE-AF0C-E4C7F2AAB8D9}"/>
              </a:ext>
            </a:extLst>
          </p:cNvPr>
          <p:cNvSpPr>
            <a:spLocks xmlns:a="http://schemas.openxmlformats.org/drawingml/2006/main" noGrp="1"/>
          </p:cNvSpPr>
          <p:nvPr/>
        </p:nvSpPr>
        <p:spPr>
          <a:xfrm xmlns:a="http://schemas.openxmlformats.org/drawingml/2006/main">
            <a:off x="4457700" y="33718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5F2EA"/>
                </a:solidFill>
                <a:latin typeface="Avenir Next"/>
                <a:ea typeface="Avenir Next"/>
                <a:cs typeface="Avenir Next"/>
              </a:defRPr>
            </a:defPPr>
          </a:lstStyle>
          <a:p xmlns:a="http://schemas.openxmlformats.org/drawingml/2006/main">
            <a:pPr algn="l">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Paired trace</a:t>
            </a:r>
          </a:p>
        </p:txBody>
      </p:sp>
      <p:sp>
        <p:nvSpPr>
          <p:cNvPr id="19" name="questions-1-question">
            <a:extLst xmlns:a="http://schemas.openxmlformats.org/drawingml/2006/main">
              <a:ext uri="{FF2B5EF4-FFF2-40B4-BE49-F238E27FC236}">
                <a16:creationId xmlns:a16="http://schemas.microsoft.com/office/drawing/2014/main" id="{471CFDC1-9F11-4695-BE78-0D2A7D91A2CE}"/>
              </a:ext>
            </a:extLst>
          </p:cNvPr>
          <p:cNvSpPr>
            <a:spLocks xmlns:a="http://schemas.openxmlformats.org/drawingml/2006/main" noGrp="1"/>
          </p:cNvSpPr>
          <p:nvPr/>
        </p:nvSpPr>
        <p:spPr>
          <a:xfrm xmlns:a="http://schemas.openxmlformats.org/drawingml/2006/main">
            <a:off x="4457700" y="3819525"/>
            <a:ext cx="304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Does changing a secret change usage?</a:t>
            </a:r>
          </a:p>
        </p:txBody>
      </p:sp>
      <p:sp>
        <p:nvSpPr>
          <p:cNvPr id="20" name="questions-1-result">
            <a:extLst xmlns:a="http://schemas.openxmlformats.org/drawingml/2006/main">
              <a:ext uri="{FF2B5EF4-FFF2-40B4-BE49-F238E27FC236}">
                <a16:creationId xmlns:a16="http://schemas.microsoft.com/office/drawing/2014/main" id="{B6CE9917-F22A-4F7B-84BF-2C7F6C9AE3EE}"/>
              </a:ext>
            </a:extLst>
          </p:cNvPr>
          <p:cNvSpPr>
            <a:spLocks xmlns:a="http://schemas.openxmlformats.org/drawingml/2006/main" noGrp="1"/>
          </p:cNvSpPr>
          <p:nvPr/>
        </p:nvSpPr>
        <p:spPr>
          <a:xfrm xmlns:a="http://schemas.openxmlformats.org/drawingml/2006/main">
            <a:off x="4457700" y="476250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FF8A5C"/>
                </a:solidFill>
                <a:latin typeface="Menlo"/>
                <a:ea typeface="Menlo"/>
                <a:cs typeface="Menlo"/>
              </a:defRPr>
            </a:defPPr>
          </a:lstStyle>
          <a:p xmlns:a="http://schemas.openxmlformats.org/drawingml/2006/main">
            <a:pPr algn="l">
              <a:defRPr sz="1238" b="1" i="0">
                <a:solidFill>
                  <a:srgbClr val="FF8A5C"/>
                </a:solidFill>
                <a:latin typeface="Menlo"/>
                <a:ea typeface="Menlo"/>
                <a:cs typeface="Menlo"/>
              </a:defRPr>
            </a:pPr>
            <a:r>
              <a:rPr sz="1238" b="1" i="0">
                <a:solidFill>
                  <a:srgbClr val="FF8A5C"/>
                </a:solidFill>
                <a:latin typeface="Menlo"/>
                <a:ea typeface="Menlo"/>
                <a:cs typeface="Menlo"/>
              </a:rPr>
              <a:t>trace(run₀) = trace(run₁)</a:t>
            </a:r>
          </a:p>
        </p:txBody>
      </p:sp>
      <p:sp>
        <p:nvSpPr>
          <p:cNvPr id="21" name="questions-1-separator">
            <a:extLst xmlns:a="http://schemas.openxmlformats.org/drawingml/2006/main">
              <a:ext uri="{FF2B5EF4-FFF2-40B4-BE49-F238E27FC236}">
                <a16:creationId xmlns:a16="http://schemas.microsoft.com/office/drawing/2014/main" id="{A1BE3CFD-A412-424D-A3CE-45D86D93D64D}"/>
              </a:ext>
            </a:extLst>
          </p:cNvPr>
          <p:cNvSpPr>
            <a:spLocks xmlns:a="http://schemas.openxmlformats.org/drawingml/2006/main" noGrp="1"/>
          </p:cNvSpPr>
          <p:nvPr/>
        </p:nvSpPr>
        <p:spPr>
          <a:xfrm xmlns:a="http://schemas.openxmlformats.org/drawingml/2006/main">
            <a:off x="7696200" y="2619375"/>
            <a:ext cx="9525" cy="276225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2" name="questions-2-number">
            <a:extLst xmlns:a="http://schemas.openxmlformats.org/drawingml/2006/main">
              <a:ext uri="{FF2B5EF4-FFF2-40B4-BE49-F238E27FC236}">
                <a16:creationId xmlns:a16="http://schemas.microsoft.com/office/drawing/2014/main" id="{6D8ED81A-12D8-473D-9BF5-B691ED28A8E2}"/>
              </a:ext>
            </a:extLst>
          </p:cNvPr>
          <p:cNvSpPr>
            <a:spLocks xmlns:a="http://schemas.openxmlformats.org/drawingml/2006/main" noGrp="1"/>
          </p:cNvSpPr>
          <p:nvPr/>
        </p:nvSpPr>
        <p:spPr>
          <a:xfrm xmlns:a="http://schemas.openxmlformats.org/drawingml/2006/main">
            <a:off x="8096250" y="2600325"/>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1" i="0">
                <a:solidFill>
                  <a:srgbClr val="5CC8B8"/>
                </a:solidFill>
                <a:latin typeface="Menlo"/>
                <a:ea typeface="Menlo"/>
                <a:cs typeface="Menlo"/>
              </a:defRPr>
            </a:defPPr>
          </a:lstStyle>
          <a:p xmlns:a="http://schemas.openxmlformats.org/drawingml/2006/main">
            <a:pPr algn="l">
              <a:defRPr sz="2550" b="1" i="0">
                <a:solidFill>
                  <a:srgbClr val="5CC8B8"/>
                </a:solidFill>
                <a:latin typeface="Menlo"/>
                <a:ea typeface="Menlo"/>
                <a:cs typeface="Menlo"/>
              </a:defRPr>
            </a:pPr>
            <a:r>
              <a:rPr sz="2550" b="1" i="0">
                <a:solidFill>
                  <a:srgbClr val="5CC8B8"/>
                </a:solidFill>
                <a:latin typeface="Menlo"/>
                <a:ea typeface="Menlo"/>
                <a:cs typeface="Menlo"/>
              </a:rPr>
              <a:t>03</a:t>
            </a:r>
          </a:p>
        </p:txBody>
      </p:sp>
      <p:sp>
        <p:nvSpPr>
          <p:cNvPr id="23" name="questions-2-rule">
            <a:extLst xmlns:a="http://schemas.openxmlformats.org/drawingml/2006/main">
              <a:ext uri="{FF2B5EF4-FFF2-40B4-BE49-F238E27FC236}">
                <a16:creationId xmlns:a16="http://schemas.microsoft.com/office/drawing/2014/main" id="{F01C2EEB-B811-42FD-8D80-96D44BF296FC}"/>
              </a:ext>
            </a:extLst>
          </p:cNvPr>
          <p:cNvSpPr>
            <a:spLocks xmlns:a="http://schemas.openxmlformats.org/drawingml/2006/main" noGrp="1"/>
          </p:cNvSpPr>
          <p:nvPr/>
        </p:nvSpPr>
        <p:spPr>
          <a:xfrm xmlns:a="http://schemas.openxmlformats.org/drawingml/2006/main">
            <a:off x="8096250" y="3181350"/>
            <a:ext cx="3009900" cy="28575"/>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4" name="questions-2-title">
            <a:extLst xmlns:a="http://schemas.openxmlformats.org/drawingml/2006/main">
              <a:ext uri="{FF2B5EF4-FFF2-40B4-BE49-F238E27FC236}">
                <a16:creationId xmlns:a16="http://schemas.microsoft.com/office/drawing/2014/main" id="{A5EBDA57-8774-47F8-BE62-83564436D5CD}"/>
              </a:ext>
            </a:extLst>
          </p:cNvPr>
          <p:cNvSpPr>
            <a:spLocks xmlns:a="http://schemas.openxmlformats.org/drawingml/2006/main" noGrp="1"/>
          </p:cNvSpPr>
          <p:nvPr/>
        </p:nvSpPr>
        <p:spPr>
          <a:xfrm xmlns:a="http://schemas.openxmlformats.org/drawingml/2006/main">
            <a:off x="8096250" y="3371850"/>
            <a:ext cx="304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i="0">
                <a:solidFill>
                  <a:srgbClr val="F5F2EA"/>
                </a:solidFill>
                <a:latin typeface="Avenir Next"/>
                <a:ea typeface="Avenir Next"/>
                <a:cs typeface="Avenir Next"/>
              </a:defRPr>
            </a:defPPr>
          </a:lstStyle>
          <a:p xmlns:a="http://schemas.openxmlformats.org/drawingml/2006/main">
            <a:pPr algn="l">
              <a:defRPr sz="1650" b="1" i="0">
                <a:solidFill>
                  <a:srgbClr val="F5F2EA"/>
                </a:solidFill>
                <a:latin typeface="Avenir Next"/>
                <a:ea typeface="Avenir Next"/>
                <a:cs typeface="Avenir Next"/>
              </a:defRPr>
            </a:pPr>
            <a:r>
              <a:rPr sz="1650" b="1" i="0">
                <a:solidFill>
                  <a:srgbClr val="F5F2EA"/>
                </a:solidFill>
                <a:latin typeface="Avenir Next"/>
                <a:ea typeface="Avenir Next"/>
                <a:cs typeface="Avenir Next"/>
              </a:rPr>
              <a:t>Finite channel</a:t>
            </a:r>
          </a:p>
        </p:txBody>
      </p:sp>
      <p:sp>
        <p:nvSpPr>
          <p:cNvPr id="25" name="questions-2-question">
            <a:extLst xmlns:a="http://schemas.openxmlformats.org/drawingml/2006/main">
              <a:ext uri="{FF2B5EF4-FFF2-40B4-BE49-F238E27FC236}">
                <a16:creationId xmlns:a16="http://schemas.microsoft.com/office/drawing/2014/main" id="{CD72F524-6E80-4F89-BF73-85B6409261DB}"/>
              </a:ext>
            </a:extLst>
          </p:cNvPr>
          <p:cNvSpPr>
            <a:spLocks xmlns:a="http://schemas.openxmlformats.org/drawingml/2006/main" noGrp="1"/>
          </p:cNvSpPr>
          <p:nvPr/>
        </p:nvSpPr>
        <p:spPr>
          <a:xfrm xmlns:a="http://schemas.openxmlformats.org/drawingml/2006/main">
            <a:off x="8096250" y="3819525"/>
            <a:ext cx="30480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Avenir Next"/>
                <a:ea typeface="Avenir Next"/>
                <a:cs typeface="Avenir Next"/>
              </a:defRPr>
            </a:defPPr>
          </a:lstStyle>
          <a:p xmlns:a="http://schemas.openxmlformats.org/drawingml/2006/main">
            <a:pPr algn="l">
              <a:defRPr sz="1350" b="0" i="0">
                <a:solidFill>
                  <a:srgbClr val="B8C1D1"/>
                </a:solidFill>
                <a:latin typeface="Avenir Next"/>
                <a:ea typeface="Avenir Next"/>
                <a:cs typeface="Avenir Next"/>
              </a:defRPr>
            </a:pPr>
            <a:r>
              <a:rPr sz="1350" b="0" i="0">
                <a:solidFill>
                  <a:srgbClr val="B8C1D1"/>
                </a:solidFill>
                <a:latin typeface="Avenir Next"/>
                <a:ea typeface="Avenir Next"/>
                <a:cs typeface="Avenir Next"/>
              </a:rPr>
              <a:t>What does an observation reveal?</a:t>
            </a:r>
          </a:p>
        </p:txBody>
      </p:sp>
      <p:sp>
        <p:nvSpPr>
          <p:cNvPr id="26" name="questions-2-result">
            <a:extLst xmlns:a="http://schemas.openxmlformats.org/drawingml/2006/main">
              <a:ext uri="{FF2B5EF4-FFF2-40B4-BE49-F238E27FC236}">
                <a16:creationId xmlns:a16="http://schemas.microsoft.com/office/drawing/2014/main" id="{E2D507FD-9BEB-4805-973A-14E876966524}"/>
              </a:ext>
            </a:extLst>
          </p:cNvPr>
          <p:cNvSpPr>
            <a:spLocks xmlns:a="http://schemas.openxmlformats.org/drawingml/2006/main" noGrp="1"/>
          </p:cNvSpPr>
          <p:nvPr/>
        </p:nvSpPr>
        <p:spPr>
          <a:xfrm xmlns:a="http://schemas.openxmlformats.org/drawingml/2006/main">
            <a:off x="8096250" y="476250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5CC8B8"/>
                </a:solidFill>
                <a:latin typeface="Menlo"/>
                <a:ea typeface="Menlo"/>
                <a:cs typeface="Menlo"/>
              </a:defRPr>
            </a:defPPr>
          </a:lstStyle>
          <a:p xmlns:a="http://schemas.openxmlformats.org/drawingml/2006/main">
            <a:pPr algn="l">
              <a:defRPr sz="1238" b="1" i="0">
                <a:solidFill>
                  <a:srgbClr val="5CC8B8"/>
                </a:solidFill>
                <a:latin typeface="Menlo"/>
                <a:ea typeface="Menlo"/>
                <a:cs typeface="Menlo"/>
              </a:defRPr>
            </a:pPr>
            <a:r>
              <a:rPr sz="1238" b="1" i="0">
                <a:solidFill>
                  <a:srgbClr val="5CC8B8"/>
                </a:solidFill>
                <a:latin typeface="Menlo"/>
                <a:ea typeface="Menlo"/>
                <a:cs typeface="Menlo"/>
              </a:rPr>
              <a:t>TV, vulnerability, MI</a:t>
            </a:r>
          </a:p>
        </p:txBody>
      </p:sp>
      <p:sp>
        <p:nvSpPr>
          <p:cNvPr id="27" name="questions-scope">
            <a:extLst xmlns:a="http://schemas.openxmlformats.org/drawingml/2006/main">
              <a:ext uri="{FF2B5EF4-FFF2-40B4-BE49-F238E27FC236}">
                <a16:creationId xmlns:a16="http://schemas.microsoft.com/office/drawing/2014/main" id="{4CC44E75-12C3-445D-9714-141A60D3961A}"/>
              </a:ext>
            </a:extLst>
          </p:cNvPr>
          <p:cNvSpPr>
            <a:spLocks xmlns:a="http://schemas.openxmlformats.org/drawingml/2006/main" noGrp="1"/>
          </p:cNvSpPr>
          <p:nvPr/>
        </p:nvSpPr>
        <p:spPr>
          <a:xfrm xmlns:a="http://schemas.openxmlformats.org/drawingml/2006/main">
            <a:off x="1524000" y="5619750"/>
            <a:ext cx="9144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i="0">
                <a:solidFill>
                  <a:srgbClr val="B8C1D1"/>
                </a:solidFill>
                <a:latin typeface="Avenir Next"/>
                <a:ea typeface="Avenir Next"/>
                <a:cs typeface="Avenir Next"/>
              </a:defRPr>
            </a:defPPr>
          </a:lstStyle>
          <a:p xmlns:a="http://schemas.openxmlformats.org/drawingml/2006/main">
            <a:pPr algn="ctr">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Different inputs, different assumptions, different outputs</a:t>
            </a:r>
          </a:p>
        </p:txBody>
      </p:sp>
    </p:spTree>
    <p:extLst>
      <p:ext uri="{BB962C8B-B14F-4D97-AF65-F5344CB8AC3E}">
        <p14:creationId xmlns:p14="http://schemas.microsoft.com/office/powerpoint/2010/main" val="523373883"/>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5" name="s5-brand">
            <a:extLst xmlns:a="http://schemas.openxmlformats.org/drawingml/2006/main">
              <a:ext uri="{FF2B5EF4-FFF2-40B4-BE49-F238E27FC236}">
                <a16:creationId xmlns:a16="http://schemas.microsoft.com/office/drawing/2014/main" id="{85D3BC2A-A499-4C63-AEA8-5DF200E7F2AB}"/>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5-section">
            <a:extLst xmlns:a="http://schemas.openxmlformats.org/drawingml/2006/main">
              <a:ext uri="{FF2B5EF4-FFF2-40B4-BE49-F238E27FC236}">
                <a16:creationId xmlns:a16="http://schemas.microsoft.com/office/drawing/2014/main" id="{75AE021A-B254-44A3-886F-55F3A3B59B11}"/>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SOFTWARE MAP</a:t>
            </a:r>
          </a:p>
        </p:txBody>
      </p:sp>
      <p:sp>
        <p:nvSpPr>
          <p:cNvPr id="3" name="s5-title">
            <a:extLst xmlns:a="http://schemas.openxmlformats.org/drawingml/2006/main">
              <a:ext uri="{FF2B5EF4-FFF2-40B4-BE49-F238E27FC236}">
                <a16:creationId xmlns:a16="http://schemas.microsoft.com/office/drawing/2014/main" id="{A871F45D-990A-48B7-B9FB-929D5E19CC39}"/>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Four input paths keep claims separate</a:t>
            </a:r>
          </a:p>
        </p:txBody>
      </p:sp>
      <p:sp>
        <p:nvSpPr>
          <p:cNvPr id="4" name="s5-subtitle">
            <a:extLst xmlns:a="http://schemas.openxmlformats.org/drawingml/2006/main">
              <a:ext uri="{FF2B5EF4-FFF2-40B4-BE49-F238E27FC236}">
                <a16:creationId xmlns:a16="http://schemas.microsoft.com/office/drawing/2014/main" id="{AFF99479-9E50-420C-BF2B-A871B86E5983}"/>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Compiler, graph, source and finite-kernel analyses use distinct contracts.</a:t>
            </a:r>
          </a:p>
        </p:txBody>
      </p:sp>
      <p:sp>
        <p:nvSpPr>
          <p:cNvPr id="5" name="s5-source-rule">
            <a:extLst xmlns:a="http://schemas.openxmlformats.org/drawingml/2006/main">
              <a:ext uri="{FF2B5EF4-FFF2-40B4-BE49-F238E27FC236}">
                <a16:creationId xmlns:a16="http://schemas.microsoft.com/office/drawing/2014/main" id="{22E5B3BD-C351-42E3-A031-EED8CBE156A0}"/>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5-sources">
            <a:extLst xmlns:a="http://schemas.openxmlformats.org/drawingml/2006/main">
              <a:ext uri="{FF2B5EF4-FFF2-40B4-BE49-F238E27FC236}">
                <a16:creationId xmlns:a16="http://schemas.microsoft.com/office/drawing/2014/main" id="{96482D20-6759-4F8B-B2B5-4F1CA86F3B95}"/>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docs/PAPER.md §§2–5</a:t>
            </a:r>
          </a:p>
        </p:txBody>
      </p:sp>
      <p:sp>
        <p:nvSpPr>
          <p:cNvPr id="7" name="s5-footer-rule">
            <a:extLst xmlns:a="http://schemas.openxmlformats.org/drawingml/2006/main">
              <a:ext uri="{FF2B5EF4-FFF2-40B4-BE49-F238E27FC236}">
                <a16:creationId xmlns:a16="http://schemas.microsoft.com/office/drawing/2014/main" id="{DA7DCE66-D49A-4CF6-8BF2-05D113628D5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5-footer">
            <a:extLst xmlns:a="http://schemas.openxmlformats.org/drawingml/2006/main">
              <a:ext uri="{FF2B5EF4-FFF2-40B4-BE49-F238E27FC236}">
                <a16:creationId xmlns:a16="http://schemas.microsoft.com/office/drawing/2014/main" id="{68EEE9F8-1421-403E-B408-E9CF83E7647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5-page">
            <a:extLst xmlns:a="http://schemas.openxmlformats.org/drawingml/2006/main">
              <a:ext uri="{FF2B5EF4-FFF2-40B4-BE49-F238E27FC236}">
                <a16:creationId xmlns:a16="http://schemas.microsoft.com/office/drawing/2014/main" id="{FB2862F9-0D90-440C-80D3-71E5E85E1FDC}"/>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5</a:t>
            </a:r>
          </a:p>
        </p:txBody>
      </p:sp>
      <p:sp>
        <p:nvSpPr>
          <p:cNvPr id="10" name="arch-0-stripe">
            <a:extLst xmlns:a="http://schemas.openxmlformats.org/drawingml/2006/main">
              <a:ext uri="{FF2B5EF4-FFF2-40B4-BE49-F238E27FC236}">
                <a16:creationId xmlns:a16="http://schemas.microsoft.com/office/drawing/2014/main" id="{D00BFF6A-5CF2-4AE6-AB7F-6E7FD040CE49}"/>
              </a:ext>
            </a:extLst>
          </p:cNvPr>
          <p:cNvSpPr>
            <a:spLocks xmlns:a="http://schemas.openxmlformats.org/drawingml/2006/main" noGrp="1"/>
          </p:cNvSpPr>
          <p:nvPr/>
        </p:nvSpPr>
        <p:spPr>
          <a:xfrm xmlns:a="http://schemas.openxmlformats.org/drawingml/2006/main">
            <a:off x="781050" y="2409825"/>
            <a:ext cx="57150" cy="6477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1" name="arch-0-head">
            <a:extLst xmlns:a="http://schemas.openxmlformats.org/drawingml/2006/main">
              <a:ext uri="{FF2B5EF4-FFF2-40B4-BE49-F238E27FC236}">
                <a16:creationId xmlns:a16="http://schemas.microsoft.com/office/drawing/2014/main" id="{B1836737-739B-4561-9723-D1848AD98EEE}"/>
              </a:ext>
            </a:extLst>
          </p:cNvPr>
          <p:cNvSpPr>
            <a:spLocks xmlns:a="http://schemas.openxmlformats.org/drawingml/2006/main" noGrp="1"/>
          </p:cNvSpPr>
          <p:nvPr/>
        </p:nvSpPr>
        <p:spPr>
          <a:xfrm xmlns:a="http://schemas.openxmlformats.org/drawingml/2006/main">
            <a:off x="971550" y="2447925"/>
            <a:ext cx="2038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1F6F66"/>
                </a:solidFill>
                <a:latin typeface="Avenir Next"/>
                <a:ea typeface="Avenir Next"/>
                <a:cs typeface="Avenir Next"/>
              </a:defRPr>
            </a:defPPr>
          </a:lstStyle>
          <a:p xmlns:a="http://schemas.openxmlformats.org/drawingml/2006/main">
            <a:pPr algn="l">
              <a:defRPr sz="1125" b="1" i="0">
                <a:solidFill>
                  <a:srgbClr val="1F6F66"/>
                </a:solidFill>
                <a:latin typeface="Avenir Next"/>
                <a:ea typeface="Avenir Next"/>
                <a:cs typeface="Avenir Next"/>
              </a:defRPr>
            </a:pPr>
            <a:r>
              <a:rPr sz="1125" b="1" i="0">
                <a:solidFill>
                  <a:srgbClr val="1F6F66"/>
                </a:solidFill>
                <a:latin typeface="Avenir Next"/>
                <a:ea typeface="Avenir Next"/>
                <a:cs typeface="Avenir Next"/>
              </a:rPr>
              <a:t>C++ COMPILER</a:t>
            </a:r>
          </a:p>
        </p:txBody>
      </p:sp>
      <p:sp>
        <p:nvSpPr>
          <p:cNvPr id="12" name="arch-0-input">
            <a:extLst xmlns:a="http://schemas.openxmlformats.org/drawingml/2006/main">
              <a:ext uri="{FF2B5EF4-FFF2-40B4-BE49-F238E27FC236}">
                <a16:creationId xmlns:a16="http://schemas.microsoft.com/office/drawing/2014/main" id="{74E0FE51-CA3A-47ED-9DCF-41B71832CDFA}"/>
              </a:ext>
            </a:extLst>
          </p:cNvPr>
          <p:cNvSpPr>
            <a:spLocks xmlns:a="http://schemas.openxmlformats.org/drawingml/2006/main" noGrp="1"/>
          </p:cNvSpPr>
          <p:nvPr/>
        </p:nvSpPr>
        <p:spPr>
          <a:xfrm xmlns:a="http://schemas.openxmlformats.org/drawingml/2006/main">
            <a:off x="971550" y="2714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bounded OrchLang AST</a:t>
            </a:r>
          </a:p>
        </p:txBody>
      </p:sp>
      <p:sp>
        <p:nvSpPr>
          <p:cNvPr id="13" name="arch-0-process">
            <a:extLst xmlns:a="http://schemas.openxmlformats.org/drawingml/2006/main">
              <a:ext uri="{FF2B5EF4-FFF2-40B4-BE49-F238E27FC236}">
                <a16:creationId xmlns:a16="http://schemas.microsoft.com/office/drawing/2014/main" id="{5691DBD5-1997-4F26-95AA-E02B5CE3F77C}"/>
              </a:ext>
            </a:extLst>
          </p:cNvPr>
          <p:cNvSpPr>
            <a:spLocks xmlns:a="http://schemas.openxmlformats.org/drawingml/2006/main" noGrp="1"/>
          </p:cNvSpPr>
          <p:nvPr/>
        </p:nvSpPr>
        <p:spPr>
          <a:xfrm xmlns:a="http://schemas.openxmlformats.org/drawingml/2006/main">
            <a:off x="3952875" y="25336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41B2B"/>
                </a:solidFill>
                <a:latin typeface="Avenir Next"/>
                <a:ea typeface="Avenir Next"/>
                <a:cs typeface="Avenir Next"/>
              </a:defRPr>
            </a:defPPr>
          </a:lstStyle>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flow + unary cost + request relation</a:t>
            </a:r>
          </a:p>
        </p:txBody>
      </p:sp>
      <p:sp>
        <p:nvSpPr>
          <p:cNvPr id="14" name="arch-0-scope">
            <a:extLst xmlns:a="http://schemas.openxmlformats.org/drawingml/2006/main">
              <a:ext uri="{FF2B5EF4-FFF2-40B4-BE49-F238E27FC236}">
                <a16:creationId xmlns:a16="http://schemas.microsoft.com/office/drawing/2014/main" id="{4CEF9E87-E7F5-4440-92FC-A34BEA590A37}"/>
              </a:ext>
            </a:extLst>
          </p:cNvPr>
          <p:cNvSpPr>
            <a:spLocks xmlns:a="http://schemas.openxmlformats.org/drawingml/2006/main" noGrp="1"/>
          </p:cNvSpPr>
          <p:nvPr/>
        </p:nvSpPr>
        <p:spPr>
          <a:xfrm xmlns:a="http://schemas.openxmlformats.org/drawingml/2006/main">
            <a:off x="9172575" y="254317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46B7A"/>
                </a:solidFill>
                <a:latin typeface="Avenir Next"/>
                <a:ea typeface="Avenir Next"/>
                <a:cs typeface="Avenir Next"/>
              </a:defRPr>
            </a:defPPr>
          </a:lstStyle>
          <a:p xmlns:a="http://schemas.openxmlformats.org/drawingml/2006/main">
            <a:pPr algn="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finite syntax</a:t>
            </a:r>
          </a:p>
        </p:txBody>
      </p:sp>
      <p:sp>
        <p:nvSpPr>
          <p:cNvPr id="15" name="arch-0-line">
            <a:extLst xmlns:a="http://schemas.openxmlformats.org/drawingml/2006/main">
              <a:ext uri="{FF2B5EF4-FFF2-40B4-BE49-F238E27FC236}">
                <a16:creationId xmlns:a16="http://schemas.microsoft.com/office/drawing/2014/main" id="{46A5BFC2-F094-4D14-91B1-3BD68DEBA276}"/>
              </a:ext>
            </a:extLst>
          </p:cNvPr>
          <p:cNvSpPr>
            <a:spLocks xmlns:a="http://schemas.openxmlformats.org/drawingml/2006/main" noGrp="1"/>
          </p:cNvSpPr>
          <p:nvPr/>
        </p:nvSpPr>
        <p:spPr>
          <a:xfrm xmlns:a="http://schemas.openxmlformats.org/drawingml/2006/main">
            <a:off x="952500" y="3105150"/>
            <a:ext cx="105537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6" name="arch-1-stripe">
            <a:extLst xmlns:a="http://schemas.openxmlformats.org/drawingml/2006/main">
              <a:ext uri="{FF2B5EF4-FFF2-40B4-BE49-F238E27FC236}">
                <a16:creationId xmlns:a16="http://schemas.microsoft.com/office/drawing/2014/main" id="{EC8D5CB3-B89E-4B27-BF52-966CB298DE8A}"/>
              </a:ext>
            </a:extLst>
          </p:cNvPr>
          <p:cNvSpPr>
            <a:spLocks xmlns:a="http://schemas.openxmlformats.org/drawingml/2006/main" noGrp="1"/>
          </p:cNvSpPr>
          <p:nvPr/>
        </p:nvSpPr>
        <p:spPr>
          <a:xfrm xmlns:a="http://schemas.openxmlformats.org/drawingml/2006/main">
            <a:off x="781050" y="3248025"/>
            <a:ext cx="57150" cy="6477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arch-1-head">
            <a:extLst xmlns:a="http://schemas.openxmlformats.org/drawingml/2006/main">
              <a:ext uri="{FF2B5EF4-FFF2-40B4-BE49-F238E27FC236}">
                <a16:creationId xmlns:a16="http://schemas.microsoft.com/office/drawing/2014/main" id="{74FFFD25-8E34-4195-8AEE-73A6E4C0960F}"/>
              </a:ext>
            </a:extLst>
          </p:cNvPr>
          <p:cNvSpPr>
            <a:spLocks xmlns:a="http://schemas.openxmlformats.org/drawingml/2006/main" noGrp="1"/>
          </p:cNvSpPr>
          <p:nvPr/>
        </p:nvSpPr>
        <p:spPr>
          <a:xfrm xmlns:a="http://schemas.openxmlformats.org/drawingml/2006/main">
            <a:off x="971550" y="3286125"/>
            <a:ext cx="2038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F8A5C"/>
                </a:solidFill>
                <a:latin typeface="Avenir Next"/>
                <a:ea typeface="Avenir Next"/>
                <a:cs typeface="Avenir Next"/>
              </a:defRPr>
            </a:defPPr>
          </a:lstStyle>
          <a:p xmlns:a="http://schemas.openxmlformats.org/drawingml/2006/main">
            <a:pPr algn="l">
              <a:defRPr sz="1125" b="1" i="0">
                <a:solidFill>
                  <a:srgbClr val="FF8A5C"/>
                </a:solidFill>
                <a:latin typeface="Avenir Next"/>
                <a:ea typeface="Avenir Next"/>
                <a:cs typeface="Avenir Next"/>
              </a:defRPr>
            </a:pPr>
            <a:r>
              <a:rPr sz="1125" b="1" i="0">
                <a:solidFill>
                  <a:srgbClr val="FF8A5C"/>
                </a:solidFill>
                <a:latin typeface="Avenir Next"/>
                <a:ea typeface="Avenir Next"/>
                <a:cs typeface="Avenir Next"/>
              </a:rPr>
              <a:t>JSON GRAPH</a:t>
            </a:r>
          </a:p>
        </p:txBody>
      </p:sp>
      <p:sp>
        <p:nvSpPr>
          <p:cNvPr id="18" name="arch-1-input">
            <a:extLst xmlns:a="http://schemas.openxmlformats.org/drawingml/2006/main">
              <a:ext uri="{FF2B5EF4-FFF2-40B4-BE49-F238E27FC236}">
                <a16:creationId xmlns:a16="http://schemas.microsoft.com/office/drawing/2014/main" id="{4BB34FDB-BD06-43E1-93DE-748CDFCD03AD}"/>
              </a:ext>
            </a:extLst>
          </p:cNvPr>
          <p:cNvSpPr>
            <a:spLocks xmlns:a="http://schemas.openxmlformats.org/drawingml/2006/main" noGrp="1"/>
          </p:cNvSpPr>
          <p:nvPr/>
        </p:nvSpPr>
        <p:spPr>
          <a:xfrm xmlns:a="http://schemas.openxmlformats.org/drawingml/2006/main">
            <a:off x="971550" y="35528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versioned finite-control model</a:t>
            </a:r>
          </a:p>
        </p:txBody>
      </p:sp>
      <p:sp>
        <p:nvSpPr>
          <p:cNvPr id="19" name="arch-1-process">
            <a:extLst xmlns:a="http://schemas.openxmlformats.org/drawingml/2006/main">
              <a:ext uri="{FF2B5EF4-FFF2-40B4-BE49-F238E27FC236}">
                <a16:creationId xmlns:a16="http://schemas.microsoft.com/office/drawing/2014/main" id="{259D848E-547E-4B8C-8151-111290FAFA3C}"/>
              </a:ext>
            </a:extLst>
          </p:cNvPr>
          <p:cNvSpPr>
            <a:spLocks xmlns:a="http://schemas.openxmlformats.org/drawingml/2006/main" noGrp="1"/>
          </p:cNvSpPr>
          <p:nvPr/>
        </p:nvSpPr>
        <p:spPr>
          <a:xfrm xmlns:a="http://schemas.openxmlformats.org/drawingml/2006/main">
            <a:off x="3952875" y="33718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41B2B"/>
                </a:solidFill>
                <a:latin typeface="Avenir Next"/>
                <a:ea typeface="Avenir Next"/>
                <a:cs typeface="Avenir Next"/>
              </a:defRPr>
            </a:defPPr>
          </a:lstStyle>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product closure + certificate replay</a:t>
            </a:r>
          </a:p>
        </p:txBody>
      </p:sp>
      <p:sp>
        <p:nvSpPr>
          <p:cNvPr id="20" name="arch-1-scope">
            <a:extLst xmlns:a="http://schemas.openxmlformats.org/drawingml/2006/main">
              <a:ext uri="{FF2B5EF4-FFF2-40B4-BE49-F238E27FC236}">
                <a16:creationId xmlns:a16="http://schemas.microsoft.com/office/drawing/2014/main" id="{6ACF831E-14F7-4840-A392-ED772F2CDCAF}"/>
              </a:ext>
            </a:extLst>
          </p:cNvPr>
          <p:cNvSpPr>
            <a:spLocks xmlns:a="http://schemas.openxmlformats.org/drawingml/2006/main" noGrp="1"/>
          </p:cNvSpPr>
          <p:nvPr/>
        </p:nvSpPr>
        <p:spPr>
          <a:xfrm xmlns:a="http://schemas.openxmlformats.org/drawingml/2006/main">
            <a:off x="9172575" y="338137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46B7A"/>
                </a:solidFill>
                <a:latin typeface="Avenir Next"/>
                <a:ea typeface="Avenir Next"/>
                <a:cs typeface="Avenir Next"/>
              </a:defRPr>
            </a:defPPr>
          </a:lstStyle>
          <a:p xmlns:a="http://schemas.openxmlformats.org/drawingml/2006/main">
            <a:pPr algn="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productive call cycles</a:t>
            </a:r>
          </a:p>
        </p:txBody>
      </p:sp>
      <p:sp>
        <p:nvSpPr>
          <p:cNvPr id="21" name="arch-1-line">
            <a:extLst xmlns:a="http://schemas.openxmlformats.org/drawingml/2006/main">
              <a:ext uri="{FF2B5EF4-FFF2-40B4-BE49-F238E27FC236}">
                <a16:creationId xmlns:a16="http://schemas.microsoft.com/office/drawing/2014/main" id="{6E3DD5E6-7FD2-49AB-A0F2-E0DA3F664602}"/>
              </a:ext>
            </a:extLst>
          </p:cNvPr>
          <p:cNvSpPr>
            <a:spLocks xmlns:a="http://schemas.openxmlformats.org/drawingml/2006/main" noGrp="1"/>
          </p:cNvSpPr>
          <p:nvPr/>
        </p:nvSpPr>
        <p:spPr>
          <a:xfrm xmlns:a="http://schemas.openxmlformats.org/drawingml/2006/main">
            <a:off x="952500" y="3943350"/>
            <a:ext cx="105537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2" name="arch-2-stripe">
            <a:extLst xmlns:a="http://schemas.openxmlformats.org/drawingml/2006/main">
              <a:ext uri="{FF2B5EF4-FFF2-40B4-BE49-F238E27FC236}">
                <a16:creationId xmlns:a16="http://schemas.microsoft.com/office/drawing/2014/main" id="{B373A96B-F22E-478E-8C0B-5A1830F51C44}"/>
              </a:ext>
            </a:extLst>
          </p:cNvPr>
          <p:cNvSpPr>
            <a:spLocks xmlns:a="http://schemas.openxmlformats.org/drawingml/2006/main" noGrp="1"/>
          </p:cNvSpPr>
          <p:nvPr/>
        </p:nvSpPr>
        <p:spPr>
          <a:xfrm xmlns:a="http://schemas.openxmlformats.org/drawingml/2006/main">
            <a:off x="781050" y="4086225"/>
            <a:ext cx="57150" cy="6477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rch-2-head">
            <a:extLst xmlns:a="http://schemas.openxmlformats.org/drawingml/2006/main">
              <a:ext uri="{FF2B5EF4-FFF2-40B4-BE49-F238E27FC236}">
                <a16:creationId xmlns:a16="http://schemas.microsoft.com/office/drawing/2014/main" id="{72B90B49-1938-4F29-BEBB-A2085C2DA3B4}"/>
              </a:ext>
            </a:extLst>
          </p:cNvPr>
          <p:cNvSpPr>
            <a:spLocks xmlns:a="http://schemas.openxmlformats.org/drawingml/2006/main" noGrp="1"/>
          </p:cNvSpPr>
          <p:nvPr/>
        </p:nvSpPr>
        <p:spPr>
          <a:xfrm xmlns:a="http://schemas.openxmlformats.org/drawingml/2006/main">
            <a:off x="971550" y="4124325"/>
            <a:ext cx="2038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1F6F66"/>
                </a:solidFill>
                <a:latin typeface="Avenir Next"/>
                <a:ea typeface="Avenir Next"/>
                <a:cs typeface="Avenir Next"/>
              </a:defRPr>
            </a:defPPr>
          </a:lstStyle>
          <a:p xmlns:a="http://schemas.openxmlformats.org/drawingml/2006/main">
            <a:pPr algn="l">
              <a:defRPr sz="1125" b="1" i="0">
                <a:solidFill>
                  <a:srgbClr val="1F6F66"/>
                </a:solidFill>
                <a:latin typeface="Avenir Next"/>
                <a:ea typeface="Avenir Next"/>
                <a:cs typeface="Avenir Next"/>
              </a:defRPr>
            </a:pPr>
            <a:r>
              <a:rPr sz="1125" b="1" i="0">
                <a:solidFill>
                  <a:srgbClr val="1F6F66"/>
                </a:solidFill>
                <a:latin typeface="Avenir Next"/>
                <a:ea typeface="Avenir Next"/>
                <a:cs typeface="Avenir Next"/>
              </a:rPr>
              <a:t>SOURCE PATHS</a:t>
            </a:r>
          </a:p>
        </p:txBody>
      </p:sp>
      <p:sp>
        <p:nvSpPr>
          <p:cNvPr id="24" name="arch-2-input">
            <a:extLst xmlns:a="http://schemas.openxmlformats.org/drawingml/2006/main">
              <a:ext uri="{FF2B5EF4-FFF2-40B4-BE49-F238E27FC236}">
                <a16:creationId xmlns:a16="http://schemas.microsoft.com/office/drawing/2014/main" id="{E194A158-C577-473B-A3B9-4D564A265BBE}"/>
              </a:ext>
            </a:extLst>
          </p:cNvPr>
          <p:cNvSpPr>
            <a:spLocks xmlns:a="http://schemas.openxmlformats.org/drawingml/2006/main" noGrp="1"/>
          </p:cNvSpPr>
          <p:nvPr/>
        </p:nvSpPr>
        <p:spPr>
          <a:xfrm xmlns:a="http://schemas.openxmlformats.org/drawingml/2006/main">
            <a:off x="971550" y="43910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OrchLang subset / Python AST</a:t>
            </a:r>
          </a:p>
        </p:txBody>
      </p:sp>
      <p:sp>
        <p:nvSpPr>
          <p:cNvPr id="25" name="arch-2-process">
            <a:extLst xmlns:a="http://schemas.openxmlformats.org/drawingml/2006/main">
              <a:ext uri="{FF2B5EF4-FFF2-40B4-BE49-F238E27FC236}">
                <a16:creationId xmlns:a16="http://schemas.microsoft.com/office/drawing/2014/main" id="{7EA40BB6-752D-4302-9EC4-8064BC4E92D1}"/>
              </a:ext>
            </a:extLst>
          </p:cNvPr>
          <p:cNvSpPr>
            <a:spLocks xmlns:a="http://schemas.openxmlformats.org/drawingml/2006/main" noGrp="1"/>
          </p:cNvSpPr>
          <p:nvPr/>
        </p:nvSpPr>
        <p:spPr>
          <a:xfrm xmlns:a="http://schemas.openxmlformats.org/drawingml/2006/main">
            <a:off x="3952875" y="42100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41B2B"/>
                </a:solidFill>
                <a:latin typeface="Avenir Next"/>
                <a:ea typeface="Avenir Next"/>
                <a:cs typeface="Avenir Next"/>
              </a:defRPr>
            </a:defPPr>
          </a:lstStyle>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export, replay, offline LangGraph</a:t>
            </a:r>
          </a:p>
        </p:txBody>
      </p:sp>
      <p:sp>
        <p:nvSpPr>
          <p:cNvPr id="26" name="arch-2-scope">
            <a:extLst xmlns:a="http://schemas.openxmlformats.org/drawingml/2006/main">
              <a:ext uri="{FF2B5EF4-FFF2-40B4-BE49-F238E27FC236}">
                <a16:creationId xmlns:a16="http://schemas.microsoft.com/office/drawing/2014/main" id="{E9F5EEE5-DFC6-4A77-BAC1-AD488A279FAA}"/>
              </a:ext>
            </a:extLst>
          </p:cNvPr>
          <p:cNvSpPr>
            <a:spLocks xmlns:a="http://schemas.openxmlformats.org/drawingml/2006/main" noGrp="1"/>
          </p:cNvSpPr>
          <p:nvPr/>
        </p:nvSpPr>
        <p:spPr>
          <a:xfrm xmlns:a="http://schemas.openxmlformats.org/drawingml/2006/main">
            <a:off x="9172575" y="421957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46B7A"/>
                </a:solidFill>
                <a:latin typeface="Avenir Next"/>
                <a:ea typeface="Avenir Next"/>
                <a:cs typeface="Avenir Next"/>
              </a:defRPr>
            </a:defPPr>
          </a:lstStyle>
          <a:p xmlns:a="http://schemas.openxmlformats.org/drawingml/2006/main">
            <a:pPr algn="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authored restricted subsets</a:t>
            </a:r>
          </a:p>
        </p:txBody>
      </p:sp>
      <p:sp>
        <p:nvSpPr>
          <p:cNvPr id="27" name="arch-2-line">
            <a:extLst xmlns:a="http://schemas.openxmlformats.org/drawingml/2006/main">
              <a:ext uri="{FF2B5EF4-FFF2-40B4-BE49-F238E27FC236}">
                <a16:creationId xmlns:a16="http://schemas.microsoft.com/office/drawing/2014/main" id="{85F37EC5-1AE8-49E4-8447-A732BDD23340}"/>
              </a:ext>
            </a:extLst>
          </p:cNvPr>
          <p:cNvSpPr>
            <a:spLocks xmlns:a="http://schemas.openxmlformats.org/drawingml/2006/main" noGrp="1"/>
          </p:cNvSpPr>
          <p:nvPr/>
        </p:nvSpPr>
        <p:spPr>
          <a:xfrm xmlns:a="http://schemas.openxmlformats.org/drawingml/2006/main">
            <a:off x="952500" y="4781550"/>
            <a:ext cx="105537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8" name="arch-3-stripe">
            <a:extLst xmlns:a="http://schemas.openxmlformats.org/drawingml/2006/main">
              <a:ext uri="{FF2B5EF4-FFF2-40B4-BE49-F238E27FC236}">
                <a16:creationId xmlns:a16="http://schemas.microsoft.com/office/drawing/2014/main" id="{59925C7B-FFF9-46D0-B42F-885C34146619}"/>
              </a:ext>
            </a:extLst>
          </p:cNvPr>
          <p:cNvSpPr>
            <a:spLocks xmlns:a="http://schemas.openxmlformats.org/drawingml/2006/main" noGrp="1"/>
          </p:cNvSpPr>
          <p:nvPr/>
        </p:nvSpPr>
        <p:spPr>
          <a:xfrm xmlns:a="http://schemas.openxmlformats.org/drawingml/2006/main">
            <a:off x="781050" y="4924425"/>
            <a:ext cx="57150" cy="6477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9" name="arch-3-head">
            <a:extLst xmlns:a="http://schemas.openxmlformats.org/drawingml/2006/main">
              <a:ext uri="{FF2B5EF4-FFF2-40B4-BE49-F238E27FC236}">
                <a16:creationId xmlns:a16="http://schemas.microsoft.com/office/drawing/2014/main" id="{04F6A1E0-3023-42A8-B187-8E1147CA7F0D}"/>
              </a:ext>
            </a:extLst>
          </p:cNvPr>
          <p:cNvSpPr>
            <a:spLocks xmlns:a="http://schemas.openxmlformats.org/drawingml/2006/main" noGrp="1"/>
          </p:cNvSpPr>
          <p:nvPr/>
        </p:nvSpPr>
        <p:spPr>
          <a:xfrm xmlns:a="http://schemas.openxmlformats.org/drawingml/2006/main">
            <a:off x="971550" y="4962525"/>
            <a:ext cx="20383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F8A5C"/>
                </a:solidFill>
                <a:latin typeface="Avenir Next"/>
                <a:ea typeface="Avenir Next"/>
                <a:cs typeface="Avenir Next"/>
              </a:defRPr>
            </a:defPPr>
          </a:lstStyle>
          <a:p xmlns:a="http://schemas.openxmlformats.org/drawingml/2006/main">
            <a:pPr algn="l">
              <a:defRPr sz="1125" b="1" i="0">
                <a:solidFill>
                  <a:srgbClr val="FF8A5C"/>
                </a:solidFill>
                <a:latin typeface="Avenir Next"/>
                <a:ea typeface="Avenir Next"/>
                <a:cs typeface="Avenir Next"/>
              </a:defRPr>
            </a:pPr>
            <a:r>
              <a:rPr sz="1125" b="1" i="0">
                <a:solidFill>
                  <a:srgbClr val="FF8A5C"/>
                </a:solidFill>
                <a:latin typeface="Avenir Next"/>
                <a:ea typeface="Avenir Next"/>
                <a:cs typeface="Avenir Next"/>
              </a:rPr>
              <a:t>FINITE KERNELS</a:t>
            </a:r>
          </a:p>
        </p:txBody>
      </p:sp>
      <p:sp>
        <p:nvSpPr>
          <p:cNvPr id="30" name="arch-3-input">
            <a:extLst xmlns:a="http://schemas.openxmlformats.org/drawingml/2006/main">
              <a:ext uri="{FF2B5EF4-FFF2-40B4-BE49-F238E27FC236}">
                <a16:creationId xmlns:a16="http://schemas.microsoft.com/office/drawing/2014/main" id="{D6FBAB59-A886-403A-88EE-A3547B896775}"/>
              </a:ext>
            </a:extLst>
          </p:cNvPr>
          <p:cNvSpPr>
            <a:spLocks xmlns:a="http://schemas.openxmlformats.org/drawingml/2006/main" noGrp="1"/>
          </p:cNvSpPr>
          <p:nvPr/>
        </p:nvSpPr>
        <p:spPr>
          <a:xfrm xmlns:a="http://schemas.openxmlformats.org/drawingml/2006/main">
            <a:off x="971550" y="52292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graph + rational kernel</a:t>
            </a:r>
          </a:p>
        </p:txBody>
      </p:sp>
      <p:sp>
        <p:nvSpPr>
          <p:cNvPr id="31" name="arch-3-process">
            <a:extLst xmlns:a="http://schemas.openxmlformats.org/drawingml/2006/main">
              <a:ext uri="{FF2B5EF4-FFF2-40B4-BE49-F238E27FC236}">
                <a16:creationId xmlns:a16="http://schemas.microsoft.com/office/drawing/2014/main" id="{CDD91F37-677B-4513-9AC4-9CD6E5E61F60}"/>
              </a:ext>
            </a:extLst>
          </p:cNvPr>
          <p:cNvSpPr>
            <a:spLocks xmlns:a="http://schemas.openxmlformats.org/drawingml/2006/main" noGrp="1"/>
          </p:cNvSpPr>
          <p:nvPr/>
        </p:nvSpPr>
        <p:spPr>
          <a:xfrm xmlns:a="http://schemas.openxmlformats.org/drawingml/2006/main">
            <a:off x="3952875" y="5048250"/>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41B2B"/>
                </a:solidFill>
                <a:latin typeface="Avenir Next"/>
                <a:ea typeface="Avenir Next"/>
                <a:cs typeface="Avenir Next"/>
              </a:defRPr>
            </a:defPPr>
          </a:lstStyle>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DP channels + bisimulation + exact row span</a:t>
            </a:r>
          </a:p>
        </p:txBody>
      </p:sp>
      <p:sp>
        <p:nvSpPr>
          <p:cNvPr id="32" name="arch-3-scope">
            <a:extLst xmlns:a="http://schemas.openxmlformats.org/drawingml/2006/main">
              <a:ext uri="{FF2B5EF4-FFF2-40B4-BE49-F238E27FC236}">
                <a16:creationId xmlns:a16="http://schemas.microsoft.com/office/drawing/2014/main" id="{6570318B-D26E-4138-AB75-068AC1852113}"/>
              </a:ext>
            </a:extLst>
          </p:cNvPr>
          <p:cNvSpPr>
            <a:spLocks xmlns:a="http://schemas.openxmlformats.org/drawingml/2006/main" noGrp="1"/>
          </p:cNvSpPr>
          <p:nvPr/>
        </p:nvSpPr>
        <p:spPr>
          <a:xfrm xmlns:a="http://schemas.openxmlformats.org/drawingml/2006/main">
            <a:off x="9172575" y="5057775"/>
            <a:ext cx="2333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125" b="0" i="0">
                <a:solidFill>
                  <a:srgbClr val="646B7A"/>
                </a:solidFill>
                <a:latin typeface="Avenir Next"/>
                <a:ea typeface="Avenir Next"/>
                <a:cs typeface="Avenir Next"/>
              </a:defRPr>
            </a:defPPr>
          </a:lstStyle>
          <a:p xmlns:a="http://schemas.openxmlformats.org/drawingml/2006/main">
            <a:pPr algn="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explicit finite stores</a:t>
            </a:r>
          </a:p>
        </p:txBody>
      </p:sp>
      <p:sp>
        <p:nvSpPr>
          <p:cNvPr id="33" name="arch-columns">
            <a:extLst xmlns:a="http://schemas.openxmlformats.org/drawingml/2006/main">
              <a:ext uri="{FF2B5EF4-FFF2-40B4-BE49-F238E27FC236}">
                <a16:creationId xmlns:a16="http://schemas.microsoft.com/office/drawing/2014/main" id="{3D06E4FD-CB48-4128-9680-98D5251AF803}"/>
              </a:ext>
            </a:extLst>
          </p:cNvPr>
          <p:cNvSpPr>
            <a:spLocks xmlns:a="http://schemas.openxmlformats.org/drawingml/2006/main" noGrp="1"/>
          </p:cNvSpPr>
          <p:nvPr/>
        </p:nvSpPr>
        <p:spPr>
          <a:xfrm xmlns:a="http://schemas.openxmlformats.org/drawingml/2006/main">
            <a:off x="971550" y="2200275"/>
            <a:ext cx="10525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38" b="1" i="0">
                <a:solidFill>
                  <a:srgbClr val="646B7A"/>
                </a:solidFill>
                <a:latin typeface="Avenir Next"/>
                <a:ea typeface="Avenir Next"/>
                <a:cs typeface="Avenir Next"/>
              </a:defRPr>
            </a:defPPr>
          </a:lstStyle>
          <a:p xmlns:a="http://schemas.openxmlformats.org/drawingml/2006/main">
            <a:pPr algn="l">
              <a:defRPr sz="938" b="1" i="0">
                <a:solidFill>
                  <a:srgbClr val="646B7A"/>
                </a:solidFill>
                <a:latin typeface="Avenir Next"/>
                <a:ea typeface="Avenir Next"/>
                <a:cs typeface="Avenir Next"/>
              </a:defRPr>
            </a:pPr>
            <a:r>
              <a:rPr sz="938" b="1" i="0">
                <a:solidFill>
                  <a:srgbClr val="646B7A"/>
                </a:solidFill>
                <a:latin typeface="Avenir Next"/>
                <a:ea typeface="Avenir Next"/>
                <a:cs typeface="Avenir Next"/>
              </a:rPr>
              <a:t>INPUT ARTIFACT                                      ANALYSIS                                     CLAIM SCOPE</a:t>
            </a:r>
          </a:p>
        </p:txBody>
      </p:sp>
      <p:sp>
        <p:nvSpPr>
          <p:cNvPr id="34" name="arch-caveat">
            <a:extLst xmlns:a="http://schemas.openxmlformats.org/drawingml/2006/main">
              <a:ext uri="{FF2B5EF4-FFF2-40B4-BE49-F238E27FC236}">
                <a16:creationId xmlns:a16="http://schemas.microsoft.com/office/drawing/2014/main" id="{6D4EF3EF-8319-417B-8BA7-445F722CE391}"/>
              </a:ext>
            </a:extLst>
          </p:cNvPr>
          <p:cNvSpPr>
            <a:spLocks xmlns:a="http://schemas.openxmlformats.org/drawingml/2006/main" noGrp="1"/>
          </p:cNvSpPr>
          <p:nvPr/>
        </p:nvSpPr>
        <p:spPr>
          <a:xfrm xmlns:a="http://schemas.openxmlformats.org/drawingml/2006/main">
            <a:off x="990600" y="5848350"/>
            <a:ext cx="1019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These paths share assumptions and report formats; the source and proof boundaries remain separate.</a:t>
            </a:r>
          </a:p>
        </p:txBody>
      </p:sp>
    </p:spTree>
    <p:extLst>
      <p:ext uri="{BB962C8B-B14F-4D97-AF65-F5344CB8AC3E}">
        <p14:creationId xmlns:p14="http://schemas.microsoft.com/office/powerpoint/2010/main" val="1717829628"/>
      </p:ext>
    </p:extLst>
  </p:cSld>
</p:sld>
</file>

<file path=ppt/slides/slide6.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19" name="s6-brand">
            <a:extLst xmlns:a="http://schemas.openxmlformats.org/drawingml/2006/main">
              <a:ext uri="{FF2B5EF4-FFF2-40B4-BE49-F238E27FC236}">
                <a16:creationId xmlns:a16="http://schemas.microsoft.com/office/drawing/2014/main" id="{3DA00DB1-1E4C-4D48-9E31-3DD47A7BF16E}"/>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6-section">
            <a:extLst xmlns:a="http://schemas.openxmlformats.org/drawingml/2006/main">
              <a:ext uri="{FF2B5EF4-FFF2-40B4-BE49-F238E27FC236}">
                <a16:creationId xmlns:a16="http://schemas.microsoft.com/office/drawing/2014/main" id="{7B838BAC-56F7-4C04-8E25-5590BEB2E02D}"/>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BOUNDED COUNTEREXAMPLE</a:t>
            </a:r>
          </a:p>
        </p:txBody>
      </p:sp>
      <p:sp>
        <p:nvSpPr>
          <p:cNvPr id="3" name="s6-title">
            <a:extLst xmlns:a="http://schemas.openxmlformats.org/drawingml/2006/main">
              <a:ext uri="{FF2B5EF4-FFF2-40B4-BE49-F238E27FC236}">
                <a16:creationId xmlns:a16="http://schemas.microsoft.com/office/drawing/2014/main" id="{C96A2AB4-D223-4416-BFA7-FA745AE4DFAE}"/>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Equal caps still permit different realized usage</a:t>
            </a:r>
          </a:p>
        </p:txBody>
      </p:sp>
      <p:sp>
        <p:nvSpPr>
          <p:cNvPr id="4" name="s6-subtitle">
            <a:extLst xmlns:a="http://schemas.openxmlformats.org/drawingml/2006/main">
              <a:ext uri="{FF2B5EF4-FFF2-40B4-BE49-F238E27FC236}">
                <a16:creationId xmlns:a16="http://schemas.microsoft.com/office/drawing/2014/main" id="{57076090-CE6B-4ACF-B192-F74E8C1379F8}"/>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A secret can choose between public arguments with different concrete lengths.</a:t>
            </a:r>
          </a:p>
        </p:txBody>
      </p:sp>
      <p:sp>
        <p:nvSpPr>
          <p:cNvPr id="5" name="s6-source-rule">
            <a:extLst xmlns:a="http://schemas.openxmlformats.org/drawingml/2006/main">
              <a:ext uri="{FF2B5EF4-FFF2-40B4-BE49-F238E27FC236}">
                <a16:creationId xmlns:a16="http://schemas.microsoft.com/office/drawing/2014/main" id="{AE952078-21C1-4366-B742-B07A498211AC}"/>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6-sources">
            <a:extLst xmlns:a="http://schemas.openxmlformats.org/drawingml/2006/main">
              <a:ext uri="{FF2B5EF4-FFF2-40B4-BE49-F238E27FC236}">
                <a16:creationId xmlns:a16="http://schemas.microsoft.com/office/drawing/2014/main" id="{260E881E-D0C4-4ABB-A940-E357DDCBD3A9}"/>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examples/research/rejected/equal_bounds_different_inputs.orch</a:t>
            </a:r>
          </a:p>
        </p:txBody>
      </p:sp>
      <p:sp>
        <p:nvSpPr>
          <p:cNvPr id="7" name="s6-footer-rule">
            <a:extLst xmlns:a="http://schemas.openxmlformats.org/drawingml/2006/main">
              <a:ext uri="{FF2B5EF4-FFF2-40B4-BE49-F238E27FC236}">
                <a16:creationId xmlns:a16="http://schemas.microsoft.com/office/drawing/2014/main" id="{5AB763B0-F488-49CF-999D-8E3F4ACBC059}"/>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6-footer">
            <a:extLst xmlns:a="http://schemas.openxmlformats.org/drawingml/2006/main">
              <a:ext uri="{FF2B5EF4-FFF2-40B4-BE49-F238E27FC236}">
                <a16:creationId xmlns:a16="http://schemas.microsoft.com/office/drawing/2014/main" id="{35121A71-B19A-4564-93CE-CAE820F6FE42}"/>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6-page">
            <a:extLst xmlns:a="http://schemas.openxmlformats.org/drawingml/2006/main">
              <a:ext uri="{FF2B5EF4-FFF2-40B4-BE49-F238E27FC236}">
                <a16:creationId xmlns:a16="http://schemas.microsoft.com/office/drawing/2014/main" id="{34CF8FEB-3F9B-4CAE-AAE7-EA2B17A019CE}"/>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6</a:t>
            </a:r>
          </a:p>
        </p:txBody>
      </p:sp>
      <p:sp>
        <p:nvSpPr>
          <p:cNvPr id="10" name="counter-left-panel">
            <a:extLst xmlns:a="http://schemas.openxmlformats.org/drawingml/2006/main">
              <a:ext uri="{FF2B5EF4-FFF2-40B4-BE49-F238E27FC236}">
                <a16:creationId xmlns:a16="http://schemas.microsoft.com/office/drawing/2014/main" id="{A4D9F1CF-B76F-4483-AA64-8F7BB34565BC}"/>
              </a:ext>
            </a:extLst>
          </p:cNvPr>
          <p:cNvSpPr>
            <a:spLocks xmlns:a="http://schemas.openxmlformats.org/drawingml/2006/main" noGrp="1"/>
          </p:cNvSpPr>
          <p:nvPr/>
        </p:nvSpPr>
        <p:spPr>
          <a:xfrm xmlns:a="http://schemas.openxmlformats.org/drawingml/2006/main">
            <a:off x="857250" y="2524125"/>
            <a:ext cx="4857750" cy="2762250"/>
          </a:xfrm>
          <a:prstGeom xmlns:a="http://schemas.openxmlformats.org/drawingml/2006/main" prst="roundRect">
            <a:avLst>
              <a:gd name="adj" fmla="val 2759"/>
            </a:avLst>
          </a:prstGeom>
          <a:solidFill xmlns:a="http://schemas.openxmlformats.org/drawingml/2006/main">
            <a:srgbClr val="1C2638"/>
          </a:solidFill>
          <a:ln xmlns:a="http://schemas.openxmlformats.org/drawingml/2006/main" w="9525">
            <a:solidFill>
              <a:srgbClr val="343D50"/>
            </a:solidFill>
            <a:prstDash val="solid"/>
          </a:ln>
        </p:spPr>
      </p:sp>
      <p:sp>
        <p:nvSpPr>
          <p:cNvPr id="11" name="counter-left-accent">
            <a:extLst xmlns:a="http://schemas.openxmlformats.org/drawingml/2006/main">
              <a:ext uri="{FF2B5EF4-FFF2-40B4-BE49-F238E27FC236}">
                <a16:creationId xmlns:a16="http://schemas.microsoft.com/office/drawing/2014/main" id="{118EB22D-9032-48D1-B47D-8CD891F0FB06}"/>
              </a:ext>
            </a:extLst>
          </p:cNvPr>
          <p:cNvSpPr>
            <a:spLocks xmlns:a="http://schemas.openxmlformats.org/drawingml/2006/main" noGrp="1"/>
          </p:cNvSpPr>
          <p:nvPr/>
        </p:nvSpPr>
        <p:spPr>
          <a:xfrm xmlns:a="http://schemas.openxmlformats.org/drawingml/2006/main">
            <a:off x="857250" y="2524125"/>
            <a:ext cx="57150" cy="27622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2" name="counter-left-title">
            <a:extLst xmlns:a="http://schemas.openxmlformats.org/drawingml/2006/main">
              <a:ext uri="{FF2B5EF4-FFF2-40B4-BE49-F238E27FC236}">
                <a16:creationId xmlns:a16="http://schemas.microsoft.com/office/drawing/2014/main" id="{AE638F15-2680-4B1C-BBE2-F08C130007C1}"/>
              </a:ext>
            </a:extLst>
          </p:cNvPr>
          <p:cNvSpPr>
            <a:spLocks xmlns:a="http://schemas.openxmlformats.org/drawingml/2006/main" noGrp="1"/>
          </p:cNvSpPr>
          <p:nvPr/>
        </p:nvSpPr>
        <p:spPr>
          <a:xfrm xmlns:a="http://schemas.openxmlformats.org/drawingml/2006/main">
            <a:off x="1066800" y="26955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SECRET = 0</a:t>
            </a:r>
          </a:p>
        </p:txBody>
      </p:sp>
      <p:sp>
        <p:nvSpPr>
          <p:cNvPr id="13" name="counter-left-body">
            <a:extLst xmlns:a="http://schemas.openxmlformats.org/drawingml/2006/main">
              <a:ext uri="{FF2B5EF4-FFF2-40B4-BE49-F238E27FC236}">
                <a16:creationId xmlns:a16="http://schemas.microsoft.com/office/drawing/2014/main" id="{C20F1F35-6B87-4FAF-9105-A9A8EB7722BD}"/>
              </a:ext>
            </a:extLst>
          </p:cNvPr>
          <p:cNvSpPr>
            <a:spLocks xmlns:a="http://schemas.openxmlformats.org/drawingml/2006/main" noGrp="1"/>
          </p:cNvSpPr>
          <p:nvPr/>
        </p:nvSpPr>
        <p:spPr>
          <a:xfrm xmlns:a="http://schemas.openxmlformats.org/drawingml/2006/main">
            <a:off x="1066800" y="3248025"/>
            <a:ext cx="4438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B8C1D1"/>
                </a:solidFill>
                <a:latin typeface="Menlo"/>
                <a:ea typeface="Menlo"/>
                <a:cs typeface="Menlo"/>
              </a:defRPr>
            </a:defPPr>
          </a:lstStyle>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fixed public value: left_source</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cap = 32 tokens</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realized length = n</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input usage = 3 + n</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shared-oracle output = o₀</a:t>
            </a:r>
          </a:p>
        </p:txBody>
      </p:sp>
      <p:sp>
        <p:nvSpPr>
          <p:cNvPr id="14" name="counter-right-panel">
            <a:extLst xmlns:a="http://schemas.openxmlformats.org/drawingml/2006/main">
              <a:ext uri="{FF2B5EF4-FFF2-40B4-BE49-F238E27FC236}">
                <a16:creationId xmlns:a16="http://schemas.microsoft.com/office/drawing/2014/main" id="{80FEBD48-E490-4855-B28A-0A32BC744AF2}"/>
              </a:ext>
            </a:extLst>
          </p:cNvPr>
          <p:cNvSpPr>
            <a:spLocks xmlns:a="http://schemas.openxmlformats.org/drawingml/2006/main" noGrp="1"/>
          </p:cNvSpPr>
          <p:nvPr/>
        </p:nvSpPr>
        <p:spPr>
          <a:xfrm xmlns:a="http://schemas.openxmlformats.org/drawingml/2006/main">
            <a:off x="6477000" y="2524125"/>
            <a:ext cx="4857750" cy="2762250"/>
          </a:xfrm>
          <a:prstGeom xmlns:a="http://schemas.openxmlformats.org/drawingml/2006/main" prst="roundRect">
            <a:avLst>
              <a:gd name="adj" fmla="val 2759"/>
            </a:avLst>
          </a:prstGeom>
          <a:solidFill xmlns:a="http://schemas.openxmlformats.org/drawingml/2006/main">
            <a:srgbClr val="1C2638"/>
          </a:solidFill>
          <a:ln xmlns:a="http://schemas.openxmlformats.org/drawingml/2006/main" w="9525">
            <a:solidFill>
              <a:srgbClr val="343D50"/>
            </a:solidFill>
            <a:prstDash val="solid"/>
          </a:ln>
        </p:spPr>
      </p:sp>
      <p:sp>
        <p:nvSpPr>
          <p:cNvPr id="15" name="counter-right-accent">
            <a:extLst xmlns:a="http://schemas.openxmlformats.org/drawingml/2006/main">
              <a:ext uri="{FF2B5EF4-FFF2-40B4-BE49-F238E27FC236}">
                <a16:creationId xmlns:a16="http://schemas.microsoft.com/office/drawing/2014/main" id="{BF7CA215-1187-4F24-A1B1-181224E274DC}"/>
              </a:ext>
            </a:extLst>
          </p:cNvPr>
          <p:cNvSpPr>
            <a:spLocks xmlns:a="http://schemas.openxmlformats.org/drawingml/2006/main" noGrp="1"/>
          </p:cNvSpPr>
          <p:nvPr/>
        </p:nvSpPr>
        <p:spPr>
          <a:xfrm xmlns:a="http://schemas.openxmlformats.org/drawingml/2006/main">
            <a:off x="6477000" y="2524125"/>
            <a:ext cx="57150" cy="27622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counter-right-title">
            <a:extLst xmlns:a="http://schemas.openxmlformats.org/drawingml/2006/main">
              <a:ext uri="{FF2B5EF4-FFF2-40B4-BE49-F238E27FC236}">
                <a16:creationId xmlns:a16="http://schemas.microsoft.com/office/drawing/2014/main" id="{00B4D3CC-0ED1-4266-AAB4-A75F55DC185A}"/>
              </a:ext>
            </a:extLst>
          </p:cNvPr>
          <p:cNvSpPr>
            <a:spLocks xmlns:a="http://schemas.openxmlformats.org/drawingml/2006/main" noGrp="1"/>
          </p:cNvSpPr>
          <p:nvPr/>
        </p:nvSpPr>
        <p:spPr>
          <a:xfrm xmlns:a="http://schemas.openxmlformats.org/drawingml/2006/main">
            <a:off x="6686550" y="2695575"/>
            <a:ext cx="443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i="0">
                <a:solidFill>
                  <a:srgbClr val="F5F2EA"/>
                </a:solidFill>
                <a:latin typeface="Avenir Next"/>
                <a:ea typeface="Avenir Next"/>
                <a:cs typeface="Avenir Next"/>
              </a:defRPr>
            </a:defPPr>
          </a:lstStyle>
          <a:p xmlns:a="http://schemas.openxmlformats.org/drawingml/2006/main">
            <a:pPr algn="l">
              <a:defRPr sz="1725" b="1" i="0">
                <a:solidFill>
                  <a:srgbClr val="F5F2EA"/>
                </a:solidFill>
                <a:latin typeface="Avenir Next"/>
                <a:ea typeface="Avenir Next"/>
                <a:cs typeface="Avenir Next"/>
              </a:defRPr>
            </a:pPr>
            <a:r>
              <a:rPr sz="1725" b="1" i="0">
                <a:solidFill>
                  <a:srgbClr val="F5F2EA"/>
                </a:solidFill>
                <a:latin typeface="Avenir Next"/>
                <a:ea typeface="Avenir Next"/>
                <a:cs typeface="Avenir Next"/>
              </a:rPr>
              <a:t>SECRET = 1</a:t>
            </a:r>
          </a:p>
        </p:txBody>
      </p:sp>
      <p:sp>
        <p:nvSpPr>
          <p:cNvPr id="17" name="counter-right-body">
            <a:extLst xmlns:a="http://schemas.openxmlformats.org/drawingml/2006/main">
              <a:ext uri="{FF2B5EF4-FFF2-40B4-BE49-F238E27FC236}">
                <a16:creationId xmlns:a16="http://schemas.microsoft.com/office/drawing/2014/main" id="{43186E75-A54E-4553-B93B-2808C9040233}"/>
              </a:ext>
            </a:extLst>
          </p:cNvPr>
          <p:cNvSpPr>
            <a:spLocks xmlns:a="http://schemas.openxmlformats.org/drawingml/2006/main" noGrp="1"/>
          </p:cNvSpPr>
          <p:nvPr/>
        </p:nvSpPr>
        <p:spPr>
          <a:xfrm xmlns:a="http://schemas.openxmlformats.org/drawingml/2006/main">
            <a:off x="6686550" y="3248025"/>
            <a:ext cx="44386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i="0">
                <a:solidFill>
                  <a:srgbClr val="B8C1D1"/>
                </a:solidFill>
                <a:latin typeface="Menlo"/>
                <a:ea typeface="Menlo"/>
                <a:cs typeface="Menlo"/>
              </a:defRPr>
            </a:defPPr>
          </a:lstStyle>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fixed public value: right_source</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cap = 32 tokens</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realized length = m</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input usage = 3 + m</a:t>
            </a:r>
          </a:p>
          <a:p xmlns:a="http://schemas.openxmlformats.org/drawingml/2006/main">
            <a:pPr algn="l">
              <a:defRPr sz="1500" b="0" i="0">
                <a:solidFill>
                  <a:srgbClr val="B8C1D1"/>
                </a:solidFill>
                <a:latin typeface="Menlo"/>
                <a:ea typeface="Menlo"/>
                <a:cs typeface="Menlo"/>
              </a:defRPr>
            </a:pPr>
            <a:r>
              <a:rPr sz="1500" b="0" i="0">
                <a:solidFill>
                  <a:srgbClr val="B8C1D1"/>
                </a:solidFill>
                <a:latin typeface="Menlo"/>
                <a:ea typeface="Menlo"/>
                <a:cs typeface="Menlo"/>
              </a:rPr>
              <a:t>shared-oracle output = o₀</a:t>
            </a:r>
          </a:p>
        </p:txBody>
      </p:sp>
      <p:sp>
        <p:nvSpPr>
          <p:cNvPr id="18" name="counter-equal-caps">
            <a:extLst xmlns:a="http://schemas.openxmlformats.org/drawingml/2006/main">
              <a:ext uri="{FF2B5EF4-FFF2-40B4-BE49-F238E27FC236}">
                <a16:creationId xmlns:a16="http://schemas.microsoft.com/office/drawing/2014/main" id="{AE161F16-6566-4AF6-9CAE-DBE1B11906F6}"/>
              </a:ext>
            </a:extLst>
          </p:cNvPr>
          <p:cNvSpPr>
            <a:spLocks xmlns:a="http://schemas.openxmlformats.org/drawingml/2006/main" noGrp="1"/>
          </p:cNvSpPr>
          <p:nvPr/>
        </p:nvSpPr>
        <p:spPr>
          <a:xfrm xmlns:a="http://schemas.openxmlformats.org/drawingml/2006/main">
            <a:off x="1143000" y="5476875"/>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D9CBB6"/>
                </a:solidFill>
                <a:latin typeface="Avenir Next"/>
                <a:ea typeface="Avenir Next"/>
                <a:cs typeface="Avenir Next"/>
              </a:defRPr>
            </a:defPPr>
          </a:lstStyle>
          <a:p xmlns:a="http://schemas.openxmlformats.org/drawingml/2006/main">
            <a:pPr algn="ctr">
              <a:defRPr sz="1350" b="1" i="0">
                <a:solidFill>
                  <a:srgbClr val="D9CBB6"/>
                </a:solidFill>
                <a:latin typeface="Avenir Next"/>
                <a:ea typeface="Avenir Next"/>
                <a:cs typeface="Avenir Next"/>
              </a:defRPr>
            </a:pPr>
            <a:r>
              <a:rPr sz="1350" b="1" i="0">
                <a:solidFill>
                  <a:srgbClr val="D9CBB6"/>
                </a:solidFill>
                <a:latin typeface="Avenir Next"/>
                <a:ea typeface="Avenir Next"/>
                <a:cs typeface="Avenir Next"/>
              </a:rPr>
              <a:t>same per-call envelope: input ≤ 35 · output ≤ 4 · calls = 1</a:t>
            </a:r>
          </a:p>
        </p:txBody>
      </p:sp>
    </p:spTree>
    <p:extLst>
      <p:ext uri="{BB962C8B-B14F-4D97-AF65-F5344CB8AC3E}">
        <p14:creationId xmlns:p14="http://schemas.microsoft.com/office/powerpoint/2010/main" val="1379134038"/>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AD82B0BA-54B0-4056-95BC-61E1A262066A}"/>
              </a:ext>
            </a:extLst>
          </p:cNvPr>
          <p:cNvCxnSpPr>
            <a:stCxn xmlns:a="http://schemas.openxmlformats.org/drawingml/2006/main" id="10" idx="3"/>
            <a:endCxn xmlns:a="http://schemas.openxmlformats.org/drawingml/2006/main" id="14" idx="1"/>
          </p:cNvCxnSpPr>
          <p:nvPr/>
        </p:nvCxnSpPr>
        <p:spPr>
          <a:xfrm xmlns:a="http://schemas.openxmlformats.org/drawingml/2006/main">
            <a:off x="5400675" y="3657600"/>
            <a:ext cx="1390650" cy="0"/>
          </a:xfrm>
          <a:prstGeom xmlns:a="http://schemas.openxmlformats.org/drawingml/2006/main" prst="straightConnector1">
            <a:avLst/>
          </a:prstGeom>
          <a:ln xmlns:a="http://schemas.openxmlformats.org/drawingml/2006/main" w="19050">
            <a:solidFill>
              <a:srgbClr val="1F6F66"/>
            </a:solidFill>
            <a:prstDash val="solid"/>
            <a:tailEnd type="triangle" w="sm" len="sm"/>
          </a:ln>
        </p:spPr>
      </p:cxnSp>
      <p:sp>
        <p:nvSpPr>
          <p:cNvPr id="24" name="s7-brand">
            <a:extLst xmlns:a="http://schemas.openxmlformats.org/drawingml/2006/main">
              <a:ext uri="{FF2B5EF4-FFF2-40B4-BE49-F238E27FC236}">
                <a16:creationId xmlns:a16="http://schemas.microsoft.com/office/drawing/2014/main" id="{BE04667B-B96D-41DB-A1A6-7B3804F7D99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7-section">
            <a:extLst xmlns:a="http://schemas.openxmlformats.org/drawingml/2006/main">
              <a:ext uri="{FF2B5EF4-FFF2-40B4-BE49-F238E27FC236}">
                <a16:creationId xmlns:a16="http://schemas.microsoft.com/office/drawing/2014/main" id="{224C08A1-5E1E-4686-9183-D49765681553}"/>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BOUNDED COMPILER</a:t>
            </a:r>
          </a:p>
        </p:txBody>
      </p:sp>
      <p:sp>
        <p:nvSpPr>
          <p:cNvPr id="3" name="s7-title">
            <a:extLst xmlns:a="http://schemas.openxmlformats.org/drawingml/2006/main">
              <a:ext uri="{FF2B5EF4-FFF2-40B4-BE49-F238E27FC236}">
                <a16:creationId xmlns:a16="http://schemas.microsoft.com/office/drawing/2014/main" id="{3E6B3549-1494-464C-AB4B-E6EF2E0B9022}"/>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bounded compiler compares resolved requests</a:t>
            </a:r>
          </a:p>
        </p:txBody>
      </p:sp>
      <p:sp>
        <p:nvSpPr>
          <p:cNvPr id="4" name="s7-subtitle">
            <a:extLst xmlns:a="http://schemas.openxmlformats.org/drawingml/2006/main">
              <a:ext uri="{FF2B5EF4-FFF2-40B4-BE49-F238E27FC236}">
                <a16:creationId xmlns:a16="http://schemas.microsoft.com/office/drawing/2014/main" id="{903CD432-9A43-43D6-AB02-199E2B4D0037}"/>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A sufficient local check preserves identity across aliases, values and dependent calls.</a:t>
            </a:r>
          </a:p>
        </p:txBody>
      </p:sp>
      <p:sp>
        <p:nvSpPr>
          <p:cNvPr id="5" name="s7-source-rule">
            <a:extLst xmlns:a="http://schemas.openxmlformats.org/drawingml/2006/main">
              <a:ext uri="{FF2B5EF4-FFF2-40B4-BE49-F238E27FC236}">
                <a16:creationId xmlns:a16="http://schemas.microsoft.com/office/drawing/2014/main" id="{11835CC0-0EB8-4032-8D1C-B8FA1909D860}"/>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7-sources">
            <a:extLst xmlns:a="http://schemas.openxmlformats.org/drawingml/2006/main">
              <a:ext uri="{FF2B5EF4-FFF2-40B4-BE49-F238E27FC236}">
                <a16:creationId xmlns:a16="http://schemas.microsoft.com/office/drawing/2014/main" id="{000D7FB1-1294-44D8-B436-B4103996B2D4}"/>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src/relational.cpp</a:t>
            </a:r>
          </a:p>
        </p:txBody>
      </p:sp>
      <p:sp>
        <p:nvSpPr>
          <p:cNvPr id="7" name="s7-footer-rule">
            <a:extLst xmlns:a="http://schemas.openxmlformats.org/drawingml/2006/main">
              <a:ext uri="{FF2B5EF4-FFF2-40B4-BE49-F238E27FC236}">
                <a16:creationId xmlns:a16="http://schemas.microsoft.com/office/drawing/2014/main" id="{97BEF648-90C8-42F4-96B5-F1A218930DAB}"/>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7-footer">
            <a:extLst xmlns:a="http://schemas.openxmlformats.org/drawingml/2006/main">
              <a:ext uri="{FF2B5EF4-FFF2-40B4-BE49-F238E27FC236}">
                <a16:creationId xmlns:a16="http://schemas.microsoft.com/office/drawing/2014/main" id="{0261F77D-DDD0-4D54-8EE1-CAD5E64C1A9D}"/>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7-page">
            <a:extLst xmlns:a="http://schemas.openxmlformats.org/drawingml/2006/main">
              <a:ext uri="{FF2B5EF4-FFF2-40B4-BE49-F238E27FC236}">
                <a16:creationId xmlns:a16="http://schemas.microsoft.com/office/drawing/2014/main" id="{0F413E38-1137-4C10-90DA-813E9005E072}"/>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7</a:t>
            </a:r>
          </a:p>
        </p:txBody>
      </p:sp>
      <p:sp>
        <p:nvSpPr>
          <p:cNvPr id="10" name="bounded-request-left-panel">
            <a:extLst xmlns:a="http://schemas.openxmlformats.org/drawingml/2006/main">
              <a:ext uri="{FF2B5EF4-FFF2-40B4-BE49-F238E27FC236}">
                <a16:creationId xmlns:a16="http://schemas.microsoft.com/office/drawing/2014/main" id="{3196356F-1097-4EFB-853F-1C76921D6F7D}"/>
              </a:ext>
            </a:extLst>
          </p:cNvPr>
          <p:cNvSpPr>
            <a:spLocks xmlns:a="http://schemas.openxmlformats.org/drawingml/2006/main" noGrp="1"/>
          </p:cNvSpPr>
          <p:nvPr/>
        </p:nvSpPr>
        <p:spPr>
          <a:xfrm xmlns:a="http://schemas.openxmlformats.org/drawingml/2006/main">
            <a:off x="781050" y="2609850"/>
            <a:ext cx="4619625"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11" name="bounded-request-left-accent">
            <a:extLst xmlns:a="http://schemas.openxmlformats.org/drawingml/2006/main">
              <a:ext uri="{FF2B5EF4-FFF2-40B4-BE49-F238E27FC236}">
                <a16:creationId xmlns:a16="http://schemas.microsoft.com/office/drawing/2014/main" id="{A9185941-3BE0-4E31-BC24-2E95DB1F513E}"/>
              </a:ext>
            </a:extLst>
          </p:cNvPr>
          <p:cNvSpPr>
            <a:spLocks xmlns:a="http://schemas.openxmlformats.org/drawingml/2006/main" noGrp="1"/>
          </p:cNvSpPr>
          <p:nvPr/>
        </p:nvSpPr>
        <p:spPr>
          <a:xfrm xmlns:a="http://schemas.openxmlformats.org/drawingml/2006/main">
            <a:off x="781050" y="2609850"/>
            <a:ext cx="57150" cy="20955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bounded-request-left-title">
            <a:extLst xmlns:a="http://schemas.openxmlformats.org/drawingml/2006/main">
              <a:ext uri="{FF2B5EF4-FFF2-40B4-BE49-F238E27FC236}">
                <a16:creationId xmlns:a16="http://schemas.microsoft.com/office/drawing/2014/main" id="{88B1A451-9604-4023-B94A-C6FDE4C709C5}"/>
              </a:ext>
            </a:extLst>
          </p:cNvPr>
          <p:cNvSpPr>
            <a:spLocks xmlns:a="http://schemas.openxmlformats.org/drawingml/2006/main" noGrp="1"/>
          </p:cNvSpPr>
          <p:nvPr/>
        </p:nvSpPr>
        <p:spPr>
          <a:xfrm xmlns:a="http://schemas.openxmlformats.org/drawingml/2006/main">
            <a:off x="990600" y="2781300"/>
            <a:ext cx="4200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SECRET ALTERNATIVE 0</a:t>
            </a:r>
          </a:p>
        </p:txBody>
      </p:sp>
      <p:sp>
        <p:nvSpPr>
          <p:cNvPr id="13" name="bounded-request-left-body">
            <a:extLst xmlns:a="http://schemas.openxmlformats.org/drawingml/2006/main">
              <a:ext uri="{FF2B5EF4-FFF2-40B4-BE49-F238E27FC236}">
                <a16:creationId xmlns:a16="http://schemas.microsoft.com/office/drawing/2014/main" id="{EBFA8168-FE02-42DC-A71B-6F3E403C84B1}"/>
              </a:ext>
            </a:extLst>
          </p:cNvPr>
          <p:cNvSpPr>
            <a:spLocks xmlns:a="http://schemas.openxmlformats.org/drawingml/2006/main" noGrp="1"/>
          </p:cNvSpPr>
          <p:nvPr/>
        </p:nvSpPr>
        <p:spPr>
          <a:xfrm xmlns:a="http://schemas.openxmlformats.org/drawingml/2006/main">
            <a:off x="990600" y="3295650"/>
            <a:ext cx="42005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646B7A"/>
                </a:solidFill>
                <a:latin typeface="Menlo"/>
                <a:ea typeface="Menlo"/>
                <a:cs typeface="Menlo"/>
              </a:defRPr>
            </a:defPPr>
          </a:lstStyle>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M = (provider, actual ID, cap, price)</a:t>
            </a:r>
          </a:p>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Q = exact template + ordered atoms</a:t>
            </a:r>
          </a:p>
        </p:txBody>
      </p:sp>
      <p:sp>
        <p:nvSpPr>
          <p:cNvPr id="14" name="bounded-request-right-panel">
            <a:extLst xmlns:a="http://schemas.openxmlformats.org/drawingml/2006/main">
              <a:ext uri="{FF2B5EF4-FFF2-40B4-BE49-F238E27FC236}">
                <a16:creationId xmlns:a16="http://schemas.microsoft.com/office/drawing/2014/main" id="{D9CA5313-29BD-49B3-BC2D-DA2038818D4A}"/>
              </a:ext>
            </a:extLst>
          </p:cNvPr>
          <p:cNvSpPr>
            <a:spLocks xmlns:a="http://schemas.openxmlformats.org/drawingml/2006/main" noGrp="1"/>
          </p:cNvSpPr>
          <p:nvPr/>
        </p:nvSpPr>
        <p:spPr>
          <a:xfrm xmlns:a="http://schemas.openxmlformats.org/drawingml/2006/main">
            <a:off x="6791325" y="2609850"/>
            <a:ext cx="4619625" cy="2095500"/>
          </a:xfrm>
          <a:prstGeom xmlns:a="http://schemas.openxmlformats.org/drawingml/2006/main" prst="roundRect">
            <a:avLst>
              <a:gd name="adj" fmla="val 3636"/>
            </a:avLst>
          </a:prstGeom>
          <a:solidFill xmlns:a="http://schemas.openxmlformats.org/drawingml/2006/main">
            <a:srgbClr val="FFFDF8"/>
          </a:solidFill>
          <a:ln xmlns:a="http://schemas.openxmlformats.org/drawingml/2006/main" w="9525">
            <a:solidFill>
              <a:srgbClr val="D7D0C4"/>
            </a:solidFill>
            <a:prstDash val="solid"/>
          </a:ln>
        </p:spPr>
      </p:sp>
      <p:sp>
        <p:nvSpPr>
          <p:cNvPr id="15" name="bounded-request-right-accent">
            <a:extLst xmlns:a="http://schemas.openxmlformats.org/drawingml/2006/main">
              <a:ext uri="{FF2B5EF4-FFF2-40B4-BE49-F238E27FC236}">
                <a16:creationId xmlns:a16="http://schemas.microsoft.com/office/drawing/2014/main" id="{59A9640A-5DEE-415C-84A2-6340027EA8AE}"/>
              </a:ext>
            </a:extLst>
          </p:cNvPr>
          <p:cNvSpPr>
            <a:spLocks xmlns:a="http://schemas.openxmlformats.org/drawingml/2006/main" noGrp="1"/>
          </p:cNvSpPr>
          <p:nvPr/>
        </p:nvSpPr>
        <p:spPr>
          <a:xfrm xmlns:a="http://schemas.openxmlformats.org/drawingml/2006/main">
            <a:off x="6791325" y="2609850"/>
            <a:ext cx="57150" cy="20955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bounded-request-right-title">
            <a:extLst xmlns:a="http://schemas.openxmlformats.org/drawingml/2006/main">
              <a:ext uri="{FF2B5EF4-FFF2-40B4-BE49-F238E27FC236}">
                <a16:creationId xmlns:a16="http://schemas.microsoft.com/office/drawing/2014/main" id="{2E24DE2A-BCAB-4D56-B164-97ABEF6FC5FF}"/>
              </a:ext>
            </a:extLst>
          </p:cNvPr>
          <p:cNvSpPr>
            <a:spLocks xmlns:a="http://schemas.openxmlformats.org/drawingml/2006/main" noGrp="1"/>
          </p:cNvSpPr>
          <p:nvPr/>
        </p:nvSpPr>
        <p:spPr>
          <a:xfrm xmlns:a="http://schemas.openxmlformats.org/drawingml/2006/main">
            <a:off x="7000875" y="2781300"/>
            <a:ext cx="4200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SECRET ALTERNATIVE 1</a:t>
            </a:r>
          </a:p>
        </p:txBody>
      </p:sp>
      <p:sp>
        <p:nvSpPr>
          <p:cNvPr id="17" name="bounded-request-right-body">
            <a:extLst xmlns:a="http://schemas.openxmlformats.org/drawingml/2006/main">
              <a:ext uri="{FF2B5EF4-FFF2-40B4-BE49-F238E27FC236}">
                <a16:creationId xmlns:a16="http://schemas.microsoft.com/office/drawing/2014/main" id="{157E5606-DB12-4D45-A953-7ADD74103C1D}"/>
              </a:ext>
            </a:extLst>
          </p:cNvPr>
          <p:cNvSpPr>
            <a:spLocks xmlns:a="http://schemas.openxmlformats.org/drawingml/2006/main" noGrp="1"/>
          </p:cNvSpPr>
          <p:nvPr/>
        </p:nvSpPr>
        <p:spPr>
          <a:xfrm xmlns:a="http://schemas.openxmlformats.org/drawingml/2006/main">
            <a:off x="7000875" y="3295650"/>
            <a:ext cx="420052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646B7A"/>
                </a:solidFill>
                <a:latin typeface="Menlo"/>
                <a:ea typeface="Menlo"/>
                <a:cs typeface="Menlo"/>
              </a:defRPr>
            </a:defPPr>
          </a:lstStyle>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same resolved M</a:t>
            </a:r>
          </a:p>
          <a:p xmlns:a="http://schemas.openxmlformats.org/drawingml/2006/main">
            <a:pPr algn="l">
              <a:defRPr sz="1350" b="0" i="0">
                <a:solidFill>
                  <a:srgbClr val="646B7A"/>
                </a:solidFill>
                <a:latin typeface="Menlo"/>
                <a:ea typeface="Menlo"/>
                <a:cs typeface="Menlo"/>
              </a:defRPr>
            </a:pPr>
            <a:r>
              <a:rPr sz="1350" b="0" i="0">
                <a:solidFill>
                  <a:srgbClr val="646B7A"/>
                </a:solidFill>
                <a:latin typeface="Menlo"/>
                <a:ea typeface="Menlo"/>
                <a:cs typeface="Menlo"/>
              </a:rPr>
              <a:t>same Q and result position</a:t>
            </a:r>
          </a:p>
        </p:txBody>
      </p:sp>
      <p:sp>
        <p:nvSpPr>
          <p:cNvPr id="19" name="bounded-pattern-count">
            <a:extLst xmlns:a="http://schemas.openxmlformats.org/drawingml/2006/main">
              <a:ext uri="{FF2B5EF4-FFF2-40B4-BE49-F238E27FC236}">
                <a16:creationId xmlns:a16="http://schemas.microsoft.com/office/drawing/2014/main" id="{9D38DB78-D3DA-4E82-A8AD-E1FF9A0A89D6}"/>
              </a:ext>
            </a:extLst>
          </p:cNvPr>
          <p:cNvSpPr>
            <a:spLocks xmlns:a="http://schemas.openxmlformats.org/drawingml/2006/main" noGrp="1"/>
          </p:cNvSpPr>
          <p:nvPr/>
        </p:nvSpPr>
        <p:spPr>
          <a:xfrm xmlns:a="http://schemas.openxmlformats.org/drawingml/2006/main">
            <a:off x="1238250" y="5038725"/>
            <a:ext cx="247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1" i="0">
                <a:solidFill>
                  <a:srgbClr val="1F6F66"/>
                </a:solidFill>
                <a:latin typeface="Menlo"/>
                <a:ea typeface="Menlo"/>
                <a:cs typeface="Menlo"/>
              </a:defRPr>
            </a:defPPr>
          </a:lstStyle>
          <a:p xmlns:a="http://schemas.openxmlformats.org/drawingml/2006/main">
            <a:pPr algn="ctr">
              <a:defRPr sz="2250" b="1" i="0">
                <a:solidFill>
                  <a:srgbClr val="1F6F66"/>
                </a:solidFill>
                <a:latin typeface="Menlo"/>
                <a:ea typeface="Menlo"/>
                <a:cs typeface="Menlo"/>
              </a:defRPr>
            </a:pPr>
            <a:r>
              <a:rPr sz="2250" b="1" i="0">
                <a:solidFill>
                  <a:srgbClr val="1F6F66"/>
                </a:solidFill>
                <a:latin typeface="Menlo"/>
                <a:ea typeface="Menlo"/>
                <a:cs typeface="Menlo"/>
              </a:rPr>
              <a:t>15 / 15</a:t>
            </a:r>
          </a:p>
        </p:txBody>
      </p:sp>
      <p:sp>
        <p:nvSpPr>
          <p:cNvPr id="20" name="bounded-pattern-label">
            <a:extLst xmlns:a="http://schemas.openxmlformats.org/drawingml/2006/main">
              <a:ext uri="{FF2B5EF4-FFF2-40B4-BE49-F238E27FC236}">
                <a16:creationId xmlns:a16="http://schemas.microsoft.com/office/drawing/2014/main" id="{8646BFC8-5627-4F50-A252-CBB7A07EAEEF}"/>
              </a:ext>
            </a:extLst>
          </p:cNvPr>
          <p:cNvSpPr>
            <a:spLocks xmlns:a="http://schemas.openxmlformats.org/drawingml/2006/main" noGrp="1"/>
          </p:cNvSpPr>
          <p:nvPr/>
        </p:nvSpPr>
        <p:spPr>
          <a:xfrm xmlns:a="http://schemas.openxmlformats.org/drawingml/2006/main">
            <a:off x="1066800" y="5505450"/>
            <a:ext cx="2905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balanced source-derived projections admitted</a:t>
            </a:r>
          </a:p>
        </p:txBody>
      </p:sp>
      <p:sp>
        <p:nvSpPr>
          <p:cNvPr id="21" name="bounded-baseline">
            <a:extLst xmlns:a="http://schemas.openxmlformats.org/drawingml/2006/main">
              <a:ext uri="{FF2B5EF4-FFF2-40B4-BE49-F238E27FC236}">
                <a16:creationId xmlns:a16="http://schemas.microsoft.com/office/drawing/2014/main" id="{BD04210D-BB90-4F64-AE99-AAA54645369E}"/>
              </a:ext>
            </a:extLst>
          </p:cNvPr>
          <p:cNvSpPr>
            <a:spLocks xmlns:a="http://schemas.openxmlformats.org/drawingml/2006/main" noGrp="1"/>
          </p:cNvSpPr>
          <p:nvPr/>
        </p:nvSpPr>
        <p:spPr>
          <a:xfrm xmlns:a="http://schemas.openxmlformats.org/drawingml/2006/main">
            <a:off x="4876800" y="5038725"/>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025" b="1" i="0">
                <a:solidFill>
                  <a:srgbClr val="C2461F"/>
                </a:solidFill>
                <a:latin typeface="Menlo"/>
                <a:ea typeface="Menlo"/>
                <a:cs typeface="Menlo"/>
              </a:defRPr>
            </a:defPPr>
          </a:lstStyle>
          <a:p xmlns:a="http://schemas.openxmlformats.org/drawingml/2006/main">
            <a:pPr algn="ctr">
              <a:defRPr sz="2025" b="1" i="0">
                <a:solidFill>
                  <a:srgbClr val="C2461F"/>
                </a:solidFill>
                <a:latin typeface="Menlo"/>
                <a:ea typeface="Menlo"/>
                <a:cs typeface="Menlo"/>
              </a:defRPr>
            </a:pPr>
            <a:r>
              <a:rPr sz="2025" b="1" i="0">
                <a:solidFill>
                  <a:srgbClr val="C2461F"/>
                </a:solidFill>
                <a:latin typeface="Menlo"/>
                <a:ea typeface="Menlo"/>
                <a:cs typeface="Menlo"/>
              </a:rPr>
              <a:t>8 / 15</a:t>
            </a:r>
          </a:p>
        </p:txBody>
      </p:sp>
      <p:sp>
        <p:nvSpPr>
          <p:cNvPr id="22" name="bounded-baseline-label">
            <a:extLst xmlns:a="http://schemas.openxmlformats.org/drawingml/2006/main">
              <a:ext uri="{FF2B5EF4-FFF2-40B4-BE49-F238E27FC236}">
                <a16:creationId xmlns:a16="http://schemas.microsoft.com/office/drawing/2014/main" id="{30CAF0D4-D331-4497-AC51-C29F2FD4338A}"/>
              </a:ext>
            </a:extLst>
          </p:cNvPr>
          <p:cNvSpPr>
            <a:spLocks xmlns:a="http://schemas.openxmlformats.org/drawingml/2006/main" noGrp="1"/>
          </p:cNvSpPr>
          <p:nvPr/>
        </p:nvSpPr>
        <p:spPr>
          <a:xfrm xmlns:a="http://schemas.openxmlformats.org/drawingml/2006/main">
            <a:off x="4781550" y="5505450"/>
            <a:ext cx="228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preceding frozen version</a:t>
            </a:r>
          </a:p>
        </p:txBody>
      </p:sp>
      <p:sp>
        <p:nvSpPr>
          <p:cNvPr id="23" name="bounded-variants">
            <a:extLst xmlns:a="http://schemas.openxmlformats.org/drawingml/2006/main">
              <a:ext uri="{FF2B5EF4-FFF2-40B4-BE49-F238E27FC236}">
                <a16:creationId xmlns:a16="http://schemas.microsoft.com/office/drawing/2014/main" id="{3D899AE5-25AC-4C2E-9DDA-D284B157D112}"/>
              </a:ext>
            </a:extLst>
          </p:cNvPr>
          <p:cNvSpPr>
            <a:spLocks xmlns:a="http://schemas.openxmlformats.org/drawingml/2006/main" noGrp="1"/>
          </p:cNvSpPr>
          <p:nvPr/>
        </p:nvSpPr>
        <p:spPr>
          <a:xfrm xmlns:a="http://schemas.openxmlformats.org/drawingml/2006/main">
            <a:off x="7286625" y="5162550"/>
            <a:ext cx="3857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i="0">
                <a:solidFill>
                  <a:srgbClr val="141B2B"/>
                </a:solidFill>
                <a:latin typeface="Avenir Next"/>
                <a:ea typeface="Avenir Next"/>
                <a:cs typeface="Avenir Next"/>
              </a:defRPr>
            </a:defPPr>
          </a:lstStyle>
          <a:p xmlns:a="http://schemas.openxmlformats.org/drawingml/2006/main">
            <a:pPr algn="ctr">
              <a:defRPr sz="1200" b="1" i="0">
                <a:solidFill>
                  <a:srgbClr val="141B2B"/>
                </a:solidFill>
                <a:latin typeface="Avenir Next"/>
                <a:ea typeface="Avenir Next"/>
                <a:cs typeface="Avenir Next"/>
              </a:defRPr>
            </a:pPr>
            <a:r>
              <a:rPr sz="1200" b="1" i="0">
                <a:solidFill>
                  <a:srgbClr val="141B2B"/>
                </a:solidFill>
                <a:latin typeface="Avenir Next"/>
                <a:ea typeface="Avenir Next"/>
                <a:cs typeface="Avenir Next"/>
              </a:rPr>
              <a:t>45 authored variants · 30 source-bound reports checked · partial projections</a:t>
            </a:r>
          </a:p>
        </p:txBody>
      </p:sp>
    </p:spTree>
    <p:extLst>
      <p:ext uri="{BB962C8B-B14F-4D97-AF65-F5344CB8AC3E}">
        <p14:creationId xmlns:p14="http://schemas.microsoft.com/office/powerpoint/2010/main" val="326640206"/>
      </p:ext>
    </p:extLst>
  </p:cSld>
</p:sld>
</file>

<file path=ppt/slides/slide8.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5592E2FF-9B6A-4F73-A264-F33CFDA982B2}"/>
              </a:ext>
            </a:extLst>
          </p:cNvPr>
          <p:cNvCxnSpPr>
            <a:stCxn xmlns:a="http://schemas.openxmlformats.org/drawingml/2006/main" id="14" idx="1"/>
            <a:endCxn xmlns:a="http://schemas.openxmlformats.org/drawingml/2006/main" id="18" idx="3"/>
          </p:cNvCxnSpPr>
          <p:nvPr/>
        </p:nvCxnSpPr>
        <p:spPr>
          <a:xfrm xmlns:a="http://schemas.openxmlformats.org/drawingml/2006/main" flipH="1">
            <a:off x="7677150" y="3705225"/>
            <a:ext cx="609600" cy="0"/>
          </a:xfrm>
          <a:prstGeom xmlns:a="http://schemas.openxmlformats.org/drawingml/2006/main" prst="straightConnector1">
            <a:avLst/>
          </a:prstGeom>
          <a:ln xmlns:a="http://schemas.openxmlformats.org/drawingml/2006/main" w="19050">
            <a:solidFill>
              <a:srgbClr val="5CC8B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B0DBDCBF-6EEA-4E56-B15A-9C9CE5DFF7F3}"/>
              </a:ext>
            </a:extLst>
          </p:cNvPr>
          <p:cNvCxnSpPr>
            <a:stCxn xmlns:a="http://schemas.openxmlformats.org/drawingml/2006/main" id="10" idx="3"/>
            <a:endCxn xmlns:a="http://schemas.openxmlformats.org/drawingml/2006/main" id="18" idx="1"/>
          </p:cNvCxnSpPr>
          <p:nvPr/>
        </p:nvCxnSpPr>
        <p:spPr>
          <a:xfrm xmlns:a="http://schemas.openxmlformats.org/drawingml/2006/main">
            <a:off x="3905250" y="3705225"/>
            <a:ext cx="609600" cy="0"/>
          </a:xfrm>
          <a:prstGeom xmlns:a="http://schemas.openxmlformats.org/drawingml/2006/main" prst="straightConnector1">
            <a:avLst/>
          </a:prstGeom>
          <a:ln xmlns:a="http://schemas.openxmlformats.org/drawingml/2006/main" w="19050">
            <a:solidFill>
              <a:srgbClr val="FF8A5C"/>
            </a:solidFill>
            <a:prstDash val="solid"/>
            <a:tailEnd type="triangle" w="sm" len="sm"/>
          </a:ln>
        </p:spPr>
      </p:cxnSp>
      <p:sp>
        <p:nvSpPr>
          <p:cNvPr id="25" name="s8-brand">
            <a:extLst xmlns:a="http://schemas.openxmlformats.org/drawingml/2006/main">
              <a:ext uri="{FF2B5EF4-FFF2-40B4-BE49-F238E27FC236}">
                <a16:creationId xmlns:a16="http://schemas.microsoft.com/office/drawing/2014/main" id="{3B11B5CE-471C-4F49-A6FB-423FAED03239}"/>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8-section">
            <a:extLst xmlns:a="http://schemas.openxmlformats.org/drawingml/2006/main">
              <a:ext uri="{FF2B5EF4-FFF2-40B4-BE49-F238E27FC236}">
                <a16:creationId xmlns:a16="http://schemas.microsoft.com/office/drawing/2014/main" id="{0F427E30-BA4E-4376-85FD-8507CD7415AD}"/>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CYCLIC PRODUCT</a:t>
            </a:r>
          </a:p>
        </p:txBody>
      </p:sp>
      <p:sp>
        <p:nvSpPr>
          <p:cNvPr id="3" name="s8-title">
            <a:extLst xmlns:a="http://schemas.openxmlformats.org/drawingml/2006/main">
              <a:ext uri="{FF2B5EF4-FFF2-40B4-BE49-F238E27FC236}">
                <a16:creationId xmlns:a16="http://schemas.microsoft.com/office/drawing/2014/main" id="{C7186BCC-40BC-4B45-989B-3944E48DBA9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The cyclic checker relates two control states</a:t>
            </a:r>
          </a:p>
        </p:txBody>
      </p:sp>
      <p:sp>
        <p:nvSpPr>
          <p:cNvPr id="4" name="s8-subtitle">
            <a:extLst xmlns:a="http://schemas.openxmlformats.org/drawingml/2006/main">
              <a:ext uri="{FF2B5EF4-FFF2-40B4-BE49-F238E27FC236}">
                <a16:creationId xmlns:a16="http://schemas.microsoft.com/office/drawing/2014/main" id="{28011194-83FE-484A-84E7-82F9A97EABC4}"/>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A product node records control on both sides and justified equal values.</a:t>
            </a:r>
          </a:p>
        </p:txBody>
      </p:sp>
      <p:sp>
        <p:nvSpPr>
          <p:cNvPr id="5" name="s8-source-rule">
            <a:extLst xmlns:a="http://schemas.openxmlformats.org/drawingml/2006/main">
              <a:ext uri="{FF2B5EF4-FFF2-40B4-BE49-F238E27FC236}">
                <a16:creationId xmlns:a16="http://schemas.microsoft.com/office/drawing/2014/main" id="{3794B5A4-A308-4809-B7FD-6E1702DFB6CA}"/>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8-sources">
            <a:extLst xmlns:a="http://schemas.openxmlformats.org/drawingml/2006/main">
              <a:ext uri="{FF2B5EF4-FFF2-40B4-BE49-F238E27FC236}">
                <a16:creationId xmlns:a16="http://schemas.microsoft.com/office/drawing/2014/main" id="{FAC192EB-C407-4107-B3B3-EC7045F55533}"/>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audit/orchgraph.py</a:t>
            </a:r>
          </a:p>
        </p:txBody>
      </p:sp>
      <p:sp>
        <p:nvSpPr>
          <p:cNvPr id="7" name="s8-footer-rule">
            <a:extLst xmlns:a="http://schemas.openxmlformats.org/drawingml/2006/main">
              <a:ext uri="{FF2B5EF4-FFF2-40B4-BE49-F238E27FC236}">
                <a16:creationId xmlns:a16="http://schemas.microsoft.com/office/drawing/2014/main" id="{B740DA89-9B5F-402A-AEB6-388A8932CD2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8-footer">
            <a:extLst xmlns:a="http://schemas.openxmlformats.org/drawingml/2006/main">
              <a:ext uri="{FF2B5EF4-FFF2-40B4-BE49-F238E27FC236}">
                <a16:creationId xmlns:a16="http://schemas.microsoft.com/office/drawing/2014/main" id="{497E7F91-C917-4464-9F9B-41A73684EDBA}"/>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8-page">
            <a:extLst xmlns:a="http://schemas.openxmlformats.org/drawingml/2006/main">
              <a:ext uri="{FF2B5EF4-FFF2-40B4-BE49-F238E27FC236}">
                <a16:creationId xmlns:a16="http://schemas.microsoft.com/office/drawing/2014/main" id="{0CB0B203-2076-4BD0-A2D7-8908420F1449}"/>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8</a:t>
            </a:r>
          </a:p>
        </p:txBody>
      </p:sp>
      <p:sp>
        <p:nvSpPr>
          <p:cNvPr id="10" name="product-left-panel">
            <a:extLst xmlns:a="http://schemas.openxmlformats.org/drawingml/2006/main">
              <a:ext uri="{FF2B5EF4-FFF2-40B4-BE49-F238E27FC236}">
                <a16:creationId xmlns:a16="http://schemas.microsoft.com/office/drawing/2014/main" id="{D26E1663-CE59-4392-9116-688911C59418}"/>
              </a:ext>
            </a:extLst>
          </p:cNvPr>
          <p:cNvSpPr>
            <a:spLocks xmlns:a="http://schemas.openxmlformats.org/drawingml/2006/main" noGrp="1"/>
          </p:cNvSpPr>
          <p:nvPr/>
        </p:nvSpPr>
        <p:spPr>
          <a:xfrm xmlns:a="http://schemas.openxmlformats.org/drawingml/2006/main">
            <a:off x="762000" y="2619375"/>
            <a:ext cx="3143250" cy="2171700"/>
          </a:xfrm>
          <a:prstGeom xmlns:a="http://schemas.openxmlformats.org/drawingml/2006/main" prst="roundRect">
            <a:avLst>
              <a:gd name="adj" fmla="val 3509"/>
            </a:avLst>
          </a:prstGeom>
          <a:solidFill xmlns:a="http://schemas.openxmlformats.org/drawingml/2006/main">
            <a:srgbClr val="1C2638"/>
          </a:solidFill>
          <a:ln xmlns:a="http://schemas.openxmlformats.org/drawingml/2006/main" w="9525">
            <a:solidFill>
              <a:srgbClr val="343D50"/>
            </a:solidFill>
            <a:prstDash val="solid"/>
          </a:ln>
        </p:spPr>
      </p:sp>
      <p:sp>
        <p:nvSpPr>
          <p:cNvPr id="11" name="product-left-accent">
            <a:extLst xmlns:a="http://schemas.openxmlformats.org/drawingml/2006/main">
              <a:ext uri="{FF2B5EF4-FFF2-40B4-BE49-F238E27FC236}">
                <a16:creationId xmlns:a16="http://schemas.microsoft.com/office/drawing/2014/main" id="{CF507A4D-4F16-4A87-BC1C-311FF7D80058}"/>
              </a:ext>
            </a:extLst>
          </p:cNvPr>
          <p:cNvSpPr>
            <a:spLocks xmlns:a="http://schemas.openxmlformats.org/drawingml/2006/main" noGrp="1"/>
          </p:cNvSpPr>
          <p:nvPr/>
        </p:nvSpPr>
        <p:spPr>
          <a:xfrm xmlns:a="http://schemas.openxmlformats.org/drawingml/2006/main">
            <a:off x="762000" y="2619375"/>
            <a:ext cx="57150" cy="21717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product-left-title">
            <a:extLst xmlns:a="http://schemas.openxmlformats.org/drawingml/2006/main">
              <a:ext uri="{FF2B5EF4-FFF2-40B4-BE49-F238E27FC236}">
                <a16:creationId xmlns:a16="http://schemas.microsoft.com/office/drawing/2014/main" id="{CBA68EF9-ACF2-4C0D-92AD-75FA08CAC14C}"/>
              </a:ext>
            </a:extLst>
          </p:cNvPr>
          <p:cNvSpPr>
            <a:spLocks xmlns:a="http://schemas.openxmlformats.org/drawingml/2006/main" noGrp="1"/>
          </p:cNvSpPr>
          <p:nvPr/>
        </p:nvSpPr>
        <p:spPr>
          <a:xfrm xmlns:a="http://schemas.openxmlformats.org/drawingml/2006/main">
            <a:off x="971550" y="2790825"/>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LEFT RUN</a:t>
            </a:r>
          </a:p>
        </p:txBody>
      </p:sp>
      <p:sp>
        <p:nvSpPr>
          <p:cNvPr id="13" name="product-left-body">
            <a:extLst xmlns:a="http://schemas.openxmlformats.org/drawingml/2006/main">
              <a:ext uri="{FF2B5EF4-FFF2-40B4-BE49-F238E27FC236}">
                <a16:creationId xmlns:a16="http://schemas.microsoft.com/office/drawing/2014/main" id="{7BFE1545-1204-450F-A339-F7ED983BDAAA}"/>
              </a:ext>
            </a:extLst>
          </p:cNvPr>
          <p:cNvSpPr>
            <a:spLocks xmlns:a="http://schemas.openxmlformats.org/drawingml/2006/main" noGrp="1"/>
          </p:cNvSpPr>
          <p:nvPr/>
        </p:nvSpPr>
        <p:spPr>
          <a:xfrm xmlns:a="http://schemas.openxmlformats.org/drawingml/2006/main">
            <a:off x="971550" y="3324225"/>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pcL = state 12</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registers: a, b</a:t>
            </a:r>
          </a:p>
        </p:txBody>
      </p:sp>
      <p:sp>
        <p:nvSpPr>
          <p:cNvPr id="14" name="product-right-panel">
            <a:extLst xmlns:a="http://schemas.openxmlformats.org/drawingml/2006/main">
              <a:ext uri="{FF2B5EF4-FFF2-40B4-BE49-F238E27FC236}">
                <a16:creationId xmlns:a16="http://schemas.microsoft.com/office/drawing/2014/main" id="{50C00B1D-6DA2-41CA-B12E-122625A4ED60}"/>
              </a:ext>
            </a:extLst>
          </p:cNvPr>
          <p:cNvSpPr>
            <a:spLocks xmlns:a="http://schemas.openxmlformats.org/drawingml/2006/main" noGrp="1"/>
          </p:cNvSpPr>
          <p:nvPr/>
        </p:nvSpPr>
        <p:spPr>
          <a:xfrm xmlns:a="http://schemas.openxmlformats.org/drawingml/2006/main">
            <a:off x="8286750" y="2619375"/>
            <a:ext cx="3143250" cy="2171700"/>
          </a:xfrm>
          <a:prstGeom xmlns:a="http://schemas.openxmlformats.org/drawingml/2006/main" prst="roundRect">
            <a:avLst>
              <a:gd name="adj" fmla="val 3509"/>
            </a:avLst>
          </a:prstGeom>
          <a:solidFill xmlns:a="http://schemas.openxmlformats.org/drawingml/2006/main">
            <a:srgbClr val="1C2638"/>
          </a:solidFill>
          <a:ln xmlns:a="http://schemas.openxmlformats.org/drawingml/2006/main" w="9525">
            <a:solidFill>
              <a:srgbClr val="343D50"/>
            </a:solidFill>
            <a:prstDash val="solid"/>
          </a:ln>
        </p:spPr>
      </p:sp>
      <p:sp>
        <p:nvSpPr>
          <p:cNvPr id="15" name="product-right-accent">
            <a:extLst xmlns:a="http://schemas.openxmlformats.org/drawingml/2006/main">
              <a:ext uri="{FF2B5EF4-FFF2-40B4-BE49-F238E27FC236}">
                <a16:creationId xmlns:a16="http://schemas.microsoft.com/office/drawing/2014/main" id="{E48BC37F-F0E5-4454-807B-13570D1A0A3E}"/>
              </a:ext>
            </a:extLst>
          </p:cNvPr>
          <p:cNvSpPr>
            <a:spLocks xmlns:a="http://schemas.openxmlformats.org/drawingml/2006/main" noGrp="1"/>
          </p:cNvSpPr>
          <p:nvPr/>
        </p:nvSpPr>
        <p:spPr>
          <a:xfrm xmlns:a="http://schemas.openxmlformats.org/drawingml/2006/main">
            <a:off x="8286750" y="2619375"/>
            <a:ext cx="57150" cy="21717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product-right-title">
            <a:extLst xmlns:a="http://schemas.openxmlformats.org/drawingml/2006/main">
              <a:ext uri="{FF2B5EF4-FFF2-40B4-BE49-F238E27FC236}">
                <a16:creationId xmlns:a16="http://schemas.microsoft.com/office/drawing/2014/main" id="{5465E9C3-E02B-4DBD-8F45-0677D21E9AE4}"/>
              </a:ext>
            </a:extLst>
          </p:cNvPr>
          <p:cNvSpPr>
            <a:spLocks xmlns:a="http://schemas.openxmlformats.org/drawingml/2006/main" noGrp="1"/>
          </p:cNvSpPr>
          <p:nvPr/>
        </p:nvSpPr>
        <p:spPr>
          <a:xfrm xmlns:a="http://schemas.openxmlformats.org/drawingml/2006/main">
            <a:off x="8496300" y="2790825"/>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F5F2EA"/>
                </a:solidFill>
                <a:latin typeface="Avenir Next"/>
                <a:ea typeface="Avenir Next"/>
                <a:cs typeface="Avenir Next"/>
              </a:defRPr>
            </a:defPPr>
          </a:lstStyle>
          <a:p xmlns:a="http://schemas.openxmlformats.org/drawingml/2006/main">
            <a:pPr algn="l">
              <a:defRPr sz="1575" b="1" i="0">
                <a:solidFill>
                  <a:srgbClr val="F5F2EA"/>
                </a:solidFill>
                <a:latin typeface="Avenir Next"/>
                <a:ea typeface="Avenir Next"/>
                <a:cs typeface="Avenir Next"/>
              </a:defRPr>
            </a:pPr>
            <a:r>
              <a:rPr sz="1575" b="1" i="0">
                <a:solidFill>
                  <a:srgbClr val="F5F2EA"/>
                </a:solidFill>
                <a:latin typeface="Avenir Next"/>
                <a:ea typeface="Avenir Next"/>
                <a:cs typeface="Avenir Next"/>
              </a:rPr>
              <a:t>RIGHT RUN</a:t>
            </a:r>
          </a:p>
        </p:txBody>
      </p:sp>
      <p:sp>
        <p:nvSpPr>
          <p:cNvPr id="17" name="product-right-body">
            <a:extLst xmlns:a="http://schemas.openxmlformats.org/drawingml/2006/main">
              <a:ext uri="{FF2B5EF4-FFF2-40B4-BE49-F238E27FC236}">
                <a16:creationId xmlns:a16="http://schemas.microsoft.com/office/drawing/2014/main" id="{D3F3DE34-943C-4FF1-9DC0-C61658CE3D4D}"/>
              </a:ext>
            </a:extLst>
          </p:cNvPr>
          <p:cNvSpPr>
            <a:spLocks xmlns:a="http://schemas.openxmlformats.org/drawingml/2006/main" noGrp="1"/>
          </p:cNvSpPr>
          <p:nvPr/>
        </p:nvSpPr>
        <p:spPr>
          <a:xfrm xmlns:a="http://schemas.openxmlformats.org/drawingml/2006/main">
            <a:off x="8496300" y="3324225"/>
            <a:ext cx="27241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i="0">
                <a:solidFill>
                  <a:srgbClr val="B8C1D1"/>
                </a:solidFill>
                <a:latin typeface="Menlo"/>
                <a:ea typeface="Menlo"/>
                <a:cs typeface="Menlo"/>
              </a:defRPr>
            </a:defPPr>
          </a:lstStyle>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pcR = state 27</a:t>
            </a:r>
          </a:p>
          <a:p xmlns:a="http://schemas.openxmlformats.org/drawingml/2006/main">
            <a:pPr algn="l">
              <a:defRPr sz="1425" b="0" i="0">
                <a:solidFill>
                  <a:srgbClr val="B8C1D1"/>
                </a:solidFill>
                <a:latin typeface="Menlo"/>
                <a:ea typeface="Menlo"/>
                <a:cs typeface="Menlo"/>
              </a:defRPr>
            </a:pPr>
            <a:r>
              <a:rPr sz="1425" b="0" i="0">
                <a:solidFill>
                  <a:srgbClr val="B8C1D1"/>
                </a:solidFill>
                <a:latin typeface="Menlo"/>
                <a:ea typeface="Menlo"/>
                <a:cs typeface="Menlo"/>
              </a:rPr>
              <a:t>registers: x, y</a:t>
            </a:r>
          </a:p>
        </p:txBody>
      </p:sp>
      <p:sp>
        <p:nvSpPr>
          <p:cNvPr id="18" name="product-node-panel">
            <a:extLst xmlns:a="http://schemas.openxmlformats.org/drawingml/2006/main">
              <a:ext uri="{FF2B5EF4-FFF2-40B4-BE49-F238E27FC236}">
                <a16:creationId xmlns:a16="http://schemas.microsoft.com/office/drawing/2014/main" id="{5FBD76F2-9F5F-4072-A271-0EEC8C57F174}"/>
              </a:ext>
            </a:extLst>
          </p:cNvPr>
          <p:cNvSpPr>
            <a:spLocks xmlns:a="http://schemas.openxmlformats.org/drawingml/2006/main" noGrp="1"/>
          </p:cNvSpPr>
          <p:nvPr/>
        </p:nvSpPr>
        <p:spPr>
          <a:xfrm xmlns:a="http://schemas.openxmlformats.org/drawingml/2006/main">
            <a:off x="4514850" y="2476500"/>
            <a:ext cx="3162300" cy="2457450"/>
          </a:xfrm>
          <a:prstGeom xmlns:a="http://schemas.openxmlformats.org/drawingml/2006/main" prst="roundRect">
            <a:avLst>
              <a:gd name="adj" fmla="val 3101"/>
            </a:avLst>
          </a:prstGeom>
          <a:solidFill xmlns:a="http://schemas.openxmlformats.org/drawingml/2006/main">
            <a:srgbClr val="1C2638"/>
          </a:solidFill>
          <a:ln xmlns:a="http://schemas.openxmlformats.org/drawingml/2006/main" w="9525">
            <a:solidFill>
              <a:srgbClr val="343D50"/>
            </a:solidFill>
            <a:prstDash val="solid"/>
          </a:ln>
        </p:spPr>
      </p:sp>
      <p:sp>
        <p:nvSpPr>
          <p:cNvPr id="19" name="product-node-accent">
            <a:extLst xmlns:a="http://schemas.openxmlformats.org/drawingml/2006/main">
              <a:ext uri="{FF2B5EF4-FFF2-40B4-BE49-F238E27FC236}">
                <a16:creationId xmlns:a16="http://schemas.microsoft.com/office/drawing/2014/main" id="{3378F3DF-B96A-4492-BA04-34B08D4B9691}"/>
              </a:ext>
            </a:extLst>
          </p:cNvPr>
          <p:cNvSpPr>
            <a:spLocks xmlns:a="http://schemas.openxmlformats.org/drawingml/2006/main" noGrp="1"/>
          </p:cNvSpPr>
          <p:nvPr/>
        </p:nvSpPr>
        <p:spPr>
          <a:xfrm xmlns:a="http://schemas.openxmlformats.org/drawingml/2006/main">
            <a:off x="4514850" y="2476500"/>
            <a:ext cx="57150" cy="24574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20" name="product-node-title">
            <a:extLst xmlns:a="http://schemas.openxmlformats.org/drawingml/2006/main">
              <a:ext uri="{FF2B5EF4-FFF2-40B4-BE49-F238E27FC236}">
                <a16:creationId xmlns:a16="http://schemas.microsoft.com/office/drawing/2014/main" id="{BA1AB741-D72D-491C-9BBE-86EB6093C196}"/>
              </a:ext>
            </a:extLst>
          </p:cNvPr>
          <p:cNvSpPr>
            <a:spLocks xmlns:a="http://schemas.openxmlformats.org/drawingml/2006/main" noGrp="1"/>
          </p:cNvSpPr>
          <p:nvPr/>
        </p:nvSpPr>
        <p:spPr>
          <a:xfrm xmlns:a="http://schemas.openxmlformats.org/drawingml/2006/main">
            <a:off x="4724400" y="2647950"/>
            <a:ext cx="2743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PRODUCT WORK ITEM</a:t>
            </a:r>
          </a:p>
        </p:txBody>
      </p:sp>
      <p:sp>
        <p:nvSpPr>
          <p:cNvPr id="21" name="product-node-body">
            <a:extLst xmlns:a="http://schemas.openxmlformats.org/drawingml/2006/main">
              <a:ext uri="{FF2B5EF4-FFF2-40B4-BE49-F238E27FC236}">
                <a16:creationId xmlns:a16="http://schemas.microsoft.com/office/drawing/2014/main" id="{D7772E74-8AD6-43E2-B0D2-D67C08C3FC79}"/>
              </a:ext>
            </a:extLst>
          </p:cNvPr>
          <p:cNvSpPr>
            <a:spLocks xmlns:a="http://schemas.openxmlformats.org/drawingml/2006/main" noGrp="1"/>
          </p:cNvSpPr>
          <p:nvPr/>
        </p:nvSpPr>
        <p:spPr>
          <a:xfrm xmlns:a="http://schemas.openxmlformats.org/drawingml/2006/main">
            <a:off x="4724400" y="3124200"/>
            <a:ext cx="27432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B8C1D1"/>
                </a:solidFill>
                <a:latin typeface="Menlo"/>
                <a:ea typeface="Menlo"/>
                <a:cs typeface="Menlo"/>
              </a:defRPr>
            </a:defPPr>
          </a:lstStyle>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(pcL, pcR, R)</a:t>
            </a:r>
          </a:p>
          <a:p xmlns:a="http://schemas.openxmlformats.org/drawingml/2006/main">
            <a:r>
              <a:t/>
            </a:r>
          </a:p>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R = justified equal-register pairs</a:t>
            </a:r>
          </a:p>
          <a:p xmlns:a="http://schemas.openxmlformats.org/drawingml/2006/main">
            <a:pPr algn="l">
              <a:defRPr sz="1350" b="0" i="0">
                <a:solidFill>
                  <a:srgbClr val="B8C1D1"/>
                </a:solidFill>
                <a:latin typeface="Menlo"/>
                <a:ea typeface="Menlo"/>
                <a:cs typeface="Menlo"/>
              </a:defRPr>
            </a:pPr>
            <a:r>
              <a:rPr sz="1350" b="0" i="0">
                <a:solidFill>
                  <a:srgbClr val="B8C1D1"/>
                </a:solidFill>
                <a:latin typeface="Menlo"/>
                <a:ea typeface="Menlo"/>
                <a:cs typeface="Menlo"/>
              </a:rPr>
              <a:t>{ a ↔ x, b ↔ y }</a:t>
            </a:r>
          </a:p>
        </p:txBody>
      </p:sp>
      <p:sp>
        <p:nvSpPr>
          <p:cNvPr id="24" name="product-invariant">
            <a:extLst xmlns:a="http://schemas.openxmlformats.org/drawingml/2006/main">
              <a:ext uri="{FF2B5EF4-FFF2-40B4-BE49-F238E27FC236}">
                <a16:creationId xmlns:a16="http://schemas.microsoft.com/office/drawing/2014/main" id="{38BACF0B-5186-45FB-98A4-831E694CE9DA}"/>
              </a:ext>
            </a:extLst>
          </p:cNvPr>
          <p:cNvSpPr>
            <a:spLocks xmlns:a="http://schemas.openxmlformats.org/drawingml/2006/main" noGrp="1"/>
          </p:cNvSpPr>
          <p:nvPr/>
        </p:nvSpPr>
        <p:spPr>
          <a:xfrm xmlns:a="http://schemas.openxmlformats.org/drawingml/2006/main">
            <a:off x="1143000" y="5362575"/>
            <a:ext cx="9906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B8C1D1"/>
                </a:solidFill>
                <a:latin typeface="Avenir Next"/>
                <a:ea typeface="Avenir Next"/>
                <a:cs typeface="Avenir Next"/>
              </a:defRPr>
            </a:defPPr>
          </a:lstStyle>
          <a:p xmlns:a="http://schemas.openxmlformats.org/drawingml/2006/main">
            <a:pPr algn="ctr">
              <a:defRPr sz="1350" b="1" i="0">
                <a:solidFill>
                  <a:srgbClr val="B8C1D1"/>
                </a:solidFill>
                <a:latin typeface="Avenir Next"/>
                <a:ea typeface="Avenir Next"/>
                <a:cs typeface="Avenir Next"/>
              </a:defRPr>
            </a:pPr>
            <a:r>
              <a:rPr sz="1350" b="1" i="0">
                <a:solidFill>
                  <a:srgbClr val="B8C1D1"/>
                </a:solidFill>
                <a:latin typeface="Avenir Next"/>
                <a:ea typeface="Avenir Next"/>
                <a:cs typeface="Avenir Next"/>
              </a:rPr>
              <a:t>The relation is updated only when a matched call and shared Ω justify equal results.</a:t>
            </a:r>
          </a:p>
        </p:txBody>
      </p:sp>
    </p:spTree>
    <p:extLst>
      <p:ext uri="{BB962C8B-B14F-4D97-AF65-F5344CB8AC3E}">
        <p14:creationId xmlns:p14="http://schemas.microsoft.com/office/powerpoint/2010/main" val="1902644063"/>
      </p:ext>
    </p:extLst>
  </p:cSld>
</p:sld>
</file>

<file path=ppt/slides/slide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7" name="s9-brand">
            <a:extLst xmlns:a="http://schemas.openxmlformats.org/drawingml/2006/main">
              <a:ext uri="{FF2B5EF4-FFF2-40B4-BE49-F238E27FC236}">
                <a16:creationId xmlns:a16="http://schemas.microsoft.com/office/drawing/2014/main" id="{12B860ED-4540-431A-8D9D-960B88F7E0C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9-section">
            <a:extLst xmlns:a="http://schemas.openxmlformats.org/drawingml/2006/main">
              <a:ext uri="{FF2B5EF4-FFF2-40B4-BE49-F238E27FC236}">
                <a16:creationId xmlns:a16="http://schemas.microsoft.com/office/drawing/2014/main" id="{E2589443-90C3-4BCB-90B2-2D327085B37F}"/>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CYCLIC PRODUCT</a:t>
            </a:r>
          </a:p>
        </p:txBody>
      </p:sp>
      <p:sp>
        <p:nvSpPr>
          <p:cNvPr id="3" name="s9-title">
            <a:extLst xmlns:a="http://schemas.openxmlformats.org/drawingml/2006/main">
              <a:ext uri="{FF2B5EF4-FFF2-40B4-BE49-F238E27FC236}">
                <a16:creationId xmlns:a16="http://schemas.microsoft.com/office/drawing/2014/main" id="{4D4CA204-C92F-4A39-A03B-D92AC0B78162}"/>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Secret choices branch universally in the product</a:t>
            </a:r>
          </a:p>
        </p:txBody>
      </p:sp>
      <p:sp>
        <p:nvSpPr>
          <p:cNvPr id="4" name="s9-subtitle">
            <a:extLst xmlns:a="http://schemas.openxmlformats.org/drawingml/2006/main">
              <a:ext uri="{FF2B5EF4-FFF2-40B4-BE49-F238E27FC236}">
                <a16:creationId xmlns:a16="http://schemas.microsoft.com/office/drawing/2014/main" id="{43266776-6BBE-401A-A57E-5F90E9FAA54B}"/>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Public predicates synchronize on related values; every secret successor pair must pass.</a:t>
            </a:r>
          </a:p>
        </p:txBody>
      </p:sp>
      <p:sp>
        <p:nvSpPr>
          <p:cNvPr id="5" name="s9-source-rule">
            <a:extLst xmlns:a="http://schemas.openxmlformats.org/drawingml/2006/main">
              <a:ext uri="{FF2B5EF4-FFF2-40B4-BE49-F238E27FC236}">
                <a16:creationId xmlns:a16="http://schemas.microsoft.com/office/drawing/2014/main" id="{9057A021-C80F-4E9E-BFEE-00AE656D1AF6}"/>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9-sources">
            <a:extLst xmlns:a="http://schemas.openxmlformats.org/drawingml/2006/main">
              <a:ext uri="{FF2B5EF4-FFF2-40B4-BE49-F238E27FC236}">
                <a16:creationId xmlns:a16="http://schemas.microsoft.com/office/drawing/2014/main" id="{B1B2C221-0A70-4D31-8829-382BABC5AAAD}"/>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audit/orchgraph.py</a:t>
            </a:r>
          </a:p>
        </p:txBody>
      </p:sp>
      <p:sp>
        <p:nvSpPr>
          <p:cNvPr id="7" name="s9-footer-rule">
            <a:extLst xmlns:a="http://schemas.openxmlformats.org/drawingml/2006/main">
              <a:ext uri="{FF2B5EF4-FFF2-40B4-BE49-F238E27FC236}">
                <a16:creationId xmlns:a16="http://schemas.microsoft.com/office/drawing/2014/main" id="{961470BA-4223-42C8-A840-CC65A6B88FF2}"/>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9-footer">
            <a:extLst xmlns:a="http://schemas.openxmlformats.org/drawingml/2006/main">
              <a:ext uri="{FF2B5EF4-FFF2-40B4-BE49-F238E27FC236}">
                <a16:creationId xmlns:a16="http://schemas.microsoft.com/office/drawing/2014/main" id="{1D123592-7DD6-4A16-B68A-07F6669E28D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9-page">
            <a:extLst xmlns:a="http://schemas.openxmlformats.org/drawingml/2006/main">
              <a:ext uri="{FF2B5EF4-FFF2-40B4-BE49-F238E27FC236}">
                <a16:creationId xmlns:a16="http://schemas.microsoft.com/office/drawing/2014/main" id="{880EA652-4D0A-4CD9-B921-AB937A4C2626}"/>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9</a:t>
            </a:r>
          </a:p>
        </p:txBody>
      </p:sp>
      <p:sp>
        <p:nvSpPr>
          <p:cNvPr id="10" name="graph-rule-0-panel">
            <a:extLst xmlns:a="http://schemas.openxmlformats.org/drawingml/2006/main">
              <a:ext uri="{FF2B5EF4-FFF2-40B4-BE49-F238E27FC236}">
                <a16:creationId xmlns:a16="http://schemas.microsoft.com/office/drawing/2014/main" id="{46A3D406-E906-4F75-8D52-4B6A290BA007}"/>
              </a:ext>
            </a:extLst>
          </p:cNvPr>
          <p:cNvSpPr>
            <a:spLocks xmlns:a="http://schemas.openxmlformats.org/drawingml/2006/main" noGrp="1"/>
          </p:cNvSpPr>
          <p:nvPr/>
        </p:nvSpPr>
        <p:spPr>
          <a:xfrm xmlns:a="http://schemas.openxmlformats.org/drawingml/2006/main">
            <a:off x="781050" y="2571750"/>
            <a:ext cx="50006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9525">
            <a:solidFill>
              <a:srgbClr val="D7D0C4"/>
            </a:solidFill>
            <a:prstDash val="solid"/>
          </a:ln>
        </p:spPr>
      </p:sp>
      <p:sp>
        <p:nvSpPr>
          <p:cNvPr id="11" name="graph-rule-0-accent">
            <a:extLst xmlns:a="http://schemas.openxmlformats.org/drawingml/2006/main">
              <a:ext uri="{FF2B5EF4-FFF2-40B4-BE49-F238E27FC236}">
                <a16:creationId xmlns:a16="http://schemas.microsoft.com/office/drawing/2014/main" id="{B3EAEAFE-F8E3-423F-BC48-9B6225885315}"/>
              </a:ext>
            </a:extLst>
          </p:cNvPr>
          <p:cNvSpPr>
            <a:spLocks xmlns:a="http://schemas.openxmlformats.org/drawingml/2006/main" noGrp="1"/>
          </p:cNvSpPr>
          <p:nvPr/>
        </p:nvSpPr>
        <p:spPr>
          <a:xfrm xmlns:a="http://schemas.openxmlformats.org/drawingml/2006/main">
            <a:off x="781050" y="2571750"/>
            <a:ext cx="57150" cy="10668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graph-rule-0-title">
            <a:extLst xmlns:a="http://schemas.openxmlformats.org/drawingml/2006/main">
              <a:ext uri="{FF2B5EF4-FFF2-40B4-BE49-F238E27FC236}">
                <a16:creationId xmlns:a16="http://schemas.microsoft.com/office/drawing/2014/main" id="{305DDE7C-07A0-4238-BCF2-48AA8791EE37}"/>
              </a:ext>
            </a:extLst>
          </p:cNvPr>
          <p:cNvSpPr>
            <a:spLocks xmlns:a="http://schemas.openxmlformats.org/drawingml/2006/main" noGrp="1"/>
          </p:cNvSpPr>
          <p:nvPr/>
        </p:nvSpPr>
        <p:spPr>
          <a:xfrm xmlns:a="http://schemas.openxmlformats.org/drawingml/2006/main">
            <a:off x="990600" y="2743200"/>
            <a:ext cx="4581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SECRET GUARD</a:t>
            </a:r>
          </a:p>
        </p:txBody>
      </p:sp>
      <p:sp>
        <p:nvSpPr>
          <p:cNvPr id="13" name="graph-rule-0-body">
            <a:extLst xmlns:a="http://schemas.openxmlformats.org/drawingml/2006/main">
              <a:ext uri="{FF2B5EF4-FFF2-40B4-BE49-F238E27FC236}">
                <a16:creationId xmlns:a16="http://schemas.microsoft.com/office/drawing/2014/main" id="{FB05B2BA-7A40-48DA-9D4F-C1C1FA232D2D}"/>
              </a:ext>
            </a:extLst>
          </p:cNvPr>
          <p:cNvSpPr>
            <a:spLocks xmlns:a="http://schemas.openxmlformats.org/drawingml/2006/main" noGrp="1"/>
          </p:cNvSpPr>
          <p:nvPr/>
        </p:nvSpPr>
        <p:spPr>
          <a:xfrm xmlns:a="http://schemas.openxmlformats.org/drawingml/2006/main">
            <a:off x="990600" y="3086100"/>
            <a:ext cx="4581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Explore every left/right successor pair.</a:t>
            </a:r>
          </a:p>
        </p:txBody>
      </p:sp>
      <p:sp>
        <p:nvSpPr>
          <p:cNvPr id="14" name="graph-rule-1-panel">
            <a:extLst xmlns:a="http://schemas.openxmlformats.org/drawingml/2006/main">
              <a:ext uri="{FF2B5EF4-FFF2-40B4-BE49-F238E27FC236}">
                <a16:creationId xmlns:a16="http://schemas.microsoft.com/office/drawing/2014/main" id="{54C5B3BE-430F-4157-8A68-C866BCC02B07}"/>
              </a:ext>
            </a:extLst>
          </p:cNvPr>
          <p:cNvSpPr>
            <a:spLocks xmlns:a="http://schemas.openxmlformats.org/drawingml/2006/main" noGrp="1"/>
          </p:cNvSpPr>
          <p:nvPr/>
        </p:nvSpPr>
        <p:spPr>
          <a:xfrm xmlns:a="http://schemas.openxmlformats.org/drawingml/2006/main">
            <a:off x="6134100" y="2571750"/>
            <a:ext cx="5000625" cy="1066800"/>
          </a:xfrm>
          <a:prstGeom xmlns:a="http://schemas.openxmlformats.org/drawingml/2006/main" prst="roundRect">
            <a:avLst>
              <a:gd name="adj" fmla="val 7143"/>
            </a:avLst>
          </a:prstGeom>
          <a:solidFill xmlns:a="http://schemas.openxmlformats.org/drawingml/2006/main">
            <a:srgbClr val="1C2638"/>
          </a:solidFill>
          <a:ln xmlns:a="http://schemas.openxmlformats.org/drawingml/2006/main" w="9525">
            <a:solidFill>
              <a:srgbClr val="343D50"/>
            </a:solidFill>
            <a:prstDash val="solid"/>
          </a:ln>
        </p:spPr>
      </p:sp>
      <p:sp>
        <p:nvSpPr>
          <p:cNvPr id="15" name="graph-rule-1-accent">
            <a:extLst xmlns:a="http://schemas.openxmlformats.org/drawingml/2006/main">
              <a:ext uri="{FF2B5EF4-FFF2-40B4-BE49-F238E27FC236}">
                <a16:creationId xmlns:a16="http://schemas.microsoft.com/office/drawing/2014/main" id="{B01D8871-212C-404A-9D78-475C6816DB4A}"/>
              </a:ext>
            </a:extLst>
          </p:cNvPr>
          <p:cNvSpPr>
            <a:spLocks xmlns:a="http://schemas.openxmlformats.org/drawingml/2006/main" noGrp="1"/>
          </p:cNvSpPr>
          <p:nvPr/>
        </p:nvSpPr>
        <p:spPr>
          <a:xfrm xmlns:a="http://schemas.openxmlformats.org/drawingml/2006/main">
            <a:off x="6134100" y="2571750"/>
            <a:ext cx="57150" cy="10668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graph-rule-1-title">
            <a:extLst xmlns:a="http://schemas.openxmlformats.org/drawingml/2006/main">
              <a:ext uri="{FF2B5EF4-FFF2-40B4-BE49-F238E27FC236}">
                <a16:creationId xmlns:a16="http://schemas.microsoft.com/office/drawing/2014/main" id="{9A6B577A-9EBF-4796-B4EA-25AA72CDAE4F}"/>
              </a:ext>
            </a:extLst>
          </p:cNvPr>
          <p:cNvSpPr>
            <a:spLocks xmlns:a="http://schemas.openxmlformats.org/drawingml/2006/main" noGrp="1"/>
          </p:cNvSpPr>
          <p:nvPr/>
        </p:nvSpPr>
        <p:spPr>
          <a:xfrm xmlns:a="http://schemas.openxmlformats.org/drawingml/2006/main">
            <a:off x="6343650" y="2743200"/>
            <a:ext cx="4581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PUBLIC GUARD</a:t>
            </a:r>
          </a:p>
        </p:txBody>
      </p:sp>
      <p:sp>
        <p:nvSpPr>
          <p:cNvPr id="17" name="graph-rule-1-body">
            <a:extLst xmlns:a="http://schemas.openxmlformats.org/drawingml/2006/main">
              <a:ext uri="{FF2B5EF4-FFF2-40B4-BE49-F238E27FC236}">
                <a16:creationId xmlns:a16="http://schemas.microsoft.com/office/drawing/2014/main" id="{80CFB9A5-B263-4BFE-BA10-154F63845241}"/>
              </a:ext>
            </a:extLst>
          </p:cNvPr>
          <p:cNvSpPr>
            <a:spLocks xmlns:a="http://schemas.openxmlformats.org/drawingml/2006/main" noGrp="1"/>
          </p:cNvSpPr>
          <p:nvPr/>
        </p:nvSpPr>
        <p:spPr>
          <a:xfrm xmlns:a="http://schemas.openxmlformats.org/drawingml/2006/main">
            <a:off x="6343650" y="3086100"/>
            <a:ext cx="4581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B8C1D1"/>
                </a:solidFill>
                <a:latin typeface="Avenir Next"/>
                <a:ea typeface="Avenir Next"/>
                <a:cs typeface="Avenir Next"/>
              </a:defRPr>
            </a:defPPr>
          </a:lstStyle>
          <a:p xmlns:a="http://schemas.openxmlformats.org/drawingml/2006/main">
            <a:pPr algn="l">
              <a:defRPr sz="1313" b="0" i="0">
                <a:solidFill>
                  <a:srgbClr val="B8C1D1"/>
                </a:solidFill>
                <a:latin typeface="Avenir Next"/>
                <a:ea typeface="Avenir Next"/>
                <a:cs typeface="Avenir Next"/>
              </a:defRPr>
            </a:pPr>
            <a:r>
              <a:rPr sz="1313" b="0" i="0">
                <a:solidFill>
                  <a:srgbClr val="B8C1D1"/>
                </a:solidFill>
                <a:latin typeface="Avenir Next"/>
                <a:ea typeface="Avenir Next"/>
                <a:cs typeface="Avenir Next"/>
              </a:rPr>
              <a:t>Same normalized test on R-related values; take the same arm.</a:t>
            </a:r>
          </a:p>
        </p:txBody>
      </p:sp>
      <p:sp>
        <p:nvSpPr>
          <p:cNvPr id="18" name="graph-rule-2-panel">
            <a:extLst xmlns:a="http://schemas.openxmlformats.org/drawingml/2006/main">
              <a:ext uri="{FF2B5EF4-FFF2-40B4-BE49-F238E27FC236}">
                <a16:creationId xmlns:a16="http://schemas.microsoft.com/office/drawing/2014/main" id="{343C4654-1A67-4E1F-BE94-49D8F6E04BBB}"/>
              </a:ext>
            </a:extLst>
          </p:cNvPr>
          <p:cNvSpPr>
            <a:spLocks xmlns:a="http://schemas.openxmlformats.org/drawingml/2006/main" noGrp="1"/>
          </p:cNvSpPr>
          <p:nvPr/>
        </p:nvSpPr>
        <p:spPr>
          <a:xfrm xmlns:a="http://schemas.openxmlformats.org/drawingml/2006/main">
            <a:off x="781050" y="3905250"/>
            <a:ext cx="5000625" cy="1066800"/>
          </a:xfrm>
          <a:prstGeom xmlns:a="http://schemas.openxmlformats.org/drawingml/2006/main" prst="roundRect">
            <a:avLst>
              <a:gd name="adj" fmla="val 7143"/>
            </a:avLst>
          </a:prstGeom>
          <a:solidFill xmlns:a="http://schemas.openxmlformats.org/drawingml/2006/main">
            <a:srgbClr val="FFFDF8"/>
          </a:solidFill>
          <a:ln xmlns:a="http://schemas.openxmlformats.org/drawingml/2006/main" w="9525">
            <a:solidFill>
              <a:srgbClr val="D7D0C4"/>
            </a:solidFill>
            <a:prstDash val="solid"/>
          </a:ln>
        </p:spPr>
      </p:sp>
      <p:sp>
        <p:nvSpPr>
          <p:cNvPr id="19" name="graph-rule-2-accent">
            <a:extLst xmlns:a="http://schemas.openxmlformats.org/drawingml/2006/main">
              <a:ext uri="{FF2B5EF4-FFF2-40B4-BE49-F238E27FC236}">
                <a16:creationId xmlns:a16="http://schemas.microsoft.com/office/drawing/2014/main" id="{A0B7AD81-D4D9-48AD-B011-CB95D69FAFF1}"/>
              </a:ext>
            </a:extLst>
          </p:cNvPr>
          <p:cNvSpPr>
            <a:spLocks xmlns:a="http://schemas.openxmlformats.org/drawingml/2006/main" noGrp="1"/>
          </p:cNvSpPr>
          <p:nvPr/>
        </p:nvSpPr>
        <p:spPr>
          <a:xfrm xmlns:a="http://schemas.openxmlformats.org/drawingml/2006/main">
            <a:off x="781050" y="3905250"/>
            <a:ext cx="57150" cy="10668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0" name="graph-rule-2-title">
            <a:extLst xmlns:a="http://schemas.openxmlformats.org/drawingml/2006/main">
              <a:ext uri="{FF2B5EF4-FFF2-40B4-BE49-F238E27FC236}">
                <a16:creationId xmlns:a16="http://schemas.microsoft.com/office/drawing/2014/main" id="{0789383A-C8FC-4AF3-9FD0-08245065E684}"/>
              </a:ext>
            </a:extLst>
          </p:cNvPr>
          <p:cNvSpPr>
            <a:spLocks xmlns:a="http://schemas.openxmlformats.org/drawingml/2006/main" noGrp="1"/>
          </p:cNvSpPr>
          <p:nvPr/>
        </p:nvSpPr>
        <p:spPr>
          <a:xfrm xmlns:a="http://schemas.openxmlformats.org/drawingml/2006/main">
            <a:off x="990600" y="4076700"/>
            <a:ext cx="4581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CALL / CALL</a:t>
            </a:r>
          </a:p>
        </p:txBody>
      </p:sp>
      <p:sp>
        <p:nvSpPr>
          <p:cNvPr id="21" name="graph-rule-2-body">
            <a:extLst xmlns:a="http://schemas.openxmlformats.org/drawingml/2006/main">
              <a:ext uri="{FF2B5EF4-FFF2-40B4-BE49-F238E27FC236}">
                <a16:creationId xmlns:a16="http://schemas.microsoft.com/office/drawing/2014/main" id="{25DD5241-E449-4405-8125-1AE64DB52787}"/>
              </a:ext>
            </a:extLst>
          </p:cNvPr>
          <p:cNvSpPr>
            <a:spLocks xmlns:a="http://schemas.openxmlformats.org/drawingml/2006/main" noGrp="1"/>
          </p:cNvSpPr>
          <p:nvPr/>
        </p:nvSpPr>
        <p:spPr>
          <a:xfrm xmlns:a="http://schemas.openxmlformats.org/drawingml/2006/main">
            <a:off x="990600" y="4419600"/>
            <a:ext cx="4581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646B7A"/>
                </a:solidFill>
                <a:latin typeface="Avenir Next"/>
                <a:ea typeface="Avenir Next"/>
                <a:cs typeface="Avenir Next"/>
              </a:defRPr>
            </a:defPPr>
          </a:lstStyle>
          <a:p xmlns:a="http://schemas.openxmlformats.org/drawingml/2006/main">
            <a:pPr algn="l">
              <a:defRPr sz="1313" b="0" i="0">
                <a:solidFill>
                  <a:srgbClr val="646B7A"/>
                </a:solidFill>
                <a:latin typeface="Avenir Next"/>
                <a:ea typeface="Avenir Next"/>
                <a:cs typeface="Avenir Next"/>
              </a:defRPr>
            </a:pPr>
            <a:r>
              <a:rPr sz="1313" b="0" i="0">
                <a:solidFill>
                  <a:srgbClr val="646B7A"/>
                </a:solidFill>
                <a:latin typeface="Avenir Next"/>
                <a:ea typeface="Avenir Next"/>
                <a:cs typeface="Avenir Next"/>
              </a:rPr>
              <a:t>Match full contract, template, ordered atoms; update R after Ω.</a:t>
            </a:r>
          </a:p>
        </p:txBody>
      </p:sp>
      <p:sp>
        <p:nvSpPr>
          <p:cNvPr id="22" name="graph-rule-3-panel">
            <a:extLst xmlns:a="http://schemas.openxmlformats.org/drawingml/2006/main">
              <a:ext uri="{FF2B5EF4-FFF2-40B4-BE49-F238E27FC236}">
                <a16:creationId xmlns:a16="http://schemas.microsoft.com/office/drawing/2014/main" id="{6CDB88DA-DA95-45F8-8152-321DBB08668E}"/>
              </a:ext>
            </a:extLst>
          </p:cNvPr>
          <p:cNvSpPr>
            <a:spLocks xmlns:a="http://schemas.openxmlformats.org/drawingml/2006/main" noGrp="1"/>
          </p:cNvSpPr>
          <p:nvPr/>
        </p:nvSpPr>
        <p:spPr>
          <a:xfrm xmlns:a="http://schemas.openxmlformats.org/drawingml/2006/main">
            <a:off x="6134100" y="3905250"/>
            <a:ext cx="5000625" cy="1066800"/>
          </a:xfrm>
          <a:prstGeom xmlns:a="http://schemas.openxmlformats.org/drawingml/2006/main" prst="roundRect">
            <a:avLst>
              <a:gd name="adj" fmla="val 7143"/>
            </a:avLst>
          </a:prstGeom>
          <a:solidFill xmlns:a="http://schemas.openxmlformats.org/drawingml/2006/main">
            <a:srgbClr val="1C2638"/>
          </a:solidFill>
          <a:ln xmlns:a="http://schemas.openxmlformats.org/drawingml/2006/main" w="9525">
            <a:solidFill>
              <a:srgbClr val="343D50"/>
            </a:solidFill>
            <a:prstDash val="solid"/>
          </a:ln>
        </p:spPr>
      </p:sp>
      <p:sp>
        <p:nvSpPr>
          <p:cNvPr id="23" name="graph-rule-3-accent">
            <a:extLst xmlns:a="http://schemas.openxmlformats.org/drawingml/2006/main">
              <a:ext uri="{FF2B5EF4-FFF2-40B4-BE49-F238E27FC236}">
                <a16:creationId xmlns:a16="http://schemas.microsoft.com/office/drawing/2014/main" id="{40DE3FB3-FFF5-4508-B84D-1BB602754A72}"/>
              </a:ext>
            </a:extLst>
          </p:cNvPr>
          <p:cNvSpPr>
            <a:spLocks xmlns:a="http://schemas.openxmlformats.org/drawingml/2006/main" noGrp="1"/>
          </p:cNvSpPr>
          <p:nvPr/>
        </p:nvSpPr>
        <p:spPr>
          <a:xfrm xmlns:a="http://schemas.openxmlformats.org/drawingml/2006/main">
            <a:off x="6134100" y="3905250"/>
            <a:ext cx="57150" cy="10668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4" name="graph-rule-3-title">
            <a:extLst xmlns:a="http://schemas.openxmlformats.org/drawingml/2006/main">
              <a:ext uri="{FF2B5EF4-FFF2-40B4-BE49-F238E27FC236}">
                <a16:creationId xmlns:a16="http://schemas.microsoft.com/office/drawing/2014/main" id="{40E16991-2533-44B5-8A8E-4D968AEB2BFF}"/>
              </a:ext>
            </a:extLst>
          </p:cNvPr>
          <p:cNvSpPr>
            <a:spLocks xmlns:a="http://schemas.openxmlformats.org/drawingml/2006/main" noGrp="1"/>
          </p:cNvSpPr>
          <p:nvPr/>
        </p:nvSpPr>
        <p:spPr>
          <a:xfrm xmlns:a="http://schemas.openxmlformats.org/drawingml/2006/main">
            <a:off x="6343650" y="4076700"/>
            <a:ext cx="4581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STOP / STOP</a:t>
            </a:r>
          </a:p>
        </p:txBody>
      </p:sp>
      <p:sp>
        <p:nvSpPr>
          <p:cNvPr id="25" name="graph-rule-3-body">
            <a:extLst xmlns:a="http://schemas.openxmlformats.org/drawingml/2006/main">
              <a:ext uri="{FF2B5EF4-FFF2-40B4-BE49-F238E27FC236}">
                <a16:creationId xmlns:a16="http://schemas.microsoft.com/office/drawing/2014/main" id="{A60D2673-D1D5-4CE9-BDA2-1994C510204F}"/>
              </a:ext>
            </a:extLst>
          </p:cNvPr>
          <p:cNvSpPr>
            <a:spLocks xmlns:a="http://schemas.openxmlformats.org/drawingml/2006/main" noGrp="1"/>
          </p:cNvSpPr>
          <p:nvPr/>
        </p:nvSpPr>
        <p:spPr>
          <a:xfrm xmlns:a="http://schemas.openxmlformats.org/drawingml/2006/main">
            <a:off x="6343650" y="4419600"/>
            <a:ext cx="45815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B8C1D1"/>
                </a:solidFill>
                <a:latin typeface="Avenir Next"/>
                <a:ea typeface="Avenir Next"/>
                <a:cs typeface="Avenir Next"/>
              </a:defRPr>
            </a:defPPr>
          </a:lstStyle>
          <a:p xmlns:a="http://schemas.openxmlformats.org/drawingml/2006/main">
            <a:pPr algn="l">
              <a:defRPr sz="1313" b="0" i="0">
                <a:solidFill>
                  <a:srgbClr val="B8C1D1"/>
                </a:solidFill>
                <a:latin typeface="Avenir Next"/>
                <a:ea typeface="Avenir Next"/>
                <a:cs typeface="Avenir Next"/>
              </a:defRPr>
            </a:pPr>
            <a:r>
              <a:rPr sz="1313" b="0" i="0">
                <a:solidFill>
                  <a:srgbClr val="B8C1D1"/>
                </a:solidFill>
                <a:latin typeface="Avenir Next"/>
                <a:ea typeface="Avenir Next"/>
                <a:cs typeface="Avenir Next"/>
              </a:rPr>
              <a:t>Both stop together. A stop/call mismatch rejects.</a:t>
            </a:r>
          </a:p>
        </p:txBody>
      </p:sp>
      <p:sp>
        <p:nvSpPr>
          <p:cNvPr id="26" name="graph-rules-alg">
            <a:extLst xmlns:a="http://schemas.openxmlformats.org/drawingml/2006/main">
              <a:ext uri="{FF2B5EF4-FFF2-40B4-BE49-F238E27FC236}">
                <a16:creationId xmlns:a16="http://schemas.microsoft.com/office/drawing/2014/main" id="{1849DE90-39CC-4F92-BE49-2C1D3E2A7778}"/>
              </a:ext>
            </a:extLst>
          </p:cNvPr>
          <p:cNvSpPr>
            <a:spLocks xmlns:a="http://schemas.openxmlformats.org/drawingml/2006/main" noGrp="1"/>
          </p:cNvSpPr>
          <p:nvPr/>
        </p:nvSpPr>
        <p:spPr>
          <a:xfrm xmlns:a="http://schemas.openxmlformats.org/drawingml/2006/main">
            <a:off x="914400" y="5486400"/>
            <a:ext cx="10363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38" b="1" i="0">
                <a:solidFill>
                  <a:srgbClr val="646B7A"/>
                </a:solidFill>
                <a:latin typeface="Avenir Next"/>
                <a:ea typeface="Avenir Next"/>
                <a:cs typeface="Avenir Next"/>
              </a:defRPr>
            </a:defPPr>
          </a:lstStyle>
          <a:p xmlns:a="http://schemas.openxmlformats.org/drawingml/2006/main">
            <a:pPr algn="ctr">
              <a:defRPr sz="1238" b="1" i="0">
                <a:solidFill>
                  <a:srgbClr val="646B7A"/>
                </a:solidFill>
                <a:latin typeface="Avenir Next"/>
                <a:ea typeface="Avenir Next"/>
                <a:cs typeface="Avenir Next"/>
              </a:defRPr>
            </a:pPr>
            <a:r>
              <a:rPr sz="1238" b="1" i="0">
                <a:solidFill>
                  <a:srgbClr val="646B7A"/>
                </a:solidFill>
                <a:latin typeface="Avenir Next"/>
                <a:ea typeface="Avenir Next"/>
                <a:cs typeface="Avenir Next"/>
              </a:rPr>
              <a:t>Reachable product worklist · universal secret choices · fail closed on unsupported states or state-cap exhaustion</a:t>
            </a:r>
          </a:p>
        </p:txBody>
      </p:sp>
    </p:spTree>
    <p:extLst>
      <p:ext uri="{BB962C8B-B14F-4D97-AF65-F5344CB8AC3E}">
        <p14:creationId xmlns:p14="http://schemas.microsoft.com/office/powerpoint/2010/main" val="19552710"/>
      </p:ext>
    </p:extLst>
  </p:cSld>
</p:sld>
</file>

<file path=ppt/slides/slide10.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9349E053-D2E8-4C2B-9D35-F46121BF969A}"/>
              </a:ext>
            </a:extLst>
          </p:cNvPr>
          <p:cNvCxnSpPr>
            <a:stCxn xmlns:a="http://schemas.openxmlformats.org/drawingml/2006/main" id="14" idx="1"/>
            <a:endCxn xmlns:a="http://schemas.openxmlformats.org/drawingml/2006/main" id="10" idx="3"/>
          </p:cNvCxnSpPr>
          <p:nvPr/>
        </p:nvCxnSpPr>
        <p:spPr>
          <a:xfrm xmlns:a="http://schemas.openxmlformats.org/drawingml/2006/main" flipH="1">
            <a:off x="5495925" y="3590925"/>
            <a:ext cx="1171575" cy="0"/>
          </a:xfrm>
          <a:prstGeom xmlns:a="http://schemas.openxmlformats.org/drawingml/2006/main" prst="straightConnector1">
            <a:avLst/>
          </a:prstGeom>
          <a:ln xmlns:a="http://schemas.openxmlformats.org/drawingml/2006/main" w="19050">
            <a:solidFill>
              <a:srgbClr val="D9CBB6"/>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533CAACE-45CE-4D77-8A5F-2FD09389FDA3}"/>
              </a:ext>
            </a:extLst>
          </p:cNvPr>
          <p:cNvCxnSpPr>
            <a:stCxn xmlns:a="http://schemas.openxmlformats.org/drawingml/2006/main" id="10" idx="3"/>
            <a:endCxn xmlns:a="http://schemas.openxmlformats.org/drawingml/2006/main" id="14" idx="1"/>
          </p:cNvCxnSpPr>
          <p:nvPr/>
        </p:nvCxnSpPr>
        <p:spPr>
          <a:xfrm xmlns:a="http://schemas.openxmlformats.org/drawingml/2006/main">
            <a:off x="5495925" y="3590925"/>
            <a:ext cx="1171575" cy="0"/>
          </a:xfrm>
          <a:prstGeom xmlns:a="http://schemas.openxmlformats.org/drawingml/2006/main" prst="straightConnector1">
            <a:avLst/>
          </a:prstGeom>
          <a:ln xmlns:a="http://schemas.openxmlformats.org/drawingml/2006/main" w="19050">
            <a:solidFill>
              <a:srgbClr val="D9CBB6"/>
            </a:solidFill>
            <a:prstDash val="solid"/>
            <a:tailEnd type="triangle" w="sm" len="sm"/>
          </a:ln>
        </p:spPr>
      </p:cxnSp>
      <p:sp>
        <p:nvSpPr>
          <p:cNvPr id="24" name="s10-brand">
            <a:extLst xmlns:a="http://schemas.openxmlformats.org/drawingml/2006/main">
              <a:ext uri="{FF2B5EF4-FFF2-40B4-BE49-F238E27FC236}">
                <a16:creationId xmlns:a16="http://schemas.microsoft.com/office/drawing/2014/main" id="{62899197-7E75-4092-8D0C-09D64FD5415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0-section">
            <a:extLst xmlns:a="http://schemas.openxmlformats.org/drawingml/2006/main">
              <a:ext uri="{FF2B5EF4-FFF2-40B4-BE49-F238E27FC236}">
                <a16:creationId xmlns:a16="http://schemas.microsoft.com/office/drawing/2014/main" id="{7D0AF71F-3CC2-4606-B1C3-D278856546EB}"/>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PRODUCTIVE CYCLES</a:t>
            </a:r>
          </a:p>
        </p:txBody>
      </p:sp>
      <p:sp>
        <p:nvSpPr>
          <p:cNvPr id="3" name="s10-title">
            <a:extLst xmlns:a="http://schemas.openxmlformats.org/drawingml/2006/main">
              <a:ext uri="{FF2B5EF4-FFF2-40B4-BE49-F238E27FC236}">
                <a16:creationId xmlns:a16="http://schemas.microsoft.com/office/drawing/2014/main" id="{EB834B6F-6FE8-4C33-8581-1921EC979F57}"/>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Productive cycles establish usage-prefix equality</a:t>
            </a:r>
          </a:p>
        </p:txBody>
      </p:sp>
      <p:sp>
        <p:nvSpPr>
          <p:cNvPr id="4" name="s10-subtitle">
            <a:extLst xmlns:a="http://schemas.openxmlformats.org/drawingml/2006/main">
              <a:ext uri="{FF2B5EF4-FFF2-40B4-BE49-F238E27FC236}">
                <a16:creationId xmlns:a16="http://schemas.microsoft.com/office/drawing/2014/main" id="{28B331FE-8996-43C8-B306-9AFAC11E8F69}"/>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A reachable product state can close after its register relation stabilizes.</a:t>
            </a:r>
          </a:p>
        </p:txBody>
      </p:sp>
      <p:sp>
        <p:nvSpPr>
          <p:cNvPr id="5" name="s10-source-rule">
            <a:extLst xmlns:a="http://schemas.openxmlformats.org/drawingml/2006/main">
              <a:ext uri="{FF2B5EF4-FFF2-40B4-BE49-F238E27FC236}">
                <a16:creationId xmlns:a16="http://schemas.microsoft.com/office/drawing/2014/main" id="{78C3509E-9AF1-453C-8078-C3F862A4F037}"/>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0-sources">
            <a:extLst xmlns:a="http://schemas.openxmlformats.org/drawingml/2006/main">
              <a:ext uri="{FF2B5EF4-FFF2-40B4-BE49-F238E27FC236}">
                <a16:creationId xmlns:a16="http://schemas.microsoft.com/office/drawing/2014/main" id="{E2A62D97-ABB9-4B3D-AD30-E9168C193709}"/>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examples/graphs/accepted/unbounded_productive_cycle.json</a:t>
            </a:r>
          </a:p>
        </p:txBody>
      </p:sp>
      <p:sp>
        <p:nvSpPr>
          <p:cNvPr id="7" name="s10-footer-rule">
            <a:extLst xmlns:a="http://schemas.openxmlformats.org/drawingml/2006/main">
              <a:ext uri="{FF2B5EF4-FFF2-40B4-BE49-F238E27FC236}">
                <a16:creationId xmlns:a16="http://schemas.microsoft.com/office/drawing/2014/main" id="{0C8AAEF1-11A4-4938-A106-FD3A0C30FD10}"/>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0-footer">
            <a:extLst xmlns:a="http://schemas.openxmlformats.org/drawingml/2006/main">
              <a:ext uri="{FF2B5EF4-FFF2-40B4-BE49-F238E27FC236}">
                <a16:creationId xmlns:a16="http://schemas.microsoft.com/office/drawing/2014/main" id="{8A80686F-D141-4BDE-8932-93D36469096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0-page">
            <a:extLst xmlns:a="http://schemas.openxmlformats.org/drawingml/2006/main">
              <a:ext uri="{FF2B5EF4-FFF2-40B4-BE49-F238E27FC236}">
                <a16:creationId xmlns:a16="http://schemas.microsoft.com/office/drawing/2014/main" id="{D28E5945-980F-408F-9B35-D5BB8C8DFC44}"/>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10</a:t>
            </a:r>
          </a:p>
        </p:txBody>
      </p:sp>
      <p:sp>
        <p:nvSpPr>
          <p:cNvPr id="10" name="cycle-left-path-panel">
            <a:extLst xmlns:a="http://schemas.openxmlformats.org/drawingml/2006/main">
              <a:ext uri="{FF2B5EF4-FFF2-40B4-BE49-F238E27FC236}">
                <a16:creationId xmlns:a16="http://schemas.microsoft.com/office/drawing/2014/main" id="{DF38A870-F865-4FE9-8F64-2A2454878098}"/>
              </a:ext>
            </a:extLst>
          </p:cNvPr>
          <p:cNvSpPr>
            <a:spLocks xmlns:a="http://schemas.openxmlformats.org/drawingml/2006/main" noGrp="1"/>
          </p:cNvSpPr>
          <p:nvPr/>
        </p:nvSpPr>
        <p:spPr>
          <a:xfrm xmlns:a="http://schemas.openxmlformats.org/drawingml/2006/main">
            <a:off x="781050" y="2533650"/>
            <a:ext cx="4714875"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11" name="cycle-left-path-accent">
            <a:extLst xmlns:a="http://schemas.openxmlformats.org/drawingml/2006/main">
              <a:ext uri="{FF2B5EF4-FFF2-40B4-BE49-F238E27FC236}">
                <a16:creationId xmlns:a16="http://schemas.microsoft.com/office/drawing/2014/main" id="{3C6F5227-12AE-486B-A663-9E11057E9281}"/>
              </a:ext>
            </a:extLst>
          </p:cNvPr>
          <p:cNvSpPr>
            <a:spLocks xmlns:a="http://schemas.openxmlformats.org/drawingml/2006/main" noGrp="1"/>
          </p:cNvSpPr>
          <p:nvPr/>
        </p:nvSpPr>
        <p:spPr>
          <a:xfrm xmlns:a="http://schemas.openxmlformats.org/drawingml/2006/main">
            <a:off x="781050" y="2533650"/>
            <a:ext cx="57150" cy="21145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cycle-left-path-title">
            <a:extLst xmlns:a="http://schemas.openxmlformats.org/drawingml/2006/main">
              <a:ext uri="{FF2B5EF4-FFF2-40B4-BE49-F238E27FC236}">
                <a16:creationId xmlns:a16="http://schemas.microsoft.com/office/drawing/2014/main" id="{6C810E93-321B-4287-A4ED-DB9CFE830BAE}"/>
              </a:ext>
            </a:extLst>
          </p:cNvPr>
          <p:cNvSpPr>
            <a:spLocks xmlns:a="http://schemas.openxmlformats.org/drawingml/2006/main" noGrp="1"/>
          </p:cNvSpPr>
          <p:nvPr/>
        </p:nvSpPr>
        <p:spPr>
          <a:xfrm xmlns:a="http://schemas.openxmlformats.org/drawingml/2006/main">
            <a:off x="990600" y="2705100"/>
            <a:ext cx="4295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LEFT CONTROL CYCLE</a:t>
            </a:r>
          </a:p>
        </p:txBody>
      </p:sp>
      <p:sp>
        <p:nvSpPr>
          <p:cNvPr id="13" name="cycle-left-path-body">
            <a:extLst xmlns:a="http://schemas.openxmlformats.org/drawingml/2006/main">
              <a:ext uri="{FF2B5EF4-FFF2-40B4-BE49-F238E27FC236}">
                <a16:creationId xmlns:a16="http://schemas.microsoft.com/office/drawing/2014/main" id="{8614A832-B893-488E-9664-3516E467685F}"/>
              </a:ext>
            </a:extLst>
          </p:cNvPr>
          <p:cNvSpPr>
            <a:spLocks xmlns:a="http://schemas.openxmlformats.org/drawingml/2006/main" noGrp="1"/>
          </p:cNvSpPr>
          <p:nvPr/>
        </p:nvSpPr>
        <p:spPr>
          <a:xfrm xmlns:a="http://schemas.openxmlformats.org/drawingml/2006/main">
            <a:off x="990600" y="3238500"/>
            <a:ext cx="429577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88" b="0" i="0">
                <a:solidFill>
                  <a:srgbClr val="646B7A"/>
                </a:solidFill>
                <a:latin typeface="Menlo"/>
                <a:ea typeface="Menlo"/>
                <a:cs typeface="Menlo"/>
              </a:defRPr>
            </a:defPPr>
          </a:lstStyle>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call m(Process query) → a</a:t>
            </a:r>
          </a:p>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call m(Process a) → b</a:t>
            </a:r>
          </a:p>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goto choose</a:t>
            </a:r>
          </a:p>
        </p:txBody>
      </p:sp>
      <p:sp>
        <p:nvSpPr>
          <p:cNvPr id="14" name="cycle-right-path-panel">
            <a:extLst xmlns:a="http://schemas.openxmlformats.org/drawingml/2006/main">
              <a:ext uri="{FF2B5EF4-FFF2-40B4-BE49-F238E27FC236}">
                <a16:creationId xmlns:a16="http://schemas.microsoft.com/office/drawing/2014/main" id="{357B045E-2798-4FFE-9B50-729E0445FA40}"/>
              </a:ext>
            </a:extLst>
          </p:cNvPr>
          <p:cNvSpPr>
            <a:spLocks xmlns:a="http://schemas.openxmlformats.org/drawingml/2006/main" noGrp="1"/>
          </p:cNvSpPr>
          <p:nvPr/>
        </p:nvSpPr>
        <p:spPr>
          <a:xfrm xmlns:a="http://schemas.openxmlformats.org/drawingml/2006/main">
            <a:off x="6667500" y="2533650"/>
            <a:ext cx="4714875"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15" name="cycle-right-path-accent">
            <a:extLst xmlns:a="http://schemas.openxmlformats.org/drawingml/2006/main">
              <a:ext uri="{FF2B5EF4-FFF2-40B4-BE49-F238E27FC236}">
                <a16:creationId xmlns:a16="http://schemas.microsoft.com/office/drawing/2014/main" id="{5AB4FFBF-2878-41F6-88AA-51448CA7A38A}"/>
              </a:ext>
            </a:extLst>
          </p:cNvPr>
          <p:cNvSpPr>
            <a:spLocks xmlns:a="http://schemas.openxmlformats.org/drawingml/2006/main" noGrp="1"/>
          </p:cNvSpPr>
          <p:nvPr/>
        </p:nvSpPr>
        <p:spPr>
          <a:xfrm xmlns:a="http://schemas.openxmlformats.org/drawingml/2006/main">
            <a:off x="6667500" y="2533650"/>
            <a:ext cx="57150" cy="21145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cycle-right-path-title">
            <a:extLst xmlns:a="http://schemas.openxmlformats.org/drawingml/2006/main">
              <a:ext uri="{FF2B5EF4-FFF2-40B4-BE49-F238E27FC236}">
                <a16:creationId xmlns:a16="http://schemas.microsoft.com/office/drawing/2014/main" id="{103DA2C0-737C-4E2D-88AD-220D0FC14C99}"/>
              </a:ext>
            </a:extLst>
          </p:cNvPr>
          <p:cNvSpPr>
            <a:spLocks xmlns:a="http://schemas.openxmlformats.org/drawingml/2006/main" noGrp="1"/>
          </p:cNvSpPr>
          <p:nvPr/>
        </p:nvSpPr>
        <p:spPr>
          <a:xfrm xmlns:a="http://schemas.openxmlformats.org/drawingml/2006/main">
            <a:off x="6877050" y="2705100"/>
            <a:ext cx="42957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Avenir Next"/>
                <a:ea typeface="Avenir Next"/>
                <a:cs typeface="Avenir Next"/>
              </a:defRPr>
            </a:defPPr>
          </a:lstStyle>
          <a:p xmlns:a="http://schemas.openxmlformats.org/drawingml/2006/main">
            <a:pPr algn="l">
              <a:defRPr sz="1500" b="1" i="0">
                <a:solidFill>
                  <a:srgbClr val="141B2B"/>
                </a:solidFill>
                <a:latin typeface="Avenir Next"/>
                <a:ea typeface="Avenir Next"/>
                <a:cs typeface="Avenir Next"/>
              </a:defRPr>
            </a:pPr>
            <a:r>
              <a:rPr sz="1500" b="1" i="0">
                <a:solidFill>
                  <a:srgbClr val="141B2B"/>
                </a:solidFill>
                <a:latin typeface="Avenir Next"/>
                <a:ea typeface="Avenir Next"/>
                <a:cs typeface="Avenir Next"/>
              </a:rPr>
              <a:t>RIGHT CONTROL CYCLE</a:t>
            </a:r>
          </a:p>
        </p:txBody>
      </p:sp>
      <p:sp>
        <p:nvSpPr>
          <p:cNvPr id="17" name="cycle-right-path-body">
            <a:extLst xmlns:a="http://schemas.openxmlformats.org/drawingml/2006/main">
              <a:ext uri="{FF2B5EF4-FFF2-40B4-BE49-F238E27FC236}">
                <a16:creationId xmlns:a16="http://schemas.microsoft.com/office/drawing/2014/main" id="{7284B854-F437-40C4-A99E-ACBEDD4662EA}"/>
              </a:ext>
            </a:extLst>
          </p:cNvPr>
          <p:cNvSpPr>
            <a:spLocks xmlns:a="http://schemas.openxmlformats.org/drawingml/2006/main" noGrp="1"/>
          </p:cNvSpPr>
          <p:nvPr/>
        </p:nvSpPr>
        <p:spPr>
          <a:xfrm xmlns:a="http://schemas.openxmlformats.org/drawingml/2006/main">
            <a:off x="6877050" y="3238500"/>
            <a:ext cx="4295775"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88" b="0" i="0">
                <a:solidFill>
                  <a:srgbClr val="646B7A"/>
                </a:solidFill>
                <a:latin typeface="Menlo"/>
                <a:ea typeface="Menlo"/>
                <a:cs typeface="Menlo"/>
              </a:defRPr>
            </a:defPPr>
          </a:lstStyle>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call m(Process query) → x</a:t>
            </a:r>
          </a:p>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call m(Process x) → y</a:t>
            </a:r>
          </a:p>
          <a:p xmlns:a="http://schemas.openxmlformats.org/drawingml/2006/main">
            <a:pPr algn="l">
              <a:defRPr sz="1388" b="0" i="0">
                <a:solidFill>
                  <a:srgbClr val="646B7A"/>
                </a:solidFill>
                <a:latin typeface="Menlo"/>
                <a:ea typeface="Menlo"/>
                <a:cs typeface="Menlo"/>
              </a:defRPr>
            </a:pPr>
            <a:r>
              <a:rPr sz="1388" b="0" i="0">
                <a:solidFill>
                  <a:srgbClr val="646B7A"/>
                </a:solidFill>
                <a:latin typeface="Menlo"/>
                <a:ea typeface="Menlo"/>
                <a:cs typeface="Menlo"/>
              </a:rPr>
              <a:t>goto choose</a:t>
            </a:r>
          </a:p>
        </p:txBody>
      </p:sp>
      <p:sp>
        <p:nvSpPr>
          <p:cNvPr id="20" name="cycle-close-pill">
            <a:extLst xmlns:a="http://schemas.openxmlformats.org/drawingml/2006/main">
              <a:ext uri="{FF2B5EF4-FFF2-40B4-BE49-F238E27FC236}">
                <a16:creationId xmlns:a16="http://schemas.microsoft.com/office/drawing/2014/main" id="{75ADD02E-4921-487B-814D-A5CF78B79473}"/>
              </a:ext>
            </a:extLst>
          </p:cNvPr>
          <p:cNvSpPr>
            <a:spLocks xmlns:a="http://schemas.openxmlformats.org/drawingml/2006/main" noGrp="1"/>
          </p:cNvSpPr>
          <p:nvPr/>
        </p:nvSpPr>
        <p:spPr>
          <a:xfrm xmlns:a="http://schemas.openxmlformats.org/drawingml/2006/main">
            <a:off x="3524250" y="4905375"/>
            <a:ext cx="5143500" cy="266700"/>
          </a:xfrm>
          <a:prstGeom xmlns:a="http://schemas.openxmlformats.org/drawingml/2006/main" prst="roundRect">
            <a:avLst>
              <a:gd name="adj" fmla="val 35714"/>
            </a:avLst>
          </a:prstGeom>
          <a:solidFill xmlns:a="http://schemas.openxmlformats.org/drawingml/2006/main">
            <a:srgbClr val="1F6F66"/>
          </a:solidFill>
          <a:ln xmlns:a="http://schemas.openxmlformats.org/drawingml/2006/main" w="0">
            <a:noFill/>
            <a:prstDash val="solid"/>
          </a:ln>
        </p:spPr>
      </p:sp>
      <p:sp>
        <p:nvSpPr>
          <p:cNvPr id="21" name="cycle-close-text">
            <a:extLst xmlns:a="http://schemas.openxmlformats.org/drawingml/2006/main">
              <a:ext uri="{FF2B5EF4-FFF2-40B4-BE49-F238E27FC236}">
                <a16:creationId xmlns:a16="http://schemas.microsoft.com/office/drawing/2014/main" id="{04B2819B-9559-473E-B1D8-E899E99BB049}"/>
              </a:ext>
            </a:extLst>
          </p:cNvPr>
          <p:cNvSpPr>
            <a:spLocks xmlns:a="http://schemas.openxmlformats.org/drawingml/2006/main" noGrp="1"/>
          </p:cNvSpPr>
          <p:nvPr/>
        </p:nvSpPr>
        <p:spPr>
          <a:xfrm xmlns:a="http://schemas.openxmlformats.org/drawingml/2006/main">
            <a:off x="3619500" y="495300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F5F2EA"/>
                </a:solidFill>
                <a:latin typeface="Avenir Next"/>
                <a:ea typeface="Avenir Next"/>
                <a:cs typeface="Avenir Next"/>
              </a:defRPr>
            </a:defPPr>
          </a:lstStyle>
          <a:p xmlns:a="http://schemas.openxmlformats.org/drawingml/2006/main">
            <a:pPr algn="ctr">
              <a:defRPr sz="975" b="1" i="0">
                <a:solidFill>
                  <a:srgbClr val="F5F2EA"/>
                </a:solidFill>
                <a:latin typeface="Avenir Next"/>
                <a:ea typeface="Avenir Next"/>
                <a:cs typeface="Avenir Next"/>
              </a:defRPr>
            </a:pPr>
            <a:r>
              <a:rPr sz="975" b="1" i="0">
                <a:solidFill>
                  <a:srgbClr val="F5F2EA"/>
                </a:solidFill>
                <a:latin typeface="Avenir Next"/>
                <a:ea typeface="Avenir Next"/>
                <a:cs typeface="Avenir Next"/>
              </a:rPr>
              <a:t>COINDUCTIVE PRODUCT-CYCLE CLOSURE</a:t>
            </a:r>
          </a:p>
        </p:txBody>
      </p:sp>
      <p:sp>
        <p:nvSpPr>
          <p:cNvPr id="22" name="cycle-claim">
            <a:extLst xmlns:a="http://schemas.openxmlformats.org/drawingml/2006/main">
              <a:ext uri="{FF2B5EF4-FFF2-40B4-BE49-F238E27FC236}">
                <a16:creationId xmlns:a16="http://schemas.microsoft.com/office/drawing/2014/main" id="{108B580A-EE6A-4340-8FED-200D6BB300FE}"/>
              </a:ext>
            </a:extLst>
          </p:cNvPr>
          <p:cNvSpPr>
            <a:spLocks xmlns:a="http://schemas.openxmlformats.org/drawingml/2006/main" noGrp="1"/>
          </p:cNvSpPr>
          <p:nvPr/>
        </p:nvSpPr>
        <p:spPr>
          <a:xfrm xmlns:a="http://schemas.openxmlformats.org/drawingml/2006/main">
            <a:off x="904875" y="5362575"/>
            <a:ext cx="1038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Closes all finite usage prefixes under Ω. It does not prove termination or a finite total-token / price bound.</a:t>
            </a:r>
          </a:p>
        </p:txBody>
      </p:sp>
      <p:sp>
        <p:nvSpPr>
          <p:cNvPr id="23" name="cycle-probe">
            <a:extLst xmlns:a="http://schemas.openxmlformats.org/drawingml/2006/main">
              <a:ext uri="{FF2B5EF4-FFF2-40B4-BE49-F238E27FC236}">
                <a16:creationId xmlns:a16="http://schemas.microsoft.com/office/drawing/2014/main" id="{56F09941-4236-4939-A368-D2D76D40E744}"/>
              </a:ext>
            </a:extLst>
          </p:cNvPr>
          <p:cNvSpPr>
            <a:spLocks xmlns:a="http://schemas.openxmlformats.org/drawingml/2006/main" noGrp="1"/>
          </p:cNvSpPr>
          <p:nvPr/>
        </p:nvSpPr>
        <p:spPr>
          <a:xfrm xmlns:a="http://schemas.openxmlformats.org/drawingml/2006/main">
            <a:off x="1428750" y="5848350"/>
            <a:ext cx="933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B8C1D1"/>
                </a:solidFill>
                <a:latin typeface="Menlo"/>
                <a:ea typeface="Menlo"/>
                <a:cs typeface="Menlo"/>
              </a:defRPr>
            </a:defPPr>
          </a:lstStyle>
          <a:p xmlns:a="http://schemas.openxmlformats.org/drawingml/2006/main">
            <a:pPr algn="ctr">
              <a:defRPr sz="975" b="0" i="0">
                <a:solidFill>
                  <a:srgbClr val="B8C1D1"/>
                </a:solidFill>
                <a:latin typeface="Menlo"/>
                <a:ea typeface="Menlo"/>
                <a:cs typeface="Menlo"/>
              </a:defRPr>
            </a:pPr>
            <a:r>
              <a:rPr sz="975" b="0" i="0">
                <a:solidFill>
                  <a:srgbClr val="B8C1D1"/>
                </a:solidFill>
                <a:latin typeface="Menlo"/>
                <a:ea typeface="Menlo"/>
                <a:cs typeface="Menlo"/>
              </a:rPr>
              <a:t>24,000 calls in the finite probe · 200 runs hit the 120-call cap</a:t>
            </a:r>
          </a:p>
        </p:txBody>
      </p:sp>
    </p:spTree>
    <p:extLst>
      <p:ext uri="{BB962C8B-B14F-4D97-AF65-F5344CB8AC3E}">
        <p14:creationId xmlns:p14="http://schemas.microsoft.com/office/powerpoint/2010/main" val="1425474120"/>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40" name="s11-brand">
            <a:extLst xmlns:a="http://schemas.openxmlformats.org/drawingml/2006/main">
              <a:ext uri="{FF2B5EF4-FFF2-40B4-BE49-F238E27FC236}">
                <a16:creationId xmlns:a16="http://schemas.microsoft.com/office/drawing/2014/main" id="{0CF225D7-79D4-4BD5-BE56-C1D35F7F3C86}"/>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1-section">
            <a:extLst xmlns:a="http://schemas.openxmlformats.org/drawingml/2006/main">
              <a:ext uri="{FF2B5EF4-FFF2-40B4-BE49-F238E27FC236}">
                <a16:creationId xmlns:a16="http://schemas.microsoft.com/office/drawing/2014/main" id="{2BF20760-6107-44CA-8BB2-9767E4B5D255}"/>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REGISTER RELATION</a:t>
            </a:r>
          </a:p>
        </p:txBody>
      </p:sp>
      <p:sp>
        <p:nvSpPr>
          <p:cNvPr id="3" name="s11-title">
            <a:extLst xmlns:a="http://schemas.openxmlformats.org/drawingml/2006/main">
              <a:ext uri="{FF2B5EF4-FFF2-40B4-BE49-F238E27FC236}">
                <a16:creationId xmlns:a16="http://schemas.microsoft.com/office/drawing/2014/main" id="{2CF1CC82-E2BF-4C44-A00A-C9FB3A558052}"/>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Overwriting a result erases its old pairing</a:t>
            </a:r>
          </a:p>
        </p:txBody>
      </p:sp>
      <p:sp>
        <p:nvSpPr>
          <p:cNvPr id="4" name="s11-subtitle">
            <a:extLst xmlns:a="http://schemas.openxmlformats.org/drawingml/2006/main">
              <a:ext uri="{FF2B5EF4-FFF2-40B4-BE49-F238E27FC236}">
                <a16:creationId xmlns:a16="http://schemas.microsoft.com/office/drawing/2014/main" id="{218FA8C7-89D0-45AB-B963-C5DFEF14897C}"/>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third request cannot use a relation that an overwrite invalidated.</a:t>
            </a:r>
          </a:p>
        </p:txBody>
      </p:sp>
      <p:sp>
        <p:nvSpPr>
          <p:cNvPr id="5" name="s11-source-rule">
            <a:extLst xmlns:a="http://schemas.openxmlformats.org/drawingml/2006/main">
              <a:ext uri="{FF2B5EF4-FFF2-40B4-BE49-F238E27FC236}">
                <a16:creationId xmlns:a16="http://schemas.microsoft.com/office/drawing/2014/main" id="{0EB2DB48-2EBC-41A5-8781-71D272C9B4A9}"/>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1-sources">
            <a:extLst xmlns:a="http://schemas.openxmlformats.org/drawingml/2006/main">
              <a:ext uri="{FF2B5EF4-FFF2-40B4-BE49-F238E27FC236}">
                <a16:creationId xmlns:a16="http://schemas.microsoft.com/office/drawing/2014/main" id="{391EEB52-F7E2-487E-8491-B484638E608B}"/>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examples/graphs/rejected/overwritten_result_relation.json</a:t>
            </a:r>
          </a:p>
        </p:txBody>
      </p:sp>
      <p:sp>
        <p:nvSpPr>
          <p:cNvPr id="7" name="s11-footer-rule">
            <a:extLst xmlns:a="http://schemas.openxmlformats.org/drawingml/2006/main">
              <a:ext uri="{FF2B5EF4-FFF2-40B4-BE49-F238E27FC236}">
                <a16:creationId xmlns:a16="http://schemas.microsoft.com/office/drawing/2014/main" id="{C06347C3-51C2-47FF-97C5-A759E2E19C66}"/>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1-footer">
            <a:extLst xmlns:a="http://schemas.openxmlformats.org/drawingml/2006/main">
              <a:ext uri="{FF2B5EF4-FFF2-40B4-BE49-F238E27FC236}">
                <a16:creationId xmlns:a16="http://schemas.microsoft.com/office/drawing/2014/main" id="{DAB3D2F7-4AD9-4AE4-A7B9-2AB907EC4235}"/>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1-page">
            <a:extLst xmlns:a="http://schemas.openxmlformats.org/drawingml/2006/main">
              <a:ext uri="{FF2B5EF4-FFF2-40B4-BE49-F238E27FC236}">
                <a16:creationId xmlns:a16="http://schemas.microsoft.com/office/drawing/2014/main" id="{02870A05-0862-402A-9289-192ACF319286}"/>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11</a:t>
            </a:r>
          </a:p>
        </p:txBody>
      </p:sp>
      <p:sp>
        <p:nvSpPr>
          <p:cNvPr id="10" name="stale-0-side-pill">
            <a:extLst xmlns:a="http://schemas.openxmlformats.org/drawingml/2006/main">
              <a:ext uri="{FF2B5EF4-FFF2-40B4-BE49-F238E27FC236}">
                <a16:creationId xmlns:a16="http://schemas.microsoft.com/office/drawing/2014/main" id="{86E0AAD6-2E6D-4908-97AE-5B2554F0DB6E}"/>
              </a:ext>
            </a:extLst>
          </p:cNvPr>
          <p:cNvSpPr>
            <a:spLocks xmlns:a="http://schemas.openxmlformats.org/drawingml/2006/main" noGrp="1"/>
          </p:cNvSpPr>
          <p:nvPr/>
        </p:nvSpPr>
        <p:spPr>
          <a:xfrm xmlns:a="http://schemas.openxmlformats.org/drawingml/2006/main">
            <a:off x="742950" y="2914650"/>
            <a:ext cx="933450" cy="266700"/>
          </a:xfrm>
          <a:prstGeom xmlns:a="http://schemas.openxmlformats.org/drawingml/2006/main" prst="roundRect">
            <a:avLst>
              <a:gd name="adj" fmla="val 35714"/>
            </a:avLst>
          </a:prstGeom>
          <a:solidFill xmlns:a="http://schemas.openxmlformats.org/drawingml/2006/main">
            <a:srgbClr val="FF8A5C"/>
          </a:solidFill>
          <a:ln xmlns:a="http://schemas.openxmlformats.org/drawingml/2006/main" w="0">
            <a:noFill/>
            <a:prstDash val="solid"/>
          </a:ln>
        </p:spPr>
      </p:sp>
      <p:sp>
        <p:nvSpPr>
          <p:cNvPr id="11" name="stale-0-side-text">
            <a:extLst xmlns:a="http://schemas.openxmlformats.org/drawingml/2006/main">
              <a:ext uri="{FF2B5EF4-FFF2-40B4-BE49-F238E27FC236}">
                <a16:creationId xmlns:a16="http://schemas.microsoft.com/office/drawing/2014/main" id="{75468095-65E6-4799-B94C-E932BD28FAE3}"/>
              </a:ext>
            </a:extLst>
          </p:cNvPr>
          <p:cNvSpPr>
            <a:spLocks xmlns:a="http://schemas.openxmlformats.org/drawingml/2006/main" noGrp="1"/>
          </p:cNvSpPr>
          <p:nvPr/>
        </p:nvSpPr>
        <p:spPr>
          <a:xfrm xmlns:a="http://schemas.openxmlformats.org/drawingml/2006/main">
            <a:off x="838200" y="29622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141B2B"/>
                </a:solidFill>
                <a:latin typeface="Avenir Next"/>
                <a:ea typeface="Avenir Next"/>
                <a:cs typeface="Avenir Next"/>
              </a:defRPr>
            </a:defPPr>
          </a:lstStyle>
          <a:p xmlns:a="http://schemas.openxmlformats.org/drawingml/2006/main">
            <a:pPr algn="ctr">
              <a:defRPr sz="975" b="1" i="0">
                <a:solidFill>
                  <a:srgbClr val="141B2B"/>
                </a:solidFill>
                <a:latin typeface="Avenir Next"/>
                <a:ea typeface="Avenir Next"/>
                <a:cs typeface="Avenir Next"/>
              </a:defRPr>
            </a:pPr>
            <a:r>
              <a:rPr sz="975" b="1" i="0">
                <a:solidFill>
                  <a:srgbClr val="141B2B"/>
                </a:solidFill>
                <a:latin typeface="Avenir Next"/>
                <a:ea typeface="Avenir Next"/>
                <a:cs typeface="Avenir Next"/>
              </a:rPr>
              <a:t>LEFT</a:t>
            </a:r>
          </a:p>
        </p:txBody>
      </p:sp>
      <p:sp>
        <p:nvSpPr>
          <p:cNvPr id="12" name="stale-0-first-panel">
            <a:extLst xmlns:a="http://schemas.openxmlformats.org/drawingml/2006/main">
              <a:ext uri="{FF2B5EF4-FFF2-40B4-BE49-F238E27FC236}">
                <a16:creationId xmlns:a16="http://schemas.microsoft.com/office/drawing/2014/main" id="{232C7116-3F61-4E8A-AA0F-14E2879FFEE3}"/>
              </a:ext>
            </a:extLst>
          </p:cNvPr>
          <p:cNvSpPr>
            <a:spLocks xmlns:a="http://schemas.openxmlformats.org/drawingml/2006/main" noGrp="1"/>
          </p:cNvSpPr>
          <p:nvPr/>
        </p:nvSpPr>
        <p:spPr>
          <a:xfrm xmlns:a="http://schemas.openxmlformats.org/drawingml/2006/main">
            <a:off x="1876425" y="2628900"/>
            <a:ext cx="253365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13" name="stale-0-first-accent">
            <a:extLst xmlns:a="http://schemas.openxmlformats.org/drawingml/2006/main">
              <a:ext uri="{FF2B5EF4-FFF2-40B4-BE49-F238E27FC236}">
                <a16:creationId xmlns:a16="http://schemas.microsoft.com/office/drawing/2014/main" id="{735412FA-1F5C-4B6B-9B55-BB5C4CC3C1B5}"/>
              </a:ext>
            </a:extLst>
          </p:cNvPr>
          <p:cNvSpPr>
            <a:spLocks xmlns:a="http://schemas.openxmlformats.org/drawingml/2006/main" noGrp="1"/>
          </p:cNvSpPr>
          <p:nvPr/>
        </p:nvSpPr>
        <p:spPr>
          <a:xfrm xmlns:a="http://schemas.openxmlformats.org/drawingml/2006/main">
            <a:off x="1876425" y="2628900"/>
            <a:ext cx="57150" cy="876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4" name="stale-0-first-title">
            <a:extLst xmlns:a="http://schemas.openxmlformats.org/drawingml/2006/main">
              <a:ext uri="{FF2B5EF4-FFF2-40B4-BE49-F238E27FC236}">
                <a16:creationId xmlns:a16="http://schemas.microsoft.com/office/drawing/2014/main" id="{B4804C02-6208-464B-B144-1DB269C5682F}"/>
              </a:ext>
            </a:extLst>
          </p:cNvPr>
          <p:cNvSpPr>
            <a:spLocks xmlns:a="http://schemas.openxmlformats.org/drawingml/2006/main" noGrp="1"/>
          </p:cNvSpPr>
          <p:nvPr/>
        </p:nvSpPr>
        <p:spPr>
          <a:xfrm xmlns:a="http://schemas.openxmlformats.org/drawingml/2006/main">
            <a:off x="2085975" y="28003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0</a:t>
            </a:r>
          </a:p>
        </p:txBody>
      </p:sp>
      <p:sp>
        <p:nvSpPr>
          <p:cNvPr id="15" name="stale-0-first-body">
            <a:extLst xmlns:a="http://schemas.openxmlformats.org/drawingml/2006/main">
              <a:ext uri="{FF2B5EF4-FFF2-40B4-BE49-F238E27FC236}">
                <a16:creationId xmlns:a16="http://schemas.microsoft.com/office/drawing/2014/main" id="{179538C7-3417-4039-B7FA-C189B2159846}"/>
              </a:ext>
            </a:extLst>
          </p:cNvPr>
          <p:cNvSpPr>
            <a:spLocks xmlns:a="http://schemas.openxmlformats.org/drawingml/2006/main" noGrp="1"/>
          </p:cNvSpPr>
          <p:nvPr/>
        </p:nvSpPr>
        <p:spPr>
          <a:xfrm xmlns:a="http://schemas.openxmlformats.org/drawingml/2006/main">
            <a:off x="2085975" y="31051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646B7A"/>
                </a:solidFill>
                <a:latin typeface="Menlo"/>
                <a:ea typeface="Menlo"/>
                <a:cs typeface="Menlo"/>
              </a:defRPr>
            </a:defPPr>
          </a:lstStyle>
          <a:p xmlns:a="http://schemas.openxmlformats.org/drawingml/2006/main">
            <a:pPr algn="l">
              <a:defRPr sz="1200" b="0" i="0">
                <a:solidFill>
                  <a:srgbClr val="646B7A"/>
                </a:solidFill>
                <a:latin typeface="Menlo"/>
                <a:ea typeface="Menlo"/>
                <a:cs typeface="Menlo"/>
              </a:defRPr>
            </a:pPr>
            <a:r>
              <a:rPr sz="1200" b="0" i="0">
                <a:solidFill>
                  <a:srgbClr val="646B7A"/>
                </a:solidFill>
                <a:latin typeface="Menlo"/>
                <a:ea typeface="Menlo"/>
                <a:cs typeface="Menlo"/>
              </a:rPr>
              <a:t>#0 query → a</a:t>
            </a:r>
          </a:p>
        </p:txBody>
      </p:sp>
      <p:sp>
        <p:nvSpPr>
          <p:cNvPr id="16" name="stale-0-second-panel">
            <a:extLst xmlns:a="http://schemas.openxmlformats.org/drawingml/2006/main">
              <a:ext uri="{FF2B5EF4-FFF2-40B4-BE49-F238E27FC236}">
                <a16:creationId xmlns:a16="http://schemas.microsoft.com/office/drawing/2014/main" id="{67DDF9CB-B78B-452F-84FA-0BA85A2C9658}"/>
              </a:ext>
            </a:extLst>
          </p:cNvPr>
          <p:cNvSpPr>
            <a:spLocks xmlns:a="http://schemas.openxmlformats.org/drawingml/2006/main" noGrp="1"/>
          </p:cNvSpPr>
          <p:nvPr/>
        </p:nvSpPr>
        <p:spPr>
          <a:xfrm xmlns:a="http://schemas.openxmlformats.org/drawingml/2006/main">
            <a:off x="4762500" y="2628900"/>
            <a:ext cx="28575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17" name="stale-0-second-accent">
            <a:extLst xmlns:a="http://schemas.openxmlformats.org/drawingml/2006/main">
              <a:ext uri="{FF2B5EF4-FFF2-40B4-BE49-F238E27FC236}">
                <a16:creationId xmlns:a16="http://schemas.microsoft.com/office/drawing/2014/main" id="{FA9B8397-F9A6-4443-B10C-A3E1EEB390F2}"/>
              </a:ext>
            </a:extLst>
          </p:cNvPr>
          <p:cNvSpPr>
            <a:spLocks xmlns:a="http://schemas.openxmlformats.org/drawingml/2006/main" noGrp="1"/>
          </p:cNvSpPr>
          <p:nvPr/>
        </p:nvSpPr>
        <p:spPr>
          <a:xfrm xmlns:a="http://schemas.openxmlformats.org/drawingml/2006/main">
            <a:off x="4762500" y="2628900"/>
            <a:ext cx="57150" cy="876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8" name="stale-0-second-title">
            <a:extLst xmlns:a="http://schemas.openxmlformats.org/drawingml/2006/main">
              <a:ext uri="{FF2B5EF4-FFF2-40B4-BE49-F238E27FC236}">
                <a16:creationId xmlns:a16="http://schemas.microsoft.com/office/drawing/2014/main" id="{6F7CF099-17D8-40A4-875D-8615A044BE46}"/>
              </a:ext>
            </a:extLst>
          </p:cNvPr>
          <p:cNvSpPr>
            <a:spLocks xmlns:a="http://schemas.openxmlformats.org/drawingml/2006/main" noGrp="1"/>
          </p:cNvSpPr>
          <p:nvPr/>
        </p:nvSpPr>
        <p:spPr>
          <a:xfrm xmlns:a="http://schemas.openxmlformats.org/drawingml/2006/main">
            <a:off x="4972050" y="28003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1</a:t>
            </a:r>
          </a:p>
        </p:txBody>
      </p:sp>
      <p:sp>
        <p:nvSpPr>
          <p:cNvPr id="19" name="stale-0-second-body">
            <a:extLst xmlns:a="http://schemas.openxmlformats.org/drawingml/2006/main">
              <a:ext uri="{FF2B5EF4-FFF2-40B4-BE49-F238E27FC236}">
                <a16:creationId xmlns:a16="http://schemas.microsoft.com/office/drawing/2014/main" id="{B4D4364A-C05B-4888-BCD1-F7959BFB6E5B}"/>
              </a:ext>
            </a:extLst>
          </p:cNvPr>
          <p:cNvSpPr>
            <a:spLocks xmlns:a="http://schemas.openxmlformats.org/drawingml/2006/main" noGrp="1"/>
          </p:cNvSpPr>
          <p:nvPr/>
        </p:nvSpPr>
        <p:spPr>
          <a:xfrm xmlns:a="http://schemas.openxmlformats.org/drawingml/2006/main">
            <a:off x="4972050" y="3105150"/>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Menlo"/>
                <a:ea typeface="Menlo"/>
                <a:cs typeface="Menlo"/>
              </a:defRPr>
            </a:defPPr>
          </a:lstStyle>
          <a:p xmlns:a="http://schemas.openxmlformats.org/drawingml/2006/main">
            <a:pPr algn="l">
              <a:defRPr sz="1163" b="0" i="0">
                <a:solidFill>
                  <a:srgbClr val="646B7A"/>
                </a:solidFill>
                <a:latin typeface="Menlo"/>
                <a:ea typeface="Menlo"/>
                <a:cs typeface="Menlo"/>
              </a:defRPr>
            </a:pPr>
            <a:r>
              <a:rPr sz="1163" b="0" i="0">
                <a:solidFill>
                  <a:srgbClr val="646B7A"/>
                </a:solidFill>
                <a:latin typeface="Menlo"/>
                <a:ea typeface="Menlo"/>
                <a:cs typeface="Menlo"/>
              </a:rPr>
              <a:t>#1 query → a  (overwrite)</a:t>
            </a:r>
          </a:p>
        </p:txBody>
      </p:sp>
      <p:sp>
        <p:nvSpPr>
          <p:cNvPr id="20" name="stale-0-third-panel">
            <a:extLst xmlns:a="http://schemas.openxmlformats.org/drawingml/2006/main">
              <a:ext uri="{FF2B5EF4-FFF2-40B4-BE49-F238E27FC236}">
                <a16:creationId xmlns:a16="http://schemas.microsoft.com/office/drawing/2014/main" id="{A66E6C27-1000-45D2-A240-A604B059DC82}"/>
              </a:ext>
            </a:extLst>
          </p:cNvPr>
          <p:cNvSpPr>
            <a:spLocks xmlns:a="http://schemas.openxmlformats.org/drawingml/2006/main" noGrp="1"/>
          </p:cNvSpPr>
          <p:nvPr/>
        </p:nvSpPr>
        <p:spPr>
          <a:xfrm xmlns:a="http://schemas.openxmlformats.org/drawingml/2006/main">
            <a:off x="7972425" y="2628900"/>
            <a:ext cx="333375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21" name="stale-0-third-accent">
            <a:extLst xmlns:a="http://schemas.openxmlformats.org/drawingml/2006/main">
              <a:ext uri="{FF2B5EF4-FFF2-40B4-BE49-F238E27FC236}">
                <a16:creationId xmlns:a16="http://schemas.microsoft.com/office/drawing/2014/main" id="{47B4845E-5DDE-4A4F-B457-5CE44F4C5036}"/>
              </a:ext>
            </a:extLst>
          </p:cNvPr>
          <p:cNvSpPr>
            <a:spLocks xmlns:a="http://schemas.openxmlformats.org/drawingml/2006/main" noGrp="1"/>
          </p:cNvSpPr>
          <p:nvPr/>
        </p:nvSpPr>
        <p:spPr>
          <a:xfrm xmlns:a="http://schemas.openxmlformats.org/drawingml/2006/main">
            <a:off x="7972425" y="2628900"/>
            <a:ext cx="57150" cy="8763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2" name="stale-0-third-title">
            <a:extLst xmlns:a="http://schemas.openxmlformats.org/drawingml/2006/main">
              <a:ext uri="{FF2B5EF4-FFF2-40B4-BE49-F238E27FC236}">
                <a16:creationId xmlns:a16="http://schemas.microsoft.com/office/drawing/2014/main" id="{D021296A-DB83-4054-B62E-DB6B30FC1FE8}"/>
              </a:ext>
            </a:extLst>
          </p:cNvPr>
          <p:cNvSpPr>
            <a:spLocks xmlns:a="http://schemas.openxmlformats.org/drawingml/2006/main" noGrp="1"/>
          </p:cNvSpPr>
          <p:nvPr/>
        </p:nvSpPr>
        <p:spPr>
          <a:xfrm xmlns:a="http://schemas.openxmlformats.org/drawingml/2006/main">
            <a:off x="8181975" y="2800350"/>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2</a:t>
            </a:r>
          </a:p>
        </p:txBody>
      </p:sp>
      <p:sp>
        <p:nvSpPr>
          <p:cNvPr id="23" name="stale-0-third-body">
            <a:extLst xmlns:a="http://schemas.openxmlformats.org/drawingml/2006/main">
              <a:ext uri="{FF2B5EF4-FFF2-40B4-BE49-F238E27FC236}">
                <a16:creationId xmlns:a16="http://schemas.microsoft.com/office/drawing/2014/main" id="{4E296364-5404-422E-81DC-94ECCF9B056B}"/>
              </a:ext>
            </a:extLst>
          </p:cNvPr>
          <p:cNvSpPr>
            <a:spLocks xmlns:a="http://schemas.openxmlformats.org/drawingml/2006/main" noGrp="1"/>
          </p:cNvSpPr>
          <p:nvPr/>
        </p:nvSpPr>
        <p:spPr>
          <a:xfrm xmlns:a="http://schemas.openxmlformats.org/drawingml/2006/main">
            <a:off x="8181975" y="3105150"/>
            <a:ext cx="2914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Menlo"/>
                <a:ea typeface="Menlo"/>
                <a:cs typeface="Menlo"/>
              </a:defRPr>
            </a:defPPr>
          </a:lstStyle>
          <a:p xmlns:a="http://schemas.openxmlformats.org/drawingml/2006/main">
            <a:pPr algn="l">
              <a:defRPr sz="1163" b="0" i="0">
                <a:solidFill>
                  <a:srgbClr val="646B7A"/>
                </a:solidFill>
                <a:latin typeface="Menlo"/>
                <a:ea typeface="Menlo"/>
                <a:cs typeface="Menlo"/>
              </a:defRPr>
            </a:pPr>
            <a:r>
              <a:rPr sz="1163" b="0" i="0">
                <a:solidFill>
                  <a:srgbClr val="646B7A"/>
                </a:solidFill>
                <a:latin typeface="Menlo"/>
                <a:ea typeface="Menlo"/>
                <a:cs typeface="Menlo"/>
              </a:rPr>
              <a:t>#2 request(a) → b</a:t>
            </a:r>
          </a:p>
        </p:txBody>
      </p:sp>
      <p:sp>
        <p:nvSpPr>
          <p:cNvPr id="24" name="stale-1-side-pill">
            <a:extLst xmlns:a="http://schemas.openxmlformats.org/drawingml/2006/main">
              <a:ext uri="{FF2B5EF4-FFF2-40B4-BE49-F238E27FC236}">
                <a16:creationId xmlns:a16="http://schemas.microsoft.com/office/drawing/2014/main" id="{BFB0213E-9321-442E-8F9A-D95E8FA131C1}"/>
              </a:ext>
            </a:extLst>
          </p:cNvPr>
          <p:cNvSpPr>
            <a:spLocks xmlns:a="http://schemas.openxmlformats.org/drawingml/2006/main" noGrp="1"/>
          </p:cNvSpPr>
          <p:nvPr/>
        </p:nvSpPr>
        <p:spPr>
          <a:xfrm xmlns:a="http://schemas.openxmlformats.org/drawingml/2006/main">
            <a:off x="742950" y="4171950"/>
            <a:ext cx="933450" cy="266700"/>
          </a:xfrm>
          <a:prstGeom xmlns:a="http://schemas.openxmlformats.org/drawingml/2006/main" prst="roundRect">
            <a:avLst>
              <a:gd name="adj" fmla="val 35714"/>
            </a:avLst>
          </a:prstGeom>
          <a:solidFill xmlns:a="http://schemas.openxmlformats.org/drawingml/2006/main">
            <a:srgbClr val="5CC8B8"/>
          </a:solidFill>
          <a:ln xmlns:a="http://schemas.openxmlformats.org/drawingml/2006/main" w="0">
            <a:noFill/>
            <a:prstDash val="solid"/>
          </a:ln>
        </p:spPr>
      </p:sp>
      <p:sp>
        <p:nvSpPr>
          <p:cNvPr id="25" name="stale-1-side-text">
            <a:extLst xmlns:a="http://schemas.openxmlformats.org/drawingml/2006/main">
              <a:ext uri="{FF2B5EF4-FFF2-40B4-BE49-F238E27FC236}">
                <a16:creationId xmlns:a16="http://schemas.microsoft.com/office/drawing/2014/main" id="{5FD0A1B3-D9B0-4361-8987-E8508F02DC34}"/>
              </a:ext>
            </a:extLst>
          </p:cNvPr>
          <p:cNvSpPr>
            <a:spLocks xmlns:a="http://schemas.openxmlformats.org/drawingml/2006/main" noGrp="1"/>
          </p:cNvSpPr>
          <p:nvPr/>
        </p:nvSpPr>
        <p:spPr>
          <a:xfrm xmlns:a="http://schemas.openxmlformats.org/drawingml/2006/main">
            <a:off x="838200" y="4219575"/>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141B2B"/>
                </a:solidFill>
                <a:latin typeface="Avenir Next"/>
                <a:ea typeface="Avenir Next"/>
                <a:cs typeface="Avenir Next"/>
              </a:defRPr>
            </a:defPPr>
          </a:lstStyle>
          <a:p xmlns:a="http://schemas.openxmlformats.org/drawingml/2006/main">
            <a:pPr algn="ctr">
              <a:defRPr sz="975" b="1" i="0">
                <a:solidFill>
                  <a:srgbClr val="141B2B"/>
                </a:solidFill>
                <a:latin typeface="Avenir Next"/>
                <a:ea typeface="Avenir Next"/>
                <a:cs typeface="Avenir Next"/>
              </a:defRPr>
            </a:pPr>
            <a:r>
              <a:rPr sz="975" b="1" i="0">
                <a:solidFill>
                  <a:srgbClr val="141B2B"/>
                </a:solidFill>
                <a:latin typeface="Avenir Next"/>
                <a:ea typeface="Avenir Next"/>
                <a:cs typeface="Avenir Next"/>
              </a:rPr>
              <a:t>RIGHT</a:t>
            </a:r>
          </a:p>
        </p:txBody>
      </p:sp>
      <p:sp>
        <p:nvSpPr>
          <p:cNvPr id="26" name="stale-1-first-panel">
            <a:extLst xmlns:a="http://schemas.openxmlformats.org/drawingml/2006/main">
              <a:ext uri="{FF2B5EF4-FFF2-40B4-BE49-F238E27FC236}">
                <a16:creationId xmlns:a16="http://schemas.microsoft.com/office/drawing/2014/main" id="{A65D75C7-CDD9-42DD-9D3D-2ECDF20599DD}"/>
              </a:ext>
            </a:extLst>
          </p:cNvPr>
          <p:cNvSpPr>
            <a:spLocks xmlns:a="http://schemas.openxmlformats.org/drawingml/2006/main" noGrp="1"/>
          </p:cNvSpPr>
          <p:nvPr/>
        </p:nvSpPr>
        <p:spPr>
          <a:xfrm xmlns:a="http://schemas.openxmlformats.org/drawingml/2006/main">
            <a:off x="1876425" y="3886200"/>
            <a:ext cx="253365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27" name="stale-1-first-accent">
            <a:extLst xmlns:a="http://schemas.openxmlformats.org/drawingml/2006/main">
              <a:ext uri="{FF2B5EF4-FFF2-40B4-BE49-F238E27FC236}">
                <a16:creationId xmlns:a16="http://schemas.microsoft.com/office/drawing/2014/main" id="{F417BBE6-AA82-442A-848C-9E9216DDAB77}"/>
              </a:ext>
            </a:extLst>
          </p:cNvPr>
          <p:cNvSpPr>
            <a:spLocks xmlns:a="http://schemas.openxmlformats.org/drawingml/2006/main" noGrp="1"/>
          </p:cNvSpPr>
          <p:nvPr/>
        </p:nvSpPr>
        <p:spPr>
          <a:xfrm xmlns:a="http://schemas.openxmlformats.org/drawingml/2006/main">
            <a:off x="1876425" y="3886200"/>
            <a:ext cx="57150" cy="876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8" name="stale-1-first-title">
            <a:extLst xmlns:a="http://schemas.openxmlformats.org/drawingml/2006/main">
              <a:ext uri="{FF2B5EF4-FFF2-40B4-BE49-F238E27FC236}">
                <a16:creationId xmlns:a16="http://schemas.microsoft.com/office/drawing/2014/main" id="{9CD16D1D-72C0-4DEE-B83A-2D17641F7D92}"/>
              </a:ext>
            </a:extLst>
          </p:cNvPr>
          <p:cNvSpPr>
            <a:spLocks xmlns:a="http://schemas.openxmlformats.org/drawingml/2006/main" noGrp="1"/>
          </p:cNvSpPr>
          <p:nvPr/>
        </p:nvSpPr>
        <p:spPr>
          <a:xfrm xmlns:a="http://schemas.openxmlformats.org/drawingml/2006/main">
            <a:off x="2085975" y="4057650"/>
            <a:ext cx="21145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0</a:t>
            </a:r>
          </a:p>
        </p:txBody>
      </p:sp>
      <p:sp>
        <p:nvSpPr>
          <p:cNvPr id="29" name="stale-1-first-body">
            <a:extLst xmlns:a="http://schemas.openxmlformats.org/drawingml/2006/main">
              <a:ext uri="{FF2B5EF4-FFF2-40B4-BE49-F238E27FC236}">
                <a16:creationId xmlns:a16="http://schemas.microsoft.com/office/drawing/2014/main" id="{CC84644A-DAFD-48A6-BFF6-5C6E33FDD059}"/>
              </a:ext>
            </a:extLst>
          </p:cNvPr>
          <p:cNvSpPr>
            <a:spLocks xmlns:a="http://schemas.openxmlformats.org/drawingml/2006/main" noGrp="1"/>
          </p:cNvSpPr>
          <p:nvPr/>
        </p:nvSpPr>
        <p:spPr>
          <a:xfrm xmlns:a="http://schemas.openxmlformats.org/drawingml/2006/main">
            <a:off x="2085975" y="43624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646B7A"/>
                </a:solidFill>
                <a:latin typeface="Menlo"/>
                <a:ea typeface="Menlo"/>
                <a:cs typeface="Menlo"/>
              </a:defRPr>
            </a:defPPr>
          </a:lstStyle>
          <a:p xmlns:a="http://schemas.openxmlformats.org/drawingml/2006/main">
            <a:pPr algn="l">
              <a:defRPr sz="1200" b="0" i="0">
                <a:solidFill>
                  <a:srgbClr val="646B7A"/>
                </a:solidFill>
                <a:latin typeface="Menlo"/>
                <a:ea typeface="Menlo"/>
                <a:cs typeface="Menlo"/>
              </a:defRPr>
            </a:pPr>
            <a:r>
              <a:rPr sz="1200" b="0" i="0">
                <a:solidFill>
                  <a:srgbClr val="646B7A"/>
                </a:solidFill>
                <a:latin typeface="Menlo"/>
                <a:ea typeface="Menlo"/>
                <a:cs typeface="Menlo"/>
              </a:rPr>
              <a:t>#0 query → x</a:t>
            </a:r>
          </a:p>
        </p:txBody>
      </p:sp>
      <p:sp>
        <p:nvSpPr>
          <p:cNvPr id="30" name="stale-1-second-panel">
            <a:extLst xmlns:a="http://schemas.openxmlformats.org/drawingml/2006/main">
              <a:ext uri="{FF2B5EF4-FFF2-40B4-BE49-F238E27FC236}">
                <a16:creationId xmlns:a16="http://schemas.microsoft.com/office/drawing/2014/main" id="{4284BB07-F0F1-4B41-87E3-C126E4FABF7F}"/>
              </a:ext>
            </a:extLst>
          </p:cNvPr>
          <p:cNvSpPr>
            <a:spLocks xmlns:a="http://schemas.openxmlformats.org/drawingml/2006/main" noGrp="1"/>
          </p:cNvSpPr>
          <p:nvPr/>
        </p:nvSpPr>
        <p:spPr>
          <a:xfrm xmlns:a="http://schemas.openxmlformats.org/drawingml/2006/main">
            <a:off x="4762500" y="3886200"/>
            <a:ext cx="285750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31" name="stale-1-second-accent">
            <a:extLst xmlns:a="http://schemas.openxmlformats.org/drawingml/2006/main">
              <a:ext uri="{FF2B5EF4-FFF2-40B4-BE49-F238E27FC236}">
                <a16:creationId xmlns:a16="http://schemas.microsoft.com/office/drawing/2014/main" id="{64C8A74A-FD6A-4541-B3B6-26B8CC4BBA54}"/>
              </a:ext>
            </a:extLst>
          </p:cNvPr>
          <p:cNvSpPr>
            <a:spLocks xmlns:a="http://schemas.openxmlformats.org/drawingml/2006/main" noGrp="1"/>
          </p:cNvSpPr>
          <p:nvPr/>
        </p:nvSpPr>
        <p:spPr>
          <a:xfrm xmlns:a="http://schemas.openxmlformats.org/drawingml/2006/main">
            <a:off x="4762500" y="3886200"/>
            <a:ext cx="57150" cy="876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32" name="stale-1-second-title">
            <a:extLst xmlns:a="http://schemas.openxmlformats.org/drawingml/2006/main">
              <a:ext uri="{FF2B5EF4-FFF2-40B4-BE49-F238E27FC236}">
                <a16:creationId xmlns:a16="http://schemas.microsoft.com/office/drawing/2014/main" id="{C8F12D2A-4FE1-4E1D-89E3-84DFA4D186A5}"/>
              </a:ext>
            </a:extLst>
          </p:cNvPr>
          <p:cNvSpPr>
            <a:spLocks xmlns:a="http://schemas.openxmlformats.org/drawingml/2006/main" noGrp="1"/>
          </p:cNvSpPr>
          <p:nvPr/>
        </p:nvSpPr>
        <p:spPr>
          <a:xfrm xmlns:a="http://schemas.openxmlformats.org/drawingml/2006/main">
            <a:off x="4972050" y="4057650"/>
            <a:ext cx="2438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1</a:t>
            </a:r>
          </a:p>
        </p:txBody>
      </p:sp>
      <p:sp>
        <p:nvSpPr>
          <p:cNvPr id="33" name="stale-1-second-body">
            <a:extLst xmlns:a="http://schemas.openxmlformats.org/drawingml/2006/main">
              <a:ext uri="{FF2B5EF4-FFF2-40B4-BE49-F238E27FC236}">
                <a16:creationId xmlns:a16="http://schemas.microsoft.com/office/drawing/2014/main" id="{3C7B0FAA-CFC5-40A9-B1E9-C9C72261AF80}"/>
              </a:ext>
            </a:extLst>
          </p:cNvPr>
          <p:cNvSpPr>
            <a:spLocks xmlns:a="http://schemas.openxmlformats.org/drawingml/2006/main" noGrp="1"/>
          </p:cNvSpPr>
          <p:nvPr/>
        </p:nvSpPr>
        <p:spPr>
          <a:xfrm xmlns:a="http://schemas.openxmlformats.org/drawingml/2006/main">
            <a:off x="4972050" y="4362450"/>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Menlo"/>
                <a:ea typeface="Menlo"/>
                <a:cs typeface="Menlo"/>
              </a:defRPr>
            </a:defPPr>
          </a:lstStyle>
          <a:p xmlns:a="http://schemas.openxmlformats.org/drawingml/2006/main">
            <a:pPr algn="l">
              <a:defRPr sz="1163" b="0" i="0">
                <a:solidFill>
                  <a:srgbClr val="646B7A"/>
                </a:solidFill>
                <a:latin typeface="Menlo"/>
                <a:ea typeface="Menlo"/>
                <a:cs typeface="Menlo"/>
              </a:defRPr>
            </a:pPr>
            <a:r>
              <a:rPr sz="1163" b="0" i="0">
                <a:solidFill>
                  <a:srgbClr val="646B7A"/>
                </a:solidFill>
                <a:latin typeface="Menlo"/>
                <a:ea typeface="Menlo"/>
                <a:cs typeface="Menlo"/>
              </a:rPr>
              <a:t>#1 query → y</a:t>
            </a:r>
          </a:p>
        </p:txBody>
      </p:sp>
      <p:sp>
        <p:nvSpPr>
          <p:cNvPr id="34" name="stale-1-third-panel">
            <a:extLst xmlns:a="http://schemas.openxmlformats.org/drawingml/2006/main">
              <a:ext uri="{FF2B5EF4-FFF2-40B4-BE49-F238E27FC236}">
                <a16:creationId xmlns:a16="http://schemas.microsoft.com/office/drawing/2014/main" id="{37B7CA8B-19F7-4EF5-8B6C-2CB32CC604F8}"/>
              </a:ext>
            </a:extLst>
          </p:cNvPr>
          <p:cNvSpPr>
            <a:spLocks xmlns:a="http://schemas.openxmlformats.org/drawingml/2006/main" noGrp="1"/>
          </p:cNvSpPr>
          <p:nvPr/>
        </p:nvSpPr>
        <p:spPr>
          <a:xfrm xmlns:a="http://schemas.openxmlformats.org/drawingml/2006/main">
            <a:off x="7972425" y="3886200"/>
            <a:ext cx="3333750" cy="876300"/>
          </a:xfrm>
          <a:prstGeom xmlns:a="http://schemas.openxmlformats.org/drawingml/2006/main" prst="roundRect">
            <a:avLst>
              <a:gd name="adj" fmla="val 8696"/>
            </a:avLst>
          </a:prstGeom>
          <a:solidFill xmlns:a="http://schemas.openxmlformats.org/drawingml/2006/main">
            <a:srgbClr val="FFFDF8"/>
          </a:solidFill>
          <a:ln xmlns:a="http://schemas.openxmlformats.org/drawingml/2006/main" w="9525">
            <a:solidFill>
              <a:srgbClr val="D7D0C4"/>
            </a:solidFill>
            <a:prstDash val="solid"/>
          </a:ln>
        </p:spPr>
      </p:sp>
      <p:sp>
        <p:nvSpPr>
          <p:cNvPr id="35" name="stale-1-third-accent">
            <a:extLst xmlns:a="http://schemas.openxmlformats.org/drawingml/2006/main">
              <a:ext uri="{FF2B5EF4-FFF2-40B4-BE49-F238E27FC236}">
                <a16:creationId xmlns:a16="http://schemas.microsoft.com/office/drawing/2014/main" id="{91D4B55F-DACB-42F1-9648-BEF80646C8C1}"/>
              </a:ext>
            </a:extLst>
          </p:cNvPr>
          <p:cNvSpPr>
            <a:spLocks xmlns:a="http://schemas.openxmlformats.org/drawingml/2006/main" noGrp="1"/>
          </p:cNvSpPr>
          <p:nvPr/>
        </p:nvSpPr>
        <p:spPr>
          <a:xfrm xmlns:a="http://schemas.openxmlformats.org/drawingml/2006/main">
            <a:off x="7972425" y="3886200"/>
            <a:ext cx="57150" cy="876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36" name="stale-1-third-title">
            <a:extLst xmlns:a="http://schemas.openxmlformats.org/drawingml/2006/main">
              <a:ext uri="{FF2B5EF4-FFF2-40B4-BE49-F238E27FC236}">
                <a16:creationId xmlns:a16="http://schemas.microsoft.com/office/drawing/2014/main" id="{633BC061-E162-498C-B673-AD42B0E8FC2B}"/>
              </a:ext>
            </a:extLst>
          </p:cNvPr>
          <p:cNvSpPr>
            <a:spLocks xmlns:a="http://schemas.openxmlformats.org/drawingml/2006/main" noGrp="1"/>
          </p:cNvSpPr>
          <p:nvPr/>
        </p:nvSpPr>
        <p:spPr>
          <a:xfrm xmlns:a="http://schemas.openxmlformats.org/drawingml/2006/main">
            <a:off x="8181975" y="4057650"/>
            <a:ext cx="2914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CALL 2</a:t>
            </a:r>
          </a:p>
        </p:txBody>
      </p:sp>
      <p:sp>
        <p:nvSpPr>
          <p:cNvPr id="37" name="stale-1-third-body">
            <a:extLst xmlns:a="http://schemas.openxmlformats.org/drawingml/2006/main">
              <a:ext uri="{FF2B5EF4-FFF2-40B4-BE49-F238E27FC236}">
                <a16:creationId xmlns:a16="http://schemas.microsoft.com/office/drawing/2014/main" id="{C221930B-7112-4F6C-B17A-A00689EFC8C4}"/>
              </a:ext>
            </a:extLst>
          </p:cNvPr>
          <p:cNvSpPr>
            <a:spLocks xmlns:a="http://schemas.openxmlformats.org/drawingml/2006/main" noGrp="1"/>
          </p:cNvSpPr>
          <p:nvPr/>
        </p:nvSpPr>
        <p:spPr>
          <a:xfrm xmlns:a="http://schemas.openxmlformats.org/drawingml/2006/main">
            <a:off x="8181975" y="4362450"/>
            <a:ext cx="2914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Menlo"/>
                <a:ea typeface="Menlo"/>
                <a:cs typeface="Menlo"/>
              </a:defRPr>
            </a:defPPr>
          </a:lstStyle>
          <a:p xmlns:a="http://schemas.openxmlformats.org/drawingml/2006/main">
            <a:pPr algn="l">
              <a:defRPr sz="1163" b="0" i="0">
                <a:solidFill>
                  <a:srgbClr val="646B7A"/>
                </a:solidFill>
                <a:latin typeface="Menlo"/>
                <a:ea typeface="Menlo"/>
                <a:cs typeface="Menlo"/>
              </a:defRPr>
            </a:pPr>
            <a:r>
              <a:rPr sz="1163" b="0" i="0">
                <a:solidFill>
                  <a:srgbClr val="646B7A"/>
                </a:solidFill>
                <a:latin typeface="Menlo"/>
                <a:ea typeface="Menlo"/>
                <a:cs typeface="Menlo"/>
              </a:rPr>
              <a:t>#2 request(x) → y</a:t>
            </a:r>
          </a:p>
        </p:txBody>
      </p:sp>
      <p:sp>
        <p:nvSpPr>
          <p:cNvPr id="38" name="stale-relation">
            <a:extLst xmlns:a="http://schemas.openxmlformats.org/drawingml/2006/main">
              <a:ext uri="{FF2B5EF4-FFF2-40B4-BE49-F238E27FC236}">
                <a16:creationId xmlns:a16="http://schemas.microsoft.com/office/drawing/2014/main" id="{ED94C1CD-893F-4078-8F8A-8C2316D8E2CF}"/>
              </a:ext>
            </a:extLst>
          </p:cNvPr>
          <p:cNvSpPr>
            <a:spLocks xmlns:a="http://schemas.openxmlformats.org/drawingml/2006/main" noGrp="1"/>
          </p:cNvSpPr>
          <p:nvPr/>
        </p:nvSpPr>
        <p:spPr>
          <a:xfrm xmlns:a="http://schemas.openxmlformats.org/drawingml/2006/main">
            <a:off x="1428750" y="52197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141B2B"/>
                </a:solidFill>
                <a:latin typeface="Avenir Next"/>
                <a:ea typeface="Avenir Next"/>
                <a:cs typeface="Avenir Next"/>
              </a:defRPr>
            </a:defPPr>
          </a:lstStyle>
          <a:p xmlns:a="http://schemas.openxmlformats.org/drawingml/2006/main">
            <a:pPr algn="ctr">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After overwrite: a ↔ y, not x. The third arguments are not proved equal.</a:t>
            </a:r>
          </a:p>
        </p:txBody>
      </p:sp>
      <p:sp>
        <p:nvSpPr>
          <p:cNvPr id="39" name="stale-witness">
            <a:extLst xmlns:a="http://schemas.openxmlformats.org/drawingml/2006/main">
              <a:ext uri="{FF2B5EF4-FFF2-40B4-BE49-F238E27FC236}">
                <a16:creationId xmlns:a16="http://schemas.microsoft.com/office/drawing/2014/main" id="{57D0E8E9-68B6-48AB-B75F-4CB0BCDCC4DD}"/>
              </a:ext>
            </a:extLst>
          </p:cNvPr>
          <p:cNvSpPr>
            <a:spLocks xmlns:a="http://schemas.openxmlformats.org/drawingml/2006/main" noGrp="1"/>
          </p:cNvSpPr>
          <p:nvPr/>
        </p:nvSpPr>
        <p:spPr>
          <a:xfrm xmlns:a="http://schemas.openxmlformats.org/drawingml/2006/main">
            <a:off x="1047750" y="55626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63" b="0" i="0">
                <a:solidFill>
                  <a:srgbClr val="C2461F"/>
                </a:solidFill>
                <a:latin typeface="Menlo"/>
                <a:ea typeface="Menlo"/>
                <a:cs typeface="Menlo"/>
              </a:defRPr>
            </a:defPPr>
          </a:lstStyle>
          <a:p xmlns:a="http://schemas.openxmlformats.org/drawingml/2006/main">
            <a:pPr algn="ctr">
              <a:defRPr sz="1163" b="0" i="0">
                <a:solidFill>
                  <a:srgbClr val="C2461F"/>
                </a:solidFill>
                <a:latin typeface="Menlo"/>
                <a:ea typeface="Menlo"/>
                <a:cs typeface="Menlo"/>
              </a:defRPr>
            </a:pPr>
            <a:r>
              <a:rPr sz="1163" b="0" i="0">
                <a:solidFill>
                  <a:srgbClr val="C2461F"/>
                </a:solidFill>
                <a:latin typeface="Menlo"/>
                <a:ea typeface="Menlo"/>
                <a:cs typeface="Menlo"/>
              </a:rPr>
              <a:t>One finite mock witness at event 2: input usage 10 vs 15 · not a provider invoice.</a:t>
            </a:r>
          </a:p>
        </p:txBody>
      </p:sp>
    </p:spTree>
    <p:extLst>
      <p:ext uri="{BB962C8B-B14F-4D97-AF65-F5344CB8AC3E}">
        <p14:creationId xmlns:p14="http://schemas.microsoft.com/office/powerpoint/2010/main" val="1097524520"/>
      </p:ext>
    </p:extLst>
  </p:cSld>
</p:sld>
</file>

<file path=ppt/slides/slide1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C276410B-ECE8-40B1-B6B6-592394C6B459}"/>
              </a:ext>
            </a:extLst>
          </p:cNvPr>
          <p:cNvCxnSpPr>
            <a:stCxn xmlns:a="http://schemas.openxmlformats.org/drawingml/2006/main" id="14" idx="3"/>
            <a:endCxn xmlns:a="http://schemas.openxmlformats.org/drawingml/2006/main" id="18" idx="1"/>
          </p:cNvCxnSpPr>
          <p:nvPr/>
        </p:nvCxnSpPr>
        <p:spPr>
          <a:xfrm xmlns:a="http://schemas.openxmlformats.org/drawingml/2006/main">
            <a:off x="7905750" y="3590925"/>
            <a:ext cx="476250" cy="0"/>
          </a:xfrm>
          <a:prstGeom xmlns:a="http://schemas.openxmlformats.org/drawingml/2006/main" prst="straightConnector1">
            <a:avLst/>
          </a:prstGeom>
          <a:ln xmlns:a="http://schemas.openxmlformats.org/drawingml/2006/main" w="19050">
            <a:solidFill>
              <a:srgbClr val="B8C1D1"/>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88C40C0C-E9E2-4FED-8B20-080A8ADE2AE0}"/>
              </a:ext>
            </a:extLst>
          </p:cNvPr>
          <p:cNvCxnSpPr>
            <a:stCxn xmlns:a="http://schemas.openxmlformats.org/drawingml/2006/main" id="10" idx="3"/>
            <a:endCxn xmlns:a="http://schemas.openxmlformats.org/drawingml/2006/main" id="14" idx="1"/>
          </p:cNvCxnSpPr>
          <p:nvPr/>
        </p:nvCxnSpPr>
        <p:spPr>
          <a:xfrm xmlns:a="http://schemas.openxmlformats.org/drawingml/2006/main">
            <a:off x="4076700" y="3590925"/>
            <a:ext cx="476250" cy="0"/>
          </a:xfrm>
          <a:prstGeom xmlns:a="http://schemas.openxmlformats.org/drawingml/2006/main" prst="straightConnector1">
            <a:avLst/>
          </a:prstGeom>
          <a:ln xmlns:a="http://schemas.openxmlformats.org/drawingml/2006/main" w="19050">
            <a:solidFill>
              <a:srgbClr val="B8C1D1"/>
            </a:solidFill>
            <a:prstDash val="solid"/>
            <a:tailEnd type="triangle" w="sm" len="sm"/>
          </a:ln>
        </p:spPr>
      </p:cxnSp>
      <p:sp>
        <p:nvSpPr>
          <p:cNvPr id="26" name="s12-brand">
            <a:extLst xmlns:a="http://schemas.openxmlformats.org/drawingml/2006/main">
              <a:ext uri="{FF2B5EF4-FFF2-40B4-BE49-F238E27FC236}">
                <a16:creationId xmlns:a16="http://schemas.microsoft.com/office/drawing/2014/main" id="{413F2AA5-8958-4D66-96F1-AE9B1AD00B6B}"/>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2-section">
            <a:extLst xmlns:a="http://schemas.openxmlformats.org/drawingml/2006/main">
              <a:ext uri="{FF2B5EF4-FFF2-40B4-BE49-F238E27FC236}">
                <a16:creationId xmlns:a16="http://schemas.microsoft.com/office/drawing/2014/main" id="{B5F22453-357A-400F-817A-F09B886417A0}"/>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CERTIFICATE REPLAY</a:t>
            </a:r>
          </a:p>
        </p:txBody>
      </p:sp>
      <p:sp>
        <p:nvSpPr>
          <p:cNvPr id="3" name="s12-title">
            <a:extLst xmlns:a="http://schemas.openxmlformats.org/drawingml/2006/main">
              <a:ext uri="{FF2B5EF4-FFF2-40B4-BE49-F238E27FC236}">
                <a16:creationId xmlns:a16="http://schemas.microsoft.com/office/drawing/2014/main" id="{5C497E19-9D1E-4631-A725-8F8F748D1AA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separate replayer rebuilds the graph closure</a:t>
            </a:r>
          </a:p>
        </p:txBody>
      </p:sp>
      <p:sp>
        <p:nvSpPr>
          <p:cNvPr id="4" name="s12-subtitle">
            <a:extLst xmlns:a="http://schemas.openxmlformats.org/drawingml/2006/main">
              <a:ext uri="{FF2B5EF4-FFF2-40B4-BE49-F238E27FC236}">
                <a16:creationId xmlns:a16="http://schemas.microsoft.com/office/drawing/2014/main" id="{5D4EFB06-77B5-4FC9-8AA3-3689463FC010}"/>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Raw source binding and every required product successor are checked again.</a:t>
            </a:r>
          </a:p>
        </p:txBody>
      </p:sp>
      <p:sp>
        <p:nvSpPr>
          <p:cNvPr id="5" name="s12-source-rule">
            <a:extLst xmlns:a="http://schemas.openxmlformats.org/drawingml/2006/main">
              <a:ext uri="{FF2B5EF4-FFF2-40B4-BE49-F238E27FC236}">
                <a16:creationId xmlns:a16="http://schemas.microsoft.com/office/drawing/2014/main" id="{44251C60-82D3-4B98-9546-0A2A192667D8}"/>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2-sources">
            <a:extLst xmlns:a="http://schemas.openxmlformats.org/drawingml/2006/main">
              <a:ext uri="{FF2B5EF4-FFF2-40B4-BE49-F238E27FC236}">
                <a16:creationId xmlns:a16="http://schemas.microsoft.com/office/drawing/2014/main" id="{F4664248-3458-484A-A9C3-98E38D7F6A8B}"/>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audit/replay_graph_certificate.py</a:t>
            </a:r>
          </a:p>
        </p:txBody>
      </p:sp>
      <p:sp>
        <p:nvSpPr>
          <p:cNvPr id="7" name="s12-footer-rule">
            <a:extLst xmlns:a="http://schemas.openxmlformats.org/drawingml/2006/main">
              <a:ext uri="{FF2B5EF4-FFF2-40B4-BE49-F238E27FC236}">
                <a16:creationId xmlns:a16="http://schemas.microsoft.com/office/drawing/2014/main" id="{AA53339C-E1DD-45C8-B10D-25C70A00942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2-footer">
            <a:extLst xmlns:a="http://schemas.openxmlformats.org/drawingml/2006/main">
              <a:ext uri="{FF2B5EF4-FFF2-40B4-BE49-F238E27FC236}">
                <a16:creationId xmlns:a16="http://schemas.microsoft.com/office/drawing/2014/main" id="{5F8C39C3-8847-4294-9896-B485B9E6F178}"/>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2-page">
            <a:extLst xmlns:a="http://schemas.openxmlformats.org/drawingml/2006/main">
              <a:ext uri="{FF2B5EF4-FFF2-40B4-BE49-F238E27FC236}">
                <a16:creationId xmlns:a16="http://schemas.microsoft.com/office/drawing/2014/main" id="{CB3F2304-CE3B-4C27-925A-702D19641236}"/>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12</a:t>
            </a:r>
          </a:p>
        </p:txBody>
      </p:sp>
      <p:sp>
        <p:nvSpPr>
          <p:cNvPr id="10" name="replay-0-panel">
            <a:extLst xmlns:a="http://schemas.openxmlformats.org/drawingml/2006/main">
              <a:ext uri="{FF2B5EF4-FFF2-40B4-BE49-F238E27FC236}">
                <a16:creationId xmlns:a16="http://schemas.microsoft.com/office/drawing/2014/main" id="{358363B6-765D-455F-8316-81BC98C07BA4}"/>
              </a:ext>
            </a:extLst>
          </p:cNvPr>
          <p:cNvSpPr>
            <a:spLocks xmlns:a="http://schemas.openxmlformats.org/drawingml/2006/main" noGrp="1"/>
          </p:cNvSpPr>
          <p:nvPr/>
        </p:nvSpPr>
        <p:spPr>
          <a:xfrm xmlns:a="http://schemas.openxmlformats.org/drawingml/2006/main">
            <a:off x="723900" y="2686050"/>
            <a:ext cx="3352800" cy="1809750"/>
          </a:xfrm>
          <a:prstGeom xmlns:a="http://schemas.openxmlformats.org/drawingml/2006/main" prst="roundRect">
            <a:avLst>
              <a:gd name="adj" fmla="val 4211"/>
            </a:avLst>
          </a:prstGeom>
          <a:solidFill xmlns:a="http://schemas.openxmlformats.org/drawingml/2006/main">
            <a:srgbClr val="1C2638"/>
          </a:solidFill>
          <a:ln xmlns:a="http://schemas.openxmlformats.org/drawingml/2006/main" w="9525">
            <a:solidFill>
              <a:srgbClr val="343D50"/>
            </a:solidFill>
            <a:prstDash val="solid"/>
          </a:ln>
        </p:spPr>
      </p:sp>
      <p:sp>
        <p:nvSpPr>
          <p:cNvPr id="11" name="replay-0-accent">
            <a:extLst xmlns:a="http://schemas.openxmlformats.org/drawingml/2006/main">
              <a:ext uri="{FF2B5EF4-FFF2-40B4-BE49-F238E27FC236}">
                <a16:creationId xmlns:a16="http://schemas.microsoft.com/office/drawing/2014/main" id="{219D431A-E5EA-4219-A51C-636585230EC8}"/>
              </a:ext>
            </a:extLst>
          </p:cNvPr>
          <p:cNvSpPr>
            <a:spLocks xmlns:a="http://schemas.openxmlformats.org/drawingml/2006/main" noGrp="1"/>
          </p:cNvSpPr>
          <p:nvPr/>
        </p:nvSpPr>
        <p:spPr>
          <a:xfrm xmlns:a="http://schemas.openxmlformats.org/drawingml/2006/main">
            <a:off x="723900" y="2686050"/>
            <a:ext cx="57150" cy="18097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2" name="replay-0-title">
            <a:extLst xmlns:a="http://schemas.openxmlformats.org/drawingml/2006/main">
              <a:ext uri="{FF2B5EF4-FFF2-40B4-BE49-F238E27FC236}">
                <a16:creationId xmlns:a16="http://schemas.microsoft.com/office/drawing/2014/main" id="{3D94F185-5140-4B5A-A68B-780B2E9313EA}"/>
              </a:ext>
            </a:extLst>
          </p:cNvPr>
          <p:cNvSpPr>
            <a:spLocks xmlns:a="http://schemas.openxmlformats.org/drawingml/2006/main" noGrp="1"/>
          </p:cNvSpPr>
          <p:nvPr/>
        </p:nvSpPr>
        <p:spPr>
          <a:xfrm xmlns:a="http://schemas.openxmlformats.org/drawingml/2006/main">
            <a:off x="933450" y="285750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GRAPH INPUT</a:t>
            </a:r>
          </a:p>
        </p:txBody>
      </p:sp>
      <p:sp>
        <p:nvSpPr>
          <p:cNvPr id="13" name="replay-0-body">
            <a:extLst xmlns:a="http://schemas.openxmlformats.org/drawingml/2006/main">
              <a:ext uri="{FF2B5EF4-FFF2-40B4-BE49-F238E27FC236}">
                <a16:creationId xmlns:a16="http://schemas.microsoft.com/office/drawing/2014/main" id="{C6CF6BF1-94B1-414A-8D0B-AA79FFA05A4B}"/>
              </a:ext>
            </a:extLst>
          </p:cNvPr>
          <p:cNvSpPr>
            <a:spLocks xmlns:a="http://schemas.openxmlformats.org/drawingml/2006/main" noGrp="1"/>
          </p:cNvSpPr>
          <p:nvPr/>
        </p:nvSpPr>
        <p:spPr>
          <a:xfrm xmlns:a="http://schemas.openxmlformats.org/drawingml/2006/main">
            <a:off x="933450" y="3371850"/>
            <a:ext cx="2933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raw JSON + source hash</a:t>
            </a:r>
          </a:p>
        </p:txBody>
      </p:sp>
      <p:sp>
        <p:nvSpPr>
          <p:cNvPr id="14" name="replay-1-panel">
            <a:extLst xmlns:a="http://schemas.openxmlformats.org/drawingml/2006/main">
              <a:ext uri="{FF2B5EF4-FFF2-40B4-BE49-F238E27FC236}">
                <a16:creationId xmlns:a16="http://schemas.microsoft.com/office/drawing/2014/main" id="{40A8CE2D-0A16-4C14-94DE-EB6345B7DE0D}"/>
              </a:ext>
            </a:extLst>
          </p:cNvPr>
          <p:cNvSpPr>
            <a:spLocks xmlns:a="http://schemas.openxmlformats.org/drawingml/2006/main" noGrp="1"/>
          </p:cNvSpPr>
          <p:nvPr/>
        </p:nvSpPr>
        <p:spPr>
          <a:xfrm xmlns:a="http://schemas.openxmlformats.org/drawingml/2006/main">
            <a:off x="4552950" y="2686050"/>
            <a:ext cx="3352800" cy="1809750"/>
          </a:xfrm>
          <a:prstGeom xmlns:a="http://schemas.openxmlformats.org/drawingml/2006/main" prst="roundRect">
            <a:avLst>
              <a:gd name="adj" fmla="val 4211"/>
            </a:avLst>
          </a:prstGeom>
          <a:solidFill xmlns:a="http://schemas.openxmlformats.org/drawingml/2006/main">
            <a:srgbClr val="1C2638"/>
          </a:solidFill>
          <a:ln xmlns:a="http://schemas.openxmlformats.org/drawingml/2006/main" w="9525">
            <a:solidFill>
              <a:srgbClr val="343D50"/>
            </a:solidFill>
            <a:prstDash val="solid"/>
          </a:ln>
        </p:spPr>
      </p:sp>
      <p:sp>
        <p:nvSpPr>
          <p:cNvPr id="15" name="replay-1-accent">
            <a:extLst xmlns:a="http://schemas.openxmlformats.org/drawingml/2006/main">
              <a:ext uri="{FF2B5EF4-FFF2-40B4-BE49-F238E27FC236}">
                <a16:creationId xmlns:a16="http://schemas.microsoft.com/office/drawing/2014/main" id="{710CC52E-A7D2-47CC-9DF9-3725DDA5E711}"/>
              </a:ext>
            </a:extLst>
          </p:cNvPr>
          <p:cNvSpPr>
            <a:spLocks xmlns:a="http://schemas.openxmlformats.org/drawingml/2006/main" noGrp="1"/>
          </p:cNvSpPr>
          <p:nvPr/>
        </p:nvSpPr>
        <p:spPr>
          <a:xfrm xmlns:a="http://schemas.openxmlformats.org/drawingml/2006/main">
            <a:off x="4552950" y="2686050"/>
            <a:ext cx="57150" cy="18097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replay-1-title">
            <a:extLst xmlns:a="http://schemas.openxmlformats.org/drawingml/2006/main">
              <a:ext uri="{FF2B5EF4-FFF2-40B4-BE49-F238E27FC236}">
                <a16:creationId xmlns:a16="http://schemas.microsoft.com/office/drawing/2014/main" id="{C6BA00EB-EBB9-4B88-BF73-AB418D336ADD}"/>
              </a:ext>
            </a:extLst>
          </p:cNvPr>
          <p:cNvSpPr>
            <a:spLocks xmlns:a="http://schemas.openxmlformats.org/drawingml/2006/main" noGrp="1"/>
          </p:cNvSpPr>
          <p:nvPr/>
        </p:nvSpPr>
        <p:spPr>
          <a:xfrm xmlns:a="http://schemas.openxmlformats.org/drawingml/2006/main">
            <a:off x="4762500" y="285750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PRODUCER</a:t>
            </a:r>
          </a:p>
        </p:txBody>
      </p:sp>
      <p:sp>
        <p:nvSpPr>
          <p:cNvPr id="17" name="replay-1-body">
            <a:extLst xmlns:a="http://schemas.openxmlformats.org/drawingml/2006/main">
              <a:ext uri="{FF2B5EF4-FFF2-40B4-BE49-F238E27FC236}">
                <a16:creationId xmlns:a16="http://schemas.microsoft.com/office/drawing/2014/main" id="{E05374D0-E760-4BEC-A542-E02E98781620}"/>
              </a:ext>
            </a:extLst>
          </p:cNvPr>
          <p:cNvSpPr>
            <a:spLocks xmlns:a="http://schemas.openxmlformats.org/drawingml/2006/main" noGrp="1"/>
          </p:cNvSpPr>
          <p:nvPr/>
        </p:nvSpPr>
        <p:spPr>
          <a:xfrm xmlns:a="http://schemas.openxmlformats.org/drawingml/2006/main">
            <a:off x="4762500" y="3371850"/>
            <a:ext cx="2933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product closure + certificate</a:t>
            </a:r>
          </a:p>
        </p:txBody>
      </p:sp>
      <p:sp>
        <p:nvSpPr>
          <p:cNvPr id="18" name="replay-2-panel">
            <a:extLst xmlns:a="http://schemas.openxmlformats.org/drawingml/2006/main">
              <a:ext uri="{FF2B5EF4-FFF2-40B4-BE49-F238E27FC236}">
                <a16:creationId xmlns:a16="http://schemas.microsoft.com/office/drawing/2014/main" id="{A0C0E0EC-AF27-460F-9F36-84D494E5BDF3}"/>
              </a:ext>
            </a:extLst>
          </p:cNvPr>
          <p:cNvSpPr>
            <a:spLocks xmlns:a="http://schemas.openxmlformats.org/drawingml/2006/main" noGrp="1"/>
          </p:cNvSpPr>
          <p:nvPr/>
        </p:nvSpPr>
        <p:spPr>
          <a:xfrm xmlns:a="http://schemas.openxmlformats.org/drawingml/2006/main">
            <a:off x="8382000" y="2686050"/>
            <a:ext cx="3352800" cy="1809750"/>
          </a:xfrm>
          <a:prstGeom xmlns:a="http://schemas.openxmlformats.org/drawingml/2006/main" prst="roundRect">
            <a:avLst>
              <a:gd name="adj" fmla="val 4211"/>
            </a:avLst>
          </a:prstGeom>
          <a:solidFill xmlns:a="http://schemas.openxmlformats.org/drawingml/2006/main">
            <a:srgbClr val="1C2638"/>
          </a:solidFill>
          <a:ln xmlns:a="http://schemas.openxmlformats.org/drawingml/2006/main" w="9525">
            <a:solidFill>
              <a:srgbClr val="343D50"/>
            </a:solidFill>
            <a:prstDash val="solid"/>
          </a:ln>
        </p:spPr>
      </p:sp>
      <p:sp>
        <p:nvSpPr>
          <p:cNvPr id="19" name="replay-2-accent">
            <a:extLst xmlns:a="http://schemas.openxmlformats.org/drawingml/2006/main">
              <a:ext uri="{FF2B5EF4-FFF2-40B4-BE49-F238E27FC236}">
                <a16:creationId xmlns:a16="http://schemas.microsoft.com/office/drawing/2014/main" id="{8D3CE66F-05D1-44A1-96C2-C7DDA1B51637}"/>
              </a:ext>
            </a:extLst>
          </p:cNvPr>
          <p:cNvSpPr>
            <a:spLocks xmlns:a="http://schemas.openxmlformats.org/drawingml/2006/main" noGrp="1"/>
          </p:cNvSpPr>
          <p:nvPr/>
        </p:nvSpPr>
        <p:spPr>
          <a:xfrm xmlns:a="http://schemas.openxmlformats.org/drawingml/2006/main">
            <a:off x="8382000" y="2686050"/>
            <a:ext cx="57150" cy="18097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0" name="replay-2-title">
            <a:extLst xmlns:a="http://schemas.openxmlformats.org/drawingml/2006/main">
              <a:ext uri="{FF2B5EF4-FFF2-40B4-BE49-F238E27FC236}">
                <a16:creationId xmlns:a16="http://schemas.microsoft.com/office/drawing/2014/main" id="{C0831399-C7C9-44E4-AD8B-7AF33F6D831E}"/>
              </a:ext>
            </a:extLst>
          </p:cNvPr>
          <p:cNvSpPr>
            <a:spLocks xmlns:a="http://schemas.openxmlformats.org/drawingml/2006/main" noGrp="1"/>
          </p:cNvSpPr>
          <p:nvPr/>
        </p:nvSpPr>
        <p:spPr>
          <a:xfrm xmlns:a="http://schemas.openxmlformats.org/drawingml/2006/main">
            <a:off x="8591550" y="2857500"/>
            <a:ext cx="2933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REPLAYER</a:t>
            </a:r>
          </a:p>
        </p:txBody>
      </p:sp>
      <p:sp>
        <p:nvSpPr>
          <p:cNvPr id="21" name="replay-2-body">
            <a:extLst xmlns:a="http://schemas.openxmlformats.org/drawingml/2006/main">
              <a:ext uri="{FF2B5EF4-FFF2-40B4-BE49-F238E27FC236}">
                <a16:creationId xmlns:a16="http://schemas.microsoft.com/office/drawing/2014/main" id="{64747CA6-DD02-4B01-9243-78302CB059EC}"/>
              </a:ext>
            </a:extLst>
          </p:cNvPr>
          <p:cNvSpPr>
            <a:spLocks xmlns:a="http://schemas.openxmlformats.org/drawingml/2006/main" noGrp="1"/>
          </p:cNvSpPr>
          <p:nvPr/>
        </p:nvSpPr>
        <p:spPr>
          <a:xfrm xmlns:a="http://schemas.openxmlformats.org/drawingml/2006/main">
            <a:off x="8591550" y="3371850"/>
            <a:ext cx="29337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Avenir Next"/>
                <a:ea typeface="Avenir Next"/>
                <a:cs typeface="Avenir Next"/>
              </a:defRPr>
            </a:defPPr>
          </a:lstStyle>
          <a:p xmlns:a="http://schemas.openxmlformats.org/drawingml/2006/main">
            <a:pPr algn="l">
              <a:defRPr sz="1275" b="0" i="0">
                <a:solidFill>
                  <a:srgbClr val="B8C1D1"/>
                </a:solidFill>
                <a:latin typeface="Avenir Next"/>
                <a:ea typeface="Avenir Next"/>
                <a:cs typeface="Avenir Next"/>
              </a:defRPr>
            </a:pPr>
            <a:r>
              <a:rPr sz="1275" b="0" i="0">
                <a:solidFill>
                  <a:srgbClr val="B8C1D1"/>
                </a:solidFill>
                <a:latin typeface="Avenir Next"/>
                <a:ea typeface="Avenir Next"/>
                <a:cs typeface="Avenir Next"/>
              </a:rPr>
              <a:t>rebuild every node, edge, rule, R</a:t>
            </a:r>
          </a:p>
        </p:txBody>
      </p:sp>
      <p:sp>
        <p:nvSpPr>
          <p:cNvPr id="24" name="replay-verdict">
            <a:extLst xmlns:a="http://schemas.openxmlformats.org/drawingml/2006/main">
              <a:ext uri="{FF2B5EF4-FFF2-40B4-BE49-F238E27FC236}">
                <a16:creationId xmlns:a16="http://schemas.microsoft.com/office/drawing/2014/main" id="{FA931B07-7E39-40F9-93ED-9D12C713A92F}"/>
              </a:ext>
            </a:extLst>
          </p:cNvPr>
          <p:cNvSpPr>
            <a:spLocks xmlns:a="http://schemas.openxmlformats.org/drawingml/2006/main" noGrp="1"/>
          </p:cNvSpPr>
          <p:nvPr/>
        </p:nvSpPr>
        <p:spPr>
          <a:xfrm xmlns:a="http://schemas.openxmlformats.org/drawingml/2006/main">
            <a:off x="914400" y="4838700"/>
            <a:ext cx="10363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425" b="1" i="0">
                <a:solidFill>
                  <a:srgbClr val="5CC8B8"/>
                </a:solidFill>
                <a:latin typeface="Avenir Next"/>
                <a:ea typeface="Avenir Next"/>
                <a:cs typeface="Avenir Next"/>
              </a:defRPr>
            </a:defPPr>
          </a:lstStyle>
          <a:p xmlns:a="http://schemas.openxmlformats.org/drawingml/2006/main">
            <a:pPr algn="ctr">
              <a:defRPr sz="1425" b="1" i="0">
                <a:solidFill>
                  <a:srgbClr val="5CC8B8"/>
                </a:solidFill>
                <a:latin typeface="Avenir Next"/>
                <a:ea typeface="Avenir Next"/>
                <a:cs typeface="Avenir Next"/>
              </a:defRPr>
            </a:pPr>
            <a:r>
              <a:rPr sz="1425" b="1" i="0">
                <a:solidFill>
                  <a:srgbClr val="5CC8B8"/>
                </a:solidFill>
                <a:latin typeface="Avenir Next"/>
                <a:ea typeface="Avenir Next"/>
                <a:cs typeface="Avenir Next"/>
              </a:rPr>
              <a:t>VERIFIED  ·  6/6 accepting certificates replayed</a:t>
            </a:r>
          </a:p>
        </p:txBody>
      </p:sp>
      <p:sp>
        <p:nvSpPr>
          <p:cNvPr id="25" name="replay-limit">
            <a:extLst xmlns:a="http://schemas.openxmlformats.org/drawingml/2006/main">
              <a:ext uri="{FF2B5EF4-FFF2-40B4-BE49-F238E27FC236}">
                <a16:creationId xmlns:a16="http://schemas.microsoft.com/office/drawing/2014/main" id="{186E5822-67AF-42BB-961C-DB6E5B9AE8E3}"/>
              </a:ext>
            </a:extLst>
          </p:cNvPr>
          <p:cNvSpPr>
            <a:spLocks xmlns:a="http://schemas.openxmlformats.org/drawingml/2006/main" noGrp="1"/>
          </p:cNvSpPr>
          <p:nvPr/>
        </p:nvSpPr>
        <p:spPr>
          <a:xfrm xmlns:a="http://schemas.openxmlformats.org/drawingml/2006/main">
            <a:off x="933450" y="5314950"/>
            <a:ext cx="10334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38" b="0" i="0">
                <a:solidFill>
                  <a:srgbClr val="B8C1D1"/>
                </a:solidFill>
                <a:latin typeface="Avenir Next"/>
                <a:ea typeface="Avenir Next"/>
                <a:cs typeface="Avenir Next"/>
              </a:defRPr>
            </a:defPPr>
          </a:lstStyle>
          <a:p xmlns:a="http://schemas.openxmlformats.org/drawingml/2006/main">
            <a:pPr algn="ctr">
              <a:defRPr sz="1238" b="0" i="0">
                <a:solidFill>
                  <a:srgbClr val="B8C1D1"/>
                </a:solidFill>
                <a:latin typeface="Avenir Next"/>
                <a:ea typeface="Avenir Next"/>
                <a:cs typeface="Avenir Next"/>
              </a:defRPr>
            </a:pPr>
            <a:r>
              <a:rPr sz="1238" b="0" i="0">
                <a:solidFill>
                  <a:srgbClr val="B8C1D1"/>
                </a:solidFill>
                <a:latin typeface="Avenir Next"/>
                <a:ea typeface="Avenir Next"/>
                <a:cs typeface="Avenir Next"/>
              </a:rPr>
              <a:t>Replay checks certificate closure under the graph rules; it does not verify graph-to-source fidelity or mechanize the relational theorem.</a:t>
            </a:r>
          </a:p>
        </p:txBody>
      </p:sp>
    </p:spTree>
    <p:extLst>
      <p:ext uri="{BB962C8B-B14F-4D97-AF65-F5344CB8AC3E}">
        <p14:creationId xmlns:p14="http://schemas.microsoft.com/office/powerpoint/2010/main" val="75825698"/>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1" name="s13-brand">
            <a:extLst xmlns:a="http://schemas.openxmlformats.org/drawingml/2006/main">
              <a:ext uri="{FF2B5EF4-FFF2-40B4-BE49-F238E27FC236}">
                <a16:creationId xmlns:a16="http://schemas.microsoft.com/office/drawing/2014/main" id="{F62A93F9-C85E-408C-A0D3-2F9E2EF38C3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3-section">
            <a:extLst xmlns:a="http://schemas.openxmlformats.org/drawingml/2006/main">
              <a:ext uri="{FF2B5EF4-FFF2-40B4-BE49-F238E27FC236}">
                <a16:creationId xmlns:a16="http://schemas.microsoft.com/office/drawing/2014/main" id="{54C0EAB3-CF12-49DD-B1C4-89705CA281DF}"/>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SOURCE BRIDGE</a:t>
            </a:r>
          </a:p>
        </p:txBody>
      </p:sp>
      <p:sp>
        <p:nvSpPr>
          <p:cNvPr id="3" name="s13-title">
            <a:extLst xmlns:a="http://schemas.openxmlformats.org/drawingml/2006/main">
              <a:ext uri="{FF2B5EF4-FFF2-40B4-BE49-F238E27FC236}">
                <a16:creationId xmlns:a16="http://schemas.microsoft.com/office/drawing/2014/main" id="{E1FBB797-4D40-4525-8CFB-5EA12F8A1236}"/>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source bridge admits a small OrchLang subset</a:t>
            </a:r>
          </a:p>
        </p:txBody>
      </p:sp>
      <p:sp>
        <p:nvSpPr>
          <p:cNvPr id="4" name="s13-subtitle">
            <a:extLst xmlns:a="http://schemas.openxmlformats.org/drawingml/2006/main">
              <a:ext uri="{FF2B5EF4-FFF2-40B4-BE49-F238E27FC236}">
                <a16:creationId xmlns:a16="http://schemas.microsoft.com/office/drawing/2014/main" id="{BD65D633-832F-4BA0-B4A0-D128E15170B6}"/>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17 of 20 selected source files exported; retry syntax accounts for the exclusions.</a:t>
            </a:r>
          </a:p>
        </p:txBody>
      </p:sp>
      <p:sp>
        <p:nvSpPr>
          <p:cNvPr id="5" name="s13-source-rule">
            <a:extLst xmlns:a="http://schemas.openxmlformats.org/drawingml/2006/main">
              <a:ext uri="{FF2B5EF4-FFF2-40B4-BE49-F238E27FC236}">
                <a16:creationId xmlns:a16="http://schemas.microsoft.com/office/drawing/2014/main" id="{643CEBFA-3FE3-4CBE-B9FD-CCD5ACF7D443}"/>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3-sources">
            <a:extLst xmlns:a="http://schemas.openxmlformats.org/drawingml/2006/main">
              <a:ext uri="{FF2B5EF4-FFF2-40B4-BE49-F238E27FC236}">
                <a16:creationId xmlns:a16="http://schemas.microsoft.com/office/drawing/2014/main" id="{3B1A1ECB-0094-4193-984C-0C61490DBD22}"/>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docs/SOURCE_GRAPH_BRIDGE.md</a:t>
            </a:r>
          </a:p>
        </p:txBody>
      </p:sp>
      <p:sp>
        <p:nvSpPr>
          <p:cNvPr id="7" name="s13-footer-rule">
            <a:extLst xmlns:a="http://schemas.openxmlformats.org/drawingml/2006/main">
              <a:ext uri="{FF2B5EF4-FFF2-40B4-BE49-F238E27FC236}">
                <a16:creationId xmlns:a16="http://schemas.microsoft.com/office/drawing/2014/main" id="{0890E0DE-5F14-4FD8-9E8A-4BDC2C090F96}"/>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3-footer">
            <a:extLst xmlns:a="http://schemas.openxmlformats.org/drawingml/2006/main">
              <a:ext uri="{FF2B5EF4-FFF2-40B4-BE49-F238E27FC236}">
                <a16:creationId xmlns:a16="http://schemas.microsoft.com/office/drawing/2014/main" id="{1F4E19FB-4208-4EE7-8C37-0DB13651FF8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3-page">
            <a:extLst xmlns:a="http://schemas.openxmlformats.org/drawingml/2006/main">
              <a:ext uri="{FF2B5EF4-FFF2-40B4-BE49-F238E27FC236}">
                <a16:creationId xmlns:a16="http://schemas.microsoft.com/office/drawing/2014/main" id="{6A52C407-072F-48FA-9CE3-3DF187C653B7}"/>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13</a:t>
            </a:r>
          </a:p>
        </p:txBody>
      </p:sp>
      <p:sp>
        <p:nvSpPr>
          <p:cNvPr id="10" name="bridge-metric-0-panel">
            <a:extLst xmlns:a="http://schemas.openxmlformats.org/drawingml/2006/main">
              <a:ext uri="{FF2B5EF4-FFF2-40B4-BE49-F238E27FC236}">
                <a16:creationId xmlns:a16="http://schemas.microsoft.com/office/drawing/2014/main" id="{6988D1E1-24CF-4EED-8722-958B8B01EA03}"/>
              </a:ext>
            </a:extLst>
          </p:cNvPr>
          <p:cNvSpPr>
            <a:spLocks xmlns:a="http://schemas.openxmlformats.org/drawingml/2006/main" noGrp="1"/>
          </p:cNvSpPr>
          <p:nvPr/>
        </p:nvSpPr>
        <p:spPr>
          <a:xfrm xmlns:a="http://schemas.openxmlformats.org/drawingml/2006/main">
            <a:off x="781050" y="2647950"/>
            <a:ext cx="2343150"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11" name="bridge-metric-0-stripe">
            <a:extLst xmlns:a="http://schemas.openxmlformats.org/drawingml/2006/main">
              <a:ext uri="{FF2B5EF4-FFF2-40B4-BE49-F238E27FC236}">
                <a16:creationId xmlns:a16="http://schemas.microsoft.com/office/drawing/2014/main" id="{6F01AC43-501E-41FE-A06E-0376218BE91E}"/>
              </a:ext>
            </a:extLst>
          </p:cNvPr>
          <p:cNvSpPr>
            <a:spLocks xmlns:a="http://schemas.openxmlformats.org/drawingml/2006/main" noGrp="1"/>
          </p:cNvSpPr>
          <p:nvPr/>
        </p:nvSpPr>
        <p:spPr>
          <a:xfrm xmlns:a="http://schemas.openxmlformats.org/drawingml/2006/main">
            <a:off x="781050" y="26479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bridge-metric-0-value">
            <a:extLst xmlns:a="http://schemas.openxmlformats.org/drawingml/2006/main">
              <a:ext uri="{FF2B5EF4-FFF2-40B4-BE49-F238E27FC236}">
                <a16:creationId xmlns:a16="http://schemas.microsoft.com/office/drawing/2014/main" id="{B9F3313A-762A-4EE2-8B18-63CCBF403505}"/>
              </a:ext>
            </a:extLst>
          </p:cNvPr>
          <p:cNvSpPr>
            <a:spLocks xmlns:a="http://schemas.openxmlformats.org/drawingml/2006/main" noGrp="1"/>
          </p:cNvSpPr>
          <p:nvPr/>
        </p:nvSpPr>
        <p:spPr>
          <a:xfrm xmlns:a="http://schemas.openxmlformats.org/drawingml/2006/main">
            <a:off x="91440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1F6F66"/>
                </a:solidFill>
                <a:latin typeface="Avenir Next"/>
                <a:ea typeface="Avenir Next"/>
                <a:cs typeface="Avenir Next"/>
              </a:defRPr>
            </a:defPPr>
          </a:lstStyle>
          <a:p xmlns:a="http://schemas.openxmlformats.org/drawingml/2006/main">
            <a:pPr algn="ctr">
              <a:defRPr sz="2550" b="1" i="0">
                <a:solidFill>
                  <a:srgbClr val="1F6F66"/>
                </a:solidFill>
                <a:latin typeface="Avenir Next"/>
                <a:ea typeface="Avenir Next"/>
                <a:cs typeface="Avenir Next"/>
              </a:defRPr>
            </a:pPr>
            <a:r>
              <a:rPr sz="2550" b="1" i="0">
                <a:solidFill>
                  <a:srgbClr val="1F6F66"/>
                </a:solidFill>
                <a:latin typeface="Avenir Next"/>
                <a:ea typeface="Avenir Next"/>
                <a:cs typeface="Avenir Next"/>
              </a:rPr>
              <a:t>20/20</a:t>
            </a:r>
          </a:p>
        </p:txBody>
      </p:sp>
      <p:sp>
        <p:nvSpPr>
          <p:cNvPr id="13" name="bridge-metric-0-label">
            <a:extLst xmlns:a="http://schemas.openxmlformats.org/drawingml/2006/main">
              <a:ext uri="{FF2B5EF4-FFF2-40B4-BE49-F238E27FC236}">
                <a16:creationId xmlns:a16="http://schemas.microsoft.com/office/drawing/2014/main" id="{6794698B-85BD-4351-AD89-AB921757724A}"/>
              </a:ext>
            </a:extLst>
          </p:cNvPr>
          <p:cNvSpPr>
            <a:spLocks xmlns:a="http://schemas.openxmlformats.org/drawingml/2006/main" noGrp="1"/>
          </p:cNvSpPr>
          <p:nvPr/>
        </p:nvSpPr>
        <p:spPr>
          <a:xfrm xmlns:a="http://schemas.openxmlformats.org/drawingml/2006/main">
            <a:off x="93345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source candidates</a:t>
            </a:r>
          </a:p>
        </p:txBody>
      </p:sp>
      <p:sp>
        <p:nvSpPr>
          <p:cNvPr id="14" name="bridge-metric-0-detail">
            <a:extLst xmlns:a="http://schemas.openxmlformats.org/drawingml/2006/main">
              <a:ext uri="{FF2B5EF4-FFF2-40B4-BE49-F238E27FC236}">
                <a16:creationId xmlns:a16="http://schemas.microsoft.com/office/drawing/2014/main" id="{77674E9F-01D8-44DA-8C0F-1A83C373DBFE}"/>
              </a:ext>
            </a:extLst>
          </p:cNvPr>
          <p:cNvSpPr>
            <a:spLocks xmlns:a="http://schemas.openxmlformats.org/drawingml/2006/main" noGrp="1"/>
          </p:cNvSpPr>
          <p:nvPr/>
        </p:nvSpPr>
        <p:spPr>
          <a:xfrm xmlns:a="http://schemas.openxmlformats.org/drawingml/2006/main">
            <a:off x="91440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C++ gate passed</a:t>
            </a:r>
          </a:p>
        </p:txBody>
      </p:sp>
      <p:sp>
        <p:nvSpPr>
          <p:cNvPr id="15" name="bridge-metric-1-panel">
            <a:extLst xmlns:a="http://schemas.openxmlformats.org/drawingml/2006/main">
              <a:ext uri="{FF2B5EF4-FFF2-40B4-BE49-F238E27FC236}">
                <a16:creationId xmlns:a16="http://schemas.microsoft.com/office/drawing/2014/main" id="{D4B1FE2A-AB4C-4719-8EBD-3460A26B1CFC}"/>
              </a:ext>
            </a:extLst>
          </p:cNvPr>
          <p:cNvSpPr>
            <a:spLocks xmlns:a="http://schemas.openxmlformats.org/drawingml/2006/main" noGrp="1"/>
          </p:cNvSpPr>
          <p:nvPr/>
        </p:nvSpPr>
        <p:spPr>
          <a:xfrm xmlns:a="http://schemas.openxmlformats.org/drawingml/2006/main">
            <a:off x="3543300" y="2647950"/>
            <a:ext cx="2343150"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16" name="bridge-metric-1-stripe">
            <a:extLst xmlns:a="http://schemas.openxmlformats.org/drawingml/2006/main">
              <a:ext uri="{FF2B5EF4-FFF2-40B4-BE49-F238E27FC236}">
                <a16:creationId xmlns:a16="http://schemas.microsoft.com/office/drawing/2014/main" id="{608E3E4D-7CD8-420B-BEDE-C3A2B4EC043E}"/>
              </a:ext>
            </a:extLst>
          </p:cNvPr>
          <p:cNvSpPr>
            <a:spLocks xmlns:a="http://schemas.openxmlformats.org/drawingml/2006/main" noGrp="1"/>
          </p:cNvSpPr>
          <p:nvPr/>
        </p:nvSpPr>
        <p:spPr>
          <a:xfrm xmlns:a="http://schemas.openxmlformats.org/drawingml/2006/main">
            <a:off x="3543300" y="26479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bridge-metric-1-value">
            <a:extLst xmlns:a="http://schemas.openxmlformats.org/drawingml/2006/main">
              <a:ext uri="{FF2B5EF4-FFF2-40B4-BE49-F238E27FC236}">
                <a16:creationId xmlns:a16="http://schemas.microsoft.com/office/drawing/2014/main" id="{0336C2D7-F6B5-463D-A7E7-096FF340D671}"/>
              </a:ext>
            </a:extLst>
          </p:cNvPr>
          <p:cNvSpPr>
            <a:spLocks xmlns:a="http://schemas.openxmlformats.org/drawingml/2006/main" noGrp="1"/>
          </p:cNvSpPr>
          <p:nvPr/>
        </p:nvSpPr>
        <p:spPr>
          <a:xfrm xmlns:a="http://schemas.openxmlformats.org/drawingml/2006/main">
            <a:off x="367665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FF8A5C"/>
                </a:solidFill>
                <a:latin typeface="Avenir Next"/>
                <a:ea typeface="Avenir Next"/>
                <a:cs typeface="Avenir Next"/>
              </a:defRPr>
            </a:defPPr>
          </a:lstStyle>
          <a:p xmlns:a="http://schemas.openxmlformats.org/drawingml/2006/main">
            <a:pPr algn="ctr">
              <a:defRPr sz="2550" b="1" i="0">
                <a:solidFill>
                  <a:srgbClr val="FF8A5C"/>
                </a:solidFill>
                <a:latin typeface="Avenir Next"/>
                <a:ea typeface="Avenir Next"/>
                <a:cs typeface="Avenir Next"/>
              </a:defRPr>
            </a:pPr>
            <a:r>
              <a:rPr sz="2550" b="1" i="0">
                <a:solidFill>
                  <a:srgbClr val="FF8A5C"/>
                </a:solidFill>
                <a:latin typeface="Avenir Next"/>
                <a:ea typeface="Avenir Next"/>
                <a:cs typeface="Avenir Next"/>
              </a:rPr>
              <a:t>17/20</a:t>
            </a:r>
          </a:p>
        </p:txBody>
      </p:sp>
      <p:sp>
        <p:nvSpPr>
          <p:cNvPr id="18" name="bridge-metric-1-label">
            <a:extLst xmlns:a="http://schemas.openxmlformats.org/drawingml/2006/main">
              <a:ext uri="{FF2B5EF4-FFF2-40B4-BE49-F238E27FC236}">
                <a16:creationId xmlns:a16="http://schemas.microsoft.com/office/drawing/2014/main" id="{778E66E7-6363-4EAE-8A5F-07620593F989}"/>
              </a:ext>
            </a:extLst>
          </p:cNvPr>
          <p:cNvSpPr>
            <a:spLocks xmlns:a="http://schemas.openxmlformats.org/drawingml/2006/main" noGrp="1"/>
          </p:cNvSpPr>
          <p:nvPr/>
        </p:nvSpPr>
        <p:spPr>
          <a:xfrm xmlns:a="http://schemas.openxmlformats.org/drawingml/2006/main">
            <a:off x="369570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exported</a:t>
            </a:r>
          </a:p>
        </p:txBody>
      </p:sp>
      <p:sp>
        <p:nvSpPr>
          <p:cNvPr id="19" name="bridge-metric-1-detail">
            <a:extLst xmlns:a="http://schemas.openxmlformats.org/drawingml/2006/main">
              <a:ext uri="{FF2B5EF4-FFF2-40B4-BE49-F238E27FC236}">
                <a16:creationId xmlns:a16="http://schemas.microsoft.com/office/drawing/2014/main" id="{6E45DDAA-AD23-4B0F-BAFC-0B5891CFB2BA}"/>
              </a:ext>
            </a:extLst>
          </p:cNvPr>
          <p:cNvSpPr>
            <a:spLocks xmlns:a="http://schemas.openxmlformats.org/drawingml/2006/main" noGrp="1"/>
          </p:cNvSpPr>
          <p:nvPr/>
        </p:nvSpPr>
        <p:spPr>
          <a:xfrm xmlns:a="http://schemas.openxmlformats.org/drawingml/2006/main">
            <a:off x="367665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3 retry cases outside graph v1</a:t>
            </a:r>
          </a:p>
        </p:txBody>
      </p:sp>
      <p:sp>
        <p:nvSpPr>
          <p:cNvPr id="20" name="bridge-metric-2-panel">
            <a:extLst xmlns:a="http://schemas.openxmlformats.org/drawingml/2006/main">
              <a:ext uri="{FF2B5EF4-FFF2-40B4-BE49-F238E27FC236}">
                <a16:creationId xmlns:a16="http://schemas.microsoft.com/office/drawing/2014/main" id="{77993880-6EFB-4B45-8C7F-F23017CEEA13}"/>
              </a:ext>
            </a:extLst>
          </p:cNvPr>
          <p:cNvSpPr>
            <a:spLocks xmlns:a="http://schemas.openxmlformats.org/drawingml/2006/main" noGrp="1"/>
          </p:cNvSpPr>
          <p:nvPr/>
        </p:nvSpPr>
        <p:spPr>
          <a:xfrm xmlns:a="http://schemas.openxmlformats.org/drawingml/2006/main">
            <a:off x="6305550" y="2647950"/>
            <a:ext cx="2343150"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21" name="bridge-metric-2-stripe">
            <a:extLst xmlns:a="http://schemas.openxmlformats.org/drawingml/2006/main">
              <a:ext uri="{FF2B5EF4-FFF2-40B4-BE49-F238E27FC236}">
                <a16:creationId xmlns:a16="http://schemas.microsoft.com/office/drawing/2014/main" id="{B072872B-A623-49FF-9216-580C16C1FC7A}"/>
              </a:ext>
            </a:extLst>
          </p:cNvPr>
          <p:cNvSpPr>
            <a:spLocks xmlns:a="http://schemas.openxmlformats.org/drawingml/2006/main" noGrp="1"/>
          </p:cNvSpPr>
          <p:nvPr/>
        </p:nvSpPr>
        <p:spPr>
          <a:xfrm xmlns:a="http://schemas.openxmlformats.org/drawingml/2006/main">
            <a:off x="6305550" y="26479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bridge-metric-2-value">
            <a:extLst xmlns:a="http://schemas.openxmlformats.org/drawingml/2006/main">
              <a:ext uri="{FF2B5EF4-FFF2-40B4-BE49-F238E27FC236}">
                <a16:creationId xmlns:a16="http://schemas.microsoft.com/office/drawing/2014/main" id="{330B2812-63FD-46C6-8710-485122233968}"/>
              </a:ext>
            </a:extLst>
          </p:cNvPr>
          <p:cNvSpPr>
            <a:spLocks xmlns:a="http://schemas.openxmlformats.org/drawingml/2006/main" noGrp="1"/>
          </p:cNvSpPr>
          <p:nvPr/>
        </p:nvSpPr>
        <p:spPr>
          <a:xfrm xmlns:a="http://schemas.openxmlformats.org/drawingml/2006/main">
            <a:off x="643890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5CC8B8"/>
                </a:solidFill>
                <a:latin typeface="Avenir Next"/>
                <a:ea typeface="Avenir Next"/>
                <a:cs typeface="Avenir Next"/>
              </a:defRPr>
            </a:defPPr>
          </a:lstStyle>
          <a:p xmlns:a="http://schemas.openxmlformats.org/drawingml/2006/main">
            <a:pPr algn="ctr">
              <a:defRPr sz="2550" b="1" i="0">
                <a:solidFill>
                  <a:srgbClr val="5CC8B8"/>
                </a:solidFill>
                <a:latin typeface="Avenir Next"/>
                <a:ea typeface="Avenir Next"/>
                <a:cs typeface="Avenir Next"/>
              </a:defRPr>
            </a:pPr>
            <a:r>
              <a:rPr sz="2550" b="1" i="0">
                <a:solidFill>
                  <a:srgbClr val="5CC8B8"/>
                </a:solidFill>
                <a:latin typeface="Avenir Next"/>
                <a:ea typeface="Avenir Next"/>
                <a:cs typeface="Avenir Next"/>
              </a:rPr>
              <a:t>720</a:t>
            </a:r>
          </a:p>
        </p:txBody>
      </p:sp>
      <p:sp>
        <p:nvSpPr>
          <p:cNvPr id="23" name="bridge-metric-2-label">
            <a:extLst xmlns:a="http://schemas.openxmlformats.org/drawingml/2006/main">
              <a:ext uri="{FF2B5EF4-FFF2-40B4-BE49-F238E27FC236}">
                <a16:creationId xmlns:a16="http://schemas.microsoft.com/office/drawing/2014/main" id="{A76A0B5E-1C3B-4EC3-9160-458086DF26A6}"/>
              </a:ext>
            </a:extLst>
          </p:cNvPr>
          <p:cNvSpPr>
            <a:spLocks xmlns:a="http://schemas.openxmlformats.org/drawingml/2006/main" noGrp="1"/>
          </p:cNvSpPr>
          <p:nvPr/>
        </p:nvSpPr>
        <p:spPr>
          <a:xfrm xmlns:a="http://schemas.openxmlformats.org/drawingml/2006/main">
            <a:off x="645795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source/graph run pairs</a:t>
            </a:r>
          </a:p>
        </p:txBody>
      </p:sp>
      <p:sp>
        <p:nvSpPr>
          <p:cNvPr id="24" name="bridge-metric-2-detail">
            <a:extLst xmlns:a="http://schemas.openxmlformats.org/drawingml/2006/main">
              <a:ext uri="{FF2B5EF4-FFF2-40B4-BE49-F238E27FC236}">
                <a16:creationId xmlns:a16="http://schemas.microsoft.com/office/drawing/2014/main" id="{F0929CAF-6FB7-4259-9E25-A2DA893A4A7B}"/>
              </a:ext>
            </a:extLst>
          </p:cNvPr>
          <p:cNvSpPr>
            <a:spLocks xmlns:a="http://schemas.openxmlformats.org/drawingml/2006/main" noGrp="1"/>
          </p:cNvSpPr>
          <p:nvPr/>
        </p:nvSpPr>
        <p:spPr>
          <a:xfrm xmlns:a="http://schemas.openxmlformats.org/drawingml/2006/main">
            <a:off x="643890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complete modeled traces</a:t>
            </a:r>
          </a:p>
        </p:txBody>
      </p:sp>
      <p:sp>
        <p:nvSpPr>
          <p:cNvPr id="25" name="bridge-metric-3-panel">
            <a:extLst xmlns:a="http://schemas.openxmlformats.org/drawingml/2006/main">
              <a:ext uri="{FF2B5EF4-FFF2-40B4-BE49-F238E27FC236}">
                <a16:creationId xmlns:a16="http://schemas.microsoft.com/office/drawing/2014/main" id="{59691A0F-807D-40FE-B1A1-ED1FB30F1D99}"/>
              </a:ext>
            </a:extLst>
          </p:cNvPr>
          <p:cNvSpPr>
            <a:spLocks xmlns:a="http://schemas.openxmlformats.org/drawingml/2006/main" noGrp="1"/>
          </p:cNvSpPr>
          <p:nvPr/>
        </p:nvSpPr>
        <p:spPr>
          <a:xfrm xmlns:a="http://schemas.openxmlformats.org/drawingml/2006/main">
            <a:off x="9067800" y="2647950"/>
            <a:ext cx="2343150"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26" name="bridge-metric-3-stripe">
            <a:extLst xmlns:a="http://schemas.openxmlformats.org/drawingml/2006/main">
              <a:ext uri="{FF2B5EF4-FFF2-40B4-BE49-F238E27FC236}">
                <a16:creationId xmlns:a16="http://schemas.microsoft.com/office/drawing/2014/main" id="{0518299E-C2D4-487D-B1B7-CCAA941209C4}"/>
              </a:ext>
            </a:extLst>
          </p:cNvPr>
          <p:cNvSpPr>
            <a:spLocks xmlns:a="http://schemas.openxmlformats.org/drawingml/2006/main" noGrp="1"/>
          </p:cNvSpPr>
          <p:nvPr/>
        </p:nvSpPr>
        <p:spPr>
          <a:xfrm xmlns:a="http://schemas.openxmlformats.org/drawingml/2006/main">
            <a:off x="9067800" y="26479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bridge-metric-3-value">
            <a:extLst xmlns:a="http://schemas.openxmlformats.org/drawingml/2006/main">
              <a:ext uri="{FF2B5EF4-FFF2-40B4-BE49-F238E27FC236}">
                <a16:creationId xmlns:a16="http://schemas.microsoft.com/office/drawing/2014/main" id="{689F7109-69D8-434B-A718-B6A7DA8269BF}"/>
              </a:ext>
            </a:extLst>
          </p:cNvPr>
          <p:cNvSpPr>
            <a:spLocks xmlns:a="http://schemas.openxmlformats.org/drawingml/2006/main" noGrp="1"/>
          </p:cNvSpPr>
          <p:nvPr/>
        </p:nvSpPr>
        <p:spPr>
          <a:xfrm xmlns:a="http://schemas.openxmlformats.org/drawingml/2006/main">
            <a:off x="920115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C2461F"/>
                </a:solidFill>
                <a:latin typeface="Avenir Next"/>
                <a:ea typeface="Avenir Next"/>
                <a:cs typeface="Avenir Next"/>
              </a:defRPr>
            </a:defPPr>
          </a:lstStyle>
          <a:p xmlns:a="http://schemas.openxmlformats.org/drawingml/2006/main">
            <a:pPr algn="ctr">
              <a:defRPr sz="2550" b="1" i="0">
                <a:solidFill>
                  <a:srgbClr val="C2461F"/>
                </a:solidFill>
                <a:latin typeface="Avenir Next"/>
                <a:ea typeface="Avenir Next"/>
                <a:cs typeface="Avenir Next"/>
              </a:defRPr>
            </a:pPr>
            <a:r>
              <a:rPr sz="2550" b="1" i="0">
                <a:solidFill>
                  <a:srgbClr val="C2461F"/>
                </a:solidFill>
                <a:latin typeface="Avenir Next"/>
                <a:ea typeface="Avenir Next"/>
                <a:cs typeface="Avenir Next"/>
              </a:rPr>
              <a:t>0</a:t>
            </a:r>
          </a:p>
        </p:txBody>
      </p:sp>
      <p:sp>
        <p:nvSpPr>
          <p:cNvPr id="28" name="bridge-metric-3-label">
            <a:extLst xmlns:a="http://schemas.openxmlformats.org/drawingml/2006/main">
              <a:ext uri="{FF2B5EF4-FFF2-40B4-BE49-F238E27FC236}">
                <a16:creationId xmlns:a16="http://schemas.microsoft.com/office/drawing/2014/main" id="{B3902553-E01D-44E2-93FA-54470271671B}"/>
              </a:ext>
            </a:extLst>
          </p:cNvPr>
          <p:cNvSpPr>
            <a:spLocks xmlns:a="http://schemas.openxmlformats.org/drawingml/2006/main" noGrp="1"/>
          </p:cNvSpPr>
          <p:nvPr/>
        </p:nvSpPr>
        <p:spPr>
          <a:xfrm xmlns:a="http://schemas.openxmlformats.org/drawingml/2006/main">
            <a:off x="922020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trace differences</a:t>
            </a:r>
          </a:p>
        </p:txBody>
      </p:sp>
      <p:sp>
        <p:nvSpPr>
          <p:cNvPr id="29" name="bridge-metric-3-detail">
            <a:extLst xmlns:a="http://schemas.openxmlformats.org/drawingml/2006/main">
              <a:ext uri="{FF2B5EF4-FFF2-40B4-BE49-F238E27FC236}">
                <a16:creationId xmlns:a16="http://schemas.microsoft.com/office/drawing/2014/main" id="{B3255CE8-F0EC-4702-A4DB-6D8D613521D5}"/>
              </a:ext>
            </a:extLst>
          </p:cNvPr>
          <p:cNvSpPr>
            <a:spLocks xmlns:a="http://schemas.openxmlformats.org/drawingml/2006/main" noGrp="1"/>
          </p:cNvSpPr>
          <p:nvPr/>
        </p:nvSpPr>
        <p:spPr>
          <a:xfrm xmlns:a="http://schemas.openxmlformats.org/drawingml/2006/main">
            <a:off x="920115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360 secret-trace comparisons</a:t>
            </a:r>
          </a:p>
        </p:txBody>
      </p:sp>
      <p:sp>
        <p:nvSpPr>
          <p:cNvPr id="30" name="bridge-metric-scope">
            <a:extLst xmlns:a="http://schemas.openxmlformats.org/drawingml/2006/main">
              <a:ext uri="{FF2B5EF4-FFF2-40B4-BE49-F238E27FC236}">
                <a16:creationId xmlns:a16="http://schemas.microsoft.com/office/drawing/2014/main" id="{6BFF59F1-F984-4232-A33B-91F448583CAC}"/>
              </a:ext>
            </a:extLst>
          </p:cNvPr>
          <p:cNvSpPr>
            <a:spLocks xmlns:a="http://schemas.openxmlformats.org/drawingml/2006/main" noGrp="1"/>
          </p:cNvSpPr>
          <p:nvPr/>
        </p:nvSpPr>
        <p:spPr>
          <a:xfrm xmlns:a="http://schemas.openxmlformats.org/drawingml/2006/main">
            <a:off x="876300" y="5076825"/>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646B7A"/>
                </a:solidFill>
                <a:latin typeface="Avenir Next"/>
                <a:ea typeface="Avenir Next"/>
                <a:cs typeface="Avenir Next"/>
              </a:defRPr>
            </a:defPPr>
          </a:lstStyle>
          <a:p xmlns:a="http://schemas.openxmlformats.org/drawingml/2006/main">
            <a:pPr algn="ctr">
              <a:defRPr sz="1125" b="1" i="0">
                <a:solidFill>
                  <a:srgbClr val="646B7A"/>
                </a:solidFill>
                <a:latin typeface="Avenir Next"/>
                <a:ea typeface="Avenir Next"/>
                <a:cs typeface="Avenir Next"/>
              </a:defRPr>
            </a:pPr>
            <a:r>
              <a:rPr sz="1125" b="1" i="0">
                <a:solidFill>
                  <a:srgbClr val="646B7A"/>
                </a:solidFill>
                <a:latin typeface="Avenir Next"/>
                <a:ea typeface="Avenir Next"/>
                <a:cs typeface="Avenir Next"/>
              </a:rPr>
              <a:t>An experimental source adapter with a narrow subset; hashes bind files but do not verify translation.</a:t>
            </a:r>
          </a:p>
        </p:txBody>
      </p:sp>
    </p:spTree>
    <p:extLst>
      <p:ext uri="{BB962C8B-B14F-4D97-AF65-F5344CB8AC3E}">
        <p14:creationId xmlns:p14="http://schemas.microsoft.com/office/powerpoint/2010/main" val="1243439391"/>
      </p:ext>
    </p:extLst>
  </p:cSld>
</p:sld>
</file>

<file path=ppt/slides/slide1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1" name="s14-brand">
            <a:extLst xmlns:a="http://schemas.openxmlformats.org/drawingml/2006/main">
              <a:ext uri="{FF2B5EF4-FFF2-40B4-BE49-F238E27FC236}">
                <a16:creationId xmlns:a16="http://schemas.microsoft.com/office/drawing/2014/main" id="{EBB9D9AF-D3D4-4259-B4CC-C862CDEAF4CA}"/>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4-section">
            <a:extLst xmlns:a="http://schemas.openxmlformats.org/drawingml/2006/main">
              <a:ext uri="{FF2B5EF4-FFF2-40B4-BE49-F238E27FC236}">
                <a16:creationId xmlns:a16="http://schemas.microsoft.com/office/drawing/2014/main" id="{C9D5C80C-9130-4F97-B167-B43D8C741182}"/>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LANGGRAPH SOURCE</a:t>
            </a:r>
          </a:p>
        </p:txBody>
      </p:sp>
      <p:sp>
        <p:nvSpPr>
          <p:cNvPr id="3" name="s14-title">
            <a:extLst xmlns:a="http://schemas.openxmlformats.org/drawingml/2006/main">
              <a:ext uri="{FF2B5EF4-FFF2-40B4-BE49-F238E27FC236}">
                <a16:creationId xmlns:a16="http://schemas.microsoft.com/office/drawing/2014/main" id="{0CAE59C5-1A44-4631-9C25-51F00CE4456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Source-level StateGraph examples reach LangGraph</a:t>
            </a:r>
          </a:p>
        </p:txBody>
      </p:sp>
      <p:sp>
        <p:nvSpPr>
          <p:cNvPr id="4" name="s14-subtitle">
            <a:extLst xmlns:a="http://schemas.openxmlformats.org/drawingml/2006/main">
              <a:ext uri="{FF2B5EF4-FFF2-40B4-BE49-F238E27FC236}">
                <a16:creationId xmlns:a16="http://schemas.microsoft.com/office/drawing/2014/main" id="{23DBB648-45FF-4B03-BB64-A35BD584F0A6}"/>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A restricted Python AST frontend was compared with original-source executions.</a:t>
            </a:r>
          </a:p>
        </p:txBody>
      </p:sp>
      <p:sp>
        <p:nvSpPr>
          <p:cNvPr id="5" name="s14-source-rule">
            <a:extLst xmlns:a="http://schemas.openxmlformats.org/drawingml/2006/main">
              <a:ext uri="{FF2B5EF4-FFF2-40B4-BE49-F238E27FC236}">
                <a16:creationId xmlns:a16="http://schemas.microsoft.com/office/drawing/2014/main" id="{6CEE9018-777E-4C43-B4CA-7C5B2EADFF8A}"/>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4-sources">
            <a:extLst xmlns:a="http://schemas.openxmlformats.org/drawingml/2006/main">
              <a:ext uri="{FF2B5EF4-FFF2-40B4-BE49-F238E27FC236}">
                <a16:creationId xmlns:a16="http://schemas.microsoft.com/office/drawing/2014/main" id="{8EEBF17A-EFB4-4796-B904-B430C35781A3}"/>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integrations/langgraph/source_frontend/README.md</a:t>
            </a:r>
          </a:p>
        </p:txBody>
      </p:sp>
      <p:sp>
        <p:nvSpPr>
          <p:cNvPr id="7" name="s14-footer-rule">
            <a:extLst xmlns:a="http://schemas.openxmlformats.org/drawingml/2006/main">
              <a:ext uri="{FF2B5EF4-FFF2-40B4-BE49-F238E27FC236}">
                <a16:creationId xmlns:a16="http://schemas.microsoft.com/office/drawing/2014/main" id="{35001992-FDCA-453C-824B-8CF4E9F3D12A}"/>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4-footer">
            <a:extLst xmlns:a="http://schemas.openxmlformats.org/drawingml/2006/main">
              <a:ext uri="{FF2B5EF4-FFF2-40B4-BE49-F238E27FC236}">
                <a16:creationId xmlns:a16="http://schemas.microsoft.com/office/drawing/2014/main" id="{E9BE4E53-F8A7-4F74-8B11-F4E7C54D8205}"/>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4-page">
            <a:extLst xmlns:a="http://schemas.openxmlformats.org/drawingml/2006/main">
              <a:ext uri="{FF2B5EF4-FFF2-40B4-BE49-F238E27FC236}">
                <a16:creationId xmlns:a16="http://schemas.microsoft.com/office/drawing/2014/main" id="{7991213B-AB58-40CB-BB44-B039FFDE0448}"/>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14</a:t>
            </a:r>
          </a:p>
        </p:txBody>
      </p:sp>
      <p:sp>
        <p:nvSpPr>
          <p:cNvPr id="10" name="lg-source-0-panel">
            <a:extLst xmlns:a="http://schemas.openxmlformats.org/drawingml/2006/main">
              <a:ext uri="{FF2B5EF4-FFF2-40B4-BE49-F238E27FC236}">
                <a16:creationId xmlns:a16="http://schemas.microsoft.com/office/drawing/2014/main" id="{E6CEAA94-0580-4AF8-B89B-7C84DFC0D3A2}"/>
              </a:ext>
            </a:extLst>
          </p:cNvPr>
          <p:cNvSpPr>
            <a:spLocks xmlns:a="http://schemas.openxmlformats.org/drawingml/2006/main" noGrp="1"/>
          </p:cNvSpPr>
          <p:nvPr/>
        </p:nvSpPr>
        <p:spPr>
          <a:xfrm xmlns:a="http://schemas.openxmlformats.org/drawingml/2006/main">
            <a:off x="781050" y="2647950"/>
            <a:ext cx="2343150" cy="2114550"/>
          </a:xfrm>
          <a:prstGeom xmlns:a="http://schemas.openxmlformats.org/drawingml/2006/main" prst="roundRect">
            <a:avLst>
              <a:gd name="adj" fmla="val 3604"/>
            </a:avLst>
          </a:prstGeom>
          <a:solidFill xmlns:a="http://schemas.openxmlformats.org/drawingml/2006/main">
            <a:srgbClr val="1C2638"/>
          </a:solidFill>
          <a:ln xmlns:a="http://schemas.openxmlformats.org/drawingml/2006/main" w="9525">
            <a:solidFill>
              <a:srgbClr val="343D50"/>
            </a:solidFill>
            <a:prstDash val="solid"/>
          </a:ln>
        </p:spPr>
      </p:sp>
      <p:sp>
        <p:nvSpPr>
          <p:cNvPr id="11" name="lg-source-0-stripe">
            <a:extLst xmlns:a="http://schemas.openxmlformats.org/drawingml/2006/main">
              <a:ext uri="{FF2B5EF4-FFF2-40B4-BE49-F238E27FC236}">
                <a16:creationId xmlns:a16="http://schemas.microsoft.com/office/drawing/2014/main" id="{A0D8FC6B-063F-4917-85F2-1BEC07723F79}"/>
              </a:ext>
            </a:extLst>
          </p:cNvPr>
          <p:cNvSpPr>
            <a:spLocks xmlns:a="http://schemas.openxmlformats.org/drawingml/2006/main" noGrp="1"/>
          </p:cNvSpPr>
          <p:nvPr/>
        </p:nvSpPr>
        <p:spPr>
          <a:xfrm xmlns:a="http://schemas.openxmlformats.org/drawingml/2006/main">
            <a:off x="781050" y="26479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lg-source-0-value">
            <a:extLst xmlns:a="http://schemas.openxmlformats.org/drawingml/2006/main">
              <a:ext uri="{FF2B5EF4-FFF2-40B4-BE49-F238E27FC236}">
                <a16:creationId xmlns:a16="http://schemas.microsoft.com/office/drawing/2014/main" id="{C44ACCBF-1CB2-413E-9B74-A95B73563FBD}"/>
              </a:ext>
            </a:extLst>
          </p:cNvPr>
          <p:cNvSpPr>
            <a:spLocks xmlns:a="http://schemas.openxmlformats.org/drawingml/2006/main" noGrp="1"/>
          </p:cNvSpPr>
          <p:nvPr/>
        </p:nvSpPr>
        <p:spPr>
          <a:xfrm xmlns:a="http://schemas.openxmlformats.org/drawingml/2006/main">
            <a:off x="91440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1F6F66"/>
                </a:solidFill>
                <a:latin typeface="Avenir Next"/>
                <a:ea typeface="Avenir Next"/>
                <a:cs typeface="Avenir Next"/>
              </a:defRPr>
            </a:defPPr>
          </a:lstStyle>
          <a:p xmlns:a="http://schemas.openxmlformats.org/drawingml/2006/main">
            <a:pPr algn="ctr">
              <a:defRPr sz="2550" b="1" i="0">
                <a:solidFill>
                  <a:srgbClr val="1F6F66"/>
                </a:solidFill>
                <a:latin typeface="Avenir Next"/>
                <a:ea typeface="Avenir Next"/>
                <a:cs typeface="Avenir Next"/>
              </a:defRPr>
            </a:pPr>
            <a:r>
              <a:rPr sz="2550" b="1" i="0">
                <a:solidFill>
                  <a:srgbClr val="1F6F66"/>
                </a:solidFill>
                <a:latin typeface="Avenir Next"/>
                <a:ea typeface="Avenir Next"/>
                <a:cs typeface="Avenir Next"/>
              </a:rPr>
              <a:t>20</a:t>
            </a:r>
          </a:p>
        </p:txBody>
      </p:sp>
      <p:sp>
        <p:nvSpPr>
          <p:cNvPr id="13" name="lg-source-0-label">
            <a:extLst xmlns:a="http://schemas.openxmlformats.org/drawingml/2006/main">
              <a:ext uri="{FF2B5EF4-FFF2-40B4-BE49-F238E27FC236}">
                <a16:creationId xmlns:a16="http://schemas.microsoft.com/office/drawing/2014/main" id="{41E147B1-D93F-49A7-A3C7-B7E4EA259B39}"/>
              </a:ext>
            </a:extLst>
          </p:cNvPr>
          <p:cNvSpPr>
            <a:spLocks xmlns:a="http://schemas.openxmlformats.org/drawingml/2006/main" noGrp="1"/>
          </p:cNvSpPr>
          <p:nvPr/>
        </p:nvSpPr>
        <p:spPr>
          <a:xfrm xmlns:a="http://schemas.openxmlformats.org/drawingml/2006/main">
            <a:off x="93345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frontend tests</a:t>
            </a:r>
          </a:p>
        </p:txBody>
      </p:sp>
      <p:sp>
        <p:nvSpPr>
          <p:cNvPr id="14" name="lg-source-0-detail">
            <a:extLst xmlns:a="http://schemas.openxmlformats.org/drawingml/2006/main">
              <a:ext uri="{FF2B5EF4-FFF2-40B4-BE49-F238E27FC236}">
                <a16:creationId xmlns:a16="http://schemas.microsoft.com/office/drawing/2014/main" id="{11F69D24-0889-4D51-A617-28A38CA8769E}"/>
              </a:ext>
            </a:extLst>
          </p:cNvPr>
          <p:cNvSpPr>
            <a:spLocks xmlns:a="http://schemas.openxmlformats.org/drawingml/2006/main" noGrp="1"/>
          </p:cNvSpPr>
          <p:nvPr/>
        </p:nvSpPr>
        <p:spPr>
          <a:xfrm xmlns:a="http://schemas.openxmlformats.org/drawingml/2006/main">
            <a:off x="91440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B8C1D1"/>
                </a:solidFill>
                <a:latin typeface="Avenir Next"/>
                <a:ea typeface="Avenir Next"/>
                <a:cs typeface="Avenir Next"/>
              </a:defRPr>
            </a:defPPr>
          </a:lstStyle>
          <a:p xmlns:a="http://schemas.openxmlformats.org/drawingml/2006/main">
            <a:pPr algn="ctr">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static AST subset</a:t>
            </a:r>
          </a:p>
        </p:txBody>
      </p:sp>
      <p:sp>
        <p:nvSpPr>
          <p:cNvPr id="15" name="lg-source-1-panel">
            <a:extLst xmlns:a="http://schemas.openxmlformats.org/drawingml/2006/main">
              <a:ext uri="{FF2B5EF4-FFF2-40B4-BE49-F238E27FC236}">
                <a16:creationId xmlns:a16="http://schemas.microsoft.com/office/drawing/2014/main" id="{E1B34981-C860-4060-BAEB-D005642BB2C2}"/>
              </a:ext>
            </a:extLst>
          </p:cNvPr>
          <p:cNvSpPr>
            <a:spLocks xmlns:a="http://schemas.openxmlformats.org/drawingml/2006/main" noGrp="1"/>
          </p:cNvSpPr>
          <p:nvPr/>
        </p:nvSpPr>
        <p:spPr>
          <a:xfrm xmlns:a="http://schemas.openxmlformats.org/drawingml/2006/main">
            <a:off x="3543300" y="2647950"/>
            <a:ext cx="2343150" cy="2114550"/>
          </a:xfrm>
          <a:prstGeom xmlns:a="http://schemas.openxmlformats.org/drawingml/2006/main" prst="roundRect">
            <a:avLst>
              <a:gd name="adj" fmla="val 3604"/>
            </a:avLst>
          </a:prstGeom>
          <a:solidFill xmlns:a="http://schemas.openxmlformats.org/drawingml/2006/main">
            <a:srgbClr val="1C2638"/>
          </a:solidFill>
          <a:ln xmlns:a="http://schemas.openxmlformats.org/drawingml/2006/main" w="9525">
            <a:solidFill>
              <a:srgbClr val="343D50"/>
            </a:solidFill>
            <a:prstDash val="solid"/>
          </a:ln>
        </p:spPr>
      </p:sp>
      <p:sp>
        <p:nvSpPr>
          <p:cNvPr id="16" name="lg-source-1-stripe">
            <a:extLst xmlns:a="http://schemas.openxmlformats.org/drawingml/2006/main">
              <a:ext uri="{FF2B5EF4-FFF2-40B4-BE49-F238E27FC236}">
                <a16:creationId xmlns:a16="http://schemas.microsoft.com/office/drawing/2014/main" id="{43D3FFD6-EC97-4B6B-991A-993B6E822B5B}"/>
              </a:ext>
            </a:extLst>
          </p:cNvPr>
          <p:cNvSpPr>
            <a:spLocks xmlns:a="http://schemas.openxmlformats.org/drawingml/2006/main" noGrp="1"/>
          </p:cNvSpPr>
          <p:nvPr/>
        </p:nvSpPr>
        <p:spPr>
          <a:xfrm xmlns:a="http://schemas.openxmlformats.org/drawingml/2006/main">
            <a:off x="3543300" y="26479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lg-source-1-value">
            <a:extLst xmlns:a="http://schemas.openxmlformats.org/drawingml/2006/main">
              <a:ext uri="{FF2B5EF4-FFF2-40B4-BE49-F238E27FC236}">
                <a16:creationId xmlns:a16="http://schemas.microsoft.com/office/drawing/2014/main" id="{D4D3DB18-3C44-4319-962E-1E41CFC8CED2}"/>
              </a:ext>
            </a:extLst>
          </p:cNvPr>
          <p:cNvSpPr>
            <a:spLocks xmlns:a="http://schemas.openxmlformats.org/drawingml/2006/main" noGrp="1"/>
          </p:cNvSpPr>
          <p:nvPr/>
        </p:nvSpPr>
        <p:spPr>
          <a:xfrm xmlns:a="http://schemas.openxmlformats.org/drawingml/2006/main">
            <a:off x="367665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FF8A5C"/>
                </a:solidFill>
                <a:latin typeface="Avenir Next"/>
                <a:ea typeface="Avenir Next"/>
                <a:cs typeface="Avenir Next"/>
              </a:defRPr>
            </a:defPPr>
          </a:lstStyle>
          <a:p xmlns:a="http://schemas.openxmlformats.org/drawingml/2006/main">
            <a:pPr algn="ctr">
              <a:defRPr sz="2550" b="1" i="0">
                <a:solidFill>
                  <a:srgbClr val="FF8A5C"/>
                </a:solidFill>
                <a:latin typeface="Avenir Next"/>
                <a:ea typeface="Avenir Next"/>
                <a:cs typeface="Avenir Next"/>
              </a:defRPr>
            </a:pPr>
            <a:r>
              <a:rPr sz="2550" b="1" i="0">
                <a:solidFill>
                  <a:srgbClr val="FF8A5C"/>
                </a:solidFill>
                <a:latin typeface="Avenir Next"/>
                <a:ea typeface="Avenir Next"/>
                <a:cs typeface="Avenir Next"/>
              </a:rPr>
              <a:t>36</a:t>
            </a:r>
          </a:p>
        </p:txBody>
      </p:sp>
      <p:sp>
        <p:nvSpPr>
          <p:cNvPr id="18" name="lg-source-1-label">
            <a:extLst xmlns:a="http://schemas.openxmlformats.org/drawingml/2006/main">
              <a:ext uri="{FF2B5EF4-FFF2-40B4-BE49-F238E27FC236}">
                <a16:creationId xmlns:a16="http://schemas.microsoft.com/office/drawing/2014/main" id="{83B129DB-E171-4603-BBD5-2F79A462398D}"/>
              </a:ext>
            </a:extLst>
          </p:cNvPr>
          <p:cNvSpPr>
            <a:spLocks xmlns:a="http://schemas.openxmlformats.org/drawingml/2006/main" noGrp="1"/>
          </p:cNvSpPr>
          <p:nvPr/>
        </p:nvSpPr>
        <p:spPr>
          <a:xfrm xmlns:a="http://schemas.openxmlformats.org/drawingml/2006/main">
            <a:off x="369570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original-source runs</a:t>
            </a:r>
          </a:p>
        </p:txBody>
      </p:sp>
      <p:sp>
        <p:nvSpPr>
          <p:cNvPr id="19" name="lg-source-1-detail">
            <a:extLst xmlns:a="http://schemas.openxmlformats.org/drawingml/2006/main">
              <a:ext uri="{FF2B5EF4-FFF2-40B4-BE49-F238E27FC236}">
                <a16:creationId xmlns:a16="http://schemas.microsoft.com/office/drawing/2014/main" id="{D0457D87-0775-48B3-A391-B8B57127891B}"/>
              </a:ext>
            </a:extLst>
          </p:cNvPr>
          <p:cNvSpPr>
            <a:spLocks xmlns:a="http://schemas.openxmlformats.org/drawingml/2006/main" noGrp="1"/>
          </p:cNvSpPr>
          <p:nvPr/>
        </p:nvSpPr>
        <p:spPr>
          <a:xfrm xmlns:a="http://schemas.openxmlformats.org/drawingml/2006/main">
            <a:off x="367665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B8C1D1"/>
                </a:solidFill>
                <a:latin typeface="Avenir Next"/>
                <a:ea typeface="Avenir Next"/>
                <a:cs typeface="Avenir Next"/>
              </a:defRPr>
            </a:defPPr>
          </a:lstStyle>
          <a:p xmlns:a="http://schemas.openxmlformats.org/drawingml/2006/main">
            <a:pPr algn="ctr">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authored StateGraph functions</a:t>
            </a:r>
          </a:p>
        </p:txBody>
      </p:sp>
      <p:sp>
        <p:nvSpPr>
          <p:cNvPr id="20" name="lg-source-2-panel">
            <a:extLst xmlns:a="http://schemas.openxmlformats.org/drawingml/2006/main">
              <a:ext uri="{FF2B5EF4-FFF2-40B4-BE49-F238E27FC236}">
                <a16:creationId xmlns:a16="http://schemas.microsoft.com/office/drawing/2014/main" id="{7BED9BC5-0098-44AB-BC17-77F23ECC130F}"/>
              </a:ext>
            </a:extLst>
          </p:cNvPr>
          <p:cNvSpPr>
            <a:spLocks xmlns:a="http://schemas.openxmlformats.org/drawingml/2006/main" noGrp="1"/>
          </p:cNvSpPr>
          <p:nvPr/>
        </p:nvSpPr>
        <p:spPr>
          <a:xfrm xmlns:a="http://schemas.openxmlformats.org/drawingml/2006/main">
            <a:off x="6305550" y="2647950"/>
            <a:ext cx="2343150" cy="2114550"/>
          </a:xfrm>
          <a:prstGeom xmlns:a="http://schemas.openxmlformats.org/drawingml/2006/main" prst="roundRect">
            <a:avLst>
              <a:gd name="adj" fmla="val 3604"/>
            </a:avLst>
          </a:prstGeom>
          <a:solidFill xmlns:a="http://schemas.openxmlformats.org/drawingml/2006/main">
            <a:srgbClr val="1C2638"/>
          </a:solidFill>
          <a:ln xmlns:a="http://schemas.openxmlformats.org/drawingml/2006/main" w="9525">
            <a:solidFill>
              <a:srgbClr val="343D50"/>
            </a:solidFill>
            <a:prstDash val="solid"/>
          </a:ln>
        </p:spPr>
      </p:sp>
      <p:sp>
        <p:nvSpPr>
          <p:cNvPr id="21" name="lg-source-2-stripe">
            <a:extLst xmlns:a="http://schemas.openxmlformats.org/drawingml/2006/main">
              <a:ext uri="{FF2B5EF4-FFF2-40B4-BE49-F238E27FC236}">
                <a16:creationId xmlns:a16="http://schemas.microsoft.com/office/drawing/2014/main" id="{12F298D1-624B-4454-9FE2-A8926391E95B}"/>
              </a:ext>
            </a:extLst>
          </p:cNvPr>
          <p:cNvSpPr>
            <a:spLocks xmlns:a="http://schemas.openxmlformats.org/drawingml/2006/main" noGrp="1"/>
          </p:cNvSpPr>
          <p:nvPr/>
        </p:nvSpPr>
        <p:spPr>
          <a:xfrm xmlns:a="http://schemas.openxmlformats.org/drawingml/2006/main">
            <a:off x="6305550" y="26479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lg-source-2-value">
            <a:extLst xmlns:a="http://schemas.openxmlformats.org/drawingml/2006/main">
              <a:ext uri="{FF2B5EF4-FFF2-40B4-BE49-F238E27FC236}">
                <a16:creationId xmlns:a16="http://schemas.microsoft.com/office/drawing/2014/main" id="{06E42C6A-600D-473A-9589-13A9BCC8320E}"/>
              </a:ext>
            </a:extLst>
          </p:cNvPr>
          <p:cNvSpPr>
            <a:spLocks xmlns:a="http://schemas.openxmlformats.org/drawingml/2006/main" noGrp="1"/>
          </p:cNvSpPr>
          <p:nvPr/>
        </p:nvSpPr>
        <p:spPr>
          <a:xfrm xmlns:a="http://schemas.openxmlformats.org/drawingml/2006/main">
            <a:off x="643890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5CC8B8"/>
                </a:solidFill>
                <a:latin typeface="Avenir Next"/>
                <a:ea typeface="Avenir Next"/>
                <a:cs typeface="Avenir Next"/>
              </a:defRPr>
            </a:defPPr>
          </a:lstStyle>
          <a:p xmlns:a="http://schemas.openxmlformats.org/drawingml/2006/main">
            <a:pPr algn="ctr">
              <a:defRPr sz="2550" b="1" i="0">
                <a:solidFill>
                  <a:srgbClr val="5CC8B8"/>
                </a:solidFill>
                <a:latin typeface="Avenir Next"/>
                <a:ea typeface="Avenir Next"/>
                <a:cs typeface="Avenir Next"/>
              </a:defRPr>
            </a:pPr>
            <a:r>
              <a:rPr sz="2550" b="1" i="0">
                <a:solidFill>
                  <a:srgbClr val="5CC8B8"/>
                </a:solidFill>
                <a:latin typeface="Avenir Next"/>
                <a:ea typeface="Avenir Next"/>
                <a:cs typeface="Avenir Next"/>
              </a:rPr>
              <a:t>30 + 6</a:t>
            </a:r>
          </a:p>
        </p:txBody>
      </p:sp>
      <p:sp>
        <p:nvSpPr>
          <p:cNvPr id="23" name="lg-source-2-label">
            <a:extLst xmlns:a="http://schemas.openxmlformats.org/drawingml/2006/main">
              <a:ext uri="{FF2B5EF4-FFF2-40B4-BE49-F238E27FC236}">
                <a16:creationId xmlns:a16="http://schemas.microsoft.com/office/drawing/2014/main" id="{34B33472-373A-4F85-A6DC-2F598E83FB94}"/>
              </a:ext>
            </a:extLst>
          </p:cNvPr>
          <p:cNvSpPr>
            <a:spLocks xmlns:a="http://schemas.openxmlformats.org/drawingml/2006/main" noGrp="1"/>
          </p:cNvSpPr>
          <p:nvPr/>
        </p:nvSpPr>
        <p:spPr>
          <a:xfrm xmlns:a="http://schemas.openxmlformats.org/drawingml/2006/main">
            <a:off x="645795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matched comparisons</a:t>
            </a:r>
          </a:p>
        </p:txBody>
      </p:sp>
      <p:sp>
        <p:nvSpPr>
          <p:cNvPr id="24" name="lg-source-2-detail">
            <a:extLst xmlns:a="http://schemas.openxmlformats.org/drawingml/2006/main">
              <a:ext uri="{FF2B5EF4-FFF2-40B4-BE49-F238E27FC236}">
                <a16:creationId xmlns:a16="http://schemas.microsoft.com/office/drawing/2014/main" id="{80E10C74-07FE-4455-8DA4-42A24D30E8AC}"/>
              </a:ext>
            </a:extLst>
          </p:cNvPr>
          <p:cNvSpPr>
            <a:spLocks xmlns:a="http://schemas.openxmlformats.org/drawingml/2006/main" noGrp="1"/>
          </p:cNvSpPr>
          <p:nvPr/>
        </p:nvSpPr>
        <p:spPr>
          <a:xfrm xmlns:a="http://schemas.openxmlformats.org/drawingml/2006/main">
            <a:off x="643890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B8C1D1"/>
                </a:solidFill>
                <a:latin typeface="Avenir Next"/>
                <a:ea typeface="Avenir Next"/>
                <a:cs typeface="Avenir Next"/>
              </a:defRPr>
            </a:defPPr>
          </a:lstStyle>
          <a:p xmlns:a="http://schemas.openxmlformats.org/drawingml/2006/main">
            <a:pPr algn="ctr">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accepted traces + rejection probes</a:t>
            </a:r>
          </a:p>
        </p:txBody>
      </p:sp>
      <p:sp>
        <p:nvSpPr>
          <p:cNvPr id="25" name="lg-source-3-panel">
            <a:extLst xmlns:a="http://schemas.openxmlformats.org/drawingml/2006/main">
              <a:ext uri="{FF2B5EF4-FFF2-40B4-BE49-F238E27FC236}">
                <a16:creationId xmlns:a16="http://schemas.microsoft.com/office/drawing/2014/main" id="{C7E6769F-7EEB-499B-B857-A2471CA3556F}"/>
              </a:ext>
            </a:extLst>
          </p:cNvPr>
          <p:cNvSpPr>
            <a:spLocks xmlns:a="http://schemas.openxmlformats.org/drawingml/2006/main" noGrp="1"/>
          </p:cNvSpPr>
          <p:nvPr/>
        </p:nvSpPr>
        <p:spPr>
          <a:xfrm xmlns:a="http://schemas.openxmlformats.org/drawingml/2006/main">
            <a:off x="9067800" y="2647950"/>
            <a:ext cx="2343150" cy="2114550"/>
          </a:xfrm>
          <a:prstGeom xmlns:a="http://schemas.openxmlformats.org/drawingml/2006/main" prst="roundRect">
            <a:avLst>
              <a:gd name="adj" fmla="val 3604"/>
            </a:avLst>
          </a:prstGeom>
          <a:solidFill xmlns:a="http://schemas.openxmlformats.org/drawingml/2006/main">
            <a:srgbClr val="1C2638"/>
          </a:solidFill>
          <a:ln xmlns:a="http://schemas.openxmlformats.org/drawingml/2006/main" w="9525">
            <a:solidFill>
              <a:srgbClr val="343D50"/>
            </a:solidFill>
            <a:prstDash val="solid"/>
          </a:ln>
        </p:spPr>
      </p:sp>
      <p:sp>
        <p:nvSpPr>
          <p:cNvPr id="26" name="lg-source-3-stripe">
            <a:extLst xmlns:a="http://schemas.openxmlformats.org/drawingml/2006/main">
              <a:ext uri="{FF2B5EF4-FFF2-40B4-BE49-F238E27FC236}">
                <a16:creationId xmlns:a16="http://schemas.microsoft.com/office/drawing/2014/main" id="{BFC4CF4D-F04A-4FB8-B482-26F15C8028CE}"/>
              </a:ext>
            </a:extLst>
          </p:cNvPr>
          <p:cNvSpPr>
            <a:spLocks xmlns:a="http://schemas.openxmlformats.org/drawingml/2006/main" noGrp="1"/>
          </p:cNvSpPr>
          <p:nvPr/>
        </p:nvSpPr>
        <p:spPr>
          <a:xfrm xmlns:a="http://schemas.openxmlformats.org/drawingml/2006/main">
            <a:off x="9067800" y="26479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lg-source-3-value">
            <a:extLst xmlns:a="http://schemas.openxmlformats.org/drawingml/2006/main">
              <a:ext uri="{FF2B5EF4-FFF2-40B4-BE49-F238E27FC236}">
                <a16:creationId xmlns:a16="http://schemas.microsoft.com/office/drawing/2014/main" id="{E4ABA81A-377C-4A5D-8C83-B38EC41DA21D}"/>
              </a:ext>
            </a:extLst>
          </p:cNvPr>
          <p:cNvSpPr>
            <a:spLocks xmlns:a="http://schemas.openxmlformats.org/drawingml/2006/main" noGrp="1"/>
          </p:cNvSpPr>
          <p:nvPr/>
        </p:nvSpPr>
        <p:spPr>
          <a:xfrm xmlns:a="http://schemas.openxmlformats.org/drawingml/2006/main">
            <a:off x="920115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C2461F"/>
                </a:solidFill>
                <a:latin typeface="Avenir Next"/>
                <a:ea typeface="Avenir Next"/>
                <a:cs typeface="Avenir Next"/>
              </a:defRPr>
            </a:defPPr>
          </a:lstStyle>
          <a:p xmlns:a="http://schemas.openxmlformats.org/drawingml/2006/main">
            <a:pPr algn="ctr">
              <a:defRPr sz="2550" b="1" i="0">
                <a:solidFill>
                  <a:srgbClr val="C2461F"/>
                </a:solidFill>
                <a:latin typeface="Avenir Next"/>
                <a:ea typeface="Avenir Next"/>
                <a:cs typeface="Avenir Next"/>
              </a:defRPr>
            </a:pPr>
            <a:r>
              <a:rPr sz="2550" b="1" i="0">
                <a:solidFill>
                  <a:srgbClr val="C2461F"/>
                </a:solidFill>
                <a:latin typeface="Avenir Next"/>
                <a:ea typeface="Avenir Next"/>
                <a:cs typeface="Avenir Next"/>
              </a:rPr>
              <a:t>0</a:t>
            </a:r>
          </a:p>
        </p:txBody>
      </p:sp>
      <p:sp>
        <p:nvSpPr>
          <p:cNvPr id="28" name="lg-source-3-label">
            <a:extLst xmlns:a="http://schemas.openxmlformats.org/drawingml/2006/main">
              <a:ext uri="{FF2B5EF4-FFF2-40B4-BE49-F238E27FC236}">
                <a16:creationId xmlns:a16="http://schemas.microsoft.com/office/drawing/2014/main" id="{F7316912-192A-4A59-8EF0-52BE41F2DA4B}"/>
              </a:ext>
            </a:extLst>
          </p:cNvPr>
          <p:cNvSpPr>
            <a:spLocks xmlns:a="http://schemas.openxmlformats.org/drawingml/2006/main" noGrp="1"/>
          </p:cNvSpPr>
          <p:nvPr/>
        </p:nvSpPr>
        <p:spPr>
          <a:xfrm xmlns:a="http://schemas.openxmlformats.org/drawingml/2006/main">
            <a:off x="922020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comparison differences</a:t>
            </a:r>
          </a:p>
        </p:txBody>
      </p:sp>
      <p:sp>
        <p:nvSpPr>
          <p:cNvPr id="29" name="lg-source-3-detail">
            <a:extLst xmlns:a="http://schemas.openxmlformats.org/drawingml/2006/main">
              <a:ext uri="{FF2B5EF4-FFF2-40B4-BE49-F238E27FC236}">
                <a16:creationId xmlns:a16="http://schemas.microsoft.com/office/drawing/2014/main" id="{EB22F6A7-9FEC-4403-8246-C67BFAA3DD71}"/>
              </a:ext>
            </a:extLst>
          </p:cNvPr>
          <p:cNvSpPr>
            <a:spLocks xmlns:a="http://schemas.openxmlformats.org/drawingml/2006/main" noGrp="1"/>
          </p:cNvSpPr>
          <p:nvPr/>
        </p:nvSpPr>
        <p:spPr>
          <a:xfrm xmlns:a="http://schemas.openxmlformats.org/drawingml/2006/main">
            <a:off x="920115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B8C1D1"/>
                </a:solidFill>
                <a:latin typeface="Avenir Next"/>
                <a:ea typeface="Avenir Next"/>
                <a:cs typeface="Avenir Next"/>
              </a:defRPr>
            </a:defPPr>
          </a:lstStyle>
          <a:p xmlns:a="http://schemas.openxmlformats.org/drawingml/2006/main">
            <a:pPr algn="ctr">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across the reported source grid</a:t>
            </a:r>
          </a:p>
        </p:txBody>
      </p:sp>
      <p:sp>
        <p:nvSpPr>
          <p:cNvPr id="30" name="lg-source-scope">
            <a:extLst xmlns:a="http://schemas.openxmlformats.org/drawingml/2006/main">
              <a:ext uri="{FF2B5EF4-FFF2-40B4-BE49-F238E27FC236}">
                <a16:creationId xmlns:a16="http://schemas.microsoft.com/office/drawing/2014/main" id="{74F88F86-43FA-4701-8564-11A70F8BD62D}"/>
              </a:ext>
            </a:extLst>
          </p:cNvPr>
          <p:cNvSpPr>
            <a:spLocks xmlns:a="http://schemas.openxmlformats.org/drawingml/2006/main" noGrp="1"/>
          </p:cNvSpPr>
          <p:nvPr/>
        </p:nvSpPr>
        <p:spPr>
          <a:xfrm xmlns:a="http://schemas.openxmlformats.org/drawingml/2006/main">
            <a:off x="876300" y="5076825"/>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B8C1D1"/>
                </a:solidFill>
                <a:latin typeface="Avenir Next"/>
                <a:ea typeface="Avenir Next"/>
                <a:cs typeface="Avenir Next"/>
              </a:defRPr>
            </a:defPPr>
          </a:lstStyle>
          <a:p xmlns:a="http://schemas.openxmlformats.org/drawingml/2006/main">
            <a:pPr algn="ctr">
              <a:defRPr sz="1125" b="1" i="0">
                <a:solidFill>
                  <a:srgbClr val="B8C1D1"/>
                </a:solidFill>
                <a:latin typeface="Avenir Next"/>
                <a:ea typeface="Avenir Next"/>
                <a:cs typeface="Avenir Next"/>
              </a:defRPr>
            </a:pPr>
            <a:r>
              <a:rPr sz="1125" b="1" i="0">
                <a:solidFill>
                  <a:srgbClr val="B8C1D1"/>
                </a:solidFill>
                <a:latin typeface="Avenir Next"/>
                <a:ea typeface="Avenir Next"/>
                <a:cs typeface="Avenir Next"/>
              </a:rPr>
              <a:t>Restricted Python AST programs only; no general source-to-graph correctness theorem.</a:t>
            </a:r>
          </a:p>
        </p:txBody>
      </p:sp>
    </p:spTree>
    <p:extLst>
      <p:ext uri="{BB962C8B-B14F-4D97-AF65-F5344CB8AC3E}">
        <p14:creationId xmlns:p14="http://schemas.microsoft.com/office/powerpoint/2010/main" val="1066482657"/>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1" name="s15-brand">
            <a:extLst xmlns:a="http://schemas.openxmlformats.org/drawingml/2006/main">
              <a:ext uri="{FF2B5EF4-FFF2-40B4-BE49-F238E27FC236}">
                <a16:creationId xmlns:a16="http://schemas.microsoft.com/office/drawing/2014/main" id="{A9746798-835D-4D1D-99AA-775D46DD76D3}"/>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5-section">
            <a:extLst xmlns:a="http://schemas.openxmlformats.org/drawingml/2006/main">
              <a:ext uri="{FF2B5EF4-FFF2-40B4-BE49-F238E27FC236}">
                <a16:creationId xmlns:a16="http://schemas.microsoft.com/office/drawing/2014/main" id="{A5A2CFD0-9494-4E9D-85F9-989802B80240}"/>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LANGGRAPH BACKEND</a:t>
            </a:r>
          </a:p>
        </p:txBody>
      </p:sp>
      <p:sp>
        <p:nvSpPr>
          <p:cNvPr id="3" name="s15-title">
            <a:extLst xmlns:a="http://schemas.openxmlformats.org/drawingml/2006/main">
              <a:ext uri="{FF2B5EF4-FFF2-40B4-BE49-F238E27FC236}">
                <a16:creationId xmlns:a16="http://schemas.microsoft.com/office/drawing/2014/main" id="{F0031BC3-4739-4610-820B-89608D35CD1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946"/>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pinned backend found no trace differences on its grid</a:t>
            </a:r>
          </a:p>
        </p:txBody>
      </p:sp>
      <p:sp>
        <p:nvSpPr>
          <p:cNvPr id="4" name="s15-subtitle">
            <a:extLst xmlns:a="http://schemas.openxmlformats.org/drawingml/2006/main">
              <a:ext uri="{FF2B5EF4-FFF2-40B4-BE49-F238E27FC236}">
                <a16:creationId xmlns:a16="http://schemas.microsoft.com/office/drawing/2014/main" id="{CC3997BF-26E0-49C8-AF68-48BEA7343315}"/>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finite execution grid includes both stopped and horizon-truncated runs.</a:t>
            </a:r>
          </a:p>
        </p:txBody>
      </p:sp>
      <p:sp>
        <p:nvSpPr>
          <p:cNvPr id="5" name="s15-source-rule">
            <a:extLst xmlns:a="http://schemas.openxmlformats.org/drawingml/2006/main">
              <a:ext uri="{FF2B5EF4-FFF2-40B4-BE49-F238E27FC236}">
                <a16:creationId xmlns:a16="http://schemas.microsoft.com/office/drawing/2014/main" id="{70E3FF38-0939-447B-A409-902BBF09391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5-sources">
            <a:extLst xmlns:a="http://schemas.openxmlformats.org/drawingml/2006/main">
              <a:ext uri="{FF2B5EF4-FFF2-40B4-BE49-F238E27FC236}">
                <a16:creationId xmlns:a16="http://schemas.microsoft.com/office/drawing/2014/main" id="{760B8CF3-936C-4721-A931-393F88B267F2}"/>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integrations/langgraph/requirements.lock</a:t>
            </a:r>
          </a:p>
        </p:txBody>
      </p:sp>
      <p:sp>
        <p:nvSpPr>
          <p:cNvPr id="7" name="s15-footer-rule">
            <a:extLst xmlns:a="http://schemas.openxmlformats.org/drawingml/2006/main">
              <a:ext uri="{FF2B5EF4-FFF2-40B4-BE49-F238E27FC236}">
                <a16:creationId xmlns:a16="http://schemas.microsoft.com/office/drawing/2014/main" id="{AA4EFF44-4A6C-4FAB-B723-8E547983591C}"/>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5-footer">
            <a:extLst xmlns:a="http://schemas.openxmlformats.org/drawingml/2006/main">
              <a:ext uri="{FF2B5EF4-FFF2-40B4-BE49-F238E27FC236}">
                <a16:creationId xmlns:a16="http://schemas.microsoft.com/office/drawing/2014/main" id="{4D1E9C25-F281-429F-9600-2A5BB719F907}"/>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5-page">
            <a:extLst xmlns:a="http://schemas.openxmlformats.org/drawingml/2006/main">
              <a:ext uri="{FF2B5EF4-FFF2-40B4-BE49-F238E27FC236}">
                <a16:creationId xmlns:a16="http://schemas.microsoft.com/office/drawing/2014/main" id="{0E102984-5B48-41B9-99F7-F792F1FF28A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15</a:t>
            </a:r>
          </a:p>
        </p:txBody>
      </p:sp>
      <p:sp>
        <p:nvSpPr>
          <p:cNvPr id="10" name="lg-runtime-0-panel">
            <a:extLst xmlns:a="http://schemas.openxmlformats.org/drawingml/2006/main">
              <a:ext uri="{FF2B5EF4-FFF2-40B4-BE49-F238E27FC236}">
                <a16:creationId xmlns:a16="http://schemas.microsoft.com/office/drawing/2014/main" id="{B8045B2B-CF81-436A-BB46-0AA86E6E8F02}"/>
              </a:ext>
            </a:extLst>
          </p:cNvPr>
          <p:cNvSpPr>
            <a:spLocks xmlns:a="http://schemas.openxmlformats.org/drawingml/2006/main" noGrp="1"/>
          </p:cNvSpPr>
          <p:nvPr/>
        </p:nvSpPr>
        <p:spPr>
          <a:xfrm xmlns:a="http://schemas.openxmlformats.org/drawingml/2006/main">
            <a:off x="781050" y="2647950"/>
            <a:ext cx="2343150"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11" name="lg-runtime-0-stripe">
            <a:extLst xmlns:a="http://schemas.openxmlformats.org/drawingml/2006/main">
              <a:ext uri="{FF2B5EF4-FFF2-40B4-BE49-F238E27FC236}">
                <a16:creationId xmlns:a16="http://schemas.microsoft.com/office/drawing/2014/main" id="{67789EF5-8852-49E7-955C-013E1AE42216}"/>
              </a:ext>
            </a:extLst>
          </p:cNvPr>
          <p:cNvSpPr>
            <a:spLocks xmlns:a="http://schemas.openxmlformats.org/drawingml/2006/main" noGrp="1"/>
          </p:cNvSpPr>
          <p:nvPr/>
        </p:nvSpPr>
        <p:spPr>
          <a:xfrm xmlns:a="http://schemas.openxmlformats.org/drawingml/2006/main">
            <a:off x="781050" y="26479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lg-runtime-0-value">
            <a:extLst xmlns:a="http://schemas.openxmlformats.org/drawingml/2006/main">
              <a:ext uri="{FF2B5EF4-FFF2-40B4-BE49-F238E27FC236}">
                <a16:creationId xmlns:a16="http://schemas.microsoft.com/office/drawing/2014/main" id="{ACCC96DD-CF5F-4D44-95B1-9083D5383860}"/>
              </a:ext>
            </a:extLst>
          </p:cNvPr>
          <p:cNvSpPr>
            <a:spLocks xmlns:a="http://schemas.openxmlformats.org/drawingml/2006/main" noGrp="1"/>
          </p:cNvSpPr>
          <p:nvPr/>
        </p:nvSpPr>
        <p:spPr>
          <a:xfrm xmlns:a="http://schemas.openxmlformats.org/drawingml/2006/main">
            <a:off x="91440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1F6F66"/>
                </a:solidFill>
                <a:latin typeface="Avenir Next"/>
                <a:ea typeface="Avenir Next"/>
                <a:cs typeface="Avenir Next"/>
              </a:defRPr>
            </a:defPPr>
          </a:lstStyle>
          <a:p xmlns:a="http://schemas.openxmlformats.org/drawingml/2006/main">
            <a:pPr algn="ctr">
              <a:defRPr sz="2550" b="1" i="0">
                <a:solidFill>
                  <a:srgbClr val="1F6F66"/>
                </a:solidFill>
                <a:latin typeface="Avenir Next"/>
                <a:ea typeface="Avenir Next"/>
                <a:cs typeface="Avenir Next"/>
              </a:defRPr>
            </a:pPr>
            <a:r>
              <a:rPr sz="2550" b="1" i="0">
                <a:solidFill>
                  <a:srgbClr val="1F6F66"/>
                </a:solidFill>
                <a:latin typeface="Avenir Next"/>
                <a:ea typeface="Avenir Next"/>
                <a:cs typeface="Avenir Next"/>
              </a:rPr>
              <a:t>1.2.14</a:t>
            </a:r>
          </a:p>
        </p:txBody>
      </p:sp>
      <p:sp>
        <p:nvSpPr>
          <p:cNvPr id="13" name="lg-runtime-0-label">
            <a:extLst xmlns:a="http://schemas.openxmlformats.org/drawingml/2006/main">
              <a:ext uri="{FF2B5EF4-FFF2-40B4-BE49-F238E27FC236}">
                <a16:creationId xmlns:a16="http://schemas.microsoft.com/office/drawing/2014/main" id="{072D6F83-316B-4766-9E72-CE0BE1DE525E}"/>
              </a:ext>
            </a:extLst>
          </p:cNvPr>
          <p:cNvSpPr>
            <a:spLocks xmlns:a="http://schemas.openxmlformats.org/drawingml/2006/main" noGrp="1"/>
          </p:cNvSpPr>
          <p:nvPr/>
        </p:nvSpPr>
        <p:spPr>
          <a:xfrm xmlns:a="http://schemas.openxmlformats.org/drawingml/2006/main">
            <a:off x="93345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pinned LangGraph</a:t>
            </a:r>
          </a:p>
        </p:txBody>
      </p:sp>
      <p:sp>
        <p:nvSpPr>
          <p:cNvPr id="14" name="lg-runtime-0-detail">
            <a:extLst xmlns:a="http://schemas.openxmlformats.org/drawingml/2006/main">
              <a:ext uri="{FF2B5EF4-FFF2-40B4-BE49-F238E27FC236}">
                <a16:creationId xmlns:a16="http://schemas.microsoft.com/office/drawing/2014/main" id="{3D2B6495-24EB-4DC5-9A91-92260A28EA13}"/>
              </a:ext>
            </a:extLst>
          </p:cNvPr>
          <p:cNvSpPr>
            <a:spLocks xmlns:a="http://schemas.openxmlformats.org/drawingml/2006/main" noGrp="1"/>
          </p:cNvSpPr>
          <p:nvPr/>
        </p:nvSpPr>
        <p:spPr>
          <a:xfrm xmlns:a="http://schemas.openxmlformats.org/drawingml/2006/main">
            <a:off x="91440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offline runtime</a:t>
            </a:r>
          </a:p>
        </p:txBody>
      </p:sp>
      <p:sp>
        <p:nvSpPr>
          <p:cNvPr id="15" name="lg-runtime-1-panel">
            <a:extLst xmlns:a="http://schemas.openxmlformats.org/drawingml/2006/main">
              <a:ext uri="{FF2B5EF4-FFF2-40B4-BE49-F238E27FC236}">
                <a16:creationId xmlns:a16="http://schemas.microsoft.com/office/drawing/2014/main" id="{11EB9E31-3A88-4C00-A739-B126CBC20CD9}"/>
              </a:ext>
            </a:extLst>
          </p:cNvPr>
          <p:cNvSpPr>
            <a:spLocks xmlns:a="http://schemas.openxmlformats.org/drawingml/2006/main" noGrp="1"/>
          </p:cNvSpPr>
          <p:nvPr/>
        </p:nvSpPr>
        <p:spPr>
          <a:xfrm xmlns:a="http://schemas.openxmlformats.org/drawingml/2006/main">
            <a:off x="3543300" y="2647950"/>
            <a:ext cx="2343150"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16" name="lg-runtime-1-stripe">
            <a:extLst xmlns:a="http://schemas.openxmlformats.org/drawingml/2006/main">
              <a:ext uri="{FF2B5EF4-FFF2-40B4-BE49-F238E27FC236}">
                <a16:creationId xmlns:a16="http://schemas.microsoft.com/office/drawing/2014/main" id="{A8A112E7-9BB4-4A3D-8CD7-0DAA8A32E6E7}"/>
              </a:ext>
            </a:extLst>
          </p:cNvPr>
          <p:cNvSpPr>
            <a:spLocks xmlns:a="http://schemas.openxmlformats.org/drawingml/2006/main" noGrp="1"/>
          </p:cNvSpPr>
          <p:nvPr/>
        </p:nvSpPr>
        <p:spPr>
          <a:xfrm xmlns:a="http://schemas.openxmlformats.org/drawingml/2006/main">
            <a:off x="3543300" y="26479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lg-runtime-1-value">
            <a:extLst xmlns:a="http://schemas.openxmlformats.org/drawingml/2006/main">
              <a:ext uri="{FF2B5EF4-FFF2-40B4-BE49-F238E27FC236}">
                <a16:creationId xmlns:a16="http://schemas.microsoft.com/office/drawing/2014/main" id="{2CEF81C8-5D16-4396-B60C-B84104DB4A14}"/>
              </a:ext>
            </a:extLst>
          </p:cNvPr>
          <p:cNvSpPr>
            <a:spLocks xmlns:a="http://schemas.openxmlformats.org/drawingml/2006/main" noGrp="1"/>
          </p:cNvSpPr>
          <p:nvPr/>
        </p:nvSpPr>
        <p:spPr>
          <a:xfrm xmlns:a="http://schemas.openxmlformats.org/drawingml/2006/main">
            <a:off x="367665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FF8A5C"/>
                </a:solidFill>
                <a:latin typeface="Avenir Next"/>
                <a:ea typeface="Avenir Next"/>
                <a:cs typeface="Avenir Next"/>
              </a:defRPr>
            </a:defPPr>
          </a:lstStyle>
          <a:p xmlns:a="http://schemas.openxmlformats.org/drawingml/2006/main">
            <a:pPr algn="ctr">
              <a:defRPr sz="2550" b="1" i="0">
                <a:solidFill>
                  <a:srgbClr val="FF8A5C"/>
                </a:solidFill>
                <a:latin typeface="Avenir Next"/>
                <a:ea typeface="Avenir Next"/>
                <a:cs typeface="Avenir Next"/>
              </a:defRPr>
            </a:pPr>
            <a:r>
              <a:rPr sz="2550" b="1" i="0">
                <a:solidFill>
                  <a:srgbClr val="FF8A5C"/>
                </a:solidFill>
                <a:latin typeface="Avenir Next"/>
                <a:ea typeface="Avenir Next"/>
                <a:cs typeface="Avenir Next"/>
              </a:rPr>
              <a:t>888</a:t>
            </a:r>
          </a:p>
        </p:txBody>
      </p:sp>
      <p:sp>
        <p:nvSpPr>
          <p:cNvPr id="18" name="lg-runtime-1-label">
            <a:extLst xmlns:a="http://schemas.openxmlformats.org/drawingml/2006/main">
              <a:ext uri="{FF2B5EF4-FFF2-40B4-BE49-F238E27FC236}">
                <a16:creationId xmlns:a16="http://schemas.microsoft.com/office/drawing/2014/main" id="{090953B0-1858-4930-B01B-CE1BB0B55447}"/>
              </a:ext>
            </a:extLst>
          </p:cNvPr>
          <p:cNvSpPr>
            <a:spLocks xmlns:a="http://schemas.openxmlformats.org/drawingml/2006/main" noGrp="1"/>
          </p:cNvSpPr>
          <p:nvPr/>
        </p:nvSpPr>
        <p:spPr>
          <a:xfrm xmlns:a="http://schemas.openxmlformats.org/drawingml/2006/main">
            <a:off x="369570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executions</a:t>
            </a:r>
          </a:p>
        </p:txBody>
      </p:sp>
      <p:sp>
        <p:nvSpPr>
          <p:cNvPr id="19" name="lg-runtime-1-detail">
            <a:extLst xmlns:a="http://schemas.openxmlformats.org/drawingml/2006/main">
              <a:ext uri="{FF2B5EF4-FFF2-40B4-BE49-F238E27FC236}">
                <a16:creationId xmlns:a16="http://schemas.microsoft.com/office/drawing/2014/main" id="{EB7839DF-071C-45E1-8DA9-39843BED7CAF}"/>
              </a:ext>
            </a:extLst>
          </p:cNvPr>
          <p:cNvSpPr>
            <a:spLocks xmlns:a="http://schemas.openxmlformats.org/drawingml/2006/main" noGrp="1"/>
          </p:cNvSpPr>
          <p:nvPr/>
        </p:nvSpPr>
        <p:spPr>
          <a:xfrm xmlns:a="http://schemas.openxmlformats.org/drawingml/2006/main">
            <a:off x="367665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864 stopped · 24 truncated</a:t>
            </a:r>
          </a:p>
        </p:txBody>
      </p:sp>
      <p:sp>
        <p:nvSpPr>
          <p:cNvPr id="20" name="lg-runtime-2-panel">
            <a:extLst xmlns:a="http://schemas.openxmlformats.org/drawingml/2006/main">
              <a:ext uri="{FF2B5EF4-FFF2-40B4-BE49-F238E27FC236}">
                <a16:creationId xmlns:a16="http://schemas.microsoft.com/office/drawing/2014/main" id="{3FC59383-AFAA-4F71-A91F-0A2FC412E007}"/>
              </a:ext>
            </a:extLst>
          </p:cNvPr>
          <p:cNvSpPr>
            <a:spLocks xmlns:a="http://schemas.openxmlformats.org/drawingml/2006/main" noGrp="1"/>
          </p:cNvSpPr>
          <p:nvPr/>
        </p:nvSpPr>
        <p:spPr>
          <a:xfrm xmlns:a="http://schemas.openxmlformats.org/drawingml/2006/main">
            <a:off x="6305550" y="2647950"/>
            <a:ext cx="2343150"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21" name="lg-runtime-2-stripe">
            <a:extLst xmlns:a="http://schemas.openxmlformats.org/drawingml/2006/main">
              <a:ext uri="{FF2B5EF4-FFF2-40B4-BE49-F238E27FC236}">
                <a16:creationId xmlns:a16="http://schemas.microsoft.com/office/drawing/2014/main" id="{82A22491-217A-4E62-9621-EFFCAD9B37CB}"/>
              </a:ext>
            </a:extLst>
          </p:cNvPr>
          <p:cNvSpPr>
            <a:spLocks xmlns:a="http://schemas.openxmlformats.org/drawingml/2006/main" noGrp="1"/>
          </p:cNvSpPr>
          <p:nvPr/>
        </p:nvSpPr>
        <p:spPr>
          <a:xfrm xmlns:a="http://schemas.openxmlformats.org/drawingml/2006/main">
            <a:off x="6305550" y="26479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lg-runtime-2-value">
            <a:extLst xmlns:a="http://schemas.openxmlformats.org/drawingml/2006/main">
              <a:ext uri="{FF2B5EF4-FFF2-40B4-BE49-F238E27FC236}">
                <a16:creationId xmlns:a16="http://schemas.microsoft.com/office/drawing/2014/main" id="{CDD4C191-9685-4446-BA82-096A298441AF}"/>
              </a:ext>
            </a:extLst>
          </p:cNvPr>
          <p:cNvSpPr>
            <a:spLocks xmlns:a="http://schemas.openxmlformats.org/drawingml/2006/main" noGrp="1"/>
          </p:cNvSpPr>
          <p:nvPr/>
        </p:nvSpPr>
        <p:spPr>
          <a:xfrm xmlns:a="http://schemas.openxmlformats.org/drawingml/2006/main">
            <a:off x="643890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5CC8B8"/>
                </a:solidFill>
                <a:latin typeface="Avenir Next"/>
                <a:ea typeface="Avenir Next"/>
                <a:cs typeface="Avenir Next"/>
              </a:defRPr>
            </a:defPPr>
          </a:lstStyle>
          <a:p xmlns:a="http://schemas.openxmlformats.org/drawingml/2006/main">
            <a:pPr algn="ctr">
              <a:defRPr sz="2550" b="1" i="0">
                <a:solidFill>
                  <a:srgbClr val="5CC8B8"/>
                </a:solidFill>
                <a:latin typeface="Avenir Next"/>
                <a:ea typeface="Avenir Next"/>
                <a:cs typeface="Avenir Next"/>
              </a:defRPr>
            </a:pPr>
            <a:r>
              <a:rPr sz="2550" b="1" i="0">
                <a:solidFill>
                  <a:srgbClr val="5CC8B8"/>
                </a:solidFill>
                <a:latin typeface="Avenir Next"/>
                <a:ea typeface="Avenir Next"/>
                <a:cs typeface="Avenir Next"/>
              </a:rPr>
              <a:t>4,528</a:t>
            </a:r>
          </a:p>
        </p:txBody>
      </p:sp>
      <p:sp>
        <p:nvSpPr>
          <p:cNvPr id="23" name="lg-runtime-2-label">
            <a:extLst xmlns:a="http://schemas.openxmlformats.org/drawingml/2006/main">
              <a:ext uri="{FF2B5EF4-FFF2-40B4-BE49-F238E27FC236}">
                <a16:creationId xmlns:a16="http://schemas.microsoft.com/office/drawing/2014/main" id="{E854ACF4-1BB9-4E98-BA70-7962DFA973B0}"/>
              </a:ext>
            </a:extLst>
          </p:cNvPr>
          <p:cNvSpPr>
            <a:spLocks xmlns:a="http://schemas.openxmlformats.org/drawingml/2006/main" noGrp="1"/>
          </p:cNvSpPr>
          <p:nvPr/>
        </p:nvSpPr>
        <p:spPr>
          <a:xfrm xmlns:a="http://schemas.openxmlformats.org/drawingml/2006/main">
            <a:off x="645795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call-event pairs</a:t>
            </a:r>
          </a:p>
        </p:txBody>
      </p:sp>
      <p:sp>
        <p:nvSpPr>
          <p:cNvPr id="24" name="lg-runtime-2-detail">
            <a:extLst xmlns:a="http://schemas.openxmlformats.org/drawingml/2006/main">
              <a:ext uri="{FF2B5EF4-FFF2-40B4-BE49-F238E27FC236}">
                <a16:creationId xmlns:a16="http://schemas.microsoft.com/office/drawing/2014/main" id="{B8569906-A84C-4589-9E5C-B57C7D513FC1}"/>
              </a:ext>
            </a:extLst>
          </p:cNvPr>
          <p:cNvSpPr>
            <a:spLocks xmlns:a="http://schemas.openxmlformats.org/drawingml/2006/main" noGrp="1"/>
          </p:cNvSpPr>
          <p:nvPr/>
        </p:nvSpPr>
        <p:spPr>
          <a:xfrm xmlns:a="http://schemas.openxmlformats.org/drawingml/2006/main">
            <a:off x="643890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request and usage traces</a:t>
            </a:r>
          </a:p>
        </p:txBody>
      </p:sp>
      <p:sp>
        <p:nvSpPr>
          <p:cNvPr id="25" name="lg-runtime-3-panel">
            <a:extLst xmlns:a="http://schemas.openxmlformats.org/drawingml/2006/main">
              <a:ext uri="{FF2B5EF4-FFF2-40B4-BE49-F238E27FC236}">
                <a16:creationId xmlns:a16="http://schemas.microsoft.com/office/drawing/2014/main" id="{CA86E628-2DE1-4205-AF2E-AA3FEC94E4B3}"/>
              </a:ext>
            </a:extLst>
          </p:cNvPr>
          <p:cNvSpPr>
            <a:spLocks xmlns:a="http://schemas.openxmlformats.org/drawingml/2006/main" noGrp="1"/>
          </p:cNvSpPr>
          <p:nvPr/>
        </p:nvSpPr>
        <p:spPr>
          <a:xfrm xmlns:a="http://schemas.openxmlformats.org/drawingml/2006/main">
            <a:off x="9067800" y="2647950"/>
            <a:ext cx="2343150" cy="2114550"/>
          </a:xfrm>
          <a:prstGeom xmlns:a="http://schemas.openxmlformats.org/drawingml/2006/main" prst="roundRect">
            <a:avLst>
              <a:gd name="adj" fmla="val 3604"/>
            </a:avLst>
          </a:prstGeom>
          <a:solidFill xmlns:a="http://schemas.openxmlformats.org/drawingml/2006/main">
            <a:srgbClr val="FFFDF8"/>
          </a:solidFill>
          <a:ln xmlns:a="http://schemas.openxmlformats.org/drawingml/2006/main" w="9525">
            <a:solidFill>
              <a:srgbClr val="D7D0C4"/>
            </a:solidFill>
            <a:prstDash val="solid"/>
          </a:ln>
        </p:spPr>
      </p:sp>
      <p:sp>
        <p:nvSpPr>
          <p:cNvPr id="26" name="lg-runtime-3-stripe">
            <a:extLst xmlns:a="http://schemas.openxmlformats.org/drawingml/2006/main">
              <a:ext uri="{FF2B5EF4-FFF2-40B4-BE49-F238E27FC236}">
                <a16:creationId xmlns:a16="http://schemas.microsoft.com/office/drawing/2014/main" id="{09F20EC5-0BA5-4580-BEBE-4608ABC25759}"/>
              </a:ext>
            </a:extLst>
          </p:cNvPr>
          <p:cNvSpPr>
            <a:spLocks xmlns:a="http://schemas.openxmlformats.org/drawingml/2006/main" noGrp="1"/>
          </p:cNvSpPr>
          <p:nvPr/>
        </p:nvSpPr>
        <p:spPr>
          <a:xfrm xmlns:a="http://schemas.openxmlformats.org/drawingml/2006/main">
            <a:off x="9067800" y="26479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lg-runtime-3-value">
            <a:extLst xmlns:a="http://schemas.openxmlformats.org/drawingml/2006/main">
              <a:ext uri="{FF2B5EF4-FFF2-40B4-BE49-F238E27FC236}">
                <a16:creationId xmlns:a16="http://schemas.microsoft.com/office/drawing/2014/main" id="{91604F90-D986-4290-854E-D9A4876ED6BA}"/>
              </a:ext>
            </a:extLst>
          </p:cNvPr>
          <p:cNvSpPr>
            <a:spLocks xmlns:a="http://schemas.openxmlformats.org/drawingml/2006/main" noGrp="1"/>
          </p:cNvSpPr>
          <p:nvPr/>
        </p:nvSpPr>
        <p:spPr>
          <a:xfrm xmlns:a="http://schemas.openxmlformats.org/drawingml/2006/main">
            <a:off x="920115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C2461F"/>
                </a:solidFill>
                <a:latin typeface="Avenir Next"/>
                <a:ea typeface="Avenir Next"/>
                <a:cs typeface="Avenir Next"/>
              </a:defRPr>
            </a:defPPr>
          </a:lstStyle>
          <a:p xmlns:a="http://schemas.openxmlformats.org/drawingml/2006/main">
            <a:pPr algn="ctr">
              <a:defRPr sz="2550" b="1" i="0">
                <a:solidFill>
                  <a:srgbClr val="C2461F"/>
                </a:solidFill>
                <a:latin typeface="Avenir Next"/>
                <a:ea typeface="Avenir Next"/>
                <a:cs typeface="Avenir Next"/>
              </a:defRPr>
            </a:pPr>
            <a:r>
              <a:rPr sz="2550" b="1" i="0">
                <a:solidFill>
                  <a:srgbClr val="C2461F"/>
                </a:solidFill>
                <a:latin typeface="Avenir Next"/>
                <a:ea typeface="Avenir Next"/>
                <a:cs typeface="Avenir Next"/>
              </a:rPr>
              <a:t>0</a:t>
            </a:r>
          </a:p>
        </p:txBody>
      </p:sp>
      <p:sp>
        <p:nvSpPr>
          <p:cNvPr id="28" name="lg-runtime-3-label">
            <a:extLst xmlns:a="http://schemas.openxmlformats.org/drawingml/2006/main">
              <a:ext uri="{FF2B5EF4-FFF2-40B4-BE49-F238E27FC236}">
                <a16:creationId xmlns:a16="http://schemas.microsoft.com/office/drawing/2014/main" id="{FF668455-BE2D-405F-9760-BEE5FC810D7E}"/>
              </a:ext>
            </a:extLst>
          </p:cNvPr>
          <p:cNvSpPr>
            <a:spLocks xmlns:a="http://schemas.openxmlformats.org/drawingml/2006/main" noGrp="1"/>
          </p:cNvSpPr>
          <p:nvPr/>
        </p:nvSpPr>
        <p:spPr>
          <a:xfrm xmlns:a="http://schemas.openxmlformats.org/drawingml/2006/main">
            <a:off x="922020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trace differences</a:t>
            </a:r>
          </a:p>
        </p:txBody>
      </p:sp>
      <p:sp>
        <p:nvSpPr>
          <p:cNvPr id="29" name="lg-runtime-3-detail">
            <a:extLst xmlns:a="http://schemas.openxmlformats.org/drawingml/2006/main">
              <a:ext uri="{FF2B5EF4-FFF2-40B4-BE49-F238E27FC236}">
                <a16:creationId xmlns:a16="http://schemas.microsoft.com/office/drawing/2014/main" id="{E9A6E7D8-B85B-41DD-8B23-3E4631749FE4}"/>
              </a:ext>
            </a:extLst>
          </p:cNvPr>
          <p:cNvSpPr>
            <a:spLocks xmlns:a="http://schemas.openxmlformats.org/drawingml/2006/main" noGrp="1"/>
          </p:cNvSpPr>
          <p:nvPr/>
        </p:nvSpPr>
        <p:spPr>
          <a:xfrm xmlns:a="http://schemas.openxmlformats.org/drawingml/2006/main">
            <a:off x="920115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on the finite test grid</a:t>
            </a:r>
          </a:p>
        </p:txBody>
      </p:sp>
      <p:sp>
        <p:nvSpPr>
          <p:cNvPr id="30" name="lg-runtime-scope">
            <a:extLst xmlns:a="http://schemas.openxmlformats.org/drawingml/2006/main">
              <a:ext uri="{FF2B5EF4-FFF2-40B4-BE49-F238E27FC236}">
                <a16:creationId xmlns:a16="http://schemas.microsoft.com/office/drawing/2014/main" id="{F092EA75-FF81-424A-8A46-5C3CECE93568}"/>
              </a:ext>
            </a:extLst>
          </p:cNvPr>
          <p:cNvSpPr>
            <a:spLocks xmlns:a="http://schemas.openxmlformats.org/drawingml/2006/main" noGrp="1"/>
          </p:cNvSpPr>
          <p:nvPr/>
        </p:nvSpPr>
        <p:spPr>
          <a:xfrm xmlns:a="http://schemas.openxmlformats.org/drawingml/2006/main">
            <a:off x="876300" y="5076825"/>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646B7A"/>
                </a:solidFill>
                <a:latin typeface="Avenir Next"/>
                <a:ea typeface="Avenir Next"/>
                <a:cs typeface="Avenir Next"/>
              </a:defRPr>
            </a:defPPr>
          </a:lstStyle>
          <a:p xmlns:a="http://schemas.openxmlformats.org/drawingml/2006/main">
            <a:pPr algn="ctr">
              <a:defRPr sz="1125" b="1" i="0">
                <a:solidFill>
                  <a:srgbClr val="646B7A"/>
                </a:solidFill>
                <a:latin typeface="Avenir Next"/>
                <a:ea typeface="Avenir Next"/>
                <a:cs typeface="Avenir Next"/>
              </a:defRPr>
            </a:pPr>
            <a:r>
              <a:rPr sz="1125" b="1" i="0">
                <a:solidFill>
                  <a:srgbClr val="646B7A"/>
                </a:solidFill>
                <a:latin typeface="Avenir Next"/>
                <a:ea typeface="Avenir Next"/>
                <a:cs typeface="Avenir Next"/>
              </a:rPr>
              <a:t>Pinned local backend with a deterministic offline oracle; no provider call or billing record.</a:t>
            </a:r>
          </a:p>
        </p:txBody>
      </p:sp>
    </p:spTree>
    <p:extLst>
      <p:ext uri="{BB962C8B-B14F-4D97-AF65-F5344CB8AC3E}">
        <p14:creationId xmlns:p14="http://schemas.microsoft.com/office/powerpoint/2010/main" val="1682796834"/>
      </p:ext>
    </p:extLst>
  </p:cSld>
</p:sld>
</file>

<file path=ppt/slides/slide16.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1" name="s16-brand">
            <a:extLst xmlns:a="http://schemas.openxmlformats.org/drawingml/2006/main">
              <a:ext uri="{FF2B5EF4-FFF2-40B4-BE49-F238E27FC236}">
                <a16:creationId xmlns:a16="http://schemas.microsoft.com/office/drawing/2014/main" id="{943430B3-5E7A-4E2A-BF69-881675FED562}"/>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6-section">
            <a:extLst xmlns:a="http://schemas.openxmlformats.org/drawingml/2006/main">
              <a:ext uri="{FF2B5EF4-FFF2-40B4-BE49-F238E27FC236}">
                <a16:creationId xmlns:a16="http://schemas.microsoft.com/office/drawing/2014/main" id="{2A7AAD3C-16E2-4881-9E68-EA9317A6BB2F}"/>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BOUNDED STRESS</a:t>
            </a:r>
          </a:p>
        </p:txBody>
      </p:sp>
      <p:sp>
        <p:nvSpPr>
          <p:cNvPr id="3" name="s16-title">
            <a:extLst xmlns:a="http://schemas.openxmlformats.org/drawingml/2006/main">
              <a:ext uri="{FF2B5EF4-FFF2-40B4-BE49-F238E27FC236}">
                <a16:creationId xmlns:a16="http://schemas.microsoft.com/office/drawing/2014/main" id="{D868183A-E786-4342-9605-E79A3BC8F3D3}"/>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25"/>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Full request text was checked in bounded compiler stress</a:t>
            </a:r>
          </a:p>
        </p:txBody>
      </p:sp>
      <p:sp>
        <p:nvSpPr>
          <p:cNvPr id="4" name="s16-subtitle">
            <a:extLst xmlns:a="http://schemas.openxmlformats.org/drawingml/2006/main">
              <a:ext uri="{FF2B5EF4-FFF2-40B4-BE49-F238E27FC236}">
                <a16:creationId xmlns:a16="http://schemas.microsoft.com/office/drawing/2014/main" id="{F98443A7-E14B-4CA8-B82C-BA786C743100}"/>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A separate Python evaluator substitutes complete rendered requests under a controlled oracle.</a:t>
            </a:r>
          </a:p>
        </p:txBody>
      </p:sp>
      <p:sp>
        <p:nvSpPr>
          <p:cNvPr id="5" name="s16-source-rule">
            <a:extLst xmlns:a="http://schemas.openxmlformats.org/drawingml/2006/main">
              <a:ext uri="{FF2B5EF4-FFF2-40B4-BE49-F238E27FC236}">
                <a16:creationId xmlns:a16="http://schemas.microsoft.com/office/drawing/2014/main" id="{9E1AB53E-EC78-48EC-9D2F-76A03ACA742E}"/>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6-sources">
            <a:extLst xmlns:a="http://schemas.openxmlformats.org/drawingml/2006/main">
              <a:ext uri="{FF2B5EF4-FFF2-40B4-BE49-F238E27FC236}">
                <a16:creationId xmlns:a16="http://schemas.microsoft.com/office/drawing/2014/main" id="{CA0322DF-EE52-4858-BAA5-F4E377F234A3}"/>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docs/RELATIONAL_STRESS.md</a:t>
            </a:r>
          </a:p>
        </p:txBody>
      </p:sp>
      <p:sp>
        <p:nvSpPr>
          <p:cNvPr id="7" name="s16-footer-rule">
            <a:extLst xmlns:a="http://schemas.openxmlformats.org/drawingml/2006/main">
              <a:ext uri="{FF2B5EF4-FFF2-40B4-BE49-F238E27FC236}">
                <a16:creationId xmlns:a16="http://schemas.microsoft.com/office/drawing/2014/main" id="{3FA0349A-FCB2-42EB-9BEA-0EFA00F70C2E}"/>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6-footer">
            <a:extLst xmlns:a="http://schemas.openxmlformats.org/drawingml/2006/main">
              <a:ext uri="{FF2B5EF4-FFF2-40B4-BE49-F238E27FC236}">
                <a16:creationId xmlns:a16="http://schemas.microsoft.com/office/drawing/2014/main" id="{33C70C63-E57F-4499-A78E-4EA72BBDD932}"/>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6-page">
            <a:extLst xmlns:a="http://schemas.openxmlformats.org/drawingml/2006/main">
              <a:ext uri="{FF2B5EF4-FFF2-40B4-BE49-F238E27FC236}">
                <a16:creationId xmlns:a16="http://schemas.microsoft.com/office/drawing/2014/main" id="{B16BBBA6-6F2A-47A4-9DB8-848EECCE62C8}"/>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16</a:t>
            </a:r>
          </a:p>
        </p:txBody>
      </p:sp>
      <p:sp>
        <p:nvSpPr>
          <p:cNvPr id="10" name="stress-metric-0-panel">
            <a:extLst xmlns:a="http://schemas.openxmlformats.org/drawingml/2006/main">
              <a:ext uri="{FF2B5EF4-FFF2-40B4-BE49-F238E27FC236}">
                <a16:creationId xmlns:a16="http://schemas.microsoft.com/office/drawing/2014/main" id="{E258C99B-2AF6-41D3-AA2D-FFD866598BE0}"/>
              </a:ext>
            </a:extLst>
          </p:cNvPr>
          <p:cNvSpPr>
            <a:spLocks xmlns:a="http://schemas.openxmlformats.org/drawingml/2006/main" noGrp="1"/>
          </p:cNvSpPr>
          <p:nvPr/>
        </p:nvSpPr>
        <p:spPr>
          <a:xfrm xmlns:a="http://schemas.openxmlformats.org/drawingml/2006/main">
            <a:off x="781050" y="27241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11" name="stress-metric-0-stripe">
            <a:extLst xmlns:a="http://schemas.openxmlformats.org/drawingml/2006/main">
              <a:ext uri="{FF2B5EF4-FFF2-40B4-BE49-F238E27FC236}">
                <a16:creationId xmlns:a16="http://schemas.microsoft.com/office/drawing/2014/main" id="{3F1501E6-F538-423E-92D8-CF25375963B5}"/>
              </a:ext>
            </a:extLst>
          </p:cNvPr>
          <p:cNvSpPr>
            <a:spLocks xmlns:a="http://schemas.openxmlformats.org/drawingml/2006/main" noGrp="1"/>
          </p:cNvSpPr>
          <p:nvPr/>
        </p:nvSpPr>
        <p:spPr>
          <a:xfrm xmlns:a="http://schemas.openxmlformats.org/drawingml/2006/main">
            <a:off x="781050" y="27241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stress-metric-0-value">
            <a:extLst xmlns:a="http://schemas.openxmlformats.org/drawingml/2006/main">
              <a:ext uri="{FF2B5EF4-FFF2-40B4-BE49-F238E27FC236}">
                <a16:creationId xmlns:a16="http://schemas.microsoft.com/office/drawing/2014/main" id="{B8F5DC06-94F0-4EB4-925A-9F479D3B06DA}"/>
              </a:ext>
            </a:extLst>
          </p:cNvPr>
          <p:cNvSpPr>
            <a:spLocks xmlns:a="http://schemas.openxmlformats.org/drawingml/2006/main" noGrp="1"/>
          </p:cNvSpPr>
          <p:nvPr/>
        </p:nvSpPr>
        <p:spPr>
          <a:xfrm xmlns:a="http://schemas.openxmlformats.org/drawingml/2006/main">
            <a:off x="914400" y="30670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400" b="1" i="0">
                <a:solidFill>
                  <a:srgbClr val="1F6F66"/>
                </a:solidFill>
                <a:latin typeface="Avenir Next"/>
                <a:ea typeface="Avenir Next"/>
                <a:cs typeface="Avenir Next"/>
              </a:defRPr>
            </a:defPPr>
          </a:lstStyle>
          <a:p xmlns:a="http://schemas.openxmlformats.org/drawingml/2006/main">
            <a:pPr algn="ctr">
              <a:defRPr sz="2400" b="1" i="0">
                <a:solidFill>
                  <a:srgbClr val="1F6F66"/>
                </a:solidFill>
                <a:latin typeface="Avenir Next"/>
                <a:ea typeface="Avenir Next"/>
                <a:cs typeface="Avenir Next"/>
              </a:defRPr>
            </a:pPr>
            <a:r>
              <a:rPr sz="2400" b="1" i="0">
                <a:solidFill>
                  <a:srgbClr val="1F6F66"/>
                </a:solidFill>
                <a:latin typeface="Avenir Next"/>
                <a:ea typeface="Avenir Next"/>
                <a:cs typeface="Avenir Next"/>
              </a:rPr>
              <a:t>264</a:t>
            </a:r>
          </a:p>
        </p:txBody>
      </p:sp>
      <p:sp>
        <p:nvSpPr>
          <p:cNvPr id="13" name="stress-metric-0-label">
            <a:extLst xmlns:a="http://schemas.openxmlformats.org/drawingml/2006/main">
              <a:ext uri="{FF2B5EF4-FFF2-40B4-BE49-F238E27FC236}">
                <a16:creationId xmlns:a16="http://schemas.microsoft.com/office/drawing/2014/main" id="{18814360-B797-4883-AAED-09B073ACD9EB}"/>
              </a:ext>
            </a:extLst>
          </p:cNvPr>
          <p:cNvSpPr>
            <a:spLocks xmlns:a="http://schemas.openxmlformats.org/drawingml/2006/main" noGrp="1"/>
          </p:cNvSpPr>
          <p:nvPr/>
        </p:nvSpPr>
        <p:spPr>
          <a:xfrm xmlns:a="http://schemas.openxmlformats.org/drawingml/2006/main">
            <a:off x="933450" y="37147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generated C++ cases</a:t>
            </a:r>
          </a:p>
        </p:txBody>
      </p:sp>
      <p:sp>
        <p:nvSpPr>
          <p:cNvPr id="14" name="stress-metric-0-detail">
            <a:extLst xmlns:a="http://schemas.openxmlformats.org/drawingml/2006/main">
              <a:ext uri="{FF2B5EF4-FFF2-40B4-BE49-F238E27FC236}">
                <a16:creationId xmlns:a16="http://schemas.microsoft.com/office/drawing/2014/main" id="{19ED81CD-F317-415E-B398-9E0A0DC1D25C}"/>
              </a:ext>
            </a:extLst>
          </p:cNvPr>
          <p:cNvSpPr>
            <a:spLocks xmlns:a="http://schemas.openxmlformats.org/drawingml/2006/main" noGrp="1"/>
          </p:cNvSpPr>
          <p:nvPr/>
        </p:nvSpPr>
        <p:spPr>
          <a:xfrm xmlns:a="http://schemas.openxmlformats.org/drawingml/2006/main">
            <a:off x="914400" y="43053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144 accepted · 120 mutations rejected</a:t>
            </a:r>
          </a:p>
        </p:txBody>
      </p:sp>
      <p:sp>
        <p:nvSpPr>
          <p:cNvPr id="15" name="stress-metric-1-panel">
            <a:extLst xmlns:a="http://schemas.openxmlformats.org/drawingml/2006/main">
              <a:ext uri="{FF2B5EF4-FFF2-40B4-BE49-F238E27FC236}">
                <a16:creationId xmlns:a16="http://schemas.microsoft.com/office/drawing/2014/main" id="{1A6614D9-F1E8-466C-95BA-082068ABEDE7}"/>
              </a:ext>
            </a:extLst>
          </p:cNvPr>
          <p:cNvSpPr>
            <a:spLocks xmlns:a="http://schemas.openxmlformats.org/drawingml/2006/main" noGrp="1"/>
          </p:cNvSpPr>
          <p:nvPr/>
        </p:nvSpPr>
        <p:spPr>
          <a:xfrm xmlns:a="http://schemas.openxmlformats.org/drawingml/2006/main">
            <a:off x="3543300" y="27241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16" name="stress-metric-1-stripe">
            <a:extLst xmlns:a="http://schemas.openxmlformats.org/drawingml/2006/main">
              <a:ext uri="{FF2B5EF4-FFF2-40B4-BE49-F238E27FC236}">
                <a16:creationId xmlns:a16="http://schemas.microsoft.com/office/drawing/2014/main" id="{C6540B80-E865-4158-8C30-C33B929E5EE3}"/>
              </a:ext>
            </a:extLst>
          </p:cNvPr>
          <p:cNvSpPr>
            <a:spLocks xmlns:a="http://schemas.openxmlformats.org/drawingml/2006/main" noGrp="1"/>
          </p:cNvSpPr>
          <p:nvPr/>
        </p:nvSpPr>
        <p:spPr>
          <a:xfrm xmlns:a="http://schemas.openxmlformats.org/drawingml/2006/main">
            <a:off x="3543300" y="27241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stress-metric-1-value">
            <a:extLst xmlns:a="http://schemas.openxmlformats.org/drawingml/2006/main">
              <a:ext uri="{FF2B5EF4-FFF2-40B4-BE49-F238E27FC236}">
                <a16:creationId xmlns:a16="http://schemas.microsoft.com/office/drawing/2014/main" id="{E0D7C405-2C63-4C33-973D-6A7D473AFD8B}"/>
              </a:ext>
            </a:extLst>
          </p:cNvPr>
          <p:cNvSpPr>
            <a:spLocks xmlns:a="http://schemas.openxmlformats.org/drawingml/2006/main" noGrp="1"/>
          </p:cNvSpPr>
          <p:nvPr/>
        </p:nvSpPr>
        <p:spPr>
          <a:xfrm xmlns:a="http://schemas.openxmlformats.org/drawingml/2006/main">
            <a:off x="3676650" y="30670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400" b="1" i="0">
                <a:solidFill>
                  <a:srgbClr val="FF8A5C"/>
                </a:solidFill>
                <a:latin typeface="Avenir Next"/>
                <a:ea typeface="Avenir Next"/>
                <a:cs typeface="Avenir Next"/>
              </a:defRPr>
            </a:defPPr>
          </a:lstStyle>
          <a:p xmlns:a="http://schemas.openxmlformats.org/drawingml/2006/main">
            <a:pPr algn="ctr">
              <a:defRPr sz="2400" b="1" i="0">
                <a:solidFill>
                  <a:srgbClr val="FF8A5C"/>
                </a:solidFill>
                <a:latin typeface="Avenir Next"/>
                <a:ea typeface="Avenir Next"/>
                <a:cs typeface="Avenir Next"/>
              </a:defRPr>
            </a:pPr>
            <a:r>
              <a:rPr sz="2400" b="1" i="0">
                <a:solidFill>
                  <a:srgbClr val="FF8A5C"/>
                </a:solidFill>
                <a:latin typeface="Avenir Next"/>
                <a:ea typeface="Avenir Next"/>
                <a:cs typeface="Avenir Next"/>
              </a:rPr>
              <a:t>24,192</a:t>
            </a:r>
          </a:p>
        </p:txBody>
      </p:sp>
      <p:sp>
        <p:nvSpPr>
          <p:cNvPr id="18" name="stress-metric-1-label">
            <a:extLst xmlns:a="http://schemas.openxmlformats.org/drawingml/2006/main">
              <a:ext uri="{FF2B5EF4-FFF2-40B4-BE49-F238E27FC236}">
                <a16:creationId xmlns:a16="http://schemas.microsoft.com/office/drawing/2014/main" id="{C676AD5E-D523-4FBB-93A3-58095A69FE5F}"/>
              </a:ext>
            </a:extLst>
          </p:cNvPr>
          <p:cNvSpPr>
            <a:spLocks xmlns:a="http://schemas.openxmlformats.org/drawingml/2006/main" noGrp="1"/>
          </p:cNvSpPr>
          <p:nvPr/>
        </p:nvSpPr>
        <p:spPr>
          <a:xfrm xmlns:a="http://schemas.openxmlformats.org/drawingml/2006/main">
            <a:off x="3695700" y="37147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independent reference runs</a:t>
            </a:r>
          </a:p>
        </p:txBody>
      </p:sp>
      <p:sp>
        <p:nvSpPr>
          <p:cNvPr id="19" name="stress-metric-1-detail">
            <a:extLst xmlns:a="http://schemas.openxmlformats.org/drawingml/2006/main">
              <a:ext uri="{FF2B5EF4-FFF2-40B4-BE49-F238E27FC236}">
                <a16:creationId xmlns:a16="http://schemas.microsoft.com/office/drawing/2014/main" id="{FB7E9688-AAC1-4B84-B057-83BA3EA58BA1}"/>
              </a:ext>
            </a:extLst>
          </p:cNvPr>
          <p:cNvSpPr>
            <a:spLocks xmlns:a="http://schemas.openxmlformats.org/drawingml/2006/main" noGrp="1"/>
          </p:cNvSpPr>
          <p:nvPr/>
        </p:nvSpPr>
        <p:spPr>
          <a:xfrm xmlns:a="http://schemas.openxmlformats.org/drawingml/2006/main">
            <a:off x="3676650" y="43053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full rendered request text</a:t>
            </a:r>
          </a:p>
        </p:txBody>
      </p:sp>
      <p:sp>
        <p:nvSpPr>
          <p:cNvPr id="20" name="stress-metric-2-panel">
            <a:extLst xmlns:a="http://schemas.openxmlformats.org/drawingml/2006/main">
              <a:ext uri="{FF2B5EF4-FFF2-40B4-BE49-F238E27FC236}">
                <a16:creationId xmlns:a16="http://schemas.microsoft.com/office/drawing/2014/main" id="{01C1F861-034D-4541-82C1-FE804F36DE8D}"/>
              </a:ext>
            </a:extLst>
          </p:cNvPr>
          <p:cNvSpPr>
            <a:spLocks xmlns:a="http://schemas.openxmlformats.org/drawingml/2006/main" noGrp="1"/>
          </p:cNvSpPr>
          <p:nvPr/>
        </p:nvSpPr>
        <p:spPr>
          <a:xfrm xmlns:a="http://schemas.openxmlformats.org/drawingml/2006/main">
            <a:off x="6305550" y="27241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21" name="stress-metric-2-stripe">
            <a:extLst xmlns:a="http://schemas.openxmlformats.org/drawingml/2006/main">
              <a:ext uri="{FF2B5EF4-FFF2-40B4-BE49-F238E27FC236}">
                <a16:creationId xmlns:a16="http://schemas.microsoft.com/office/drawing/2014/main" id="{0DAE9E9A-0D56-43CE-8CA9-27BF02091FD8}"/>
              </a:ext>
            </a:extLst>
          </p:cNvPr>
          <p:cNvSpPr>
            <a:spLocks xmlns:a="http://schemas.openxmlformats.org/drawingml/2006/main" noGrp="1"/>
          </p:cNvSpPr>
          <p:nvPr/>
        </p:nvSpPr>
        <p:spPr>
          <a:xfrm xmlns:a="http://schemas.openxmlformats.org/drawingml/2006/main">
            <a:off x="6305550" y="27241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stress-metric-2-value">
            <a:extLst xmlns:a="http://schemas.openxmlformats.org/drawingml/2006/main">
              <a:ext uri="{FF2B5EF4-FFF2-40B4-BE49-F238E27FC236}">
                <a16:creationId xmlns:a16="http://schemas.microsoft.com/office/drawing/2014/main" id="{9F6F89A0-6F0B-4D3F-B14C-999BD9AFA66D}"/>
              </a:ext>
            </a:extLst>
          </p:cNvPr>
          <p:cNvSpPr>
            <a:spLocks xmlns:a="http://schemas.openxmlformats.org/drawingml/2006/main" noGrp="1"/>
          </p:cNvSpPr>
          <p:nvPr/>
        </p:nvSpPr>
        <p:spPr>
          <a:xfrm xmlns:a="http://schemas.openxmlformats.org/drawingml/2006/main">
            <a:off x="6438900" y="30670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400" b="1" i="0">
                <a:solidFill>
                  <a:srgbClr val="5CC8B8"/>
                </a:solidFill>
                <a:latin typeface="Avenir Next"/>
                <a:ea typeface="Avenir Next"/>
                <a:cs typeface="Avenir Next"/>
              </a:defRPr>
            </a:defPPr>
          </a:lstStyle>
          <a:p xmlns:a="http://schemas.openxmlformats.org/drawingml/2006/main">
            <a:pPr algn="ctr">
              <a:defRPr sz="2400" b="1" i="0">
                <a:solidFill>
                  <a:srgbClr val="5CC8B8"/>
                </a:solidFill>
                <a:latin typeface="Avenir Next"/>
                <a:ea typeface="Avenir Next"/>
                <a:cs typeface="Avenir Next"/>
              </a:defRPr>
            </a:pPr>
            <a:r>
              <a:rPr sz="2400" b="1" i="0">
                <a:solidFill>
                  <a:srgbClr val="5CC8B8"/>
                </a:solidFill>
                <a:latin typeface="Avenir Next"/>
                <a:ea typeface="Avenir Next"/>
                <a:cs typeface="Avenir Next"/>
              </a:rPr>
              <a:t>0 / 13,824</a:t>
            </a:r>
          </a:p>
        </p:txBody>
      </p:sp>
      <p:sp>
        <p:nvSpPr>
          <p:cNvPr id="23" name="stress-metric-2-label">
            <a:extLst xmlns:a="http://schemas.openxmlformats.org/drawingml/2006/main">
              <a:ext uri="{FF2B5EF4-FFF2-40B4-BE49-F238E27FC236}">
                <a16:creationId xmlns:a16="http://schemas.microsoft.com/office/drawing/2014/main" id="{043606ED-2859-45F2-B23E-E61FF69870A6}"/>
              </a:ext>
            </a:extLst>
          </p:cNvPr>
          <p:cNvSpPr>
            <a:spLocks xmlns:a="http://schemas.openxmlformats.org/drawingml/2006/main" noGrp="1"/>
          </p:cNvSpPr>
          <p:nvPr/>
        </p:nvSpPr>
        <p:spPr>
          <a:xfrm xmlns:a="http://schemas.openxmlformats.org/drawingml/2006/main">
            <a:off x="6457950" y="37147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mismatch / accepted pairs</a:t>
            </a:r>
          </a:p>
        </p:txBody>
      </p:sp>
      <p:sp>
        <p:nvSpPr>
          <p:cNvPr id="24" name="stress-metric-2-detail">
            <a:extLst xmlns:a="http://schemas.openxmlformats.org/drawingml/2006/main">
              <a:ext uri="{FF2B5EF4-FFF2-40B4-BE49-F238E27FC236}">
                <a16:creationId xmlns:a16="http://schemas.microsoft.com/office/drawing/2014/main" id="{70C1399C-591B-442C-B635-E7080286112B}"/>
              </a:ext>
            </a:extLst>
          </p:cNvPr>
          <p:cNvSpPr>
            <a:spLocks xmlns:a="http://schemas.openxmlformats.org/drawingml/2006/main" noGrp="1"/>
          </p:cNvSpPr>
          <p:nvPr/>
        </p:nvSpPr>
        <p:spPr>
          <a:xfrm xmlns:a="http://schemas.openxmlformats.org/drawingml/2006/main">
            <a:off x="6438900" y="43053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request and usage traces</a:t>
            </a:r>
          </a:p>
        </p:txBody>
      </p:sp>
      <p:sp>
        <p:nvSpPr>
          <p:cNvPr id="25" name="stress-metric-3-panel">
            <a:extLst xmlns:a="http://schemas.openxmlformats.org/drawingml/2006/main">
              <a:ext uri="{FF2B5EF4-FFF2-40B4-BE49-F238E27FC236}">
                <a16:creationId xmlns:a16="http://schemas.microsoft.com/office/drawing/2014/main" id="{164384DF-9E87-468E-AEA9-AB99E5C71EB1}"/>
              </a:ext>
            </a:extLst>
          </p:cNvPr>
          <p:cNvSpPr>
            <a:spLocks xmlns:a="http://schemas.openxmlformats.org/drawingml/2006/main" noGrp="1"/>
          </p:cNvSpPr>
          <p:nvPr/>
        </p:nvSpPr>
        <p:spPr>
          <a:xfrm xmlns:a="http://schemas.openxmlformats.org/drawingml/2006/main">
            <a:off x="9067800" y="2724150"/>
            <a:ext cx="2343150" cy="2076450"/>
          </a:xfrm>
          <a:prstGeom xmlns:a="http://schemas.openxmlformats.org/drawingml/2006/main" prst="roundRect">
            <a:avLst>
              <a:gd name="adj" fmla="val 3670"/>
            </a:avLst>
          </a:prstGeom>
          <a:solidFill xmlns:a="http://schemas.openxmlformats.org/drawingml/2006/main">
            <a:srgbClr val="FFFDF8"/>
          </a:solidFill>
          <a:ln xmlns:a="http://schemas.openxmlformats.org/drawingml/2006/main" w="9525">
            <a:solidFill>
              <a:srgbClr val="D7D0C4"/>
            </a:solidFill>
            <a:prstDash val="solid"/>
          </a:ln>
        </p:spPr>
      </p:sp>
      <p:sp>
        <p:nvSpPr>
          <p:cNvPr id="26" name="stress-metric-3-stripe">
            <a:extLst xmlns:a="http://schemas.openxmlformats.org/drawingml/2006/main">
              <a:ext uri="{FF2B5EF4-FFF2-40B4-BE49-F238E27FC236}">
                <a16:creationId xmlns:a16="http://schemas.microsoft.com/office/drawing/2014/main" id="{F5F46362-48EF-48F9-A43F-95850BCBE305}"/>
              </a:ext>
            </a:extLst>
          </p:cNvPr>
          <p:cNvSpPr>
            <a:spLocks xmlns:a="http://schemas.openxmlformats.org/drawingml/2006/main" noGrp="1"/>
          </p:cNvSpPr>
          <p:nvPr/>
        </p:nvSpPr>
        <p:spPr>
          <a:xfrm xmlns:a="http://schemas.openxmlformats.org/drawingml/2006/main">
            <a:off x="9067800" y="27241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stress-metric-3-value">
            <a:extLst xmlns:a="http://schemas.openxmlformats.org/drawingml/2006/main">
              <a:ext uri="{FF2B5EF4-FFF2-40B4-BE49-F238E27FC236}">
                <a16:creationId xmlns:a16="http://schemas.microsoft.com/office/drawing/2014/main" id="{EA33E508-B9B2-4658-90CD-756351B1859D}"/>
              </a:ext>
            </a:extLst>
          </p:cNvPr>
          <p:cNvSpPr>
            <a:spLocks xmlns:a="http://schemas.openxmlformats.org/drawingml/2006/main" noGrp="1"/>
          </p:cNvSpPr>
          <p:nvPr/>
        </p:nvSpPr>
        <p:spPr>
          <a:xfrm xmlns:a="http://schemas.openxmlformats.org/drawingml/2006/main">
            <a:off x="9201150" y="3067050"/>
            <a:ext cx="2076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400" b="1" i="0">
                <a:solidFill>
                  <a:srgbClr val="C2461F"/>
                </a:solidFill>
                <a:latin typeface="Avenir Next"/>
                <a:ea typeface="Avenir Next"/>
                <a:cs typeface="Avenir Next"/>
              </a:defRPr>
            </a:defPPr>
          </a:lstStyle>
          <a:p xmlns:a="http://schemas.openxmlformats.org/drawingml/2006/main">
            <a:pPr algn="ctr">
              <a:defRPr sz="2400" b="1" i="0">
                <a:solidFill>
                  <a:srgbClr val="C2461F"/>
                </a:solidFill>
                <a:latin typeface="Avenir Next"/>
                <a:ea typeface="Avenir Next"/>
                <a:cs typeface="Avenir Next"/>
              </a:defRPr>
            </a:pPr>
            <a:r>
              <a:rPr sz="2400" b="1" i="0">
                <a:solidFill>
                  <a:srgbClr val="C2461F"/>
                </a:solidFill>
                <a:latin typeface="Avenir Next"/>
                <a:ea typeface="Avenir Next"/>
                <a:cs typeface="Avenir Next"/>
              </a:rPr>
              <a:t>66,240</a:t>
            </a:r>
          </a:p>
        </p:txBody>
      </p:sp>
      <p:sp>
        <p:nvSpPr>
          <p:cNvPr id="28" name="stress-metric-3-label">
            <a:extLst xmlns:a="http://schemas.openxmlformats.org/drawingml/2006/main">
              <a:ext uri="{FF2B5EF4-FFF2-40B4-BE49-F238E27FC236}">
                <a16:creationId xmlns:a16="http://schemas.microsoft.com/office/drawing/2014/main" id="{6665C4F7-ADA8-492B-9EBD-DC42C2F58DE7}"/>
              </a:ext>
            </a:extLst>
          </p:cNvPr>
          <p:cNvSpPr>
            <a:spLocks xmlns:a="http://schemas.openxmlformats.org/drawingml/2006/main" noGrp="1"/>
          </p:cNvSpPr>
          <p:nvPr/>
        </p:nvSpPr>
        <p:spPr>
          <a:xfrm xmlns:a="http://schemas.openxmlformats.org/drawingml/2006/main">
            <a:off x="9220200" y="371475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141B2B"/>
                </a:solidFill>
                <a:latin typeface="Avenir Next"/>
                <a:ea typeface="Avenir Next"/>
                <a:cs typeface="Avenir Next"/>
              </a:defRPr>
            </a:defPPr>
          </a:lstStyle>
          <a:p xmlns:a="http://schemas.openxmlformats.org/drawingml/2006/main">
            <a:pPr algn="ctr">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per-call accounting checks</a:t>
            </a:r>
          </a:p>
        </p:txBody>
      </p:sp>
      <p:sp>
        <p:nvSpPr>
          <p:cNvPr id="29" name="stress-metric-3-detail">
            <a:extLst xmlns:a="http://schemas.openxmlformats.org/drawingml/2006/main">
              <a:ext uri="{FF2B5EF4-FFF2-40B4-BE49-F238E27FC236}">
                <a16:creationId xmlns:a16="http://schemas.microsoft.com/office/drawing/2014/main" id="{9131B3D7-E461-4B23-9228-38F5E169BFC4}"/>
              </a:ext>
            </a:extLst>
          </p:cNvPr>
          <p:cNvSpPr>
            <a:spLocks xmlns:a="http://schemas.openxmlformats.org/drawingml/2006/main" noGrp="1"/>
          </p:cNvSpPr>
          <p:nvPr/>
        </p:nvSpPr>
        <p:spPr>
          <a:xfrm xmlns:a="http://schemas.openxmlformats.org/drawingml/2006/main">
            <a:off x="9201150" y="4305300"/>
            <a:ext cx="20764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646B7A"/>
                </a:solidFill>
                <a:latin typeface="Avenir Next"/>
                <a:ea typeface="Avenir Next"/>
                <a:cs typeface="Avenir Next"/>
              </a:defRPr>
            </a:defPPr>
          </a:lstStyle>
          <a:p xmlns:a="http://schemas.openxmlformats.org/drawingml/2006/main">
            <a:pPr algn="ctr">
              <a:defRPr sz="1050" b="0" i="0">
                <a:solidFill>
                  <a:srgbClr val="646B7A"/>
                </a:solidFill>
                <a:latin typeface="Avenir Next"/>
                <a:ea typeface="Avenir Next"/>
                <a:cs typeface="Avenir Next"/>
              </a:defRPr>
            </a:pPr>
            <a:r>
              <a:rPr sz="1050" b="0" i="0">
                <a:solidFill>
                  <a:srgbClr val="646B7A"/>
                </a:solidFill>
                <a:latin typeface="Avenir Next"/>
                <a:ea typeface="Avenir Next"/>
                <a:cs typeface="Avenir Next"/>
              </a:rPr>
              <a:t>117 mutation witnesses · 3 unknown</a:t>
            </a:r>
          </a:p>
        </p:txBody>
      </p:sp>
      <p:sp>
        <p:nvSpPr>
          <p:cNvPr id="30" name="stress-scope">
            <a:extLst xmlns:a="http://schemas.openxmlformats.org/drawingml/2006/main">
              <a:ext uri="{FF2B5EF4-FFF2-40B4-BE49-F238E27FC236}">
                <a16:creationId xmlns:a16="http://schemas.microsoft.com/office/drawing/2014/main" id="{9BB8E50A-AED6-47E9-AADA-35A92AEF1C56}"/>
              </a:ext>
            </a:extLst>
          </p:cNvPr>
          <p:cNvSpPr>
            <a:spLocks xmlns:a="http://schemas.openxmlformats.org/drawingml/2006/main" noGrp="1"/>
          </p:cNvSpPr>
          <p:nvPr/>
        </p:nvSpPr>
        <p:spPr>
          <a:xfrm xmlns:a="http://schemas.openxmlformats.org/drawingml/2006/main">
            <a:off x="904875" y="52197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63" b="1" i="0">
                <a:solidFill>
                  <a:srgbClr val="B8C1D1"/>
                </a:solidFill>
                <a:latin typeface="Avenir Next"/>
                <a:ea typeface="Avenir Next"/>
                <a:cs typeface="Avenir Next"/>
              </a:defRPr>
            </a:defPPr>
          </a:lstStyle>
          <a:p xmlns:a="http://schemas.openxmlformats.org/drawingml/2006/main">
            <a:pPr algn="ctr">
              <a:defRPr sz="1163" b="1" i="0">
                <a:solidFill>
                  <a:srgbClr val="B8C1D1"/>
                </a:solidFill>
                <a:latin typeface="Avenir Next"/>
                <a:ea typeface="Avenir Next"/>
                <a:cs typeface="Avenir Next"/>
              </a:defRPr>
            </a:pPr>
            <a:r>
              <a:rPr sz="1163" b="1" i="0">
                <a:solidFill>
                  <a:srgbClr val="B8C1D1"/>
                </a:solidFill>
                <a:latin typeface="Avenir Next"/>
                <a:ea typeface="Avenir Next"/>
                <a:cs typeface="Avenir Next"/>
              </a:rPr>
              <a:t>C++ checker only compiles cases; a separate Python interpreter substitutes full text. Synthetic cases, not a proof or provider test.</a:t>
            </a:r>
          </a:p>
        </p:txBody>
      </p:sp>
    </p:spTree>
    <p:extLst>
      <p:ext uri="{BB962C8B-B14F-4D97-AF65-F5344CB8AC3E}">
        <p14:creationId xmlns:p14="http://schemas.microsoft.com/office/powerpoint/2010/main" val="1523758770"/>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33" name="">
            <a:extLst xmlns:a="http://schemas.openxmlformats.org/drawingml/2006/main">
              <a:ext uri="{FF2B5EF4-FFF2-40B4-BE49-F238E27FC236}">
                <a16:creationId xmlns:a16="http://schemas.microsoft.com/office/drawing/2014/main" id="{A2B9ECA4-A19A-4776-847A-E17C7A8E7524}"/>
              </a:ext>
            </a:extLst>
          </p:cNvPr>
          <p:cNvCxnSpPr>
            <a:stCxn xmlns:a="http://schemas.openxmlformats.org/drawingml/2006/main" id="22" idx="2"/>
            <a:endCxn xmlns:a="http://schemas.openxmlformats.org/drawingml/2006/main" id="26" idx="0"/>
          </p:cNvCxnSpPr>
          <p:nvPr/>
        </p:nvCxnSpPr>
        <p:spPr>
          <a:xfrm xmlns:a="http://schemas.openxmlformats.org/drawingml/2006/main" flipH="1">
            <a:off x="6096000" y="4019550"/>
            <a:ext cx="4619625" cy="504825"/>
          </a:xfrm>
          <a:prstGeom xmlns:a="http://schemas.openxmlformats.org/drawingml/2006/main" prst="straightConnector1">
            <a:avLst/>
          </a:prstGeom>
          <a:ln xmlns:a="http://schemas.openxmlformats.org/drawingml/2006/main" w="14288">
            <a:solidFill>
              <a:srgbClr val="D9CBB6"/>
            </a:solidFill>
            <a:prstDash val="solid"/>
            <a:tailEnd type="triangle" w="sm" len="sm"/>
          </a:ln>
        </p:spPr>
      </p:cxnSp>
      <p:cxnSp>
        <p:nvCxnSpPr>
          <p:cNvPr id="32" name="">
            <a:extLst xmlns:a="http://schemas.openxmlformats.org/drawingml/2006/main">
              <a:ext uri="{FF2B5EF4-FFF2-40B4-BE49-F238E27FC236}">
                <a16:creationId xmlns:a16="http://schemas.microsoft.com/office/drawing/2014/main" id="{828DCF46-1737-4E11-93CC-267A2D42A488}"/>
              </a:ext>
            </a:extLst>
          </p:cNvPr>
          <p:cNvCxnSpPr>
            <a:stCxn xmlns:a="http://schemas.openxmlformats.org/drawingml/2006/main" id="18" idx="2"/>
            <a:endCxn xmlns:a="http://schemas.openxmlformats.org/drawingml/2006/main" id="26" idx="0"/>
          </p:cNvCxnSpPr>
          <p:nvPr/>
        </p:nvCxnSpPr>
        <p:spPr>
          <a:xfrm xmlns:a="http://schemas.openxmlformats.org/drawingml/2006/main" flipH="1">
            <a:off x="6096000" y="4019550"/>
            <a:ext cx="1724025" cy="504825"/>
          </a:xfrm>
          <a:prstGeom xmlns:a="http://schemas.openxmlformats.org/drawingml/2006/main" prst="straightConnector1">
            <a:avLst/>
          </a:prstGeom>
          <a:ln xmlns:a="http://schemas.openxmlformats.org/drawingml/2006/main" w="14288">
            <a:solidFill>
              <a:srgbClr val="D9CBB6"/>
            </a:solidFill>
            <a:prstDash val="solid"/>
            <a:tailEnd type="triangle" w="sm" len="sm"/>
          </a:ln>
        </p:spPr>
      </p:cxnSp>
      <p:cxnSp>
        <p:nvCxnSpPr>
          <p:cNvPr id="31" name="">
            <a:extLst xmlns:a="http://schemas.openxmlformats.org/drawingml/2006/main">
              <a:ext uri="{FF2B5EF4-FFF2-40B4-BE49-F238E27FC236}">
                <a16:creationId xmlns:a16="http://schemas.microsoft.com/office/drawing/2014/main" id="{86F6A085-0697-4265-912D-923BE0B65130}"/>
              </a:ext>
            </a:extLst>
          </p:cNvPr>
          <p:cNvCxnSpPr>
            <a:stCxn xmlns:a="http://schemas.openxmlformats.org/drawingml/2006/main" id="14" idx="2"/>
            <a:endCxn xmlns:a="http://schemas.openxmlformats.org/drawingml/2006/main" id="26" idx="0"/>
          </p:cNvCxnSpPr>
          <p:nvPr/>
        </p:nvCxnSpPr>
        <p:spPr>
          <a:xfrm xmlns:a="http://schemas.openxmlformats.org/drawingml/2006/main">
            <a:off x="4924425" y="4019550"/>
            <a:ext cx="1171575" cy="504825"/>
          </a:xfrm>
          <a:prstGeom xmlns:a="http://schemas.openxmlformats.org/drawingml/2006/main" prst="straightConnector1">
            <a:avLst/>
          </a:prstGeom>
          <a:ln xmlns:a="http://schemas.openxmlformats.org/drawingml/2006/main" w="14288">
            <a:solidFill>
              <a:srgbClr val="D9CBB6"/>
            </a:solidFill>
            <a:prstDash val="solid"/>
            <a:tailEnd type="triangle" w="sm" len="sm"/>
          </a:ln>
        </p:spPr>
      </p:cxnSp>
      <p:cxnSp>
        <p:nvCxnSpPr>
          <p:cNvPr id="30" name="">
            <a:extLst xmlns:a="http://schemas.openxmlformats.org/drawingml/2006/main">
              <a:ext uri="{FF2B5EF4-FFF2-40B4-BE49-F238E27FC236}">
                <a16:creationId xmlns:a16="http://schemas.microsoft.com/office/drawing/2014/main" id="{30F78672-D876-4C29-B264-8088E243054D}"/>
              </a:ext>
            </a:extLst>
          </p:cNvPr>
          <p:cNvCxnSpPr>
            <a:stCxn xmlns:a="http://schemas.openxmlformats.org/drawingml/2006/main" id="10" idx="2"/>
            <a:endCxn xmlns:a="http://schemas.openxmlformats.org/drawingml/2006/main" id="26" idx="0"/>
          </p:cNvCxnSpPr>
          <p:nvPr/>
        </p:nvCxnSpPr>
        <p:spPr>
          <a:xfrm xmlns:a="http://schemas.openxmlformats.org/drawingml/2006/main">
            <a:off x="2028825" y="4019550"/>
            <a:ext cx="4067175" cy="504825"/>
          </a:xfrm>
          <a:prstGeom xmlns:a="http://schemas.openxmlformats.org/drawingml/2006/main" prst="straightConnector1">
            <a:avLst/>
          </a:prstGeom>
          <a:ln xmlns:a="http://schemas.openxmlformats.org/drawingml/2006/main" w="14288">
            <a:solidFill>
              <a:srgbClr val="D9CBB6"/>
            </a:solidFill>
            <a:prstDash val="solid"/>
            <a:tailEnd type="triangle" w="sm" len="sm"/>
          </a:ln>
        </p:spPr>
      </p:cxnSp>
      <p:sp>
        <p:nvSpPr>
          <p:cNvPr id="35" name="s17-brand">
            <a:extLst xmlns:a="http://schemas.openxmlformats.org/drawingml/2006/main">
              <a:ext uri="{FF2B5EF4-FFF2-40B4-BE49-F238E27FC236}">
                <a16:creationId xmlns:a16="http://schemas.microsoft.com/office/drawing/2014/main" id="{2C4A1CA5-EE5E-46B2-BAFD-8AC44DACD4A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7-section">
            <a:extLst xmlns:a="http://schemas.openxmlformats.org/drawingml/2006/main">
              <a:ext uri="{FF2B5EF4-FFF2-40B4-BE49-F238E27FC236}">
                <a16:creationId xmlns:a16="http://schemas.microsoft.com/office/drawing/2014/main" id="{97015FDA-CB57-44F6-9371-FCD6E6AA1384}"/>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FINITE CHANNEL MODEL</a:t>
            </a:r>
          </a:p>
        </p:txBody>
      </p:sp>
      <p:sp>
        <p:nvSpPr>
          <p:cNvPr id="3" name="s17-title">
            <a:extLst xmlns:a="http://schemas.openxmlformats.org/drawingml/2006/main">
              <a:ext uri="{FF2B5EF4-FFF2-40B4-BE49-F238E27FC236}">
                <a16:creationId xmlns:a16="http://schemas.microsoft.com/office/drawing/2014/main" id="{BDC70FBE-D4C5-4FF1-A855-8BD1E0148872}"/>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The channel analyzer takes finite kernels as input</a:t>
            </a:r>
          </a:p>
        </p:txBody>
      </p:sp>
      <p:sp>
        <p:nvSpPr>
          <p:cNvPr id="4" name="s17-subtitle">
            <a:extLst xmlns:a="http://schemas.openxmlformats.org/drawingml/2006/main">
              <a:ext uri="{FF2B5EF4-FFF2-40B4-BE49-F238E27FC236}">
                <a16:creationId xmlns:a16="http://schemas.microsoft.com/office/drawing/2014/main" id="{0B4036AE-622C-470D-A311-D732678A7836}"/>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The tool evaluates explicit probabilities for fixed public stores and selected secrets.</a:t>
            </a:r>
          </a:p>
        </p:txBody>
      </p:sp>
      <p:sp>
        <p:nvSpPr>
          <p:cNvPr id="5" name="s17-source-rule">
            <a:extLst xmlns:a="http://schemas.openxmlformats.org/drawingml/2006/main">
              <a:ext uri="{FF2B5EF4-FFF2-40B4-BE49-F238E27FC236}">
                <a16:creationId xmlns:a16="http://schemas.microsoft.com/office/drawing/2014/main" id="{DAE64262-FBB5-4E2B-8590-8D4EAC570B3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7-sources">
            <a:extLst xmlns:a="http://schemas.openxmlformats.org/drawingml/2006/main">
              <a:ext uri="{FF2B5EF4-FFF2-40B4-BE49-F238E27FC236}">
                <a16:creationId xmlns:a16="http://schemas.microsoft.com/office/drawing/2014/main" id="{16B3A84F-1DCD-41D5-8B1D-15F3552F1684}"/>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audit/probabilistic_channels.py</a:t>
            </a:r>
          </a:p>
        </p:txBody>
      </p:sp>
      <p:sp>
        <p:nvSpPr>
          <p:cNvPr id="7" name="s17-footer-rule">
            <a:extLst xmlns:a="http://schemas.openxmlformats.org/drawingml/2006/main">
              <a:ext uri="{FF2B5EF4-FFF2-40B4-BE49-F238E27FC236}">
                <a16:creationId xmlns:a16="http://schemas.microsoft.com/office/drawing/2014/main" id="{5DCA875B-1311-43A9-8394-AE892CAE360F}"/>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7-footer">
            <a:extLst xmlns:a="http://schemas.openxmlformats.org/drawingml/2006/main">
              <a:ext uri="{FF2B5EF4-FFF2-40B4-BE49-F238E27FC236}">
                <a16:creationId xmlns:a16="http://schemas.microsoft.com/office/drawing/2014/main" id="{96F25BF8-697C-41FD-90D7-43E4DC7C6019}"/>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7-page">
            <a:extLst xmlns:a="http://schemas.openxmlformats.org/drawingml/2006/main">
              <a:ext uri="{FF2B5EF4-FFF2-40B4-BE49-F238E27FC236}">
                <a16:creationId xmlns:a16="http://schemas.microsoft.com/office/drawing/2014/main" id="{ED50BDA2-76F7-4663-8462-164292123B79}"/>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17</a:t>
            </a:r>
          </a:p>
        </p:txBody>
      </p:sp>
      <p:sp>
        <p:nvSpPr>
          <p:cNvPr id="10" name="prob-input-0-panel">
            <a:extLst xmlns:a="http://schemas.openxmlformats.org/drawingml/2006/main">
              <a:ext uri="{FF2B5EF4-FFF2-40B4-BE49-F238E27FC236}">
                <a16:creationId xmlns:a16="http://schemas.microsoft.com/office/drawing/2014/main" id="{C2345B03-C0A8-4B0F-B3AE-4ED2D2953A0B}"/>
              </a:ext>
            </a:extLst>
          </p:cNvPr>
          <p:cNvSpPr>
            <a:spLocks xmlns:a="http://schemas.openxmlformats.org/drawingml/2006/main" noGrp="1"/>
          </p:cNvSpPr>
          <p:nvPr/>
        </p:nvSpPr>
        <p:spPr>
          <a:xfrm xmlns:a="http://schemas.openxmlformats.org/drawingml/2006/main">
            <a:off x="723900" y="2762250"/>
            <a:ext cx="26098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9525">
            <a:solidFill>
              <a:srgbClr val="D7D0C4"/>
            </a:solidFill>
            <a:prstDash val="solid"/>
          </a:ln>
        </p:spPr>
      </p:sp>
      <p:sp>
        <p:nvSpPr>
          <p:cNvPr id="11" name="prob-input-0-accent">
            <a:extLst xmlns:a="http://schemas.openxmlformats.org/drawingml/2006/main">
              <a:ext uri="{FF2B5EF4-FFF2-40B4-BE49-F238E27FC236}">
                <a16:creationId xmlns:a16="http://schemas.microsoft.com/office/drawing/2014/main" id="{1ADF4B25-1F53-4212-8A87-658CB1F9D473}"/>
              </a:ext>
            </a:extLst>
          </p:cNvPr>
          <p:cNvSpPr>
            <a:spLocks xmlns:a="http://schemas.openxmlformats.org/drawingml/2006/main" noGrp="1"/>
          </p:cNvSpPr>
          <p:nvPr/>
        </p:nvSpPr>
        <p:spPr>
          <a:xfrm xmlns:a="http://schemas.openxmlformats.org/drawingml/2006/main">
            <a:off x="723900" y="2762250"/>
            <a:ext cx="57150" cy="12573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prob-input-0-title">
            <a:extLst xmlns:a="http://schemas.openxmlformats.org/drawingml/2006/main">
              <a:ext uri="{FF2B5EF4-FFF2-40B4-BE49-F238E27FC236}">
                <a16:creationId xmlns:a16="http://schemas.microsoft.com/office/drawing/2014/main" id="{24E0A4FC-0D54-4BF3-ADAC-CB4AB76DE7D5}"/>
              </a:ext>
            </a:extLst>
          </p:cNvPr>
          <p:cNvSpPr>
            <a:spLocks xmlns:a="http://schemas.openxmlformats.org/drawingml/2006/main" noGrp="1"/>
          </p:cNvSpPr>
          <p:nvPr/>
        </p:nvSpPr>
        <p:spPr>
          <a:xfrm xmlns:a="http://schemas.openxmlformats.org/drawingml/2006/main">
            <a:off x="933450" y="29337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WORKFLOW</a:t>
            </a:r>
          </a:p>
        </p:txBody>
      </p:sp>
      <p:sp>
        <p:nvSpPr>
          <p:cNvPr id="13" name="prob-input-0-body">
            <a:extLst xmlns:a="http://schemas.openxmlformats.org/drawingml/2006/main">
              <a:ext uri="{FF2B5EF4-FFF2-40B4-BE49-F238E27FC236}">
                <a16:creationId xmlns:a16="http://schemas.microsoft.com/office/drawing/2014/main" id="{343BC8FE-6183-46B6-9DDB-ECB1CFE6D7E1}"/>
              </a:ext>
            </a:extLst>
          </p:cNvPr>
          <p:cNvSpPr>
            <a:spLocks xmlns:a="http://schemas.openxmlformats.org/drawingml/2006/main" noGrp="1"/>
          </p:cNvSpPr>
          <p:nvPr/>
        </p:nvSpPr>
        <p:spPr>
          <a:xfrm xmlns:a="http://schemas.openxmlformats.org/drawingml/2006/main">
            <a:off x="933450" y="3324225"/>
            <a:ext cx="2190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46B7A"/>
                </a:solidFill>
                <a:latin typeface="Avenir Next"/>
                <a:ea typeface="Avenir Next"/>
                <a:cs typeface="Avenir Next"/>
              </a:defRPr>
            </a:defPPr>
          </a:lstStyle>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finite control graph</a:t>
            </a:r>
          </a:p>
        </p:txBody>
      </p:sp>
      <p:sp>
        <p:nvSpPr>
          <p:cNvPr id="14" name="prob-input-1-panel">
            <a:extLst xmlns:a="http://schemas.openxmlformats.org/drawingml/2006/main">
              <a:ext uri="{FF2B5EF4-FFF2-40B4-BE49-F238E27FC236}">
                <a16:creationId xmlns:a16="http://schemas.microsoft.com/office/drawing/2014/main" id="{FC22E792-E059-4F61-B300-7ACE43E19EAE}"/>
              </a:ext>
            </a:extLst>
          </p:cNvPr>
          <p:cNvSpPr>
            <a:spLocks xmlns:a="http://schemas.openxmlformats.org/drawingml/2006/main" noGrp="1"/>
          </p:cNvSpPr>
          <p:nvPr/>
        </p:nvSpPr>
        <p:spPr>
          <a:xfrm xmlns:a="http://schemas.openxmlformats.org/drawingml/2006/main">
            <a:off x="3619500" y="2762250"/>
            <a:ext cx="26098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9525">
            <a:solidFill>
              <a:srgbClr val="D7D0C4"/>
            </a:solidFill>
            <a:prstDash val="solid"/>
          </a:ln>
        </p:spPr>
      </p:sp>
      <p:sp>
        <p:nvSpPr>
          <p:cNvPr id="15" name="prob-input-1-accent">
            <a:extLst xmlns:a="http://schemas.openxmlformats.org/drawingml/2006/main">
              <a:ext uri="{FF2B5EF4-FFF2-40B4-BE49-F238E27FC236}">
                <a16:creationId xmlns:a16="http://schemas.microsoft.com/office/drawing/2014/main" id="{752304AA-3086-4D54-A069-C55E1DD52398}"/>
              </a:ext>
            </a:extLst>
          </p:cNvPr>
          <p:cNvSpPr>
            <a:spLocks xmlns:a="http://schemas.openxmlformats.org/drawingml/2006/main" noGrp="1"/>
          </p:cNvSpPr>
          <p:nvPr/>
        </p:nvSpPr>
        <p:spPr>
          <a:xfrm xmlns:a="http://schemas.openxmlformats.org/drawingml/2006/main">
            <a:off x="3619500" y="2762250"/>
            <a:ext cx="57150" cy="1257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prob-input-1-title">
            <a:extLst xmlns:a="http://schemas.openxmlformats.org/drawingml/2006/main">
              <a:ext uri="{FF2B5EF4-FFF2-40B4-BE49-F238E27FC236}">
                <a16:creationId xmlns:a16="http://schemas.microsoft.com/office/drawing/2014/main" id="{F3766E23-ECD0-4288-9AB0-5236639D677C}"/>
              </a:ext>
            </a:extLst>
          </p:cNvPr>
          <p:cNvSpPr>
            <a:spLocks xmlns:a="http://schemas.openxmlformats.org/drawingml/2006/main" noGrp="1"/>
          </p:cNvSpPr>
          <p:nvPr/>
        </p:nvSpPr>
        <p:spPr>
          <a:xfrm xmlns:a="http://schemas.openxmlformats.org/drawingml/2006/main">
            <a:off x="3829050" y="29337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KERNEL</a:t>
            </a:r>
          </a:p>
        </p:txBody>
      </p:sp>
      <p:sp>
        <p:nvSpPr>
          <p:cNvPr id="17" name="prob-input-1-body">
            <a:extLst xmlns:a="http://schemas.openxmlformats.org/drawingml/2006/main">
              <a:ext uri="{FF2B5EF4-FFF2-40B4-BE49-F238E27FC236}">
                <a16:creationId xmlns:a16="http://schemas.microsoft.com/office/drawing/2014/main" id="{50B561E5-211F-48D3-BEAB-B66DD093E07D}"/>
              </a:ext>
            </a:extLst>
          </p:cNvPr>
          <p:cNvSpPr>
            <a:spLocks xmlns:a="http://schemas.openxmlformats.org/drawingml/2006/main" noGrp="1"/>
          </p:cNvSpPr>
          <p:nvPr/>
        </p:nvSpPr>
        <p:spPr>
          <a:xfrm xmlns:a="http://schemas.openxmlformats.org/drawingml/2006/main">
            <a:off x="3829050" y="3324225"/>
            <a:ext cx="2190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46B7A"/>
                </a:solidFill>
                <a:latin typeface="Avenir Next"/>
                <a:ea typeface="Avenir Next"/>
                <a:cs typeface="Avenir Next"/>
              </a:defRPr>
            </a:defPPr>
          </a:lstStyle>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exact rational outcomes</a:t>
            </a:r>
          </a:p>
        </p:txBody>
      </p:sp>
      <p:sp>
        <p:nvSpPr>
          <p:cNvPr id="18" name="prob-input-2-panel">
            <a:extLst xmlns:a="http://schemas.openxmlformats.org/drawingml/2006/main">
              <a:ext uri="{FF2B5EF4-FFF2-40B4-BE49-F238E27FC236}">
                <a16:creationId xmlns:a16="http://schemas.microsoft.com/office/drawing/2014/main" id="{4ADD9D74-59AC-4A36-8224-1DB4B93D6C2C}"/>
              </a:ext>
            </a:extLst>
          </p:cNvPr>
          <p:cNvSpPr>
            <a:spLocks xmlns:a="http://schemas.openxmlformats.org/drawingml/2006/main" noGrp="1"/>
          </p:cNvSpPr>
          <p:nvPr/>
        </p:nvSpPr>
        <p:spPr>
          <a:xfrm xmlns:a="http://schemas.openxmlformats.org/drawingml/2006/main">
            <a:off x="6515100" y="2762250"/>
            <a:ext cx="26098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9525">
            <a:solidFill>
              <a:srgbClr val="D7D0C4"/>
            </a:solidFill>
            <a:prstDash val="solid"/>
          </a:ln>
        </p:spPr>
      </p:sp>
      <p:sp>
        <p:nvSpPr>
          <p:cNvPr id="19" name="prob-input-2-accent">
            <a:extLst xmlns:a="http://schemas.openxmlformats.org/drawingml/2006/main">
              <a:ext uri="{FF2B5EF4-FFF2-40B4-BE49-F238E27FC236}">
                <a16:creationId xmlns:a16="http://schemas.microsoft.com/office/drawing/2014/main" id="{AE3A876E-3149-4EA6-A86E-55EFDC9CEBF8}"/>
              </a:ext>
            </a:extLst>
          </p:cNvPr>
          <p:cNvSpPr>
            <a:spLocks xmlns:a="http://schemas.openxmlformats.org/drawingml/2006/main" noGrp="1"/>
          </p:cNvSpPr>
          <p:nvPr/>
        </p:nvSpPr>
        <p:spPr>
          <a:xfrm xmlns:a="http://schemas.openxmlformats.org/drawingml/2006/main">
            <a:off x="6515100" y="2762250"/>
            <a:ext cx="57150" cy="12573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0" name="prob-input-2-title">
            <a:extLst xmlns:a="http://schemas.openxmlformats.org/drawingml/2006/main">
              <a:ext uri="{FF2B5EF4-FFF2-40B4-BE49-F238E27FC236}">
                <a16:creationId xmlns:a16="http://schemas.microsoft.com/office/drawing/2014/main" id="{EAB822F9-E0D5-475F-9543-A36DC71072A9}"/>
              </a:ext>
            </a:extLst>
          </p:cNvPr>
          <p:cNvSpPr>
            <a:spLocks xmlns:a="http://schemas.openxmlformats.org/drawingml/2006/main" noGrp="1"/>
          </p:cNvSpPr>
          <p:nvPr/>
        </p:nvSpPr>
        <p:spPr>
          <a:xfrm xmlns:a="http://schemas.openxmlformats.org/drawingml/2006/main">
            <a:off x="6724650" y="29337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SCENARIOS</a:t>
            </a:r>
          </a:p>
        </p:txBody>
      </p:sp>
      <p:sp>
        <p:nvSpPr>
          <p:cNvPr id="21" name="prob-input-2-body">
            <a:extLst xmlns:a="http://schemas.openxmlformats.org/drawingml/2006/main">
              <a:ext uri="{FF2B5EF4-FFF2-40B4-BE49-F238E27FC236}">
                <a16:creationId xmlns:a16="http://schemas.microsoft.com/office/drawing/2014/main" id="{68165501-5875-42A9-9095-59EB87E3C2E9}"/>
              </a:ext>
            </a:extLst>
          </p:cNvPr>
          <p:cNvSpPr>
            <a:spLocks xmlns:a="http://schemas.openxmlformats.org/drawingml/2006/main" noGrp="1"/>
          </p:cNvSpPr>
          <p:nvPr/>
        </p:nvSpPr>
        <p:spPr>
          <a:xfrm xmlns:a="http://schemas.openxmlformats.org/drawingml/2006/main">
            <a:off x="6724650" y="3324225"/>
            <a:ext cx="2190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46B7A"/>
                </a:solidFill>
                <a:latin typeface="Avenir Next"/>
                <a:ea typeface="Avenir Next"/>
                <a:cs typeface="Avenir Next"/>
              </a:defRPr>
            </a:defPPr>
          </a:lstStyle>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fixed public store + prior</a:t>
            </a:r>
          </a:p>
        </p:txBody>
      </p:sp>
      <p:sp>
        <p:nvSpPr>
          <p:cNvPr id="22" name="prob-input-3-panel">
            <a:extLst xmlns:a="http://schemas.openxmlformats.org/drawingml/2006/main">
              <a:ext uri="{FF2B5EF4-FFF2-40B4-BE49-F238E27FC236}">
                <a16:creationId xmlns:a16="http://schemas.microsoft.com/office/drawing/2014/main" id="{09E61552-8271-48E6-B225-9226B519A89B}"/>
              </a:ext>
            </a:extLst>
          </p:cNvPr>
          <p:cNvSpPr>
            <a:spLocks xmlns:a="http://schemas.openxmlformats.org/drawingml/2006/main" noGrp="1"/>
          </p:cNvSpPr>
          <p:nvPr/>
        </p:nvSpPr>
        <p:spPr>
          <a:xfrm xmlns:a="http://schemas.openxmlformats.org/drawingml/2006/main">
            <a:off x="9410700" y="2762250"/>
            <a:ext cx="2609850"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9525">
            <a:solidFill>
              <a:srgbClr val="D7D0C4"/>
            </a:solidFill>
            <a:prstDash val="solid"/>
          </a:ln>
        </p:spPr>
      </p:sp>
      <p:sp>
        <p:nvSpPr>
          <p:cNvPr id="23" name="prob-input-3-accent">
            <a:extLst xmlns:a="http://schemas.openxmlformats.org/drawingml/2006/main">
              <a:ext uri="{FF2B5EF4-FFF2-40B4-BE49-F238E27FC236}">
                <a16:creationId xmlns:a16="http://schemas.microsoft.com/office/drawing/2014/main" id="{2FF9C15A-6894-4097-B6D7-86AF30290B0C}"/>
              </a:ext>
            </a:extLst>
          </p:cNvPr>
          <p:cNvSpPr>
            <a:spLocks xmlns:a="http://schemas.openxmlformats.org/drawingml/2006/main" noGrp="1"/>
          </p:cNvSpPr>
          <p:nvPr/>
        </p:nvSpPr>
        <p:spPr>
          <a:xfrm xmlns:a="http://schemas.openxmlformats.org/drawingml/2006/main">
            <a:off x="9410700" y="2762250"/>
            <a:ext cx="57150" cy="1257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24" name="prob-input-3-title">
            <a:extLst xmlns:a="http://schemas.openxmlformats.org/drawingml/2006/main">
              <a:ext uri="{FF2B5EF4-FFF2-40B4-BE49-F238E27FC236}">
                <a16:creationId xmlns:a16="http://schemas.microsoft.com/office/drawing/2014/main" id="{11098B20-62CD-4AA4-B9C3-CE9D10D0E5D1}"/>
              </a:ext>
            </a:extLst>
          </p:cNvPr>
          <p:cNvSpPr>
            <a:spLocks xmlns:a="http://schemas.openxmlformats.org/drawingml/2006/main" noGrp="1"/>
          </p:cNvSpPr>
          <p:nvPr/>
        </p:nvSpPr>
        <p:spPr>
          <a:xfrm xmlns:a="http://schemas.openxmlformats.org/drawingml/2006/main">
            <a:off x="9620250" y="29337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OBSERVER</a:t>
            </a:r>
          </a:p>
        </p:txBody>
      </p:sp>
      <p:sp>
        <p:nvSpPr>
          <p:cNvPr id="25" name="prob-input-3-body">
            <a:extLst xmlns:a="http://schemas.openxmlformats.org/drawingml/2006/main">
              <a:ext uri="{FF2B5EF4-FFF2-40B4-BE49-F238E27FC236}">
                <a16:creationId xmlns:a16="http://schemas.microsoft.com/office/drawing/2014/main" id="{E4B6D1DF-F40E-49BE-96AA-193709E81B1A}"/>
              </a:ext>
            </a:extLst>
          </p:cNvPr>
          <p:cNvSpPr>
            <a:spLocks xmlns:a="http://schemas.openxmlformats.org/drawingml/2006/main" noGrp="1"/>
          </p:cNvSpPr>
          <p:nvPr/>
        </p:nvSpPr>
        <p:spPr>
          <a:xfrm xmlns:a="http://schemas.openxmlformats.org/drawingml/2006/main">
            <a:off x="9620250" y="3324225"/>
            <a:ext cx="21907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46B7A"/>
                </a:solidFill>
                <a:latin typeface="Avenir Next"/>
                <a:ea typeface="Avenir Next"/>
                <a:cs typeface="Avenir Next"/>
              </a:defRPr>
            </a:defPPr>
          </a:lstStyle>
          <a:p xmlns:a="http://schemas.openxmlformats.org/drawingml/2006/main">
            <a:pPr algn="l">
              <a:defRPr sz="1275" b="0" i="0">
                <a:solidFill>
                  <a:srgbClr val="646B7A"/>
                </a:solidFill>
                <a:latin typeface="Avenir Next"/>
                <a:ea typeface="Avenir Next"/>
                <a:cs typeface="Avenir Next"/>
              </a:defRPr>
            </a:pPr>
            <a:r>
              <a:rPr sz="1275" b="0" i="0">
                <a:solidFill>
                  <a:srgbClr val="646B7A"/>
                </a:solidFill>
                <a:latin typeface="Avenir Next"/>
                <a:ea typeface="Avenir Next"/>
                <a:cs typeface="Avenir Next"/>
              </a:rPr>
              <a:t>aggregate or ordered usage</a:t>
            </a:r>
          </a:p>
        </p:txBody>
      </p:sp>
      <p:sp>
        <p:nvSpPr>
          <p:cNvPr id="26" name="prob-analyzer-panel">
            <a:extLst xmlns:a="http://schemas.openxmlformats.org/drawingml/2006/main">
              <a:ext uri="{FF2B5EF4-FFF2-40B4-BE49-F238E27FC236}">
                <a16:creationId xmlns:a16="http://schemas.microsoft.com/office/drawing/2014/main" id="{A5CA8314-75E9-4CB8-8A31-A07C8A690018}"/>
              </a:ext>
            </a:extLst>
          </p:cNvPr>
          <p:cNvSpPr>
            <a:spLocks xmlns:a="http://schemas.openxmlformats.org/drawingml/2006/main" noGrp="1"/>
          </p:cNvSpPr>
          <p:nvPr/>
        </p:nvSpPr>
        <p:spPr>
          <a:xfrm xmlns:a="http://schemas.openxmlformats.org/drawingml/2006/main">
            <a:off x="3286125" y="4524375"/>
            <a:ext cx="5619750" cy="838200"/>
          </a:xfrm>
          <a:prstGeom xmlns:a="http://schemas.openxmlformats.org/drawingml/2006/main" prst="roundRect">
            <a:avLst>
              <a:gd name="adj" fmla="val 9091"/>
            </a:avLst>
          </a:prstGeom>
          <a:solidFill xmlns:a="http://schemas.openxmlformats.org/drawingml/2006/main">
            <a:srgbClr val="1C2638"/>
          </a:solidFill>
          <a:ln xmlns:a="http://schemas.openxmlformats.org/drawingml/2006/main" w="9525">
            <a:solidFill>
              <a:srgbClr val="343D50"/>
            </a:solidFill>
            <a:prstDash val="solid"/>
          </a:ln>
        </p:spPr>
      </p:sp>
      <p:sp>
        <p:nvSpPr>
          <p:cNvPr id="27" name="prob-analyzer-accent">
            <a:extLst xmlns:a="http://schemas.openxmlformats.org/drawingml/2006/main">
              <a:ext uri="{FF2B5EF4-FFF2-40B4-BE49-F238E27FC236}">
                <a16:creationId xmlns:a16="http://schemas.microsoft.com/office/drawing/2014/main" id="{58DF82E9-D72A-4B59-849F-04BAB0118335}"/>
              </a:ext>
            </a:extLst>
          </p:cNvPr>
          <p:cNvSpPr>
            <a:spLocks xmlns:a="http://schemas.openxmlformats.org/drawingml/2006/main" noGrp="1"/>
          </p:cNvSpPr>
          <p:nvPr/>
        </p:nvSpPr>
        <p:spPr>
          <a:xfrm xmlns:a="http://schemas.openxmlformats.org/drawingml/2006/main">
            <a:off x="3286125" y="4524375"/>
            <a:ext cx="57150" cy="838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8" name="prob-analyzer-title">
            <a:extLst xmlns:a="http://schemas.openxmlformats.org/drawingml/2006/main">
              <a:ext uri="{FF2B5EF4-FFF2-40B4-BE49-F238E27FC236}">
                <a16:creationId xmlns:a16="http://schemas.microsoft.com/office/drawing/2014/main" id="{04ADAE81-E97D-4E1A-9744-6FC8427481A3}"/>
              </a:ext>
            </a:extLst>
          </p:cNvPr>
          <p:cNvSpPr>
            <a:spLocks xmlns:a="http://schemas.openxmlformats.org/drawingml/2006/main" noGrp="1"/>
          </p:cNvSpPr>
          <p:nvPr/>
        </p:nvSpPr>
        <p:spPr>
          <a:xfrm xmlns:a="http://schemas.openxmlformats.org/drawingml/2006/main">
            <a:off x="3495675" y="4695825"/>
            <a:ext cx="520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FINITE CHANNEL ANALYZER</a:t>
            </a:r>
          </a:p>
        </p:txBody>
      </p:sp>
      <p:sp>
        <p:nvSpPr>
          <p:cNvPr id="29" name="prob-analyzer-body">
            <a:extLst xmlns:a="http://schemas.openxmlformats.org/drawingml/2006/main">
              <a:ext uri="{FF2B5EF4-FFF2-40B4-BE49-F238E27FC236}">
                <a16:creationId xmlns:a16="http://schemas.microsoft.com/office/drawing/2014/main" id="{C907DD8A-617D-4046-9528-DF7CC564E88E}"/>
              </a:ext>
            </a:extLst>
          </p:cNvPr>
          <p:cNvSpPr>
            <a:spLocks xmlns:a="http://schemas.openxmlformats.org/drawingml/2006/main" noGrp="1"/>
          </p:cNvSpPr>
          <p:nvPr/>
        </p:nvSpPr>
        <p:spPr>
          <a:xfrm xmlns:a="http://schemas.openxmlformats.org/drawingml/2006/main">
            <a:off x="3495675" y="5010150"/>
            <a:ext cx="52006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13" b="0" i="0">
                <a:solidFill>
                  <a:srgbClr val="B8C1D1"/>
                </a:solidFill>
                <a:latin typeface="Menlo"/>
                <a:ea typeface="Menlo"/>
                <a:cs typeface="Menlo"/>
              </a:defRPr>
            </a:defPPr>
          </a:lstStyle>
          <a:p xmlns:a="http://schemas.openxmlformats.org/drawingml/2006/main">
            <a:pPr algn="l">
              <a:defRPr sz="1313" b="0" i="0">
                <a:solidFill>
                  <a:srgbClr val="B8C1D1"/>
                </a:solidFill>
                <a:latin typeface="Menlo"/>
                <a:ea typeface="Menlo"/>
                <a:cs typeface="Menlo"/>
              </a:defRPr>
            </a:pPr>
            <a:r>
              <a:rPr sz="1313" b="0" i="0">
                <a:solidFill>
                  <a:srgbClr val="B8C1D1"/>
                </a:solidFill>
                <a:latin typeface="Menlo"/>
                <a:ea typeface="Menlo"/>
                <a:cs typeface="Menlo"/>
              </a:rPr>
              <a:t>Horizon H = 1…32 · exact probability mass</a:t>
            </a:r>
          </a:p>
        </p:txBody>
      </p:sp>
      <p:sp>
        <p:nvSpPr>
          <p:cNvPr id="34" name="prob-scope">
            <a:extLst xmlns:a="http://schemas.openxmlformats.org/drawingml/2006/main">
              <a:ext uri="{FF2B5EF4-FFF2-40B4-BE49-F238E27FC236}">
                <a16:creationId xmlns:a16="http://schemas.microsoft.com/office/drawing/2014/main" id="{535E55EB-BCDF-4C54-9135-A8704665AB52}"/>
              </a:ext>
            </a:extLst>
          </p:cNvPr>
          <p:cNvSpPr>
            <a:spLocks xmlns:a="http://schemas.openxmlformats.org/drawingml/2006/main" noGrp="1"/>
          </p:cNvSpPr>
          <p:nvPr/>
        </p:nvSpPr>
        <p:spPr>
          <a:xfrm xmlns:a="http://schemas.openxmlformats.org/drawingml/2006/main">
            <a:off x="1095375" y="5600700"/>
            <a:ext cx="10001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i="0">
                <a:solidFill>
                  <a:srgbClr val="646B7A"/>
                </a:solidFill>
                <a:latin typeface="Avenir Next"/>
                <a:ea typeface="Avenir Next"/>
                <a:cs typeface="Avenir Next"/>
              </a:defRPr>
            </a:defPPr>
          </a:lstStyle>
          <a:p xmlns:a="http://schemas.openxmlformats.org/drawingml/2006/main">
            <a:pPr algn="ctr">
              <a:defRPr sz="1200" b="1" i="0">
                <a:solidFill>
                  <a:srgbClr val="646B7A"/>
                </a:solidFill>
                <a:latin typeface="Avenir Next"/>
                <a:ea typeface="Avenir Next"/>
                <a:cs typeface="Avenir Next"/>
              </a:defRPr>
            </a:pPr>
            <a:r>
              <a:rPr sz="1200" b="1" i="0">
                <a:solidFill>
                  <a:srgbClr val="646B7A"/>
                </a:solidFill>
                <a:latin typeface="Avenir Next"/>
                <a:ea typeface="Avenir Next"/>
                <a:cs typeface="Avenir Next"/>
              </a:rPr>
              <a:t>Probabilities describe the supplied finite kernel, not a learned or provider-certified distribution.</a:t>
            </a:r>
          </a:p>
        </p:txBody>
      </p:sp>
    </p:spTree>
    <p:extLst>
      <p:ext uri="{BB962C8B-B14F-4D97-AF65-F5344CB8AC3E}">
        <p14:creationId xmlns:p14="http://schemas.microsoft.com/office/powerpoint/2010/main" val="1765641690"/>
      </p:ext>
    </p:extLst>
  </p:cSld>
</p:sld>
</file>

<file path=ppt/slides/slide18.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53D13588-8402-46D8-8D9D-BDA52ABE43E5}"/>
              </a:ext>
            </a:extLst>
          </p:cNvPr>
          <p:cNvCxnSpPr>
            <a:stCxn xmlns:a="http://schemas.openxmlformats.org/drawingml/2006/main" id="14" idx="3"/>
            <a:endCxn xmlns:a="http://schemas.openxmlformats.org/drawingml/2006/main" id="18" idx="1"/>
          </p:cNvCxnSpPr>
          <p:nvPr/>
        </p:nvCxnSpPr>
        <p:spPr>
          <a:xfrm xmlns:a="http://schemas.openxmlformats.org/drawingml/2006/main">
            <a:off x="7896225" y="3448050"/>
            <a:ext cx="504825" cy="0"/>
          </a:xfrm>
          <a:prstGeom xmlns:a="http://schemas.openxmlformats.org/drawingml/2006/main" prst="straightConnector1">
            <a:avLst/>
          </a:prstGeom>
          <a:ln xmlns:a="http://schemas.openxmlformats.org/drawingml/2006/main" w="19050">
            <a:solidFill>
              <a:srgbClr val="B8C1D1"/>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620744D9-3F22-4AAA-A040-21B0D1A1E565}"/>
              </a:ext>
            </a:extLst>
          </p:cNvPr>
          <p:cNvCxnSpPr>
            <a:stCxn xmlns:a="http://schemas.openxmlformats.org/drawingml/2006/main" id="10" idx="3"/>
            <a:endCxn xmlns:a="http://schemas.openxmlformats.org/drawingml/2006/main" id="14" idx="1"/>
          </p:cNvCxnSpPr>
          <p:nvPr/>
        </p:nvCxnSpPr>
        <p:spPr>
          <a:xfrm xmlns:a="http://schemas.openxmlformats.org/drawingml/2006/main">
            <a:off x="4057650" y="3448050"/>
            <a:ext cx="504825" cy="0"/>
          </a:xfrm>
          <a:prstGeom xmlns:a="http://schemas.openxmlformats.org/drawingml/2006/main" prst="straightConnector1">
            <a:avLst/>
          </a:prstGeom>
          <a:ln xmlns:a="http://schemas.openxmlformats.org/drawingml/2006/main" w="19050">
            <a:solidFill>
              <a:srgbClr val="B8C1D1"/>
            </a:solidFill>
            <a:prstDash val="solid"/>
            <a:tailEnd type="triangle" w="sm" len="sm"/>
          </a:ln>
        </p:spPr>
      </p:cxnSp>
      <p:sp>
        <p:nvSpPr>
          <p:cNvPr id="30" name="s18-brand">
            <a:extLst xmlns:a="http://schemas.openxmlformats.org/drawingml/2006/main">
              <a:ext uri="{FF2B5EF4-FFF2-40B4-BE49-F238E27FC236}">
                <a16:creationId xmlns:a16="http://schemas.microsoft.com/office/drawing/2014/main" id="{5B461B46-BF71-4FAF-AA27-7885BC794BEF}"/>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18-section">
            <a:extLst xmlns:a="http://schemas.openxmlformats.org/drawingml/2006/main">
              <a:ext uri="{FF2B5EF4-FFF2-40B4-BE49-F238E27FC236}">
                <a16:creationId xmlns:a16="http://schemas.microsoft.com/office/drawing/2014/main" id="{2D55A03B-E9C5-439D-98B7-E55E3EA11A48}"/>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EXACT ENUMERATION</a:t>
            </a:r>
          </a:p>
        </p:txBody>
      </p:sp>
      <p:sp>
        <p:nvSpPr>
          <p:cNvPr id="3" name="s18-title">
            <a:extLst xmlns:a="http://schemas.openxmlformats.org/drawingml/2006/main">
              <a:ext uri="{FF2B5EF4-FFF2-40B4-BE49-F238E27FC236}">
                <a16:creationId xmlns:a16="http://schemas.microsoft.com/office/drawing/2014/main" id="{956FE6EB-A4EB-4151-B7A9-E48F9555243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Dynamic programming keeps exact probability mass</a:t>
            </a:r>
          </a:p>
        </p:txBody>
      </p:sp>
      <p:sp>
        <p:nvSpPr>
          <p:cNvPr id="4" name="s18-subtitle">
            <a:extLst xmlns:a="http://schemas.openxmlformats.org/drawingml/2006/main">
              <a:ext uri="{FF2B5EF4-FFF2-40B4-BE49-F238E27FC236}">
                <a16:creationId xmlns:a16="http://schemas.microsoft.com/office/drawing/2014/main" id="{534D0DB0-A427-4B15-8453-481B9E797AD0}"/>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State merging is safe only when all future-relevant and observed fields agree.</a:t>
            </a:r>
          </a:p>
        </p:txBody>
      </p:sp>
      <p:sp>
        <p:nvSpPr>
          <p:cNvPr id="5" name="s18-source-rule">
            <a:extLst xmlns:a="http://schemas.openxmlformats.org/drawingml/2006/main">
              <a:ext uri="{FF2B5EF4-FFF2-40B4-BE49-F238E27FC236}">
                <a16:creationId xmlns:a16="http://schemas.microsoft.com/office/drawing/2014/main" id="{5783E349-8FAF-40CA-9154-04FBF0965363}"/>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18-sources">
            <a:extLst xmlns:a="http://schemas.openxmlformats.org/drawingml/2006/main">
              <a:ext uri="{FF2B5EF4-FFF2-40B4-BE49-F238E27FC236}">
                <a16:creationId xmlns:a16="http://schemas.microsoft.com/office/drawing/2014/main" id="{98761E60-C44E-4548-AF08-03073D770D7D}"/>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audit/probabilistic_channels.py</a:t>
            </a:r>
          </a:p>
        </p:txBody>
      </p:sp>
      <p:sp>
        <p:nvSpPr>
          <p:cNvPr id="7" name="s18-footer-rule">
            <a:extLst xmlns:a="http://schemas.openxmlformats.org/drawingml/2006/main">
              <a:ext uri="{FF2B5EF4-FFF2-40B4-BE49-F238E27FC236}">
                <a16:creationId xmlns:a16="http://schemas.microsoft.com/office/drawing/2014/main" id="{21840AA3-E1F3-4E70-8F70-DA03D843B73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18-footer">
            <a:extLst xmlns:a="http://schemas.openxmlformats.org/drawingml/2006/main">
              <a:ext uri="{FF2B5EF4-FFF2-40B4-BE49-F238E27FC236}">
                <a16:creationId xmlns:a16="http://schemas.microsoft.com/office/drawing/2014/main" id="{57CF6E5C-624F-4A92-803B-DAE10A0984B4}"/>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18-page">
            <a:extLst xmlns:a="http://schemas.openxmlformats.org/drawingml/2006/main">
              <a:ext uri="{FF2B5EF4-FFF2-40B4-BE49-F238E27FC236}">
                <a16:creationId xmlns:a16="http://schemas.microsoft.com/office/drawing/2014/main" id="{FE6AA073-1EF5-4DB6-B4B7-C3280C7A105C}"/>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18</a:t>
            </a:r>
          </a:p>
        </p:txBody>
      </p:sp>
      <p:sp>
        <p:nvSpPr>
          <p:cNvPr id="10" name="dp-stage-0-panel">
            <a:extLst xmlns:a="http://schemas.openxmlformats.org/drawingml/2006/main">
              <a:ext uri="{FF2B5EF4-FFF2-40B4-BE49-F238E27FC236}">
                <a16:creationId xmlns:a16="http://schemas.microsoft.com/office/drawing/2014/main" id="{285035BE-4750-4E1B-A485-17FF3365A0C4}"/>
              </a:ext>
            </a:extLst>
          </p:cNvPr>
          <p:cNvSpPr>
            <a:spLocks xmlns:a="http://schemas.openxmlformats.org/drawingml/2006/main" noGrp="1"/>
          </p:cNvSpPr>
          <p:nvPr/>
        </p:nvSpPr>
        <p:spPr>
          <a:xfrm xmlns:a="http://schemas.openxmlformats.org/drawingml/2006/main">
            <a:off x="723900" y="2724150"/>
            <a:ext cx="3333750" cy="1447800"/>
          </a:xfrm>
          <a:prstGeom xmlns:a="http://schemas.openxmlformats.org/drawingml/2006/main" prst="roundRect">
            <a:avLst>
              <a:gd name="adj" fmla="val 5263"/>
            </a:avLst>
          </a:prstGeom>
          <a:solidFill xmlns:a="http://schemas.openxmlformats.org/drawingml/2006/main">
            <a:srgbClr val="1C2638"/>
          </a:solidFill>
          <a:ln xmlns:a="http://schemas.openxmlformats.org/drawingml/2006/main" w="9525">
            <a:solidFill>
              <a:srgbClr val="343D50"/>
            </a:solidFill>
            <a:prstDash val="solid"/>
          </a:ln>
        </p:spPr>
      </p:sp>
      <p:sp>
        <p:nvSpPr>
          <p:cNvPr id="11" name="dp-stage-0-accent">
            <a:extLst xmlns:a="http://schemas.openxmlformats.org/drawingml/2006/main">
              <a:ext uri="{FF2B5EF4-FFF2-40B4-BE49-F238E27FC236}">
                <a16:creationId xmlns:a16="http://schemas.microsoft.com/office/drawing/2014/main" id="{3BF302C5-3765-4820-B67E-371D9A9FA48C}"/>
              </a:ext>
            </a:extLst>
          </p:cNvPr>
          <p:cNvSpPr>
            <a:spLocks xmlns:a="http://schemas.openxmlformats.org/drawingml/2006/main" noGrp="1"/>
          </p:cNvSpPr>
          <p:nvPr/>
        </p:nvSpPr>
        <p:spPr>
          <a:xfrm xmlns:a="http://schemas.openxmlformats.org/drawingml/2006/main">
            <a:off x="723900" y="2724150"/>
            <a:ext cx="57150" cy="14478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dp-stage-0-title">
            <a:extLst xmlns:a="http://schemas.openxmlformats.org/drawingml/2006/main">
              <a:ext uri="{FF2B5EF4-FFF2-40B4-BE49-F238E27FC236}">
                <a16:creationId xmlns:a16="http://schemas.microsoft.com/office/drawing/2014/main" id="{A7F11344-469B-4468-BAC5-23D955935DC6}"/>
              </a:ext>
            </a:extLst>
          </p:cNvPr>
          <p:cNvSpPr>
            <a:spLocks xmlns:a="http://schemas.openxmlformats.org/drawingml/2006/main" noGrp="1"/>
          </p:cNvSpPr>
          <p:nvPr/>
        </p:nvSpPr>
        <p:spPr>
          <a:xfrm xmlns:a="http://schemas.openxmlformats.org/drawingml/2006/main">
            <a:off x="933450" y="289560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depth d</a:t>
            </a:r>
          </a:p>
        </p:txBody>
      </p:sp>
      <p:sp>
        <p:nvSpPr>
          <p:cNvPr id="13" name="dp-stage-0-body">
            <a:extLst xmlns:a="http://schemas.openxmlformats.org/drawingml/2006/main">
              <a:ext uri="{FF2B5EF4-FFF2-40B4-BE49-F238E27FC236}">
                <a16:creationId xmlns:a16="http://schemas.microsoft.com/office/drawing/2014/main" id="{5E6AF91E-2B9A-4A20-BA9B-22C52FC6F6B6}"/>
              </a:ext>
            </a:extLst>
          </p:cNvPr>
          <p:cNvSpPr>
            <a:spLocks xmlns:a="http://schemas.openxmlformats.org/drawingml/2006/main" noGrp="1"/>
          </p:cNvSpPr>
          <p:nvPr/>
        </p:nvSpPr>
        <p:spPr>
          <a:xfrm xmlns:a="http://schemas.openxmlformats.org/drawingml/2006/main">
            <a:off x="933450" y="3314700"/>
            <a:ext cx="2914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Menlo"/>
                <a:ea typeface="Menlo"/>
                <a:cs typeface="Menlo"/>
              </a:defRPr>
            </a:defPPr>
          </a:lstStyle>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control + values</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contract ordinals</a:t>
            </a:r>
          </a:p>
        </p:txBody>
      </p:sp>
      <p:sp>
        <p:nvSpPr>
          <p:cNvPr id="14" name="dp-stage-1-panel">
            <a:extLst xmlns:a="http://schemas.openxmlformats.org/drawingml/2006/main">
              <a:ext uri="{FF2B5EF4-FFF2-40B4-BE49-F238E27FC236}">
                <a16:creationId xmlns:a16="http://schemas.microsoft.com/office/drawing/2014/main" id="{8FD77B37-FFED-4B65-9B3B-60B858260676}"/>
              </a:ext>
            </a:extLst>
          </p:cNvPr>
          <p:cNvSpPr>
            <a:spLocks xmlns:a="http://schemas.openxmlformats.org/drawingml/2006/main" noGrp="1"/>
          </p:cNvSpPr>
          <p:nvPr/>
        </p:nvSpPr>
        <p:spPr>
          <a:xfrm xmlns:a="http://schemas.openxmlformats.org/drawingml/2006/main">
            <a:off x="4562475" y="2724150"/>
            <a:ext cx="3333750" cy="1447800"/>
          </a:xfrm>
          <a:prstGeom xmlns:a="http://schemas.openxmlformats.org/drawingml/2006/main" prst="roundRect">
            <a:avLst>
              <a:gd name="adj" fmla="val 5263"/>
            </a:avLst>
          </a:prstGeom>
          <a:solidFill xmlns:a="http://schemas.openxmlformats.org/drawingml/2006/main">
            <a:srgbClr val="1C2638"/>
          </a:solidFill>
          <a:ln xmlns:a="http://schemas.openxmlformats.org/drawingml/2006/main" w="9525">
            <a:solidFill>
              <a:srgbClr val="343D50"/>
            </a:solidFill>
            <a:prstDash val="solid"/>
          </a:ln>
        </p:spPr>
      </p:sp>
      <p:sp>
        <p:nvSpPr>
          <p:cNvPr id="15" name="dp-stage-1-accent">
            <a:extLst xmlns:a="http://schemas.openxmlformats.org/drawingml/2006/main">
              <a:ext uri="{FF2B5EF4-FFF2-40B4-BE49-F238E27FC236}">
                <a16:creationId xmlns:a16="http://schemas.microsoft.com/office/drawing/2014/main" id="{BC22210A-9F78-4D28-98AE-69E135073830}"/>
              </a:ext>
            </a:extLst>
          </p:cNvPr>
          <p:cNvSpPr>
            <a:spLocks xmlns:a="http://schemas.openxmlformats.org/drawingml/2006/main" noGrp="1"/>
          </p:cNvSpPr>
          <p:nvPr/>
        </p:nvSpPr>
        <p:spPr>
          <a:xfrm xmlns:a="http://schemas.openxmlformats.org/drawingml/2006/main">
            <a:off x="4562475" y="2724150"/>
            <a:ext cx="57150" cy="14478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dp-stage-1-title">
            <a:extLst xmlns:a="http://schemas.openxmlformats.org/drawingml/2006/main">
              <a:ext uri="{FF2B5EF4-FFF2-40B4-BE49-F238E27FC236}">
                <a16:creationId xmlns:a16="http://schemas.microsoft.com/office/drawing/2014/main" id="{68C7A14D-061A-44CC-850C-03FC7A1E5206}"/>
              </a:ext>
            </a:extLst>
          </p:cNvPr>
          <p:cNvSpPr>
            <a:spLocks xmlns:a="http://schemas.openxmlformats.org/drawingml/2006/main" noGrp="1"/>
          </p:cNvSpPr>
          <p:nvPr/>
        </p:nvSpPr>
        <p:spPr>
          <a:xfrm xmlns:a="http://schemas.openxmlformats.org/drawingml/2006/main">
            <a:off x="4772025" y="289560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call</a:t>
            </a:r>
          </a:p>
        </p:txBody>
      </p:sp>
      <p:sp>
        <p:nvSpPr>
          <p:cNvPr id="17" name="dp-stage-1-body">
            <a:extLst xmlns:a="http://schemas.openxmlformats.org/drawingml/2006/main">
              <a:ext uri="{FF2B5EF4-FFF2-40B4-BE49-F238E27FC236}">
                <a16:creationId xmlns:a16="http://schemas.microsoft.com/office/drawing/2014/main" id="{2E8B918A-952C-48EC-A668-436B459FA725}"/>
              </a:ext>
            </a:extLst>
          </p:cNvPr>
          <p:cNvSpPr>
            <a:spLocks xmlns:a="http://schemas.openxmlformats.org/drawingml/2006/main" noGrp="1"/>
          </p:cNvSpPr>
          <p:nvPr/>
        </p:nvSpPr>
        <p:spPr>
          <a:xfrm xmlns:a="http://schemas.openxmlformats.org/drawingml/2006/main">
            <a:off x="4772025" y="3314700"/>
            <a:ext cx="2914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Menlo"/>
                <a:ea typeface="Menlo"/>
                <a:cs typeface="Menlo"/>
              </a:defRPr>
            </a:defPPr>
          </a:lstStyle>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lookup K(M,k,Q,h)</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distribute rational mass</a:t>
            </a:r>
          </a:p>
        </p:txBody>
      </p:sp>
      <p:sp>
        <p:nvSpPr>
          <p:cNvPr id="18" name="dp-stage-2-panel">
            <a:extLst xmlns:a="http://schemas.openxmlformats.org/drawingml/2006/main">
              <a:ext uri="{FF2B5EF4-FFF2-40B4-BE49-F238E27FC236}">
                <a16:creationId xmlns:a16="http://schemas.microsoft.com/office/drawing/2014/main" id="{12495E1A-6CB7-4472-BAC8-AAFBD3F7EFBE}"/>
              </a:ext>
            </a:extLst>
          </p:cNvPr>
          <p:cNvSpPr>
            <a:spLocks xmlns:a="http://schemas.openxmlformats.org/drawingml/2006/main" noGrp="1"/>
          </p:cNvSpPr>
          <p:nvPr/>
        </p:nvSpPr>
        <p:spPr>
          <a:xfrm xmlns:a="http://schemas.openxmlformats.org/drawingml/2006/main">
            <a:off x="8401050" y="2724150"/>
            <a:ext cx="3333750" cy="1447800"/>
          </a:xfrm>
          <a:prstGeom xmlns:a="http://schemas.openxmlformats.org/drawingml/2006/main" prst="roundRect">
            <a:avLst>
              <a:gd name="adj" fmla="val 5263"/>
            </a:avLst>
          </a:prstGeom>
          <a:solidFill xmlns:a="http://schemas.openxmlformats.org/drawingml/2006/main">
            <a:srgbClr val="1C2638"/>
          </a:solidFill>
          <a:ln xmlns:a="http://schemas.openxmlformats.org/drawingml/2006/main" w="9525">
            <a:solidFill>
              <a:srgbClr val="343D50"/>
            </a:solidFill>
            <a:prstDash val="solid"/>
          </a:ln>
        </p:spPr>
      </p:sp>
      <p:sp>
        <p:nvSpPr>
          <p:cNvPr id="19" name="dp-stage-2-accent">
            <a:extLst xmlns:a="http://schemas.openxmlformats.org/drawingml/2006/main">
              <a:ext uri="{FF2B5EF4-FFF2-40B4-BE49-F238E27FC236}">
                <a16:creationId xmlns:a16="http://schemas.microsoft.com/office/drawing/2014/main" id="{0A34D764-1BED-4A98-8817-C7587553EB4E}"/>
              </a:ext>
            </a:extLst>
          </p:cNvPr>
          <p:cNvSpPr>
            <a:spLocks xmlns:a="http://schemas.openxmlformats.org/drawingml/2006/main" noGrp="1"/>
          </p:cNvSpPr>
          <p:nvPr/>
        </p:nvSpPr>
        <p:spPr>
          <a:xfrm xmlns:a="http://schemas.openxmlformats.org/drawingml/2006/main">
            <a:off x="8401050" y="2724150"/>
            <a:ext cx="57150" cy="14478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0" name="dp-stage-2-title">
            <a:extLst xmlns:a="http://schemas.openxmlformats.org/drawingml/2006/main">
              <a:ext uri="{FF2B5EF4-FFF2-40B4-BE49-F238E27FC236}">
                <a16:creationId xmlns:a16="http://schemas.microsoft.com/office/drawing/2014/main" id="{18F8D9AF-FAE1-4EAA-A787-89F47EAD9E66}"/>
              </a:ext>
            </a:extLst>
          </p:cNvPr>
          <p:cNvSpPr>
            <a:spLocks xmlns:a="http://schemas.openxmlformats.org/drawingml/2006/main" noGrp="1"/>
          </p:cNvSpPr>
          <p:nvPr/>
        </p:nvSpPr>
        <p:spPr>
          <a:xfrm xmlns:a="http://schemas.openxmlformats.org/drawingml/2006/main">
            <a:off x="8610600" y="2895600"/>
            <a:ext cx="2914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Avenir Next"/>
                <a:ea typeface="Avenir Next"/>
                <a:cs typeface="Avenir Next"/>
              </a:defRPr>
            </a:defPPr>
          </a:lstStyle>
          <a:p xmlns:a="http://schemas.openxmlformats.org/drawingml/2006/main">
            <a:pPr algn="l">
              <a:defRPr sz="1500" b="1" i="0">
                <a:solidFill>
                  <a:srgbClr val="F5F2EA"/>
                </a:solidFill>
                <a:latin typeface="Avenir Next"/>
                <a:ea typeface="Avenir Next"/>
                <a:cs typeface="Avenir Next"/>
              </a:defRPr>
            </a:pPr>
            <a:r>
              <a:rPr sz="1500" b="1" i="0">
                <a:solidFill>
                  <a:srgbClr val="F5F2EA"/>
                </a:solidFill>
                <a:latin typeface="Avenir Next"/>
                <a:ea typeface="Avenir Next"/>
                <a:cs typeface="Avenir Next"/>
              </a:rPr>
              <a:t>depth d+1</a:t>
            </a:r>
          </a:p>
        </p:txBody>
      </p:sp>
      <p:sp>
        <p:nvSpPr>
          <p:cNvPr id="21" name="dp-stage-2-body">
            <a:extLst xmlns:a="http://schemas.openxmlformats.org/drawingml/2006/main">
              <a:ext uri="{FF2B5EF4-FFF2-40B4-BE49-F238E27FC236}">
                <a16:creationId xmlns:a16="http://schemas.microsoft.com/office/drawing/2014/main" id="{E23B34BC-B467-4C05-A363-310B3F0C227D}"/>
              </a:ext>
            </a:extLst>
          </p:cNvPr>
          <p:cNvSpPr>
            <a:spLocks xmlns:a="http://schemas.openxmlformats.org/drawingml/2006/main" noGrp="1"/>
          </p:cNvSpPr>
          <p:nvPr/>
        </p:nvSpPr>
        <p:spPr>
          <a:xfrm xmlns:a="http://schemas.openxmlformats.org/drawingml/2006/main">
            <a:off x="8610600" y="3314700"/>
            <a:ext cx="29146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Menlo"/>
                <a:ea typeface="Menlo"/>
                <a:cs typeface="Menlo"/>
              </a:defRPr>
            </a:defPPr>
          </a:lstStyle>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usage + trace + history</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resource footprint</a:t>
            </a:r>
          </a:p>
        </p:txBody>
      </p:sp>
      <p:sp>
        <p:nvSpPr>
          <p:cNvPr id="24" name="dp-merge-title">
            <a:extLst xmlns:a="http://schemas.openxmlformats.org/drawingml/2006/main">
              <a:ext uri="{FF2B5EF4-FFF2-40B4-BE49-F238E27FC236}">
                <a16:creationId xmlns:a16="http://schemas.microsoft.com/office/drawing/2014/main" id="{C3555F71-415B-48E0-B933-B85FF8404036}"/>
              </a:ext>
            </a:extLst>
          </p:cNvPr>
          <p:cNvSpPr>
            <a:spLocks xmlns:a="http://schemas.openxmlformats.org/drawingml/2006/main" noGrp="1"/>
          </p:cNvSpPr>
          <p:nvPr/>
        </p:nvSpPr>
        <p:spPr>
          <a:xfrm xmlns:a="http://schemas.openxmlformats.org/drawingml/2006/main">
            <a:off x="952500" y="4619625"/>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CC8B8"/>
                </a:solidFill>
                <a:latin typeface="Avenir Next"/>
                <a:ea typeface="Avenir Next"/>
                <a:cs typeface="Avenir Next"/>
              </a:defRPr>
            </a:defPPr>
          </a:lstStyle>
          <a:p xmlns:a="http://schemas.openxmlformats.org/drawingml/2006/main">
            <a:pPr algn="l">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MERGE CONDITION</a:t>
            </a:r>
          </a:p>
        </p:txBody>
      </p:sp>
      <p:sp>
        <p:nvSpPr>
          <p:cNvPr id="25" name="dp-merge-text">
            <a:extLst xmlns:a="http://schemas.openxmlformats.org/drawingml/2006/main">
              <a:ext uri="{FF2B5EF4-FFF2-40B4-BE49-F238E27FC236}">
                <a16:creationId xmlns:a16="http://schemas.microsoft.com/office/drawing/2014/main" id="{140227C8-308C-4377-98E4-B8612D758E68}"/>
              </a:ext>
            </a:extLst>
          </p:cNvPr>
          <p:cNvSpPr>
            <a:spLocks xmlns:a="http://schemas.openxmlformats.org/drawingml/2006/main" noGrp="1"/>
          </p:cNvSpPr>
          <p:nvPr/>
        </p:nvSpPr>
        <p:spPr>
          <a:xfrm xmlns:a="http://schemas.openxmlformats.org/drawingml/2006/main">
            <a:off x="952500" y="4895850"/>
            <a:ext cx="5143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Every future-relevant value and observed/resource field is equal</a:t>
            </a:r>
          </a:p>
        </p:txBody>
      </p:sp>
      <p:sp>
        <p:nvSpPr>
          <p:cNvPr id="26" name="dp-split">
            <a:extLst xmlns:a="http://schemas.openxmlformats.org/drawingml/2006/main">
              <a:ext uri="{FF2B5EF4-FFF2-40B4-BE49-F238E27FC236}">
                <a16:creationId xmlns:a16="http://schemas.microsoft.com/office/drawing/2014/main" id="{BD6B8A98-9794-4F8D-BDC5-357CF05F7091}"/>
              </a:ext>
            </a:extLst>
          </p:cNvPr>
          <p:cNvSpPr>
            <a:spLocks xmlns:a="http://schemas.openxmlformats.org/drawingml/2006/main" noGrp="1"/>
          </p:cNvSpPr>
          <p:nvPr/>
        </p:nvSpPr>
        <p:spPr>
          <a:xfrm xmlns:a="http://schemas.openxmlformats.org/drawingml/2006/main">
            <a:off x="6191250" y="4629150"/>
            <a:ext cx="9525" cy="914400"/>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7" name="dp-reference-title">
            <a:extLst xmlns:a="http://schemas.openxmlformats.org/drawingml/2006/main">
              <a:ext uri="{FF2B5EF4-FFF2-40B4-BE49-F238E27FC236}">
                <a16:creationId xmlns:a16="http://schemas.microsoft.com/office/drawing/2014/main" id="{CDB7B3E0-D526-4895-B49E-1B2694AF38F3}"/>
              </a:ext>
            </a:extLst>
          </p:cNvPr>
          <p:cNvSpPr>
            <a:spLocks xmlns:a="http://schemas.openxmlformats.org/drawingml/2006/main" noGrp="1"/>
          </p:cNvSpPr>
          <p:nvPr/>
        </p:nvSpPr>
        <p:spPr>
          <a:xfrm xmlns:a="http://schemas.openxmlformats.org/drawingml/2006/main">
            <a:off x="6496050" y="4619625"/>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FF8A5C"/>
                </a:solidFill>
                <a:latin typeface="Avenir Next"/>
                <a:ea typeface="Avenir Next"/>
                <a:cs typeface="Avenir Next"/>
              </a:defRPr>
            </a:defPPr>
          </a:lstStyle>
          <a:p xmlns:a="http://schemas.openxmlformats.org/drawingml/2006/main">
            <a:pPr algn="l">
              <a:defRPr sz="1050" b="1" i="0">
                <a:solidFill>
                  <a:srgbClr val="FF8A5C"/>
                </a:solidFill>
                <a:latin typeface="Avenir Next"/>
                <a:ea typeface="Avenir Next"/>
                <a:cs typeface="Avenir Next"/>
              </a:defRPr>
            </a:pPr>
            <a:r>
              <a:rPr sz="1050" b="1" i="0">
                <a:solidFill>
                  <a:srgbClr val="FF8A5C"/>
                </a:solidFill>
                <a:latin typeface="Avenir Next"/>
                <a:ea typeface="Avenir Next"/>
                <a:cs typeface="Avenir Next"/>
              </a:rPr>
              <a:t>REFERENCE</a:t>
            </a:r>
          </a:p>
        </p:txBody>
      </p:sp>
      <p:sp>
        <p:nvSpPr>
          <p:cNvPr id="28" name="dp-reference-text">
            <a:extLst xmlns:a="http://schemas.openxmlformats.org/drawingml/2006/main">
              <a:ext uri="{FF2B5EF4-FFF2-40B4-BE49-F238E27FC236}">
                <a16:creationId xmlns:a16="http://schemas.microsoft.com/office/drawing/2014/main" id="{E25FAADF-7F6D-4D1A-8408-65D3F3AB035B}"/>
              </a:ext>
            </a:extLst>
          </p:cNvPr>
          <p:cNvSpPr>
            <a:spLocks xmlns:a="http://schemas.openxmlformats.org/drawingml/2006/main" noGrp="1"/>
          </p:cNvSpPr>
          <p:nvPr/>
        </p:nvSpPr>
        <p:spPr>
          <a:xfrm xmlns:a="http://schemas.openxmlformats.org/drawingml/2006/main">
            <a:off x="6496050" y="4895850"/>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F5F2EA"/>
                </a:solidFill>
                <a:latin typeface="Avenir Next"/>
                <a:ea typeface="Avenir Next"/>
                <a:cs typeface="Avenir Next"/>
              </a:defRPr>
            </a:defPPr>
          </a:lstStyle>
          <a:p xmlns:a="http://schemas.openxmlformats.org/drawingml/2006/main">
            <a:pPr algn="l">
              <a:defRPr sz="1425" b="1" i="0">
                <a:solidFill>
                  <a:srgbClr val="F5F2EA"/>
                </a:solidFill>
                <a:latin typeface="Avenir Next"/>
                <a:ea typeface="Avenir Next"/>
                <a:cs typeface="Avenir Next"/>
              </a:defRPr>
            </a:pPr>
            <a:r>
              <a:rPr sz="1425" b="1" i="0">
                <a:solidFill>
                  <a:srgbClr val="F5F2EA"/>
                </a:solidFill>
                <a:latin typeface="Avenir Next"/>
                <a:ea typeface="Avenir Next"/>
                <a:cs typeface="Avenir Next"/>
              </a:rPr>
              <a:t>No-merge DFS path enumeration</a:t>
            </a:r>
          </a:p>
        </p:txBody>
      </p:sp>
      <p:sp>
        <p:nvSpPr>
          <p:cNvPr id="29" name="dp-limits">
            <a:extLst xmlns:a="http://schemas.openxmlformats.org/drawingml/2006/main">
              <a:ext uri="{FF2B5EF4-FFF2-40B4-BE49-F238E27FC236}">
                <a16:creationId xmlns:a16="http://schemas.microsoft.com/office/drawing/2014/main" id="{380E64C1-1F3F-4DCD-A8F4-EA1122B78FD7}"/>
              </a:ext>
            </a:extLst>
          </p:cNvPr>
          <p:cNvSpPr>
            <a:spLocks xmlns:a="http://schemas.openxmlformats.org/drawingml/2006/main" noGrp="1"/>
          </p:cNvSpPr>
          <p:nvPr/>
        </p:nvSpPr>
        <p:spPr>
          <a:xfrm xmlns:a="http://schemas.openxmlformats.org/drawingml/2006/main">
            <a:off x="1123950" y="5762625"/>
            <a:ext cx="990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B8C1D1"/>
                </a:solidFill>
                <a:latin typeface="Avenir Next"/>
                <a:ea typeface="Avenir Next"/>
                <a:cs typeface="Avenir Next"/>
              </a:defRPr>
            </a:defPPr>
          </a:lstStyle>
          <a:p xmlns:a="http://schemas.openxmlformats.org/drawingml/2006/main">
            <a:pPr algn="ctr">
              <a:defRPr sz="1125" b="0" i="0">
                <a:solidFill>
                  <a:srgbClr val="B8C1D1"/>
                </a:solidFill>
                <a:latin typeface="Avenir Next"/>
                <a:ea typeface="Avenir Next"/>
                <a:cs typeface="Avenir Next"/>
              </a:defRPr>
            </a:pPr>
            <a:r>
              <a:rPr sz="1125" b="0" i="0">
                <a:solidFill>
                  <a:srgbClr val="B8C1D1"/>
                </a:solidFill>
                <a:latin typeface="Avenir Next"/>
                <a:ea typeface="Avenir Next"/>
                <a:cs typeface="Avenir Next"/>
              </a:rPr>
              <a:t>Rational caps or state/path limits return unknown</a:t>
            </a:r>
          </a:p>
        </p:txBody>
      </p:sp>
    </p:spTree>
    <p:extLst>
      <p:ext uri="{BB962C8B-B14F-4D97-AF65-F5344CB8AC3E}">
        <p14:creationId xmlns:p14="http://schemas.microsoft.com/office/powerpoint/2010/main" val="386710345"/>
      </p:ext>
    </p:extLst>
  </p:cSld>
</p:sld>
</file>

<file path=ppt/slides/slide1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98AB021E-3049-4BB8-937F-576D1F26AB1A}"/>
              </a:ext>
            </a:extLst>
          </p:cNvPr>
          <p:cNvCxnSpPr>
            <a:stCxn xmlns:a="http://schemas.openxmlformats.org/drawingml/2006/main" id="14" idx="3"/>
            <a:endCxn xmlns:a="http://schemas.openxmlformats.org/drawingml/2006/main" id="18" idx="1"/>
          </p:cNvCxnSpPr>
          <p:nvPr/>
        </p:nvCxnSpPr>
        <p:spPr>
          <a:xfrm xmlns:a="http://schemas.openxmlformats.org/drawingml/2006/main">
            <a:off x="7648575" y="3476625"/>
            <a:ext cx="714375" cy="0"/>
          </a:xfrm>
          <a:prstGeom xmlns:a="http://schemas.openxmlformats.org/drawingml/2006/main" prst="straightConnector1">
            <a:avLst/>
          </a:prstGeom>
          <a:ln xmlns:a="http://schemas.openxmlformats.org/drawingml/2006/main" w="19050">
            <a:solidFill>
              <a:srgbClr val="5CC8B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19151118-75DE-406D-8DFD-682B1AE6DE61}"/>
              </a:ext>
            </a:extLst>
          </p:cNvPr>
          <p:cNvCxnSpPr>
            <a:stCxn xmlns:a="http://schemas.openxmlformats.org/drawingml/2006/main" id="10" idx="3"/>
            <a:endCxn xmlns:a="http://schemas.openxmlformats.org/drawingml/2006/main" id="14" idx="1"/>
          </p:cNvCxnSpPr>
          <p:nvPr/>
        </p:nvCxnSpPr>
        <p:spPr>
          <a:xfrm xmlns:a="http://schemas.openxmlformats.org/drawingml/2006/main">
            <a:off x="3829050" y="3476625"/>
            <a:ext cx="714375" cy="0"/>
          </a:xfrm>
          <a:prstGeom xmlns:a="http://schemas.openxmlformats.org/drawingml/2006/main" prst="straightConnector1">
            <a:avLst/>
          </a:prstGeom>
          <a:ln xmlns:a="http://schemas.openxmlformats.org/drawingml/2006/main" w="19050">
            <a:solidFill>
              <a:srgbClr val="1F6F66"/>
            </a:solidFill>
            <a:prstDash val="solid"/>
            <a:tailEnd type="triangle" w="sm" len="sm"/>
          </a:ln>
        </p:spPr>
      </p:cxnSp>
      <p:sp>
        <p:nvSpPr>
          <p:cNvPr id="30" name="s19-brand">
            <a:extLst xmlns:a="http://schemas.openxmlformats.org/drawingml/2006/main">
              <a:ext uri="{FF2B5EF4-FFF2-40B4-BE49-F238E27FC236}">
                <a16:creationId xmlns:a16="http://schemas.microsoft.com/office/drawing/2014/main" id="{3B4C3EB9-3194-4392-8E69-F3DFF9853408}"/>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19-section">
            <a:extLst xmlns:a="http://schemas.openxmlformats.org/drawingml/2006/main">
              <a:ext uri="{FF2B5EF4-FFF2-40B4-BE49-F238E27FC236}">
                <a16:creationId xmlns:a16="http://schemas.microsoft.com/office/drawing/2014/main" id="{E68315F8-94A2-47A6-95B9-7C747FC76F85}"/>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ALL FINITE HORIZONS</a:t>
            </a:r>
          </a:p>
        </p:txBody>
      </p:sp>
      <p:sp>
        <p:nvSpPr>
          <p:cNvPr id="3" name="s19-title">
            <a:extLst xmlns:a="http://schemas.openxmlformats.org/drawingml/2006/main">
              <a:ext uri="{FF2B5EF4-FFF2-40B4-BE49-F238E27FC236}">
                <a16:creationId xmlns:a16="http://schemas.microsoft.com/office/drawing/2014/main" id="{A6FFF24B-60D3-48EB-8A2B-3900D9A8D175}"/>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Bisimulation is sufficient, not complete</a:t>
            </a:r>
          </a:p>
        </p:txBody>
      </p:sp>
      <p:sp>
        <p:nvSpPr>
          <p:cNvPr id="4" name="s19-subtitle">
            <a:extLst xmlns:a="http://schemas.openxmlformats.org/drawingml/2006/main">
              <a:ext uri="{FF2B5EF4-FFF2-40B4-BE49-F238E27FC236}">
                <a16:creationId xmlns:a16="http://schemas.microsoft.com/office/drawing/2014/main" id="{9C1B522A-F1B6-46E2-8142-A3137C9BB7D6}"/>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A shared stable block proves equality; a split leaves the result open.</a:t>
            </a:r>
          </a:p>
        </p:txBody>
      </p:sp>
      <p:sp>
        <p:nvSpPr>
          <p:cNvPr id="5" name="s19-source-rule">
            <a:extLst xmlns:a="http://schemas.openxmlformats.org/drawingml/2006/main">
              <a:ext uri="{FF2B5EF4-FFF2-40B4-BE49-F238E27FC236}">
                <a16:creationId xmlns:a16="http://schemas.microsoft.com/office/drawing/2014/main" id="{E664720F-484E-47C3-98F2-50C01495A375}"/>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19-sources">
            <a:extLst xmlns:a="http://schemas.openxmlformats.org/drawingml/2006/main">
              <a:ext uri="{FF2B5EF4-FFF2-40B4-BE49-F238E27FC236}">
                <a16:creationId xmlns:a16="http://schemas.microsoft.com/office/drawing/2014/main" id="{93E8D132-2F38-4933-A7EF-02B7983584A4}"/>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audit/stochastic_bisimulation.py · docs/STOCHASTIC_BISIMULATION.md · Larsen &amp; Skou 1991</a:t>
            </a:r>
          </a:p>
        </p:txBody>
      </p:sp>
      <p:sp>
        <p:nvSpPr>
          <p:cNvPr id="7" name="s19-footer-rule">
            <a:extLst xmlns:a="http://schemas.openxmlformats.org/drawingml/2006/main">
              <a:ext uri="{FF2B5EF4-FFF2-40B4-BE49-F238E27FC236}">
                <a16:creationId xmlns:a16="http://schemas.microsoft.com/office/drawing/2014/main" id="{3A5F0413-4051-4E1A-9D1D-FAEE04E75D07}"/>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19-footer">
            <a:extLst xmlns:a="http://schemas.openxmlformats.org/drawingml/2006/main">
              <a:ext uri="{FF2B5EF4-FFF2-40B4-BE49-F238E27FC236}">
                <a16:creationId xmlns:a16="http://schemas.microsoft.com/office/drawing/2014/main" id="{63530728-2742-45E3-8DF0-AD45E88A2B0D}"/>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19-page">
            <a:extLst xmlns:a="http://schemas.openxmlformats.org/drawingml/2006/main">
              <a:ext uri="{FF2B5EF4-FFF2-40B4-BE49-F238E27FC236}">
                <a16:creationId xmlns:a16="http://schemas.microsoft.com/office/drawing/2014/main" id="{9C443973-A2D4-4A37-8F27-0EBC46885CF1}"/>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19</a:t>
            </a:r>
          </a:p>
        </p:txBody>
      </p:sp>
      <p:sp>
        <p:nvSpPr>
          <p:cNvPr id="10" name="bisim-input-panel">
            <a:extLst xmlns:a="http://schemas.openxmlformats.org/drawingml/2006/main">
              <a:ext uri="{FF2B5EF4-FFF2-40B4-BE49-F238E27FC236}">
                <a16:creationId xmlns:a16="http://schemas.microsoft.com/office/drawing/2014/main" id="{647168B3-3805-4408-856E-B964CBDB8153}"/>
              </a:ext>
            </a:extLst>
          </p:cNvPr>
          <p:cNvSpPr>
            <a:spLocks xmlns:a="http://schemas.openxmlformats.org/drawingml/2006/main" noGrp="1"/>
          </p:cNvSpPr>
          <p:nvPr/>
        </p:nvSpPr>
        <p:spPr>
          <a:xfrm xmlns:a="http://schemas.openxmlformats.org/drawingml/2006/main">
            <a:off x="723900" y="2609850"/>
            <a:ext cx="3105150" cy="1733550"/>
          </a:xfrm>
          <a:prstGeom xmlns:a="http://schemas.openxmlformats.org/drawingml/2006/main" prst="roundRect">
            <a:avLst>
              <a:gd name="adj" fmla="val 4396"/>
            </a:avLst>
          </a:prstGeom>
          <a:solidFill xmlns:a="http://schemas.openxmlformats.org/drawingml/2006/main">
            <a:srgbClr val="FFFDF8"/>
          </a:solidFill>
          <a:ln xmlns:a="http://schemas.openxmlformats.org/drawingml/2006/main" w="9525">
            <a:solidFill>
              <a:srgbClr val="D7D0C4"/>
            </a:solidFill>
            <a:prstDash val="solid"/>
          </a:ln>
        </p:spPr>
      </p:sp>
      <p:sp>
        <p:nvSpPr>
          <p:cNvPr id="11" name="bisim-input-accent">
            <a:extLst xmlns:a="http://schemas.openxmlformats.org/drawingml/2006/main">
              <a:ext uri="{FF2B5EF4-FFF2-40B4-BE49-F238E27FC236}">
                <a16:creationId xmlns:a16="http://schemas.microsoft.com/office/drawing/2014/main" id="{8EE31B82-089C-4A49-B9B1-81F9C6BFDF87}"/>
              </a:ext>
            </a:extLst>
          </p:cNvPr>
          <p:cNvSpPr>
            <a:spLocks xmlns:a="http://schemas.openxmlformats.org/drawingml/2006/main" noGrp="1"/>
          </p:cNvSpPr>
          <p:nvPr/>
        </p:nvSpPr>
        <p:spPr>
          <a:xfrm xmlns:a="http://schemas.openxmlformats.org/drawingml/2006/main">
            <a:off x="723900" y="2609850"/>
            <a:ext cx="57150" cy="17335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bisim-input-title">
            <a:extLst xmlns:a="http://schemas.openxmlformats.org/drawingml/2006/main">
              <a:ext uri="{FF2B5EF4-FFF2-40B4-BE49-F238E27FC236}">
                <a16:creationId xmlns:a16="http://schemas.microsoft.com/office/drawing/2014/main" id="{DF20A3F2-0E1A-4A2D-99A1-593D3F451348}"/>
              </a:ext>
            </a:extLst>
          </p:cNvPr>
          <p:cNvSpPr>
            <a:spLocks xmlns:a="http://schemas.openxmlformats.org/drawingml/2006/main" noGrp="1"/>
          </p:cNvSpPr>
          <p:nvPr/>
        </p:nvSpPr>
        <p:spPr>
          <a:xfrm xmlns:a="http://schemas.openxmlformats.org/drawingml/2006/main">
            <a:off x="933450" y="278130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FINITE INPUT MODEL</a:t>
            </a:r>
          </a:p>
        </p:txBody>
      </p:sp>
      <p:sp>
        <p:nvSpPr>
          <p:cNvPr id="13" name="bisim-input-body">
            <a:extLst xmlns:a="http://schemas.openxmlformats.org/drawingml/2006/main">
              <a:ext uri="{FF2B5EF4-FFF2-40B4-BE49-F238E27FC236}">
                <a16:creationId xmlns:a16="http://schemas.microsoft.com/office/drawing/2014/main" id="{3C23E6F5-CA07-447A-89AC-D25F51C4BE79}"/>
              </a:ext>
            </a:extLst>
          </p:cNvPr>
          <p:cNvSpPr>
            <a:spLocks xmlns:a="http://schemas.openxmlformats.org/drawingml/2006/main" noGrp="1"/>
          </p:cNvSpPr>
          <p:nvPr/>
        </p:nvSpPr>
        <p:spPr>
          <a:xfrm xmlns:a="http://schemas.openxmlformats.org/drawingml/2006/main">
            <a:off x="933450" y="3248025"/>
            <a:ext cx="26860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646B7A"/>
                </a:solidFill>
                <a:latin typeface="Menlo"/>
                <a:ea typeface="Menlo"/>
                <a:cs typeface="Menlo"/>
              </a:defRPr>
            </a:defPPr>
          </a:lstStyle>
          <a:p xmlns:a="http://schemas.openxmlformats.org/drawingml/2006/main">
            <a:pPr algn="l">
              <a:defRPr sz="1275" b="0" i="0">
                <a:solidFill>
                  <a:srgbClr val="646B7A"/>
                </a:solidFill>
                <a:latin typeface="Menlo"/>
                <a:ea typeface="Menlo"/>
                <a:cs typeface="Menlo"/>
              </a:defRPr>
            </a:pPr>
            <a:r>
              <a:rPr sz="1275" b="0" i="0">
                <a:solidFill>
                  <a:srgbClr val="646B7A"/>
                </a:solidFill>
                <a:latin typeface="Menlo"/>
                <a:ea typeface="Menlo"/>
                <a:cs typeface="Menlo"/>
              </a:rPr>
              <a:t>fixed public store</a:t>
            </a:r>
          </a:p>
          <a:p xmlns:a="http://schemas.openxmlformats.org/drawingml/2006/main">
            <a:pPr algn="l">
              <a:defRPr sz="1275" b="0" i="0">
                <a:solidFill>
                  <a:srgbClr val="646B7A"/>
                </a:solidFill>
                <a:latin typeface="Menlo"/>
                <a:ea typeface="Menlo"/>
                <a:cs typeface="Menlo"/>
              </a:defRPr>
            </a:pPr>
            <a:r>
              <a:rPr sz="1275" b="0" i="0">
                <a:solidFill>
                  <a:srgbClr val="646B7A"/>
                </a:solidFill>
                <a:latin typeface="Menlo"/>
                <a:ea typeface="Menlo"/>
                <a:cs typeface="Menlo"/>
              </a:rPr>
              <a:t>explicit secret stores</a:t>
            </a:r>
          </a:p>
          <a:p xmlns:a="http://schemas.openxmlformats.org/drawingml/2006/main">
            <a:pPr algn="l">
              <a:defRPr sz="1275" b="0" i="0">
                <a:solidFill>
                  <a:srgbClr val="646B7A"/>
                </a:solidFill>
                <a:latin typeface="Menlo"/>
                <a:ea typeface="Menlo"/>
                <a:cs typeface="Menlo"/>
              </a:defRPr>
            </a:pPr>
            <a:r>
              <a:rPr sz="1275" b="0" i="0">
                <a:solidFill>
                  <a:srgbClr val="646B7A"/>
                </a:solidFill>
                <a:latin typeface="Menlo"/>
                <a:ea typeface="Menlo"/>
                <a:cs typeface="Menlo"/>
              </a:rPr>
              <a:t>rational kernel K(M,k,Q,h)</a:t>
            </a:r>
          </a:p>
        </p:txBody>
      </p:sp>
      <p:sp>
        <p:nvSpPr>
          <p:cNvPr id="14" name="bisim-state-panel">
            <a:extLst xmlns:a="http://schemas.openxmlformats.org/drawingml/2006/main">
              <a:ext uri="{FF2B5EF4-FFF2-40B4-BE49-F238E27FC236}">
                <a16:creationId xmlns:a16="http://schemas.microsoft.com/office/drawing/2014/main" id="{87971AF5-0FB5-4C15-9C7C-D09767B36CF4}"/>
              </a:ext>
            </a:extLst>
          </p:cNvPr>
          <p:cNvSpPr>
            <a:spLocks xmlns:a="http://schemas.openxmlformats.org/drawingml/2006/main" noGrp="1"/>
          </p:cNvSpPr>
          <p:nvPr/>
        </p:nvSpPr>
        <p:spPr>
          <a:xfrm xmlns:a="http://schemas.openxmlformats.org/drawingml/2006/main">
            <a:off x="4543425" y="2609850"/>
            <a:ext cx="3105150" cy="1733550"/>
          </a:xfrm>
          <a:prstGeom xmlns:a="http://schemas.openxmlformats.org/drawingml/2006/main" prst="roundRect">
            <a:avLst>
              <a:gd name="adj" fmla="val 4396"/>
            </a:avLst>
          </a:prstGeom>
          <a:solidFill xmlns:a="http://schemas.openxmlformats.org/drawingml/2006/main">
            <a:srgbClr val="1C2638"/>
          </a:solidFill>
          <a:ln xmlns:a="http://schemas.openxmlformats.org/drawingml/2006/main" w="9525">
            <a:solidFill>
              <a:srgbClr val="343D50"/>
            </a:solidFill>
            <a:prstDash val="solid"/>
          </a:ln>
        </p:spPr>
      </p:sp>
      <p:sp>
        <p:nvSpPr>
          <p:cNvPr id="15" name="bisim-state-accent">
            <a:extLst xmlns:a="http://schemas.openxmlformats.org/drawingml/2006/main">
              <a:ext uri="{FF2B5EF4-FFF2-40B4-BE49-F238E27FC236}">
                <a16:creationId xmlns:a16="http://schemas.microsoft.com/office/drawing/2014/main" id="{9409E179-612E-4F70-9A87-5153A753E190}"/>
              </a:ext>
            </a:extLst>
          </p:cNvPr>
          <p:cNvSpPr>
            <a:spLocks xmlns:a="http://schemas.openxmlformats.org/drawingml/2006/main" noGrp="1"/>
          </p:cNvSpPr>
          <p:nvPr/>
        </p:nvSpPr>
        <p:spPr>
          <a:xfrm xmlns:a="http://schemas.openxmlformats.org/drawingml/2006/main">
            <a:off x="4543425" y="2609850"/>
            <a:ext cx="57150" cy="17335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bisim-state-title">
            <a:extLst xmlns:a="http://schemas.openxmlformats.org/drawingml/2006/main">
              <a:ext uri="{FF2B5EF4-FFF2-40B4-BE49-F238E27FC236}">
                <a16:creationId xmlns:a16="http://schemas.microsoft.com/office/drawing/2014/main" id="{F9DD89AE-0024-4434-8EF5-599C7E7974C1}"/>
              </a:ext>
            </a:extLst>
          </p:cNvPr>
          <p:cNvSpPr>
            <a:spLocks xmlns:a="http://schemas.openxmlformats.org/drawingml/2006/main" noGrp="1"/>
          </p:cNvSpPr>
          <p:nvPr/>
        </p:nvSpPr>
        <p:spPr>
          <a:xfrm xmlns:a="http://schemas.openxmlformats.org/drawingml/2006/main">
            <a:off x="4752975" y="278130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F5F2EA"/>
                </a:solidFill>
                <a:latin typeface="Avenir Next"/>
                <a:ea typeface="Avenir Next"/>
                <a:cs typeface="Avenir Next"/>
              </a:defRPr>
            </a:defPPr>
          </a:lstStyle>
          <a:p xmlns:a="http://schemas.openxmlformats.org/drawingml/2006/main">
            <a:pPr algn="l">
              <a:defRPr sz="1350" b="1" i="0">
                <a:solidFill>
                  <a:srgbClr val="F5F2EA"/>
                </a:solidFill>
                <a:latin typeface="Avenir Next"/>
                <a:ea typeface="Avenir Next"/>
                <a:cs typeface="Avenir Next"/>
              </a:defRPr>
            </a:pPr>
            <a:r>
              <a:rPr sz="1350" b="1" i="0">
                <a:solidFill>
                  <a:srgbClr val="F5F2EA"/>
                </a:solidFill>
                <a:latin typeface="Avenir Next"/>
                <a:ea typeface="Avenir Next"/>
                <a:cs typeface="Avenir Next"/>
              </a:rPr>
              <a:t>FINITE SEMANTIC STATE</a:t>
            </a:r>
          </a:p>
        </p:txBody>
      </p:sp>
      <p:sp>
        <p:nvSpPr>
          <p:cNvPr id="17" name="bisim-state-body">
            <a:extLst xmlns:a="http://schemas.openxmlformats.org/drawingml/2006/main">
              <a:ext uri="{FF2B5EF4-FFF2-40B4-BE49-F238E27FC236}">
                <a16:creationId xmlns:a16="http://schemas.microsoft.com/office/drawing/2014/main" id="{8E3F37B7-46E3-4B03-9777-D05984FB27D1}"/>
              </a:ext>
            </a:extLst>
          </p:cNvPr>
          <p:cNvSpPr>
            <a:spLocks xmlns:a="http://schemas.openxmlformats.org/drawingml/2006/main" noGrp="1"/>
          </p:cNvSpPr>
          <p:nvPr/>
        </p:nvSpPr>
        <p:spPr>
          <a:xfrm xmlns:a="http://schemas.openxmlformats.org/drawingml/2006/main">
            <a:off x="4752975" y="3248025"/>
            <a:ext cx="26860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B8C1D1"/>
                </a:solidFill>
                <a:latin typeface="Menlo"/>
                <a:ea typeface="Menlo"/>
                <a:cs typeface="Menlo"/>
              </a:defRPr>
            </a:defPPr>
          </a:lstStyle>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control + all values</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ordinals saturated at 33</a:t>
            </a:r>
          </a:p>
          <a:p xmlns:a="http://schemas.openxmlformats.org/drawingml/2006/main">
            <a:pPr algn="l">
              <a:defRPr sz="1275" b="0" i="0">
                <a:solidFill>
                  <a:srgbClr val="B8C1D1"/>
                </a:solidFill>
                <a:latin typeface="Menlo"/>
                <a:ea typeface="Menlo"/>
                <a:cs typeface="Menlo"/>
              </a:defRPr>
            </a:pPr>
            <a:r>
              <a:rPr sz="1275" b="0" i="0">
                <a:solidFill>
                  <a:srgbClr val="B8C1D1"/>
                </a:solidFill>
                <a:latin typeface="Menlo"/>
                <a:ea typeface="Menlo"/>
                <a:cs typeface="Menlo"/>
              </a:rPr>
              <a:t>bounded complete history</a:t>
            </a:r>
          </a:p>
        </p:txBody>
      </p:sp>
      <p:sp>
        <p:nvSpPr>
          <p:cNvPr id="18" name="bisim-partition-panel">
            <a:extLst xmlns:a="http://schemas.openxmlformats.org/drawingml/2006/main">
              <a:ext uri="{FF2B5EF4-FFF2-40B4-BE49-F238E27FC236}">
                <a16:creationId xmlns:a16="http://schemas.microsoft.com/office/drawing/2014/main" id="{1B6399B7-4262-4BDB-8403-6377701C41E3}"/>
              </a:ext>
            </a:extLst>
          </p:cNvPr>
          <p:cNvSpPr>
            <a:spLocks xmlns:a="http://schemas.openxmlformats.org/drawingml/2006/main" noGrp="1"/>
          </p:cNvSpPr>
          <p:nvPr/>
        </p:nvSpPr>
        <p:spPr>
          <a:xfrm xmlns:a="http://schemas.openxmlformats.org/drawingml/2006/main">
            <a:off x="8362950" y="2609850"/>
            <a:ext cx="3105150" cy="1733550"/>
          </a:xfrm>
          <a:prstGeom xmlns:a="http://schemas.openxmlformats.org/drawingml/2006/main" prst="roundRect">
            <a:avLst>
              <a:gd name="adj" fmla="val 4396"/>
            </a:avLst>
          </a:prstGeom>
          <a:solidFill xmlns:a="http://schemas.openxmlformats.org/drawingml/2006/main">
            <a:srgbClr val="FFFDF8"/>
          </a:solidFill>
          <a:ln xmlns:a="http://schemas.openxmlformats.org/drawingml/2006/main" w="9525">
            <a:solidFill>
              <a:srgbClr val="D7D0C4"/>
            </a:solidFill>
            <a:prstDash val="solid"/>
          </a:ln>
        </p:spPr>
      </p:sp>
      <p:sp>
        <p:nvSpPr>
          <p:cNvPr id="19" name="bisim-partition-accent">
            <a:extLst xmlns:a="http://schemas.openxmlformats.org/drawingml/2006/main">
              <a:ext uri="{FF2B5EF4-FFF2-40B4-BE49-F238E27FC236}">
                <a16:creationId xmlns:a16="http://schemas.microsoft.com/office/drawing/2014/main" id="{CD88407D-5857-4540-AF9F-81B984C7D61D}"/>
              </a:ext>
            </a:extLst>
          </p:cNvPr>
          <p:cNvSpPr>
            <a:spLocks xmlns:a="http://schemas.openxmlformats.org/drawingml/2006/main" noGrp="1"/>
          </p:cNvSpPr>
          <p:nvPr/>
        </p:nvSpPr>
        <p:spPr>
          <a:xfrm xmlns:a="http://schemas.openxmlformats.org/drawingml/2006/main">
            <a:off x="8362950" y="2609850"/>
            <a:ext cx="57150" cy="17335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0" name="bisim-partition-title">
            <a:extLst xmlns:a="http://schemas.openxmlformats.org/drawingml/2006/main">
              <a:ext uri="{FF2B5EF4-FFF2-40B4-BE49-F238E27FC236}">
                <a16:creationId xmlns:a16="http://schemas.microsoft.com/office/drawing/2014/main" id="{7649ED08-66FE-4878-845F-AA89A583D387}"/>
              </a:ext>
            </a:extLst>
          </p:cNvPr>
          <p:cNvSpPr>
            <a:spLocks xmlns:a="http://schemas.openxmlformats.org/drawingml/2006/main" noGrp="1"/>
          </p:cNvSpPr>
          <p:nvPr/>
        </p:nvSpPr>
        <p:spPr>
          <a:xfrm xmlns:a="http://schemas.openxmlformats.org/drawingml/2006/main">
            <a:off x="8572500" y="2781300"/>
            <a:ext cx="2686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EXACT PARTITION</a:t>
            </a:r>
          </a:p>
        </p:txBody>
      </p:sp>
      <p:sp>
        <p:nvSpPr>
          <p:cNvPr id="21" name="bisim-partition-body">
            <a:extLst xmlns:a="http://schemas.openxmlformats.org/drawingml/2006/main">
              <a:ext uri="{FF2B5EF4-FFF2-40B4-BE49-F238E27FC236}">
                <a16:creationId xmlns:a16="http://schemas.microsoft.com/office/drawing/2014/main" id="{874F2E9A-04CF-4CD4-B3F5-2D6C082EE2EB}"/>
              </a:ext>
            </a:extLst>
          </p:cNvPr>
          <p:cNvSpPr>
            <a:spLocks xmlns:a="http://schemas.openxmlformats.org/drawingml/2006/main" noGrp="1"/>
          </p:cNvSpPr>
          <p:nvPr/>
        </p:nvSpPr>
        <p:spPr>
          <a:xfrm xmlns:a="http://schemas.openxmlformats.org/drawingml/2006/main">
            <a:off x="8572500" y="3248025"/>
            <a:ext cx="26860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0" i="0">
                <a:solidFill>
                  <a:srgbClr val="646B7A"/>
                </a:solidFill>
                <a:latin typeface="Menlo"/>
                <a:ea typeface="Menlo"/>
                <a:cs typeface="Menlo"/>
              </a:defRPr>
            </a:defPPr>
          </a:lstStyle>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visible usage labels</a:t>
            </a:r>
          </a:p>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terminal / call class</a:t>
            </a:r>
          </a:p>
          <a:p xmlns:a="http://schemas.openxmlformats.org/drawingml/2006/main">
            <a:pPr algn="l">
              <a:defRPr sz="1238" b="0" i="0">
                <a:solidFill>
                  <a:srgbClr val="646B7A"/>
                </a:solidFill>
                <a:latin typeface="Menlo"/>
                <a:ea typeface="Menlo"/>
                <a:cs typeface="Menlo"/>
              </a:defRPr>
            </a:pPr>
            <a:r>
              <a:rPr sz="1238" b="0" i="0">
                <a:solidFill>
                  <a:srgbClr val="646B7A"/>
                </a:solidFill>
                <a:latin typeface="Menlo"/>
                <a:ea typeface="Menlo"/>
                <a:cs typeface="Menlo"/>
              </a:rPr>
              <a:t>probability per successor block</a:t>
            </a:r>
          </a:p>
        </p:txBody>
      </p:sp>
      <p:sp>
        <p:nvSpPr>
          <p:cNvPr id="24" name="bisim-same">
            <a:extLst xmlns:a="http://schemas.openxmlformats.org/drawingml/2006/main">
              <a:ext uri="{FF2B5EF4-FFF2-40B4-BE49-F238E27FC236}">
                <a16:creationId xmlns:a16="http://schemas.microsoft.com/office/drawing/2014/main" id="{953E0838-EE87-4311-8583-887A307FC405}"/>
              </a:ext>
            </a:extLst>
          </p:cNvPr>
          <p:cNvSpPr>
            <a:spLocks xmlns:a="http://schemas.openxmlformats.org/drawingml/2006/main" noGrp="1"/>
          </p:cNvSpPr>
          <p:nvPr/>
        </p:nvSpPr>
        <p:spPr>
          <a:xfrm xmlns:a="http://schemas.openxmlformats.org/drawingml/2006/main">
            <a:off x="904875" y="47434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F6F66"/>
                </a:solidFill>
                <a:latin typeface="Avenir Next"/>
                <a:ea typeface="Avenir Next"/>
                <a:cs typeface="Avenir Next"/>
              </a:defRPr>
            </a:defPPr>
          </a:lstStyle>
          <a:p xmlns:a="http://schemas.openxmlformats.org/drawingml/2006/main">
            <a:pPr algn="l">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SAME INITIAL BLOCK</a:t>
            </a:r>
          </a:p>
        </p:txBody>
      </p:sp>
      <p:sp>
        <p:nvSpPr>
          <p:cNvPr id="25" name="bisim-same-desc">
            <a:extLst xmlns:a="http://schemas.openxmlformats.org/drawingml/2006/main">
              <a:ext uri="{FF2B5EF4-FFF2-40B4-BE49-F238E27FC236}">
                <a16:creationId xmlns:a16="http://schemas.microsoft.com/office/drawing/2014/main" id="{7303ACD1-5A15-422C-B1B6-C375647043DB}"/>
              </a:ext>
            </a:extLst>
          </p:cNvPr>
          <p:cNvSpPr>
            <a:spLocks xmlns:a="http://schemas.openxmlformats.org/drawingml/2006/main" noGrp="1"/>
          </p:cNvSpPr>
          <p:nvPr/>
        </p:nvSpPr>
        <p:spPr>
          <a:xfrm xmlns:a="http://schemas.openxmlformats.org/drawingml/2006/main">
            <a:off x="904875" y="5019675"/>
            <a:ext cx="4810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sufficient for equal ordered usage laws at every finite call horizon</a:t>
            </a:r>
          </a:p>
        </p:txBody>
      </p:sp>
      <p:sp>
        <p:nvSpPr>
          <p:cNvPr id="26" name="bisim-lower-divider">
            <a:extLst xmlns:a="http://schemas.openxmlformats.org/drawingml/2006/main">
              <a:ext uri="{FF2B5EF4-FFF2-40B4-BE49-F238E27FC236}">
                <a16:creationId xmlns:a16="http://schemas.microsoft.com/office/drawing/2014/main" id="{F879C50B-6426-4641-8D16-FED57AA6FBB3}"/>
              </a:ext>
            </a:extLst>
          </p:cNvPr>
          <p:cNvSpPr>
            <a:spLocks xmlns:a="http://schemas.openxmlformats.org/drawingml/2006/main" noGrp="1"/>
          </p:cNvSpPr>
          <p:nvPr/>
        </p:nvSpPr>
        <p:spPr>
          <a:xfrm xmlns:a="http://schemas.openxmlformats.org/drawingml/2006/main">
            <a:off x="5953125" y="4705350"/>
            <a:ext cx="9525" cy="895350"/>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7" name="bisim-split">
            <a:extLst xmlns:a="http://schemas.openxmlformats.org/drawingml/2006/main">
              <a:ext uri="{FF2B5EF4-FFF2-40B4-BE49-F238E27FC236}">
                <a16:creationId xmlns:a16="http://schemas.microsoft.com/office/drawing/2014/main" id="{23C67FC9-139F-4E89-BC0D-E7EB5BB12464}"/>
              </a:ext>
            </a:extLst>
          </p:cNvPr>
          <p:cNvSpPr>
            <a:spLocks xmlns:a="http://schemas.openxmlformats.org/drawingml/2006/main" noGrp="1"/>
          </p:cNvSpPr>
          <p:nvPr/>
        </p:nvSpPr>
        <p:spPr>
          <a:xfrm xmlns:a="http://schemas.openxmlformats.org/drawingml/2006/main">
            <a:off x="6334125" y="4743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C2461F"/>
                </a:solidFill>
                <a:latin typeface="Avenir Next"/>
                <a:ea typeface="Avenir Next"/>
                <a:cs typeface="Avenir Next"/>
              </a:defRPr>
            </a:defPPr>
          </a:lstStyle>
          <a:p xmlns:a="http://schemas.openxmlformats.org/drawingml/2006/main">
            <a:pPr algn="l">
              <a:defRPr sz="1050" b="1" i="0">
                <a:solidFill>
                  <a:srgbClr val="C2461F"/>
                </a:solidFill>
                <a:latin typeface="Avenir Next"/>
                <a:ea typeface="Avenir Next"/>
                <a:cs typeface="Avenir Next"/>
              </a:defRPr>
            </a:pPr>
            <a:r>
              <a:rPr sz="1050" b="1" i="0">
                <a:solidFill>
                  <a:srgbClr val="C2461F"/>
                </a:solidFill>
                <a:latin typeface="Avenir Next"/>
                <a:ea typeface="Avenir Next"/>
                <a:cs typeface="Avenir Next"/>
              </a:rPr>
              <a:t>SPLIT BLOCKS</a:t>
            </a:r>
          </a:p>
        </p:txBody>
      </p:sp>
      <p:sp>
        <p:nvSpPr>
          <p:cNvPr id="28" name="bisim-split-desc">
            <a:extLst xmlns:a="http://schemas.openxmlformats.org/drawingml/2006/main">
              <a:ext uri="{FF2B5EF4-FFF2-40B4-BE49-F238E27FC236}">
                <a16:creationId xmlns:a16="http://schemas.microsoft.com/office/drawing/2014/main" id="{1A2F07D1-7E00-476E-BAA1-A5A26E69B027}"/>
              </a:ext>
            </a:extLst>
          </p:cNvPr>
          <p:cNvSpPr>
            <a:spLocks xmlns:a="http://schemas.openxmlformats.org/drawingml/2006/main" noGrp="1"/>
          </p:cNvSpPr>
          <p:nvPr/>
        </p:nvSpPr>
        <p:spPr>
          <a:xfrm xmlns:a="http://schemas.openxmlformats.org/drawingml/2006/main">
            <a:off x="6334125" y="5019675"/>
            <a:ext cx="4572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i="0">
                <a:solidFill>
                  <a:srgbClr val="141B2B"/>
                </a:solidFill>
                <a:latin typeface="Avenir Next"/>
                <a:ea typeface="Avenir Next"/>
                <a:cs typeface="Avenir Next"/>
              </a:defRPr>
            </a:defPPr>
          </a:lstStyle>
          <a:p xmlns:a="http://schemas.openxmlformats.org/drawingml/2006/main">
            <a:pPr algn="l">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inconclusive; not a trace-law witness</a:t>
            </a:r>
          </a:p>
        </p:txBody>
      </p:sp>
      <p:sp>
        <p:nvSpPr>
          <p:cNvPr id="29" name="bisim-scope">
            <a:extLst xmlns:a="http://schemas.openxmlformats.org/drawingml/2006/main">
              <a:ext uri="{FF2B5EF4-FFF2-40B4-BE49-F238E27FC236}">
                <a16:creationId xmlns:a16="http://schemas.microsoft.com/office/drawing/2014/main" id="{A4587172-E942-4416-9627-1AF018F033DA}"/>
              </a:ext>
            </a:extLst>
          </p:cNvPr>
          <p:cNvSpPr>
            <a:spLocks xmlns:a="http://schemas.openxmlformats.org/drawingml/2006/main" noGrp="1"/>
          </p:cNvSpPr>
          <p:nvPr/>
        </p:nvSpPr>
        <p:spPr>
          <a:xfrm xmlns:a="http://schemas.openxmlformats.org/drawingml/2006/main">
            <a:off x="1104900" y="5753100"/>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0" i="0">
                <a:solidFill>
                  <a:srgbClr val="646B7A"/>
                </a:solidFill>
                <a:latin typeface="Avenir Next"/>
                <a:ea typeface="Avenir Next"/>
                <a:cs typeface="Avenir Next"/>
              </a:defRPr>
            </a:defPPr>
          </a:lstStyle>
          <a:p xmlns:a="http://schemas.openxmlformats.org/drawingml/2006/main">
            <a:pPr algn="ctr">
              <a:defRPr sz="1125" b="0" i="0">
                <a:solidFill>
                  <a:srgbClr val="646B7A"/>
                </a:solidFill>
                <a:latin typeface="Avenir Next"/>
                <a:ea typeface="Avenir Next"/>
                <a:cs typeface="Avenir Next"/>
              </a:defRPr>
            </a:pPr>
            <a:r>
              <a:rPr sz="1125" b="0" i="0">
                <a:solidFill>
                  <a:srgbClr val="646B7A"/>
                </a:solidFill>
                <a:latin typeface="Avenir Next"/>
                <a:ea typeface="Avenir Next"/>
                <a:cs typeface="Avenir Next"/>
              </a:rPr>
              <a:t>Success-only semantics · finite explicit stores · no cumulative cost or infinite-run claim</a:t>
            </a:r>
          </a:p>
        </p:txBody>
      </p:sp>
    </p:spTree>
    <p:extLst>
      <p:ext uri="{BB962C8B-B14F-4D97-AF65-F5344CB8AC3E}">
        <p14:creationId xmlns:p14="http://schemas.microsoft.com/office/powerpoint/2010/main" val="1182953584"/>
      </p:ext>
    </p:extLst>
  </p:cSld>
</p:sld>
</file>

<file path=ppt/slides/slide20.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1" name="s20-brand">
            <a:extLst xmlns:a="http://schemas.openxmlformats.org/drawingml/2006/main">
              <a:ext uri="{FF2B5EF4-FFF2-40B4-BE49-F238E27FC236}">
                <a16:creationId xmlns:a16="http://schemas.microsoft.com/office/drawing/2014/main" id="{4B14A118-CDA6-44EB-A750-E571EC0BB5BE}"/>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0-section">
            <a:extLst xmlns:a="http://schemas.openxmlformats.org/drawingml/2006/main">
              <a:ext uri="{FF2B5EF4-FFF2-40B4-BE49-F238E27FC236}">
                <a16:creationId xmlns:a16="http://schemas.microsoft.com/office/drawing/2014/main" id="{0B869E76-399B-4314-9893-890764D09146}"/>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BISIMULATION EVIDENCE</a:t>
            </a:r>
          </a:p>
        </p:txBody>
      </p:sp>
      <p:sp>
        <p:nvSpPr>
          <p:cNvPr id="3" name="s20-title">
            <a:extLst xmlns:a="http://schemas.openxmlformats.org/drawingml/2006/main">
              <a:ext uri="{FF2B5EF4-FFF2-40B4-BE49-F238E27FC236}">
                <a16:creationId xmlns:a16="http://schemas.microsoft.com/office/drawing/2014/main" id="{F2BC8BC2-6E08-4777-8D3B-4D7DDF4997A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A separate replayer checks the stable partition</a:t>
            </a:r>
          </a:p>
        </p:txBody>
      </p:sp>
      <p:sp>
        <p:nvSpPr>
          <p:cNvPr id="4" name="s20-subtitle">
            <a:extLst xmlns:a="http://schemas.openxmlformats.org/drawingml/2006/main">
              <a:ext uri="{FF2B5EF4-FFF2-40B4-BE49-F238E27FC236}">
                <a16:creationId xmlns:a16="http://schemas.microsoft.com/office/drawing/2014/main" id="{E9C63709-D94C-4610-B182-5882C1BC2D13}"/>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Finite-state certificates bind the graph, kernel, scenarios and partition obligations.</a:t>
            </a:r>
          </a:p>
        </p:txBody>
      </p:sp>
      <p:sp>
        <p:nvSpPr>
          <p:cNvPr id="5" name="s20-source-rule">
            <a:extLst xmlns:a="http://schemas.openxmlformats.org/drawingml/2006/main">
              <a:ext uri="{FF2B5EF4-FFF2-40B4-BE49-F238E27FC236}">
                <a16:creationId xmlns:a16="http://schemas.microsoft.com/office/drawing/2014/main" id="{3F84B10F-6B0F-4670-9D97-8207F4A5F2B8}"/>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20-sources">
            <a:extLst xmlns:a="http://schemas.openxmlformats.org/drawingml/2006/main">
              <a:ext uri="{FF2B5EF4-FFF2-40B4-BE49-F238E27FC236}">
                <a16:creationId xmlns:a16="http://schemas.microsoft.com/office/drawing/2014/main" id="{D755D247-0797-44B0-B23A-EB6E64C22890}"/>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audit/stochastic_bisimulation.py</a:t>
            </a:r>
          </a:p>
        </p:txBody>
      </p:sp>
      <p:sp>
        <p:nvSpPr>
          <p:cNvPr id="7" name="s20-footer-rule">
            <a:extLst xmlns:a="http://schemas.openxmlformats.org/drawingml/2006/main">
              <a:ext uri="{FF2B5EF4-FFF2-40B4-BE49-F238E27FC236}">
                <a16:creationId xmlns:a16="http://schemas.microsoft.com/office/drawing/2014/main" id="{A47C6DC5-1ADB-42E6-8CC8-A6150A67D0E6}"/>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20-footer">
            <a:extLst xmlns:a="http://schemas.openxmlformats.org/drawingml/2006/main">
              <a:ext uri="{FF2B5EF4-FFF2-40B4-BE49-F238E27FC236}">
                <a16:creationId xmlns:a16="http://schemas.microsoft.com/office/drawing/2014/main" id="{FAEABF69-BA40-43D2-A314-813C94420093}"/>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20-page">
            <a:extLst xmlns:a="http://schemas.openxmlformats.org/drawingml/2006/main">
              <a:ext uri="{FF2B5EF4-FFF2-40B4-BE49-F238E27FC236}">
                <a16:creationId xmlns:a16="http://schemas.microsoft.com/office/drawing/2014/main" id="{67D85768-1706-4DC6-9BF1-E395C9E70B72}"/>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20</a:t>
            </a:r>
          </a:p>
        </p:txBody>
      </p:sp>
      <p:sp>
        <p:nvSpPr>
          <p:cNvPr id="10" name="bisim-metric-0-panel">
            <a:extLst xmlns:a="http://schemas.openxmlformats.org/drawingml/2006/main">
              <a:ext uri="{FF2B5EF4-FFF2-40B4-BE49-F238E27FC236}">
                <a16:creationId xmlns:a16="http://schemas.microsoft.com/office/drawing/2014/main" id="{09E00CE1-9925-470E-8185-85213519B1D5}"/>
              </a:ext>
            </a:extLst>
          </p:cNvPr>
          <p:cNvSpPr>
            <a:spLocks xmlns:a="http://schemas.openxmlformats.org/drawingml/2006/main" noGrp="1"/>
          </p:cNvSpPr>
          <p:nvPr/>
        </p:nvSpPr>
        <p:spPr>
          <a:xfrm xmlns:a="http://schemas.openxmlformats.org/drawingml/2006/main">
            <a:off x="781050" y="2647950"/>
            <a:ext cx="2343150" cy="2114550"/>
          </a:xfrm>
          <a:prstGeom xmlns:a="http://schemas.openxmlformats.org/drawingml/2006/main" prst="roundRect">
            <a:avLst>
              <a:gd name="adj" fmla="val 3604"/>
            </a:avLst>
          </a:prstGeom>
          <a:solidFill xmlns:a="http://schemas.openxmlformats.org/drawingml/2006/main">
            <a:srgbClr val="1C2638"/>
          </a:solidFill>
          <a:ln xmlns:a="http://schemas.openxmlformats.org/drawingml/2006/main" w="9525">
            <a:solidFill>
              <a:srgbClr val="343D50"/>
            </a:solidFill>
            <a:prstDash val="solid"/>
          </a:ln>
        </p:spPr>
      </p:sp>
      <p:sp>
        <p:nvSpPr>
          <p:cNvPr id="11" name="bisim-metric-0-stripe">
            <a:extLst xmlns:a="http://schemas.openxmlformats.org/drawingml/2006/main">
              <a:ext uri="{FF2B5EF4-FFF2-40B4-BE49-F238E27FC236}">
                <a16:creationId xmlns:a16="http://schemas.microsoft.com/office/drawing/2014/main" id="{7273B7A7-5569-45C6-8BA3-92B2C82BC047}"/>
              </a:ext>
            </a:extLst>
          </p:cNvPr>
          <p:cNvSpPr>
            <a:spLocks xmlns:a="http://schemas.openxmlformats.org/drawingml/2006/main" noGrp="1"/>
          </p:cNvSpPr>
          <p:nvPr/>
        </p:nvSpPr>
        <p:spPr>
          <a:xfrm xmlns:a="http://schemas.openxmlformats.org/drawingml/2006/main">
            <a:off x="781050" y="2647950"/>
            <a:ext cx="2343150" cy="7620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bisim-metric-0-value">
            <a:extLst xmlns:a="http://schemas.openxmlformats.org/drawingml/2006/main">
              <a:ext uri="{FF2B5EF4-FFF2-40B4-BE49-F238E27FC236}">
                <a16:creationId xmlns:a16="http://schemas.microsoft.com/office/drawing/2014/main" id="{80C7B5B1-2EF1-4439-8C9E-0B4D708ED6C6}"/>
              </a:ext>
            </a:extLst>
          </p:cNvPr>
          <p:cNvSpPr>
            <a:spLocks xmlns:a="http://schemas.openxmlformats.org/drawingml/2006/main" noGrp="1"/>
          </p:cNvSpPr>
          <p:nvPr/>
        </p:nvSpPr>
        <p:spPr>
          <a:xfrm xmlns:a="http://schemas.openxmlformats.org/drawingml/2006/main">
            <a:off x="91440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1F6F66"/>
                </a:solidFill>
                <a:latin typeface="Avenir Next"/>
                <a:ea typeface="Avenir Next"/>
                <a:cs typeface="Avenir Next"/>
              </a:defRPr>
            </a:defPPr>
          </a:lstStyle>
          <a:p xmlns:a="http://schemas.openxmlformats.org/drawingml/2006/main">
            <a:pPr algn="ctr">
              <a:defRPr sz="2550" b="1" i="0">
                <a:solidFill>
                  <a:srgbClr val="1F6F66"/>
                </a:solidFill>
                <a:latin typeface="Avenir Next"/>
                <a:ea typeface="Avenir Next"/>
                <a:cs typeface="Avenir Next"/>
              </a:defRPr>
            </a:pPr>
            <a:r>
              <a:rPr sz="2550" b="1" i="0">
                <a:solidFill>
                  <a:srgbClr val="1F6F66"/>
                </a:solidFill>
                <a:latin typeface="Avenir Next"/>
                <a:ea typeface="Avenir Next"/>
                <a:cs typeface="Avenir Next"/>
              </a:rPr>
              <a:t>5 / 6</a:t>
            </a:r>
          </a:p>
        </p:txBody>
      </p:sp>
      <p:sp>
        <p:nvSpPr>
          <p:cNvPr id="13" name="bisim-metric-0-label">
            <a:extLst xmlns:a="http://schemas.openxmlformats.org/drawingml/2006/main">
              <a:ext uri="{FF2B5EF4-FFF2-40B4-BE49-F238E27FC236}">
                <a16:creationId xmlns:a16="http://schemas.microsoft.com/office/drawing/2014/main" id="{E07A4B03-EE4D-4D55-93A9-000ABDF23440}"/>
              </a:ext>
            </a:extLst>
          </p:cNvPr>
          <p:cNvSpPr>
            <a:spLocks xmlns:a="http://schemas.openxmlformats.org/drawingml/2006/main" noGrp="1"/>
          </p:cNvSpPr>
          <p:nvPr/>
        </p:nvSpPr>
        <p:spPr>
          <a:xfrm xmlns:a="http://schemas.openxmlformats.org/drawingml/2006/main">
            <a:off x="93345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proved / inconclusive</a:t>
            </a:r>
          </a:p>
        </p:txBody>
      </p:sp>
      <p:sp>
        <p:nvSpPr>
          <p:cNvPr id="14" name="bisim-metric-0-detail">
            <a:extLst xmlns:a="http://schemas.openxmlformats.org/drawingml/2006/main">
              <a:ext uri="{FF2B5EF4-FFF2-40B4-BE49-F238E27FC236}">
                <a16:creationId xmlns:a16="http://schemas.microsoft.com/office/drawing/2014/main" id="{5182B096-6E66-4A18-B69A-4152BF7FEE96}"/>
              </a:ext>
            </a:extLst>
          </p:cNvPr>
          <p:cNvSpPr>
            <a:spLocks xmlns:a="http://schemas.openxmlformats.org/drawingml/2006/main" noGrp="1"/>
          </p:cNvSpPr>
          <p:nvPr/>
        </p:nvSpPr>
        <p:spPr>
          <a:xfrm xmlns:a="http://schemas.openxmlformats.org/drawingml/2006/main">
            <a:off x="91440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B8C1D1"/>
                </a:solidFill>
                <a:latin typeface="Avenir Next"/>
                <a:ea typeface="Avenir Next"/>
                <a:cs typeface="Avenir Next"/>
              </a:defRPr>
            </a:defPPr>
          </a:lstStyle>
          <a:p xmlns:a="http://schemas.openxmlformats.org/drawingml/2006/main">
            <a:pPr algn="ctr">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11 authored finite fixtures</a:t>
            </a:r>
          </a:p>
        </p:txBody>
      </p:sp>
      <p:sp>
        <p:nvSpPr>
          <p:cNvPr id="15" name="bisim-metric-1-panel">
            <a:extLst xmlns:a="http://schemas.openxmlformats.org/drawingml/2006/main">
              <a:ext uri="{FF2B5EF4-FFF2-40B4-BE49-F238E27FC236}">
                <a16:creationId xmlns:a16="http://schemas.microsoft.com/office/drawing/2014/main" id="{066FE92E-AE30-4DCA-928B-B553862758A2}"/>
              </a:ext>
            </a:extLst>
          </p:cNvPr>
          <p:cNvSpPr>
            <a:spLocks xmlns:a="http://schemas.openxmlformats.org/drawingml/2006/main" noGrp="1"/>
          </p:cNvSpPr>
          <p:nvPr/>
        </p:nvSpPr>
        <p:spPr>
          <a:xfrm xmlns:a="http://schemas.openxmlformats.org/drawingml/2006/main">
            <a:off x="3543300" y="2647950"/>
            <a:ext cx="2343150" cy="2114550"/>
          </a:xfrm>
          <a:prstGeom xmlns:a="http://schemas.openxmlformats.org/drawingml/2006/main" prst="roundRect">
            <a:avLst>
              <a:gd name="adj" fmla="val 3604"/>
            </a:avLst>
          </a:prstGeom>
          <a:solidFill xmlns:a="http://schemas.openxmlformats.org/drawingml/2006/main">
            <a:srgbClr val="1C2638"/>
          </a:solidFill>
          <a:ln xmlns:a="http://schemas.openxmlformats.org/drawingml/2006/main" w="9525">
            <a:solidFill>
              <a:srgbClr val="343D50"/>
            </a:solidFill>
            <a:prstDash val="solid"/>
          </a:ln>
        </p:spPr>
      </p:sp>
      <p:sp>
        <p:nvSpPr>
          <p:cNvPr id="16" name="bisim-metric-1-stripe">
            <a:extLst xmlns:a="http://schemas.openxmlformats.org/drawingml/2006/main">
              <a:ext uri="{FF2B5EF4-FFF2-40B4-BE49-F238E27FC236}">
                <a16:creationId xmlns:a16="http://schemas.microsoft.com/office/drawing/2014/main" id="{7B5F2F81-FFEB-4BF3-B4FB-D6B3A2476647}"/>
              </a:ext>
            </a:extLst>
          </p:cNvPr>
          <p:cNvSpPr>
            <a:spLocks xmlns:a="http://schemas.openxmlformats.org/drawingml/2006/main" noGrp="1"/>
          </p:cNvSpPr>
          <p:nvPr/>
        </p:nvSpPr>
        <p:spPr>
          <a:xfrm xmlns:a="http://schemas.openxmlformats.org/drawingml/2006/main">
            <a:off x="3543300" y="2647950"/>
            <a:ext cx="2343150" cy="762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7" name="bisim-metric-1-value">
            <a:extLst xmlns:a="http://schemas.openxmlformats.org/drawingml/2006/main">
              <a:ext uri="{FF2B5EF4-FFF2-40B4-BE49-F238E27FC236}">
                <a16:creationId xmlns:a16="http://schemas.microsoft.com/office/drawing/2014/main" id="{1D2D97FB-4B8F-4C64-A3A2-27DEEE12081B}"/>
              </a:ext>
            </a:extLst>
          </p:cNvPr>
          <p:cNvSpPr>
            <a:spLocks xmlns:a="http://schemas.openxmlformats.org/drawingml/2006/main" noGrp="1"/>
          </p:cNvSpPr>
          <p:nvPr/>
        </p:nvSpPr>
        <p:spPr>
          <a:xfrm xmlns:a="http://schemas.openxmlformats.org/drawingml/2006/main">
            <a:off x="367665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FF8A5C"/>
                </a:solidFill>
                <a:latin typeface="Avenir Next"/>
                <a:ea typeface="Avenir Next"/>
                <a:cs typeface="Avenir Next"/>
              </a:defRPr>
            </a:defPPr>
          </a:lstStyle>
          <a:p xmlns:a="http://schemas.openxmlformats.org/drawingml/2006/main">
            <a:pPr algn="ctr">
              <a:defRPr sz="2550" b="1" i="0">
                <a:solidFill>
                  <a:srgbClr val="FF8A5C"/>
                </a:solidFill>
                <a:latin typeface="Avenir Next"/>
                <a:ea typeface="Avenir Next"/>
                <a:cs typeface="Avenir Next"/>
              </a:defRPr>
            </a:pPr>
            <a:r>
              <a:rPr sz="2550" b="1" i="0">
                <a:solidFill>
                  <a:srgbClr val="FF8A5C"/>
                </a:solidFill>
                <a:latin typeface="Avenir Next"/>
                <a:ea typeface="Avenir Next"/>
                <a:cs typeface="Avenir Next"/>
              </a:rPr>
              <a:t>11/11</a:t>
            </a:r>
          </a:p>
        </p:txBody>
      </p:sp>
      <p:sp>
        <p:nvSpPr>
          <p:cNvPr id="18" name="bisim-metric-1-label">
            <a:extLst xmlns:a="http://schemas.openxmlformats.org/drawingml/2006/main">
              <a:ext uri="{FF2B5EF4-FFF2-40B4-BE49-F238E27FC236}">
                <a16:creationId xmlns:a16="http://schemas.microsoft.com/office/drawing/2014/main" id="{E5D6950A-7A5C-48CB-9BF9-3B6B8395EFCB}"/>
              </a:ext>
            </a:extLst>
          </p:cNvPr>
          <p:cNvSpPr>
            <a:spLocks xmlns:a="http://schemas.openxmlformats.org/drawingml/2006/main" noGrp="1"/>
          </p:cNvSpPr>
          <p:nvPr/>
        </p:nvSpPr>
        <p:spPr>
          <a:xfrm xmlns:a="http://schemas.openxmlformats.org/drawingml/2006/main">
            <a:off x="369570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normal certificates replayed</a:t>
            </a:r>
          </a:p>
        </p:txBody>
      </p:sp>
      <p:sp>
        <p:nvSpPr>
          <p:cNvPr id="19" name="bisim-metric-1-detail">
            <a:extLst xmlns:a="http://schemas.openxmlformats.org/drawingml/2006/main">
              <a:ext uri="{FF2B5EF4-FFF2-40B4-BE49-F238E27FC236}">
                <a16:creationId xmlns:a16="http://schemas.microsoft.com/office/drawing/2014/main" id="{4E88A1FE-DD3D-450F-8680-154A8D46BCAB}"/>
              </a:ext>
            </a:extLst>
          </p:cNvPr>
          <p:cNvSpPr>
            <a:spLocks xmlns:a="http://schemas.openxmlformats.org/drawingml/2006/main" noGrp="1"/>
          </p:cNvSpPr>
          <p:nvPr/>
        </p:nvSpPr>
        <p:spPr>
          <a:xfrm xmlns:a="http://schemas.openxmlformats.org/drawingml/2006/main">
            <a:off x="367665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B8C1D1"/>
                </a:solidFill>
                <a:latin typeface="Avenir Next"/>
                <a:ea typeface="Avenir Next"/>
                <a:cs typeface="Avenir Next"/>
              </a:defRPr>
            </a:defPPr>
          </a:lstStyle>
          <a:p xmlns:a="http://schemas.openxmlformats.org/drawingml/2006/main">
            <a:pPr algn="ctr">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independent stable-partition check</a:t>
            </a:r>
          </a:p>
        </p:txBody>
      </p:sp>
      <p:sp>
        <p:nvSpPr>
          <p:cNvPr id="20" name="bisim-metric-2-panel">
            <a:extLst xmlns:a="http://schemas.openxmlformats.org/drawingml/2006/main">
              <a:ext uri="{FF2B5EF4-FFF2-40B4-BE49-F238E27FC236}">
                <a16:creationId xmlns:a16="http://schemas.microsoft.com/office/drawing/2014/main" id="{49AC98BC-ED88-4EBF-8209-4CC1C6044EAF}"/>
              </a:ext>
            </a:extLst>
          </p:cNvPr>
          <p:cNvSpPr>
            <a:spLocks xmlns:a="http://schemas.openxmlformats.org/drawingml/2006/main" noGrp="1"/>
          </p:cNvSpPr>
          <p:nvPr/>
        </p:nvSpPr>
        <p:spPr>
          <a:xfrm xmlns:a="http://schemas.openxmlformats.org/drawingml/2006/main">
            <a:off x="6305550" y="2647950"/>
            <a:ext cx="2343150" cy="2114550"/>
          </a:xfrm>
          <a:prstGeom xmlns:a="http://schemas.openxmlformats.org/drawingml/2006/main" prst="roundRect">
            <a:avLst>
              <a:gd name="adj" fmla="val 3604"/>
            </a:avLst>
          </a:prstGeom>
          <a:solidFill xmlns:a="http://schemas.openxmlformats.org/drawingml/2006/main">
            <a:srgbClr val="1C2638"/>
          </a:solidFill>
          <a:ln xmlns:a="http://schemas.openxmlformats.org/drawingml/2006/main" w="9525">
            <a:solidFill>
              <a:srgbClr val="343D50"/>
            </a:solidFill>
            <a:prstDash val="solid"/>
          </a:ln>
        </p:spPr>
      </p:sp>
      <p:sp>
        <p:nvSpPr>
          <p:cNvPr id="21" name="bisim-metric-2-stripe">
            <a:extLst xmlns:a="http://schemas.openxmlformats.org/drawingml/2006/main">
              <a:ext uri="{FF2B5EF4-FFF2-40B4-BE49-F238E27FC236}">
                <a16:creationId xmlns:a16="http://schemas.microsoft.com/office/drawing/2014/main" id="{14816C6D-9C2C-4440-9D9C-086C072062F5}"/>
              </a:ext>
            </a:extLst>
          </p:cNvPr>
          <p:cNvSpPr>
            <a:spLocks xmlns:a="http://schemas.openxmlformats.org/drawingml/2006/main" noGrp="1"/>
          </p:cNvSpPr>
          <p:nvPr/>
        </p:nvSpPr>
        <p:spPr>
          <a:xfrm xmlns:a="http://schemas.openxmlformats.org/drawingml/2006/main">
            <a:off x="6305550" y="2647950"/>
            <a:ext cx="2343150" cy="762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2" name="bisim-metric-2-value">
            <a:extLst xmlns:a="http://schemas.openxmlformats.org/drawingml/2006/main">
              <a:ext uri="{FF2B5EF4-FFF2-40B4-BE49-F238E27FC236}">
                <a16:creationId xmlns:a16="http://schemas.microsoft.com/office/drawing/2014/main" id="{C6C33BA8-A03F-434E-97BA-05A8D3645366}"/>
              </a:ext>
            </a:extLst>
          </p:cNvPr>
          <p:cNvSpPr>
            <a:spLocks xmlns:a="http://schemas.openxmlformats.org/drawingml/2006/main" noGrp="1"/>
          </p:cNvSpPr>
          <p:nvPr/>
        </p:nvSpPr>
        <p:spPr>
          <a:xfrm xmlns:a="http://schemas.openxmlformats.org/drawingml/2006/main">
            <a:off x="643890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5CC8B8"/>
                </a:solidFill>
                <a:latin typeface="Avenir Next"/>
                <a:ea typeface="Avenir Next"/>
                <a:cs typeface="Avenir Next"/>
              </a:defRPr>
            </a:defPPr>
          </a:lstStyle>
          <a:p xmlns:a="http://schemas.openxmlformats.org/drawingml/2006/main">
            <a:pPr algn="ctr">
              <a:defRPr sz="2550" b="1" i="0">
                <a:solidFill>
                  <a:srgbClr val="5CC8B8"/>
                </a:solidFill>
                <a:latin typeface="Avenir Next"/>
                <a:ea typeface="Avenir Next"/>
                <a:cs typeface="Avenir Next"/>
              </a:defRPr>
            </a:pPr>
            <a:r>
              <a:rPr sz="2550" b="1" i="0">
                <a:solidFill>
                  <a:srgbClr val="5CC8B8"/>
                </a:solidFill>
                <a:latin typeface="Avenir Next"/>
                <a:ea typeface="Avenir Next"/>
                <a:cs typeface="Avenir Next"/>
              </a:rPr>
              <a:t>60</a:t>
            </a:r>
          </a:p>
        </p:txBody>
      </p:sp>
      <p:sp>
        <p:nvSpPr>
          <p:cNvPr id="23" name="bisim-metric-2-label">
            <a:extLst xmlns:a="http://schemas.openxmlformats.org/drawingml/2006/main">
              <a:ext uri="{FF2B5EF4-FFF2-40B4-BE49-F238E27FC236}">
                <a16:creationId xmlns:a16="http://schemas.microsoft.com/office/drawing/2014/main" id="{207D97B2-BF10-4712-910D-15599A6D6300}"/>
              </a:ext>
            </a:extLst>
          </p:cNvPr>
          <p:cNvSpPr>
            <a:spLocks xmlns:a="http://schemas.openxmlformats.org/drawingml/2006/main" noGrp="1"/>
          </p:cNvSpPr>
          <p:nvPr/>
        </p:nvSpPr>
        <p:spPr>
          <a:xfrm xmlns:a="http://schemas.openxmlformats.org/drawingml/2006/main">
            <a:off x="645795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exact DP cross-checks</a:t>
            </a:r>
          </a:p>
        </p:txBody>
      </p:sp>
      <p:sp>
        <p:nvSpPr>
          <p:cNvPr id="24" name="bisim-metric-2-detail">
            <a:extLst xmlns:a="http://schemas.openxmlformats.org/drawingml/2006/main">
              <a:ext uri="{FF2B5EF4-FFF2-40B4-BE49-F238E27FC236}">
                <a16:creationId xmlns:a16="http://schemas.microsoft.com/office/drawing/2014/main" id="{62888E35-26B8-427B-8C04-A72BB3B6F5F6}"/>
              </a:ext>
            </a:extLst>
          </p:cNvPr>
          <p:cNvSpPr>
            <a:spLocks xmlns:a="http://schemas.openxmlformats.org/drawingml/2006/main" noGrp="1"/>
          </p:cNvSpPr>
          <p:nvPr/>
        </p:nvSpPr>
        <p:spPr>
          <a:xfrm xmlns:a="http://schemas.openxmlformats.org/drawingml/2006/main">
            <a:off x="643890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B8C1D1"/>
                </a:solidFill>
                <a:latin typeface="Avenir Next"/>
                <a:ea typeface="Avenir Next"/>
                <a:cs typeface="Avenir Next"/>
              </a:defRPr>
            </a:defPPr>
          </a:lstStyle>
          <a:p xmlns:a="http://schemas.openxmlformats.org/drawingml/2006/main">
            <a:pPr algn="ctr">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H=1, 2, 4, 8, 16, 32 · two observers</a:t>
            </a:r>
          </a:p>
        </p:txBody>
      </p:sp>
      <p:sp>
        <p:nvSpPr>
          <p:cNvPr id="25" name="bisim-metric-3-panel">
            <a:extLst xmlns:a="http://schemas.openxmlformats.org/drawingml/2006/main">
              <a:ext uri="{FF2B5EF4-FFF2-40B4-BE49-F238E27FC236}">
                <a16:creationId xmlns:a16="http://schemas.microsoft.com/office/drawing/2014/main" id="{CC37995D-8AEF-40A7-B30D-F2241FCE7CCA}"/>
              </a:ext>
            </a:extLst>
          </p:cNvPr>
          <p:cNvSpPr>
            <a:spLocks xmlns:a="http://schemas.openxmlformats.org/drawingml/2006/main" noGrp="1"/>
          </p:cNvSpPr>
          <p:nvPr/>
        </p:nvSpPr>
        <p:spPr>
          <a:xfrm xmlns:a="http://schemas.openxmlformats.org/drawingml/2006/main">
            <a:off x="9067800" y="2647950"/>
            <a:ext cx="2343150" cy="2114550"/>
          </a:xfrm>
          <a:prstGeom xmlns:a="http://schemas.openxmlformats.org/drawingml/2006/main" prst="roundRect">
            <a:avLst>
              <a:gd name="adj" fmla="val 3604"/>
            </a:avLst>
          </a:prstGeom>
          <a:solidFill xmlns:a="http://schemas.openxmlformats.org/drawingml/2006/main">
            <a:srgbClr val="1C2638"/>
          </a:solidFill>
          <a:ln xmlns:a="http://schemas.openxmlformats.org/drawingml/2006/main" w="9525">
            <a:solidFill>
              <a:srgbClr val="343D50"/>
            </a:solidFill>
            <a:prstDash val="solid"/>
          </a:ln>
        </p:spPr>
      </p:sp>
      <p:sp>
        <p:nvSpPr>
          <p:cNvPr id="26" name="bisim-metric-3-stripe">
            <a:extLst xmlns:a="http://schemas.openxmlformats.org/drawingml/2006/main">
              <a:ext uri="{FF2B5EF4-FFF2-40B4-BE49-F238E27FC236}">
                <a16:creationId xmlns:a16="http://schemas.microsoft.com/office/drawing/2014/main" id="{15FF7446-191E-4D29-9B79-B152BE23CC8C}"/>
              </a:ext>
            </a:extLst>
          </p:cNvPr>
          <p:cNvSpPr>
            <a:spLocks xmlns:a="http://schemas.openxmlformats.org/drawingml/2006/main" noGrp="1"/>
          </p:cNvSpPr>
          <p:nvPr/>
        </p:nvSpPr>
        <p:spPr>
          <a:xfrm xmlns:a="http://schemas.openxmlformats.org/drawingml/2006/main">
            <a:off x="9067800" y="2647950"/>
            <a:ext cx="2343150" cy="76200"/>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7" name="bisim-metric-3-value">
            <a:extLst xmlns:a="http://schemas.openxmlformats.org/drawingml/2006/main">
              <a:ext uri="{FF2B5EF4-FFF2-40B4-BE49-F238E27FC236}">
                <a16:creationId xmlns:a16="http://schemas.microsoft.com/office/drawing/2014/main" id="{0E9FBE2E-7A76-4A32-BABB-333964F37651}"/>
              </a:ext>
            </a:extLst>
          </p:cNvPr>
          <p:cNvSpPr>
            <a:spLocks xmlns:a="http://schemas.openxmlformats.org/drawingml/2006/main" noGrp="1"/>
          </p:cNvSpPr>
          <p:nvPr/>
        </p:nvSpPr>
        <p:spPr>
          <a:xfrm xmlns:a="http://schemas.openxmlformats.org/drawingml/2006/main">
            <a:off x="9201150" y="2971800"/>
            <a:ext cx="2076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550" b="1" i="0">
                <a:solidFill>
                  <a:srgbClr val="C2461F"/>
                </a:solidFill>
                <a:latin typeface="Avenir Next"/>
                <a:ea typeface="Avenir Next"/>
                <a:cs typeface="Avenir Next"/>
              </a:defRPr>
            </a:defPPr>
          </a:lstStyle>
          <a:p xmlns:a="http://schemas.openxmlformats.org/drawingml/2006/main">
            <a:pPr algn="ctr">
              <a:defRPr sz="2550" b="1" i="0">
                <a:solidFill>
                  <a:srgbClr val="C2461F"/>
                </a:solidFill>
                <a:latin typeface="Avenir Next"/>
                <a:ea typeface="Avenir Next"/>
                <a:cs typeface="Avenir Next"/>
              </a:defRPr>
            </a:pPr>
            <a:r>
              <a:rPr sz="2550" b="1" i="0">
                <a:solidFill>
                  <a:srgbClr val="C2461F"/>
                </a:solidFill>
                <a:latin typeface="Avenir Next"/>
                <a:ea typeface="Avenir Next"/>
                <a:cs typeface="Avenir Next"/>
              </a:rPr>
              <a:t>120</a:t>
            </a:r>
          </a:p>
        </p:txBody>
      </p:sp>
      <p:sp>
        <p:nvSpPr>
          <p:cNvPr id="28" name="bisim-metric-3-label">
            <a:extLst xmlns:a="http://schemas.openxmlformats.org/drawingml/2006/main">
              <a:ext uri="{FF2B5EF4-FFF2-40B4-BE49-F238E27FC236}">
                <a16:creationId xmlns:a16="http://schemas.microsoft.com/office/drawing/2014/main" id="{734AD879-DFE5-4D1C-9406-AE18065AD3F2}"/>
              </a:ext>
            </a:extLst>
          </p:cNvPr>
          <p:cNvSpPr>
            <a:spLocks xmlns:a="http://schemas.openxmlformats.org/drawingml/2006/main" noGrp="1"/>
          </p:cNvSpPr>
          <p:nvPr/>
        </p:nvSpPr>
        <p:spPr>
          <a:xfrm xmlns:a="http://schemas.openxmlformats.org/drawingml/2006/main">
            <a:off x="9220200" y="3609975"/>
            <a:ext cx="20383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i="0">
                <a:solidFill>
                  <a:srgbClr val="F5F2EA"/>
                </a:solidFill>
                <a:latin typeface="Avenir Next"/>
                <a:ea typeface="Avenir Next"/>
                <a:cs typeface="Avenir Next"/>
              </a:defRPr>
            </a:defPPr>
          </a:lstStyle>
          <a:p xmlns:a="http://schemas.openxmlformats.org/drawingml/2006/main">
            <a:pPr algn="ctr">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scenario histograms</a:t>
            </a:r>
          </a:p>
        </p:txBody>
      </p:sp>
      <p:sp>
        <p:nvSpPr>
          <p:cNvPr id="29" name="bisim-metric-3-detail">
            <a:extLst xmlns:a="http://schemas.openxmlformats.org/drawingml/2006/main">
              <a:ext uri="{FF2B5EF4-FFF2-40B4-BE49-F238E27FC236}">
                <a16:creationId xmlns:a16="http://schemas.microsoft.com/office/drawing/2014/main" id="{574798FA-01F4-435A-A449-32E9198AF8AE}"/>
              </a:ext>
            </a:extLst>
          </p:cNvPr>
          <p:cNvSpPr>
            <a:spLocks xmlns:a="http://schemas.openxmlformats.org/drawingml/2006/main" noGrp="1"/>
          </p:cNvSpPr>
          <p:nvPr/>
        </p:nvSpPr>
        <p:spPr>
          <a:xfrm xmlns:a="http://schemas.openxmlformats.org/drawingml/2006/main">
            <a:off x="9201150" y="41814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50" b="0" i="0">
                <a:solidFill>
                  <a:srgbClr val="B8C1D1"/>
                </a:solidFill>
                <a:latin typeface="Avenir Next"/>
                <a:ea typeface="Avenir Next"/>
                <a:cs typeface="Avenir Next"/>
              </a:defRPr>
            </a:defPPr>
          </a:lstStyle>
          <a:p xmlns:a="http://schemas.openxmlformats.org/drawingml/2006/main">
            <a:pPr algn="ctr">
              <a:defRPr sz="1050" b="0" i="0">
                <a:solidFill>
                  <a:srgbClr val="B8C1D1"/>
                </a:solidFill>
                <a:latin typeface="Avenir Next"/>
                <a:ea typeface="Avenir Next"/>
                <a:cs typeface="Avenir Next"/>
              </a:defRPr>
            </a:pPr>
            <a:r>
              <a:rPr sz="1050" b="0" i="0">
                <a:solidFill>
                  <a:srgbClr val="B8C1D1"/>
                </a:solidFill>
                <a:latin typeface="Avenir Next"/>
                <a:ea typeface="Avenir Next"/>
                <a:cs typeface="Avenir Next"/>
              </a:rPr>
              <a:t>all unit mass · all comparisons matched</a:t>
            </a:r>
          </a:p>
        </p:txBody>
      </p:sp>
      <p:sp>
        <p:nvSpPr>
          <p:cNvPr id="30" name="bisim-metric-scope">
            <a:extLst xmlns:a="http://schemas.openxmlformats.org/drawingml/2006/main">
              <a:ext uri="{FF2B5EF4-FFF2-40B4-BE49-F238E27FC236}">
                <a16:creationId xmlns:a16="http://schemas.microsoft.com/office/drawing/2014/main" id="{BB2D8607-5996-4602-8F20-99A67CCB971D}"/>
              </a:ext>
            </a:extLst>
          </p:cNvPr>
          <p:cNvSpPr>
            <a:spLocks xmlns:a="http://schemas.openxmlformats.org/drawingml/2006/main" noGrp="1"/>
          </p:cNvSpPr>
          <p:nvPr/>
        </p:nvSpPr>
        <p:spPr>
          <a:xfrm xmlns:a="http://schemas.openxmlformats.org/drawingml/2006/main">
            <a:off x="876300" y="5076825"/>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125" b="1" i="0">
                <a:solidFill>
                  <a:srgbClr val="B8C1D1"/>
                </a:solidFill>
                <a:latin typeface="Avenir Next"/>
                <a:ea typeface="Avenir Next"/>
                <a:cs typeface="Avenir Next"/>
              </a:defRPr>
            </a:defPPr>
          </a:lstStyle>
          <a:p xmlns:a="http://schemas.openxmlformats.org/drawingml/2006/main">
            <a:pPr algn="ctr">
              <a:defRPr sz="1125" b="1" i="0">
                <a:solidFill>
                  <a:srgbClr val="B8C1D1"/>
                </a:solidFill>
                <a:latin typeface="Avenir Next"/>
                <a:ea typeface="Avenir Next"/>
                <a:cs typeface="Avenir Next"/>
              </a:defRPr>
            </a:pPr>
            <a:r>
              <a:rPr sz="1125" b="1" i="0">
                <a:solidFill>
                  <a:srgbClr val="B8C1D1"/>
                </a:solidFill>
                <a:latin typeface="Avenir Next"/>
                <a:ea typeface="Avenir Next"/>
                <a:cs typeface="Avenir Next"/>
              </a:rPr>
              <a:t>17 producer tests · 12 replayer tests · 11/11 fresh cap probes UNKNOWN · split blocks are inconclusive.</a:t>
            </a:r>
          </a:p>
        </p:txBody>
      </p:sp>
    </p:spTree>
    <p:extLst>
      <p:ext uri="{BB962C8B-B14F-4D97-AF65-F5344CB8AC3E}">
        <p14:creationId xmlns:p14="http://schemas.microsoft.com/office/powerpoint/2010/main" val="1992775245"/>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7" name="s21-brand">
            <a:extLst xmlns:a="http://schemas.openxmlformats.org/drawingml/2006/main">
              <a:ext uri="{FF2B5EF4-FFF2-40B4-BE49-F238E27FC236}">
                <a16:creationId xmlns:a16="http://schemas.microsoft.com/office/drawing/2014/main" id="{9367CA4A-4898-4320-B1A0-E611E7674236}"/>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1-section">
            <a:extLst xmlns:a="http://schemas.openxmlformats.org/drawingml/2006/main">
              <a:ext uri="{FF2B5EF4-FFF2-40B4-BE49-F238E27FC236}">
                <a16:creationId xmlns:a16="http://schemas.microsoft.com/office/drawing/2014/main" id="{580CA2B2-9438-4D68-89E2-8B47FB44A0F4}"/>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EXACT TRACE EQUIVALENCE</a:t>
            </a:r>
          </a:p>
        </p:txBody>
      </p:sp>
      <p:sp>
        <p:nvSpPr>
          <p:cNvPr id="3" name="s21-title">
            <a:extLst xmlns:a="http://schemas.openxmlformats.org/drawingml/2006/main">
              <a:ext uri="{FF2B5EF4-FFF2-40B4-BE49-F238E27FC236}">
                <a16:creationId xmlns:a16="http://schemas.microsoft.com/office/drawing/2014/main" id="{CF9BD70F-4545-4D50-89C2-F42449AC6F1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Exact trace equivalence resolves a split</a:t>
            </a:r>
          </a:p>
        </p:txBody>
      </p:sp>
      <p:sp>
        <p:nvSpPr>
          <p:cNvPr id="4" name="s21-subtitle">
            <a:extLst xmlns:a="http://schemas.openxmlformats.org/drawingml/2006/main">
              <a:ext uri="{FF2B5EF4-FFF2-40B4-BE49-F238E27FC236}">
                <a16:creationId xmlns:a16="http://schemas.microsoft.com/office/drawing/2014/main" id="{8314EC5A-5FE7-4BB1-A8D7-BF05041E7B82}"/>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One fixture has ordered TV 0 at H=2; exact span closure proves all finite horizons.</a:t>
            </a:r>
          </a:p>
        </p:txBody>
      </p:sp>
      <p:sp>
        <p:nvSpPr>
          <p:cNvPr id="5" name="s21-source-rule">
            <a:extLst xmlns:a="http://schemas.openxmlformats.org/drawingml/2006/main">
              <a:ext uri="{FF2B5EF4-FFF2-40B4-BE49-F238E27FC236}">
                <a16:creationId xmlns:a16="http://schemas.microsoft.com/office/drawing/2014/main" id="{C9D1ADA9-2922-4633-B0C8-F19F72C352F4}"/>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21-sources">
            <a:extLst xmlns:a="http://schemas.openxmlformats.org/drawingml/2006/main">
              <a:ext uri="{FF2B5EF4-FFF2-40B4-BE49-F238E27FC236}">
                <a16:creationId xmlns:a16="http://schemas.microsoft.com/office/drawing/2014/main" id="{0D1F59FC-7476-4E86-BCCB-992590E8C12C}"/>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audit/trace_equivalence.py · audit/replay_trace_equivalence.py · Tzeng 1992</a:t>
            </a:r>
          </a:p>
        </p:txBody>
      </p:sp>
      <p:sp>
        <p:nvSpPr>
          <p:cNvPr id="7" name="s21-footer-rule">
            <a:extLst xmlns:a="http://schemas.openxmlformats.org/drawingml/2006/main">
              <a:ext uri="{FF2B5EF4-FFF2-40B4-BE49-F238E27FC236}">
                <a16:creationId xmlns:a16="http://schemas.microsoft.com/office/drawing/2014/main" id="{435033DD-8E86-4DC7-99DD-F51A2A3F8CBD}"/>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21-footer">
            <a:extLst xmlns:a="http://schemas.openxmlformats.org/drawingml/2006/main">
              <a:ext uri="{FF2B5EF4-FFF2-40B4-BE49-F238E27FC236}">
                <a16:creationId xmlns:a16="http://schemas.microsoft.com/office/drawing/2014/main" id="{7BDE5CAE-BA64-4752-AADF-E3D378282FF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21-page">
            <a:extLst xmlns:a="http://schemas.openxmlformats.org/drawingml/2006/main">
              <a:ext uri="{FF2B5EF4-FFF2-40B4-BE49-F238E27FC236}">
                <a16:creationId xmlns:a16="http://schemas.microsoft.com/office/drawing/2014/main" id="{F6AB0401-8E27-47D8-A50C-0B4A8866068F}"/>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21</a:t>
            </a:r>
          </a:p>
        </p:txBody>
      </p:sp>
      <p:sp>
        <p:nvSpPr>
          <p:cNvPr id="10" name="trace-eq-left-panel">
            <a:extLst xmlns:a="http://schemas.openxmlformats.org/drawingml/2006/main">
              <a:ext uri="{FF2B5EF4-FFF2-40B4-BE49-F238E27FC236}">
                <a16:creationId xmlns:a16="http://schemas.microsoft.com/office/drawing/2014/main" id="{3F3BDC18-D26D-415F-AD18-728B68C5B633}"/>
              </a:ext>
            </a:extLst>
          </p:cNvPr>
          <p:cNvSpPr>
            <a:spLocks xmlns:a="http://schemas.openxmlformats.org/drawingml/2006/main" noGrp="1"/>
          </p:cNvSpPr>
          <p:nvPr/>
        </p:nvSpPr>
        <p:spPr>
          <a:xfrm xmlns:a="http://schemas.openxmlformats.org/drawingml/2006/main">
            <a:off x="781050" y="2381250"/>
            <a:ext cx="5095875"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9525">
            <a:solidFill>
              <a:srgbClr val="D7D0C4"/>
            </a:solidFill>
            <a:prstDash val="solid"/>
          </a:ln>
        </p:spPr>
      </p:sp>
      <p:sp>
        <p:nvSpPr>
          <p:cNvPr id="11" name="trace-eq-left-accent">
            <a:extLst xmlns:a="http://schemas.openxmlformats.org/drawingml/2006/main">
              <a:ext uri="{FF2B5EF4-FFF2-40B4-BE49-F238E27FC236}">
                <a16:creationId xmlns:a16="http://schemas.microsoft.com/office/drawing/2014/main" id="{C779D4D6-0743-4DA0-9D9D-436F50F7310B}"/>
              </a:ext>
            </a:extLst>
          </p:cNvPr>
          <p:cNvSpPr>
            <a:spLocks xmlns:a="http://schemas.openxmlformats.org/drawingml/2006/main" noGrp="1"/>
          </p:cNvSpPr>
          <p:nvPr/>
        </p:nvSpPr>
        <p:spPr>
          <a:xfrm xmlns:a="http://schemas.openxmlformats.org/drawingml/2006/main">
            <a:off x="781050" y="2381250"/>
            <a:ext cx="57150" cy="125730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2" name="trace-eq-left-title">
            <a:extLst xmlns:a="http://schemas.openxmlformats.org/drawingml/2006/main">
              <a:ext uri="{FF2B5EF4-FFF2-40B4-BE49-F238E27FC236}">
                <a16:creationId xmlns:a16="http://schemas.microsoft.com/office/drawing/2014/main" id="{02AF53E3-C570-4016-8E7D-1F14974FE23B}"/>
              </a:ext>
            </a:extLst>
          </p:cNvPr>
          <p:cNvSpPr>
            <a:spLocks xmlns:a="http://schemas.openxmlformats.org/drawingml/2006/main" noGrp="1"/>
          </p:cNvSpPr>
          <p:nvPr/>
        </p:nvSpPr>
        <p:spPr>
          <a:xfrm xmlns:a="http://schemas.openxmlformats.org/drawingml/2006/main">
            <a:off x="990600" y="2552700"/>
            <a:ext cx="46767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SECRET BRANCH A · RESPONSE-DEPENDENT</a:t>
            </a:r>
          </a:p>
        </p:txBody>
      </p:sp>
      <p:sp>
        <p:nvSpPr>
          <p:cNvPr id="13" name="trace-eq-left-body">
            <a:extLst xmlns:a="http://schemas.openxmlformats.org/drawingml/2006/main">
              <a:ext uri="{FF2B5EF4-FFF2-40B4-BE49-F238E27FC236}">
                <a16:creationId xmlns:a16="http://schemas.microsoft.com/office/drawing/2014/main" id="{000EFC04-6245-4E96-B269-BF023659589C}"/>
              </a:ext>
            </a:extLst>
          </p:cNvPr>
          <p:cNvSpPr>
            <a:spLocks xmlns:a="http://schemas.openxmlformats.org/drawingml/2006/main" noGrp="1"/>
          </p:cNvSpPr>
          <p:nvPr/>
        </p:nvSpPr>
        <p:spPr>
          <a:xfrm xmlns:a="http://schemas.openxmlformats.org/drawingml/2006/main">
            <a:off x="990600" y="2943225"/>
            <a:ext cx="46767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FIRST returns output count 1. Red or blue (½ each) becomes the NEXT request.</a:t>
            </a:r>
          </a:p>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Red yields 1; blue yields 3 output tokens.</a:t>
            </a:r>
          </a:p>
        </p:txBody>
      </p:sp>
      <p:sp>
        <p:nvSpPr>
          <p:cNvPr id="14" name="trace-eq-right-panel">
            <a:extLst xmlns:a="http://schemas.openxmlformats.org/drawingml/2006/main">
              <a:ext uri="{FF2B5EF4-FFF2-40B4-BE49-F238E27FC236}">
                <a16:creationId xmlns:a16="http://schemas.microsoft.com/office/drawing/2014/main" id="{E9BB9468-7755-4882-8FF3-E7F9CCA7A4D5}"/>
              </a:ext>
            </a:extLst>
          </p:cNvPr>
          <p:cNvSpPr>
            <a:spLocks xmlns:a="http://schemas.openxmlformats.org/drawingml/2006/main" noGrp="1"/>
          </p:cNvSpPr>
          <p:nvPr/>
        </p:nvSpPr>
        <p:spPr>
          <a:xfrm xmlns:a="http://schemas.openxmlformats.org/drawingml/2006/main">
            <a:off x="6315075" y="2381250"/>
            <a:ext cx="5095875" cy="1257300"/>
          </a:xfrm>
          <a:prstGeom xmlns:a="http://schemas.openxmlformats.org/drawingml/2006/main" prst="roundRect">
            <a:avLst>
              <a:gd name="adj" fmla="val 6061"/>
            </a:avLst>
          </a:prstGeom>
          <a:solidFill xmlns:a="http://schemas.openxmlformats.org/drawingml/2006/main">
            <a:srgbClr val="FFFDF8"/>
          </a:solidFill>
          <a:ln xmlns:a="http://schemas.openxmlformats.org/drawingml/2006/main" w="9525">
            <a:solidFill>
              <a:srgbClr val="D7D0C4"/>
            </a:solidFill>
            <a:prstDash val="solid"/>
          </a:ln>
        </p:spPr>
      </p:sp>
      <p:sp>
        <p:nvSpPr>
          <p:cNvPr id="15" name="trace-eq-right-accent">
            <a:extLst xmlns:a="http://schemas.openxmlformats.org/drawingml/2006/main">
              <a:ext uri="{FF2B5EF4-FFF2-40B4-BE49-F238E27FC236}">
                <a16:creationId xmlns:a16="http://schemas.microsoft.com/office/drawing/2014/main" id="{E062837B-A9DB-447F-8E03-9588E744CADE}"/>
              </a:ext>
            </a:extLst>
          </p:cNvPr>
          <p:cNvSpPr>
            <a:spLocks xmlns:a="http://schemas.openxmlformats.org/drawingml/2006/main" noGrp="1"/>
          </p:cNvSpPr>
          <p:nvPr/>
        </p:nvSpPr>
        <p:spPr>
          <a:xfrm xmlns:a="http://schemas.openxmlformats.org/drawingml/2006/main">
            <a:off x="6315075" y="2381250"/>
            <a:ext cx="57150" cy="125730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6" name="trace-eq-right-title">
            <a:extLst xmlns:a="http://schemas.openxmlformats.org/drawingml/2006/main">
              <a:ext uri="{FF2B5EF4-FFF2-40B4-BE49-F238E27FC236}">
                <a16:creationId xmlns:a16="http://schemas.microsoft.com/office/drawing/2014/main" id="{8568E05F-CD5E-430F-9EA6-487DDE5190B0}"/>
              </a:ext>
            </a:extLst>
          </p:cNvPr>
          <p:cNvSpPr>
            <a:spLocks xmlns:a="http://schemas.openxmlformats.org/drawingml/2006/main" noGrp="1"/>
          </p:cNvSpPr>
          <p:nvPr/>
        </p:nvSpPr>
        <p:spPr>
          <a:xfrm xmlns:a="http://schemas.openxmlformats.org/drawingml/2006/main">
            <a:off x="6524625" y="2552700"/>
            <a:ext cx="46767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141B2B"/>
                </a:solidFill>
                <a:latin typeface="Avenir Next"/>
                <a:ea typeface="Avenir Next"/>
                <a:cs typeface="Avenir Next"/>
              </a:defRPr>
            </a:defPPr>
          </a:lstStyle>
          <a:p xmlns:a="http://schemas.openxmlformats.org/drawingml/2006/main">
            <a:pPr algn="l">
              <a:defRPr sz="1238" b="1" i="0">
                <a:solidFill>
                  <a:srgbClr val="141B2B"/>
                </a:solidFill>
                <a:latin typeface="Avenir Next"/>
                <a:ea typeface="Avenir Next"/>
                <a:cs typeface="Avenir Next"/>
              </a:defRPr>
            </a:pPr>
            <a:r>
              <a:rPr sz="1238" b="1" i="0">
                <a:solidFill>
                  <a:srgbClr val="141B2B"/>
                </a:solidFill>
                <a:latin typeface="Avenir Next"/>
                <a:ea typeface="Avenir Next"/>
                <a:cs typeface="Avenir Next"/>
              </a:rPr>
              <a:t>SECRET BRANCH B · LITERAL REQUEST</a:t>
            </a:r>
          </a:p>
        </p:txBody>
      </p:sp>
      <p:sp>
        <p:nvSpPr>
          <p:cNvPr id="17" name="trace-eq-right-body">
            <a:extLst xmlns:a="http://schemas.openxmlformats.org/drawingml/2006/main">
              <a:ext uri="{FF2B5EF4-FFF2-40B4-BE49-F238E27FC236}">
                <a16:creationId xmlns:a16="http://schemas.microsoft.com/office/drawing/2014/main" id="{26E891E1-18B5-42D8-ABCB-2A9D16B6925E}"/>
              </a:ext>
            </a:extLst>
          </p:cNvPr>
          <p:cNvSpPr>
            <a:spLocks xmlns:a="http://schemas.openxmlformats.org/drawingml/2006/main" noGrp="1"/>
          </p:cNvSpPr>
          <p:nvPr/>
        </p:nvSpPr>
        <p:spPr>
          <a:xfrm xmlns:a="http://schemas.openxmlformats.org/drawingml/2006/main">
            <a:off x="6524625" y="2943225"/>
            <a:ext cx="467677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FIRST also returns output count 1. NEXT("pink") returns 1 or 3 output tokens, each with probability ½.</a:t>
            </a:r>
          </a:p>
        </p:txBody>
      </p:sp>
      <p:sp>
        <p:nvSpPr>
          <p:cNvPr id="18" name="trace-eq-bisim-label">
            <a:extLst xmlns:a="http://schemas.openxmlformats.org/drawingml/2006/main">
              <a:ext uri="{FF2B5EF4-FFF2-40B4-BE49-F238E27FC236}">
                <a16:creationId xmlns:a16="http://schemas.microsoft.com/office/drawing/2014/main" id="{6A5E2D91-6624-4310-9C76-9407BAB4DD34}"/>
              </a:ext>
            </a:extLst>
          </p:cNvPr>
          <p:cNvSpPr>
            <a:spLocks xmlns:a="http://schemas.openxmlformats.org/drawingml/2006/main" noGrp="1"/>
          </p:cNvSpPr>
          <p:nvPr/>
        </p:nvSpPr>
        <p:spPr>
          <a:xfrm xmlns:a="http://schemas.openxmlformats.org/drawingml/2006/main">
            <a:off x="876300" y="3819525"/>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C2461F"/>
                </a:solidFill>
                <a:latin typeface="Avenir Next"/>
                <a:ea typeface="Avenir Next"/>
                <a:cs typeface="Avenir Next"/>
              </a:defRPr>
            </a:defPPr>
          </a:lstStyle>
          <a:p xmlns:a="http://schemas.openxmlformats.org/drawingml/2006/main">
            <a:pPr algn="l">
              <a:defRPr sz="1050" b="1" i="0">
                <a:solidFill>
                  <a:srgbClr val="C2461F"/>
                </a:solidFill>
                <a:latin typeface="Avenir Next"/>
                <a:ea typeface="Avenir Next"/>
                <a:cs typeface="Avenir Next"/>
              </a:defRPr>
            </a:pPr>
            <a:r>
              <a:rPr sz="1050" b="1" i="0">
                <a:solidFill>
                  <a:srgbClr val="C2461F"/>
                </a:solidFill>
                <a:latin typeface="Avenir Next"/>
                <a:ea typeface="Avenir Next"/>
                <a:cs typeface="Avenir Next"/>
              </a:rPr>
              <a:t>STRONG BISIMULATION · INCONCLUSIVE</a:t>
            </a:r>
          </a:p>
        </p:txBody>
      </p:sp>
      <p:sp>
        <p:nvSpPr>
          <p:cNvPr id="19" name="trace-eq-bisim-result">
            <a:extLst xmlns:a="http://schemas.openxmlformats.org/drawingml/2006/main">
              <a:ext uri="{FF2B5EF4-FFF2-40B4-BE49-F238E27FC236}">
                <a16:creationId xmlns:a16="http://schemas.microsoft.com/office/drawing/2014/main" id="{64C043D5-7643-4455-8064-37A0A6B329E0}"/>
              </a:ext>
            </a:extLst>
          </p:cNvPr>
          <p:cNvSpPr>
            <a:spLocks xmlns:a="http://schemas.openxmlformats.org/drawingml/2006/main" noGrp="1"/>
          </p:cNvSpPr>
          <p:nvPr/>
        </p:nvSpPr>
        <p:spPr>
          <a:xfrm xmlns:a="http://schemas.openxmlformats.org/drawingml/2006/main">
            <a:off x="876300" y="4086225"/>
            <a:ext cx="3905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41B2B"/>
                </a:solidFill>
                <a:latin typeface="Avenir Next"/>
                <a:ea typeface="Avenir Next"/>
                <a:cs typeface="Avenir Next"/>
              </a:defRPr>
            </a:defPPr>
          </a:lstStyle>
          <a:p xmlns:a="http://schemas.openxmlformats.org/drawingml/2006/main">
            <a:pPr algn="l">
              <a:defRPr sz="1425" b="1" i="0">
                <a:solidFill>
                  <a:srgbClr val="141B2B"/>
                </a:solidFill>
                <a:latin typeface="Avenir Next"/>
                <a:ea typeface="Avenir Next"/>
                <a:cs typeface="Avenir Next"/>
              </a:defRPr>
            </a:pPr>
            <a:r>
              <a:rPr sz="1425" b="1" i="0">
                <a:solidFill>
                  <a:srgbClr val="141B2B"/>
                </a:solidFill>
                <a:latin typeface="Avenir Next"/>
                <a:ea typeface="Avenir Next"/>
                <a:cs typeface="Avenir Next"/>
              </a:rPr>
              <a:t>successor states split</a:t>
            </a:r>
          </a:p>
        </p:txBody>
      </p:sp>
      <p:sp>
        <p:nvSpPr>
          <p:cNvPr id="20" name="trace-eq-observer-label">
            <a:extLst xmlns:a="http://schemas.openxmlformats.org/drawingml/2006/main">
              <a:ext uri="{FF2B5EF4-FFF2-40B4-BE49-F238E27FC236}">
                <a16:creationId xmlns:a16="http://schemas.microsoft.com/office/drawing/2014/main" id="{2453CA0B-9F82-402F-8B0C-F8ECA35BE483}"/>
              </a:ext>
            </a:extLst>
          </p:cNvPr>
          <p:cNvSpPr>
            <a:spLocks xmlns:a="http://schemas.openxmlformats.org/drawingml/2006/main" noGrp="1"/>
          </p:cNvSpPr>
          <p:nvPr/>
        </p:nvSpPr>
        <p:spPr>
          <a:xfrm xmlns:a="http://schemas.openxmlformats.org/drawingml/2006/main">
            <a:off x="6391275" y="3819525"/>
            <a:ext cx="4810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F6F66"/>
                </a:solidFill>
                <a:latin typeface="Avenir Next"/>
                <a:ea typeface="Avenir Next"/>
                <a:cs typeface="Avenir Next"/>
              </a:defRPr>
            </a:defPPr>
          </a:lstStyle>
          <a:p xmlns:a="http://schemas.openxmlformats.org/drawingml/2006/main">
            <a:pPr algn="l">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ORDERED OUTPUT-COUNT WORDS · H=2 · TV=0</a:t>
            </a:r>
          </a:p>
        </p:txBody>
      </p:sp>
      <p:sp>
        <p:nvSpPr>
          <p:cNvPr id="21" name="trace-eq-observer-result">
            <a:extLst xmlns:a="http://schemas.openxmlformats.org/drawingml/2006/main">
              <a:ext uri="{FF2B5EF4-FFF2-40B4-BE49-F238E27FC236}">
                <a16:creationId xmlns:a16="http://schemas.microsoft.com/office/drawing/2014/main" id="{39F4B33B-98D8-4432-89C2-2B2F8F82C2D2}"/>
              </a:ext>
            </a:extLst>
          </p:cNvPr>
          <p:cNvSpPr>
            <a:spLocks xmlns:a="http://schemas.openxmlformats.org/drawingml/2006/main" noGrp="1"/>
          </p:cNvSpPr>
          <p:nvPr/>
        </p:nvSpPr>
        <p:spPr>
          <a:xfrm xmlns:a="http://schemas.openxmlformats.org/drawingml/2006/main">
            <a:off x="6391275" y="4086225"/>
            <a:ext cx="457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i="0">
                <a:solidFill>
                  <a:srgbClr val="1F6F66"/>
                </a:solidFill>
                <a:latin typeface="Menlo"/>
                <a:ea typeface="Menlo"/>
                <a:cs typeface="Menlo"/>
              </a:defRPr>
            </a:defPPr>
          </a:lstStyle>
          <a:p xmlns:a="http://schemas.openxmlformats.org/drawingml/2006/main">
            <a:pPr algn="l">
              <a:defRPr sz="1425" b="1" i="0">
                <a:solidFill>
                  <a:srgbClr val="1F6F66"/>
                </a:solidFill>
                <a:latin typeface="Menlo"/>
                <a:ea typeface="Menlo"/>
                <a:cs typeface="Menlo"/>
              </a:defRPr>
            </a:pPr>
            <a:r>
              <a:rPr sz="1425" b="1" i="0">
                <a:solidFill>
                  <a:srgbClr val="1F6F66"/>
                </a:solidFill>
                <a:latin typeface="Menlo"/>
                <a:ea typeface="Menlo"/>
                <a:cs typeface="Menlo"/>
              </a:rPr>
              <a:t>(1,1): ½     (1,3): ½</a:t>
            </a:r>
          </a:p>
        </p:txBody>
      </p:sp>
      <p:sp>
        <p:nvSpPr>
          <p:cNvPr id="22" name="trace-eq-mid-rule">
            <a:extLst xmlns:a="http://schemas.openxmlformats.org/drawingml/2006/main">
              <a:ext uri="{FF2B5EF4-FFF2-40B4-BE49-F238E27FC236}">
                <a16:creationId xmlns:a16="http://schemas.microsoft.com/office/drawing/2014/main" id="{DBCCD7C3-00EB-4401-AAE7-6FE80F56E7C3}"/>
              </a:ext>
            </a:extLst>
          </p:cNvPr>
          <p:cNvSpPr>
            <a:spLocks xmlns:a="http://schemas.openxmlformats.org/drawingml/2006/main" noGrp="1"/>
          </p:cNvSpPr>
          <p:nvPr/>
        </p:nvSpPr>
        <p:spPr>
          <a:xfrm xmlns:a="http://schemas.openxmlformats.org/drawingml/2006/main">
            <a:off x="781050" y="4495800"/>
            <a:ext cx="106299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3" name="trace-eq-method-head">
            <a:extLst xmlns:a="http://schemas.openxmlformats.org/drawingml/2006/main">
              <a:ext uri="{FF2B5EF4-FFF2-40B4-BE49-F238E27FC236}">
                <a16:creationId xmlns:a16="http://schemas.microsoft.com/office/drawing/2014/main" id="{9102724E-0CB5-4BCA-9801-E8FA536B9898}"/>
              </a:ext>
            </a:extLst>
          </p:cNvPr>
          <p:cNvSpPr>
            <a:spLocks xmlns:a="http://schemas.openxmlformats.org/drawingml/2006/main" noGrp="1"/>
          </p:cNvSpPr>
          <p:nvPr/>
        </p:nvSpPr>
        <p:spPr>
          <a:xfrm xmlns:a="http://schemas.openxmlformats.org/drawingml/2006/main">
            <a:off x="876300" y="4648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1F6F66"/>
                </a:solidFill>
                <a:latin typeface="Avenir Next"/>
                <a:ea typeface="Avenir Next"/>
                <a:cs typeface="Avenir Next"/>
              </a:defRPr>
            </a:defPPr>
          </a:lstStyle>
          <a:p xmlns:a="http://schemas.openxmlformats.org/drawingml/2006/main">
            <a:pPr algn="l">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EXACT RATIONAL ROW-SPAN · PROVED_EQUAL</a:t>
            </a:r>
          </a:p>
        </p:txBody>
      </p:sp>
      <p:sp>
        <p:nvSpPr>
          <p:cNvPr id="24" name="trace-eq-equation">
            <a:extLst xmlns:a="http://schemas.openxmlformats.org/drawingml/2006/main">
              <a:ext uri="{FF2B5EF4-FFF2-40B4-BE49-F238E27FC236}">
                <a16:creationId xmlns:a16="http://schemas.microsoft.com/office/drawing/2014/main" id="{334B2011-3FE4-425B-82F8-9C1F017728E4}"/>
              </a:ext>
            </a:extLst>
          </p:cNvPr>
          <p:cNvSpPr>
            <a:spLocks xmlns:a="http://schemas.openxmlformats.org/drawingml/2006/main" noGrp="1"/>
          </p:cNvSpPr>
          <p:nvPr/>
        </p:nvSpPr>
        <p:spPr>
          <a:xfrm xmlns:a="http://schemas.openxmlformats.org/drawingml/2006/main">
            <a:off x="876300" y="4914900"/>
            <a:ext cx="1033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141B2B"/>
                </a:solidFill>
                <a:latin typeface="Menlo"/>
                <a:ea typeface="Menlo"/>
                <a:cs typeface="Menlo"/>
              </a:defRPr>
            </a:defPPr>
          </a:lstStyle>
          <a:p xmlns:a="http://schemas.openxmlformats.org/drawingml/2006/main">
            <a:pPr algn="l">
              <a:defRPr sz="1500" b="1" i="0">
                <a:solidFill>
                  <a:srgbClr val="141B2B"/>
                </a:solidFill>
                <a:latin typeface="Menlo"/>
                <a:ea typeface="Menlo"/>
                <a:cs typeface="Menlo"/>
              </a:defRPr>
            </a:pPr>
            <a:r>
              <a:rPr sz="1500" b="1" i="0">
                <a:solidFill>
                  <a:srgbClr val="141B2B"/>
                </a:solidFill>
                <a:latin typeface="Menlo"/>
                <a:ea typeface="Menlo"/>
                <a:cs typeface="Menlo"/>
              </a:rPr>
              <a:t>μ = eA − eB     R = span{ μ A_w : w is a finite usage word }</a:t>
            </a:r>
          </a:p>
        </p:txBody>
      </p:sp>
      <p:sp>
        <p:nvSpPr>
          <p:cNvPr id="25" name="trace-eq-method-body">
            <a:extLst xmlns:a="http://schemas.openxmlformats.org/drawingml/2006/main">
              <a:ext uri="{FF2B5EF4-FFF2-40B4-BE49-F238E27FC236}">
                <a16:creationId xmlns:a16="http://schemas.microsoft.com/office/drawing/2014/main" id="{70E0B133-A02A-42E0-A328-CA6FA6BBE269}"/>
              </a:ext>
            </a:extLst>
          </p:cNvPr>
          <p:cNvSpPr>
            <a:spLocks xmlns:a="http://schemas.openxmlformats.org/drawingml/2006/main" noGrp="1"/>
          </p:cNvSpPr>
          <p:nvPr/>
        </p:nvSpPr>
        <p:spPr>
          <a:xfrm xmlns:a="http://schemas.openxmlformats.org/drawingml/2006/main">
            <a:off x="876300" y="5314950"/>
            <a:ext cx="10401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646B7A"/>
                </a:solidFill>
                <a:latin typeface="Avenir Next"/>
                <a:ea typeface="Avenir Next"/>
                <a:cs typeface="Avenir Next"/>
              </a:defRPr>
            </a:defPPr>
          </a:lstStyle>
          <a:p xmlns:a="http://schemas.openxmlformats.org/drawingml/2006/main">
            <a:pPr algn="l">
              <a:defRPr sz="1238" b="1" i="0">
                <a:solidFill>
                  <a:srgbClr val="646B7A"/>
                </a:solidFill>
                <a:latin typeface="Avenir Next"/>
                <a:ea typeface="Avenir Next"/>
                <a:cs typeface="Avenir Next"/>
              </a:defRPr>
            </a:pPr>
            <a:r>
              <a:rPr sz="1238" b="1" i="0">
                <a:solidFill>
                  <a:srgbClr val="646B7A"/>
                </a:solidFill>
                <a:latin typeface="Avenir Next"/>
                <a:ea typeface="Avenir Next"/>
                <a:cs typeface="Avenir Next"/>
              </a:rPr>
              <a:t>Every basis row matches stopped and still-live mass. That proves every finite word. A nonzero residual gives a finite witness; a cap returns UNKNOWN.</a:t>
            </a:r>
          </a:p>
        </p:txBody>
      </p:sp>
      <p:sp>
        <p:nvSpPr>
          <p:cNvPr id="26" name="trace-eq-scope">
            <a:extLst xmlns:a="http://schemas.openxmlformats.org/drawingml/2006/main">
              <a:ext uri="{FF2B5EF4-FFF2-40B4-BE49-F238E27FC236}">
                <a16:creationId xmlns:a16="http://schemas.microsoft.com/office/drawing/2014/main" id="{511EBEE4-5703-48AA-846E-C1A83D262F94}"/>
              </a:ext>
            </a:extLst>
          </p:cNvPr>
          <p:cNvSpPr>
            <a:spLocks xmlns:a="http://schemas.openxmlformats.org/drawingml/2006/main" noGrp="1"/>
          </p:cNvSpPr>
          <p:nvPr/>
        </p:nvSpPr>
        <p:spPr>
          <a:xfrm xmlns:a="http://schemas.openxmlformats.org/drawingml/2006/main">
            <a:off x="904875" y="5800725"/>
            <a:ext cx="10382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75" b="0" i="0">
                <a:solidFill>
                  <a:srgbClr val="646B7A"/>
                </a:solidFill>
                <a:latin typeface="Avenir Next"/>
                <a:ea typeface="Avenir Next"/>
                <a:cs typeface="Avenir Next"/>
              </a:defRPr>
            </a:defPPr>
          </a:lstStyle>
          <a:p xmlns:a="http://schemas.openxmlformats.org/drawingml/2006/main">
            <a:pPr algn="ctr">
              <a:defRPr sz="975" b="0" i="0">
                <a:solidFill>
                  <a:srgbClr val="646B7A"/>
                </a:solidFill>
                <a:latin typeface="Avenir Next"/>
                <a:ea typeface="Avenir Next"/>
                <a:cs typeface="Avenir Next"/>
              </a:defRPr>
            </a:pPr>
            <a:r>
              <a:rPr sz="975" b="0" i="0">
                <a:solidFill>
                  <a:srgbClr val="646B7A"/>
                </a:solidFill>
                <a:latin typeface="Avenir Next"/>
                <a:ea typeface="Avenir Next"/>
                <a:cs typeface="Avenir Next"/>
              </a:rPr>
              <a:t>Output-count pairs shown; contract and input usage also match · finite kernel only · no provider or total-cost claim</a:t>
            </a:r>
          </a:p>
        </p:txBody>
      </p:sp>
    </p:spTree>
    <p:extLst>
      <p:ext uri="{BB962C8B-B14F-4D97-AF65-F5344CB8AC3E}">
        <p14:creationId xmlns:p14="http://schemas.microsoft.com/office/powerpoint/2010/main" val="1621309601"/>
      </p:ext>
    </p:extLst>
  </p:cSld>
</p:sld>
</file>

<file path=ppt/slides/slide2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42" name="s22-brand">
            <a:extLst xmlns:a="http://schemas.openxmlformats.org/drawingml/2006/main">
              <a:ext uri="{FF2B5EF4-FFF2-40B4-BE49-F238E27FC236}">
                <a16:creationId xmlns:a16="http://schemas.microsoft.com/office/drawing/2014/main" id="{FD378856-9871-40E0-B064-763EA1AEB947}"/>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2-section">
            <a:extLst xmlns:a="http://schemas.openxmlformats.org/drawingml/2006/main">
              <a:ext uri="{FF2B5EF4-FFF2-40B4-BE49-F238E27FC236}">
                <a16:creationId xmlns:a16="http://schemas.microsoft.com/office/drawing/2014/main" id="{75F5272C-359D-4F84-823A-6B41621CF07E}"/>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RELATED WORK</a:t>
            </a:r>
          </a:p>
        </p:txBody>
      </p:sp>
      <p:sp>
        <p:nvSpPr>
          <p:cNvPr id="3" name="s22-title">
            <a:extLst xmlns:a="http://schemas.openxmlformats.org/drawingml/2006/main">
              <a:ext uri="{FF2B5EF4-FFF2-40B4-BE49-F238E27FC236}">
                <a16:creationId xmlns:a16="http://schemas.microsoft.com/office/drawing/2014/main" id="{3BB16768-E07B-4216-96A7-81BCD95031B9}"/>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Prior work narrows the contribution</a:t>
            </a:r>
          </a:p>
        </p:txBody>
      </p:sp>
      <p:sp>
        <p:nvSpPr>
          <p:cNvPr id="4" name="s22-subtitle">
            <a:extLst xmlns:a="http://schemas.openxmlformats.org/drawingml/2006/main">
              <a:ext uri="{FF2B5EF4-FFF2-40B4-BE49-F238E27FC236}">
                <a16:creationId xmlns:a16="http://schemas.microsoft.com/office/drawing/2014/main" id="{AA1D3E02-F246-437A-A3B4-9DBB42E8D36B}"/>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Weighted-automata equivalence also predates this application.</a:t>
            </a:r>
          </a:p>
        </p:txBody>
      </p:sp>
      <p:sp>
        <p:nvSpPr>
          <p:cNvPr id="5" name="s22-source-rule">
            <a:extLst xmlns:a="http://schemas.openxmlformats.org/drawingml/2006/main">
              <a:ext uri="{FF2B5EF4-FFF2-40B4-BE49-F238E27FC236}">
                <a16:creationId xmlns:a16="http://schemas.microsoft.com/office/drawing/2014/main" id="{96A8CC7C-7D1E-4063-BFA3-6FEB68D9D650}"/>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22-sources">
            <a:extLst xmlns:a="http://schemas.openxmlformats.org/drawingml/2006/main">
              <a:ext uri="{FF2B5EF4-FFF2-40B4-BE49-F238E27FC236}">
                <a16:creationId xmlns:a16="http://schemas.microsoft.com/office/drawing/2014/main" id="{B3C2EBAB-7D51-4289-8FAC-FAF075EB8669}"/>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docs/PRIOR_ART_MATRIX.md · submission/research/current_review_sources.md</a:t>
            </a:r>
          </a:p>
        </p:txBody>
      </p:sp>
      <p:sp>
        <p:nvSpPr>
          <p:cNvPr id="7" name="s22-footer-rule">
            <a:extLst xmlns:a="http://schemas.openxmlformats.org/drawingml/2006/main">
              <a:ext uri="{FF2B5EF4-FFF2-40B4-BE49-F238E27FC236}">
                <a16:creationId xmlns:a16="http://schemas.microsoft.com/office/drawing/2014/main" id="{AAAAAE4A-AD68-4E2C-A2F9-0882CA7662F7}"/>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22-footer">
            <a:extLst xmlns:a="http://schemas.openxmlformats.org/drawingml/2006/main">
              <a:ext uri="{FF2B5EF4-FFF2-40B4-BE49-F238E27FC236}">
                <a16:creationId xmlns:a16="http://schemas.microsoft.com/office/drawing/2014/main" id="{07F8373A-A9A1-48A4-AC00-542F0FDA0693}"/>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22-page">
            <a:extLst xmlns:a="http://schemas.openxmlformats.org/drawingml/2006/main">
              <a:ext uri="{FF2B5EF4-FFF2-40B4-BE49-F238E27FC236}">
                <a16:creationId xmlns:a16="http://schemas.microsoft.com/office/drawing/2014/main" id="{27C9027C-BF41-4452-9532-43BEAA988DEE}"/>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22</a:t>
            </a:r>
          </a:p>
        </p:txBody>
      </p:sp>
      <p:sp>
        <p:nvSpPr>
          <p:cNvPr id="10" name="prior-header-0">
            <a:extLst xmlns:a="http://schemas.openxmlformats.org/drawingml/2006/main">
              <a:ext uri="{FF2B5EF4-FFF2-40B4-BE49-F238E27FC236}">
                <a16:creationId xmlns:a16="http://schemas.microsoft.com/office/drawing/2014/main" id="{9EE122BE-F53C-4453-80D0-A56AEEF1443C}"/>
              </a:ext>
            </a:extLst>
          </p:cNvPr>
          <p:cNvSpPr>
            <a:spLocks xmlns:a="http://schemas.openxmlformats.org/drawingml/2006/main" noGrp="1"/>
          </p:cNvSpPr>
          <p:nvPr/>
        </p:nvSpPr>
        <p:spPr>
          <a:xfrm xmlns:a="http://schemas.openxmlformats.org/drawingml/2006/main">
            <a:off x="742950" y="2238375"/>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CC8B8"/>
                </a:solidFill>
                <a:latin typeface="Avenir Next"/>
                <a:ea typeface="Avenir Next"/>
                <a:cs typeface="Avenir Next"/>
              </a:defRPr>
            </a:defPPr>
          </a:lstStyle>
          <a:p xmlns:a="http://schemas.openxmlformats.org/drawingml/2006/main">
            <a:pPr algn="l">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FOUNDATION / SYSTEM</a:t>
            </a:r>
          </a:p>
        </p:txBody>
      </p:sp>
      <p:sp>
        <p:nvSpPr>
          <p:cNvPr id="11" name="prior-header-1">
            <a:extLst xmlns:a="http://schemas.openxmlformats.org/drawingml/2006/main">
              <a:ext uri="{FF2B5EF4-FFF2-40B4-BE49-F238E27FC236}">
                <a16:creationId xmlns:a16="http://schemas.microsoft.com/office/drawing/2014/main" id="{1C554928-3207-4254-B264-88A04E821226}"/>
              </a:ext>
            </a:extLst>
          </p:cNvPr>
          <p:cNvSpPr>
            <a:spLocks xmlns:a="http://schemas.openxmlformats.org/drawingml/2006/main" noGrp="1"/>
          </p:cNvSpPr>
          <p:nvPr/>
        </p:nvSpPr>
        <p:spPr>
          <a:xfrm xmlns:a="http://schemas.openxmlformats.org/drawingml/2006/main">
            <a:off x="2914650" y="2238375"/>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CC8B8"/>
                </a:solidFill>
                <a:latin typeface="Avenir Next"/>
                <a:ea typeface="Avenir Next"/>
                <a:cs typeface="Avenir Next"/>
              </a:defRPr>
            </a:defPPr>
          </a:lstStyle>
          <a:p xmlns:a="http://schemas.openxmlformats.org/drawingml/2006/main">
            <a:pPr algn="l">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ESTABLISHED SCOPE</a:t>
            </a:r>
          </a:p>
        </p:txBody>
      </p:sp>
      <p:sp>
        <p:nvSpPr>
          <p:cNvPr id="12" name="prior-header-2">
            <a:extLst xmlns:a="http://schemas.openxmlformats.org/drawingml/2006/main">
              <a:ext uri="{FF2B5EF4-FFF2-40B4-BE49-F238E27FC236}">
                <a16:creationId xmlns:a16="http://schemas.microsoft.com/office/drawing/2014/main" id="{4157C1AD-E8DF-4C13-B423-92998F6A3718}"/>
              </a:ext>
            </a:extLst>
          </p:cNvPr>
          <p:cNvSpPr>
            <a:spLocks xmlns:a="http://schemas.openxmlformats.org/drawingml/2006/main" noGrp="1"/>
          </p:cNvSpPr>
          <p:nvPr/>
        </p:nvSpPr>
        <p:spPr>
          <a:xfrm xmlns:a="http://schemas.openxmlformats.org/drawingml/2006/main">
            <a:off x="7334250" y="2238375"/>
            <a:ext cx="417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CC8B8"/>
                </a:solidFill>
                <a:latin typeface="Avenir Next"/>
                <a:ea typeface="Avenir Next"/>
                <a:cs typeface="Avenir Next"/>
              </a:defRPr>
            </a:defPPr>
          </a:lstStyle>
          <a:p xmlns:a="http://schemas.openxmlformats.org/drawingml/2006/main">
            <a:pPr algn="l">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PROJECT BOUNDARY</a:t>
            </a:r>
          </a:p>
        </p:txBody>
      </p:sp>
      <p:sp>
        <p:nvSpPr>
          <p:cNvPr id="13" name="prior-0-0">
            <a:extLst xmlns:a="http://schemas.openxmlformats.org/drawingml/2006/main">
              <a:ext uri="{FF2B5EF4-FFF2-40B4-BE49-F238E27FC236}">
                <a16:creationId xmlns:a16="http://schemas.microsoft.com/office/drawing/2014/main" id="{3AF4EA15-86E7-49E3-A81B-85206A8D651A}"/>
              </a:ext>
            </a:extLst>
          </p:cNvPr>
          <p:cNvSpPr>
            <a:spLocks xmlns:a="http://schemas.openxmlformats.org/drawingml/2006/main" noGrp="1"/>
          </p:cNvSpPr>
          <p:nvPr/>
        </p:nvSpPr>
        <p:spPr>
          <a:xfrm xmlns:a="http://schemas.openxmlformats.org/drawingml/2006/main">
            <a:off x="742950" y="2514600"/>
            <a:ext cx="2000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1" i="0">
                <a:solidFill>
                  <a:srgbClr val="F5F2EA"/>
                </a:solidFill>
                <a:latin typeface="Avenir Next"/>
                <a:ea typeface="Avenir Next"/>
                <a:cs typeface="Avenir Next"/>
              </a:defRPr>
            </a:defPPr>
          </a:lstStyle>
          <a:p xmlns:a="http://schemas.openxmlformats.org/drawingml/2006/main">
            <a:pPr algn="l">
              <a:defRPr sz="1088" b="1" i="0">
                <a:solidFill>
                  <a:srgbClr val="F5F2EA"/>
                </a:solidFill>
                <a:latin typeface="Avenir Next"/>
                <a:ea typeface="Avenir Next"/>
                <a:cs typeface="Avenir Next"/>
              </a:defRPr>
            </a:pPr>
            <a:r>
              <a:rPr sz="1088" b="1" i="0">
                <a:solidFill>
                  <a:srgbClr val="F5F2EA"/>
                </a:solidFill>
                <a:latin typeface="Avenir Next"/>
                <a:ea typeface="Avenir Next"/>
                <a:cs typeface="Avenir Next"/>
              </a:rPr>
              <a:t>Resource-aware IFC</a:t>
            </a:r>
          </a:p>
        </p:txBody>
      </p:sp>
      <p:sp>
        <p:nvSpPr>
          <p:cNvPr id="14" name="prior-0-1">
            <a:extLst xmlns:a="http://schemas.openxmlformats.org/drawingml/2006/main">
              <a:ext uri="{FF2B5EF4-FFF2-40B4-BE49-F238E27FC236}">
                <a16:creationId xmlns:a16="http://schemas.microsoft.com/office/drawing/2014/main" id="{CF95C4F6-8F7F-471B-AC08-53EB8C001F7D}"/>
              </a:ext>
            </a:extLst>
          </p:cNvPr>
          <p:cNvSpPr>
            <a:spLocks xmlns:a="http://schemas.openxmlformats.org/drawingml/2006/main" noGrp="1"/>
          </p:cNvSpPr>
          <p:nvPr/>
        </p:nvSpPr>
        <p:spPr>
          <a:xfrm xmlns:a="http://schemas.openxmlformats.org/drawingml/2006/main">
            <a:off x="2914650" y="2514600"/>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Resource observations can enter noninterference guarantees.</a:t>
            </a:r>
          </a:p>
        </p:txBody>
      </p:sp>
      <p:sp>
        <p:nvSpPr>
          <p:cNvPr id="15" name="prior-0-2">
            <a:extLst xmlns:a="http://schemas.openxmlformats.org/drawingml/2006/main">
              <a:ext uri="{FF2B5EF4-FFF2-40B4-BE49-F238E27FC236}">
                <a16:creationId xmlns:a16="http://schemas.microsoft.com/office/drawing/2014/main" id="{345C337A-9B1B-4B60-A39A-22553C9137AD}"/>
              </a:ext>
            </a:extLst>
          </p:cNvPr>
          <p:cNvSpPr>
            <a:spLocks xmlns:a="http://schemas.openxmlformats.org/drawingml/2006/main" noGrp="1"/>
          </p:cNvSpPr>
          <p:nvPr/>
        </p:nvSpPr>
        <p:spPr>
          <a:xfrm xmlns:a="http://schemas.openxmlformats.org/drawingml/2006/main">
            <a:off x="7334250" y="2514600"/>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A request-linked usage-event check.</a:t>
            </a:r>
          </a:p>
        </p:txBody>
      </p:sp>
      <p:sp>
        <p:nvSpPr>
          <p:cNvPr id="16" name="prior-row-rule-0">
            <a:extLst xmlns:a="http://schemas.openxmlformats.org/drawingml/2006/main">
              <a:ext uri="{FF2B5EF4-FFF2-40B4-BE49-F238E27FC236}">
                <a16:creationId xmlns:a16="http://schemas.microsoft.com/office/drawing/2014/main" id="{5B8AE5F8-9DDC-4C88-AD2A-1CC4439A8684}"/>
              </a:ext>
            </a:extLst>
          </p:cNvPr>
          <p:cNvSpPr>
            <a:spLocks xmlns:a="http://schemas.openxmlformats.org/drawingml/2006/main" noGrp="1"/>
          </p:cNvSpPr>
          <p:nvPr/>
        </p:nvSpPr>
        <p:spPr>
          <a:xfrm xmlns:a="http://schemas.openxmlformats.org/drawingml/2006/main">
            <a:off x="742950" y="2895600"/>
            <a:ext cx="10763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7" name="prior-1-0">
            <a:extLst xmlns:a="http://schemas.openxmlformats.org/drawingml/2006/main">
              <a:ext uri="{FF2B5EF4-FFF2-40B4-BE49-F238E27FC236}">
                <a16:creationId xmlns:a16="http://schemas.microsoft.com/office/drawing/2014/main" id="{07173BB9-FEFC-4FD4-8E43-C0101AC1B08C}"/>
              </a:ext>
            </a:extLst>
          </p:cNvPr>
          <p:cNvSpPr>
            <a:spLocks xmlns:a="http://schemas.openxmlformats.org/drawingml/2006/main" noGrp="1"/>
          </p:cNvSpPr>
          <p:nvPr/>
        </p:nvSpPr>
        <p:spPr>
          <a:xfrm xmlns:a="http://schemas.openxmlformats.org/drawingml/2006/main">
            <a:off x="742950" y="2952750"/>
            <a:ext cx="2000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1" i="0">
                <a:solidFill>
                  <a:srgbClr val="F5F2EA"/>
                </a:solidFill>
                <a:latin typeface="Avenir Next"/>
                <a:ea typeface="Avenir Next"/>
                <a:cs typeface="Avenir Next"/>
              </a:defRPr>
            </a:defPPr>
          </a:lstStyle>
          <a:p xmlns:a="http://schemas.openxmlformats.org/drawingml/2006/main">
            <a:pPr algn="l">
              <a:defRPr sz="1088" b="1" i="0">
                <a:solidFill>
                  <a:srgbClr val="F5F2EA"/>
                </a:solidFill>
                <a:latin typeface="Avenir Next"/>
                <a:ea typeface="Avenir Next"/>
                <a:cs typeface="Avenir Next"/>
              </a:defRPr>
            </a:pPr>
            <a:r>
              <a:rPr sz="1088" b="1" i="0">
                <a:solidFill>
                  <a:srgbClr val="F5F2EA"/>
                </a:solidFill>
                <a:latin typeface="Avenir Next"/>
                <a:ea typeface="Avenir Next"/>
                <a:cs typeface="Avenir Next"/>
              </a:rPr>
              <a:t>RelCost / product programs</a:t>
            </a:r>
          </a:p>
        </p:txBody>
      </p:sp>
      <p:sp>
        <p:nvSpPr>
          <p:cNvPr id="18" name="prior-1-1">
            <a:extLst xmlns:a="http://schemas.openxmlformats.org/drawingml/2006/main">
              <a:ext uri="{FF2B5EF4-FFF2-40B4-BE49-F238E27FC236}">
                <a16:creationId xmlns:a16="http://schemas.microsoft.com/office/drawing/2014/main" id="{9FBD62EE-478F-44AA-A212-3BC11C3E0035}"/>
              </a:ext>
            </a:extLst>
          </p:cNvPr>
          <p:cNvSpPr>
            <a:spLocks xmlns:a="http://schemas.openxmlformats.org/drawingml/2006/main" noGrp="1"/>
          </p:cNvSpPr>
          <p:nvPr/>
        </p:nvSpPr>
        <p:spPr>
          <a:xfrm xmlns:a="http://schemas.openxmlformats.org/drawingml/2006/main">
            <a:off x="2914650" y="2952750"/>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Relational cost reasoning and self-composition.</a:t>
            </a:r>
          </a:p>
        </p:txBody>
      </p:sp>
      <p:sp>
        <p:nvSpPr>
          <p:cNvPr id="19" name="prior-1-2">
            <a:extLst xmlns:a="http://schemas.openxmlformats.org/drawingml/2006/main">
              <a:ext uri="{FF2B5EF4-FFF2-40B4-BE49-F238E27FC236}">
                <a16:creationId xmlns:a16="http://schemas.microsoft.com/office/drawing/2014/main" id="{06A7DD05-57B2-4536-A1A1-F639150A8756}"/>
              </a:ext>
            </a:extLst>
          </p:cNvPr>
          <p:cNvSpPr>
            <a:spLocks xmlns:a="http://schemas.openxmlformats.org/drawingml/2006/main" noGrp="1"/>
          </p:cNvSpPr>
          <p:nvPr/>
        </p:nvSpPr>
        <p:spPr>
          <a:xfrm xmlns:a="http://schemas.openxmlformats.org/drawingml/2006/main">
            <a:off x="7334250" y="2952750"/>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Resolved contracts and result-register pairing.</a:t>
            </a:r>
          </a:p>
        </p:txBody>
      </p:sp>
      <p:sp>
        <p:nvSpPr>
          <p:cNvPr id="20" name="prior-row-rule-1">
            <a:extLst xmlns:a="http://schemas.openxmlformats.org/drawingml/2006/main">
              <a:ext uri="{FF2B5EF4-FFF2-40B4-BE49-F238E27FC236}">
                <a16:creationId xmlns:a16="http://schemas.microsoft.com/office/drawing/2014/main" id="{410C31E7-A7C8-4A22-9E7B-4B5B67DBE0CB}"/>
              </a:ext>
            </a:extLst>
          </p:cNvPr>
          <p:cNvSpPr>
            <a:spLocks xmlns:a="http://schemas.openxmlformats.org/drawingml/2006/main" noGrp="1"/>
          </p:cNvSpPr>
          <p:nvPr/>
        </p:nvSpPr>
        <p:spPr>
          <a:xfrm xmlns:a="http://schemas.openxmlformats.org/drawingml/2006/main">
            <a:off x="742950" y="3333750"/>
            <a:ext cx="10763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1" name="prior-2-0">
            <a:extLst xmlns:a="http://schemas.openxmlformats.org/drawingml/2006/main">
              <a:ext uri="{FF2B5EF4-FFF2-40B4-BE49-F238E27FC236}">
                <a16:creationId xmlns:a16="http://schemas.microsoft.com/office/drawing/2014/main" id="{7BBCBFED-5538-4B1C-B38A-8E3524E71614}"/>
              </a:ext>
            </a:extLst>
          </p:cNvPr>
          <p:cNvSpPr>
            <a:spLocks xmlns:a="http://schemas.openxmlformats.org/drawingml/2006/main" noGrp="1"/>
          </p:cNvSpPr>
          <p:nvPr/>
        </p:nvSpPr>
        <p:spPr>
          <a:xfrm xmlns:a="http://schemas.openxmlformats.org/drawingml/2006/main">
            <a:off x="742950" y="3390900"/>
            <a:ext cx="2000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1" i="0">
                <a:solidFill>
                  <a:srgbClr val="F5F2EA"/>
                </a:solidFill>
                <a:latin typeface="Avenir Next"/>
                <a:ea typeface="Avenir Next"/>
                <a:cs typeface="Avenir Next"/>
              </a:defRPr>
            </a:defPPr>
          </a:lstStyle>
          <a:p xmlns:a="http://schemas.openxmlformats.org/drawingml/2006/main">
            <a:pPr algn="l">
              <a:defRPr sz="1088" b="1" i="0">
                <a:solidFill>
                  <a:srgbClr val="F5F2EA"/>
                </a:solidFill>
                <a:latin typeface="Avenir Next"/>
                <a:ea typeface="Avenir Next"/>
                <a:cs typeface="Avenir Next"/>
              </a:defRPr>
            </a:pPr>
            <a:r>
              <a:rPr sz="1088" b="1" i="0">
                <a:solidFill>
                  <a:srgbClr val="F5F2EA"/>
                </a:solidFill>
                <a:latin typeface="Avenir Next"/>
                <a:ea typeface="Avenir Next"/>
                <a:cs typeface="Avenir Next"/>
              </a:rPr>
              <a:t>Expected resources / PPDL</a:t>
            </a:r>
          </a:p>
        </p:txBody>
      </p:sp>
      <p:sp>
        <p:nvSpPr>
          <p:cNvPr id="22" name="prior-2-1">
            <a:extLst xmlns:a="http://schemas.openxmlformats.org/drawingml/2006/main">
              <a:ext uri="{FF2B5EF4-FFF2-40B4-BE49-F238E27FC236}">
                <a16:creationId xmlns:a16="http://schemas.microsoft.com/office/drawing/2014/main" id="{ABE86375-9D65-4C42-8B37-E9EECB081EBB}"/>
              </a:ext>
            </a:extLst>
          </p:cNvPr>
          <p:cNvSpPr>
            <a:spLocks xmlns:a="http://schemas.openxmlformats.org/drawingml/2006/main" noGrp="1"/>
          </p:cNvSpPr>
          <p:nvPr/>
        </p:nvSpPr>
        <p:spPr>
          <a:xfrm xmlns:a="http://schemas.openxmlformats.org/drawingml/2006/main">
            <a:off x="2914650" y="3390900"/>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Probabilistic costs and multi-call LLM/tool flows.</a:t>
            </a:r>
          </a:p>
        </p:txBody>
      </p:sp>
      <p:sp>
        <p:nvSpPr>
          <p:cNvPr id="23" name="prior-2-2">
            <a:extLst xmlns:a="http://schemas.openxmlformats.org/drawingml/2006/main">
              <a:ext uri="{FF2B5EF4-FFF2-40B4-BE49-F238E27FC236}">
                <a16:creationId xmlns:a16="http://schemas.microsoft.com/office/drawing/2014/main" id="{9AB9B9A2-D124-4106-8183-849D99CA4872}"/>
              </a:ext>
            </a:extLst>
          </p:cNvPr>
          <p:cNvSpPr>
            <a:spLocks xmlns:a="http://schemas.openxmlformats.org/drawingml/2006/main" noGrp="1"/>
          </p:cNvSpPr>
          <p:nvPr/>
        </p:nvSpPr>
        <p:spPr>
          <a:xfrm xmlns:a="http://schemas.openxmlformats.org/drawingml/2006/main">
            <a:off x="7334250" y="3390900"/>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Usage laws under an explicit finite kernel.</a:t>
            </a:r>
          </a:p>
        </p:txBody>
      </p:sp>
      <p:sp>
        <p:nvSpPr>
          <p:cNvPr id="24" name="prior-row-rule-2">
            <a:extLst xmlns:a="http://schemas.openxmlformats.org/drawingml/2006/main">
              <a:ext uri="{FF2B5EF4-FFF2-40B4-BE49-F238E27FC236}">
                <a16:creationId xmlns:a16="http://schemas.microsoft.com/office/drawing/2014/main" id="{F7F42AA9-5FBE-4C74-A986-E3CFEB54BE3B}"/>
              </a:ext>
            </a:extLst>
          </p:cNvPr>
          <p:cNvSpPr>
            <a:spLocks xmlns:a="http://schemas.openxmlformats.org/drawingml/2006/main" noGrp="1"/>
          </p:cNvSpPr>
          <p:nvPr/>
        </p:nvSpPr>
        <p:spPr>
          <a:xfrm xmlns:a="http://schemas.openxmlformats.org/drawingml/2006/main">
            <a:off x="742950" y="3771900"/>
            <a:ext cx="10763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5" name="prior-3-0">
            <a:extLst xmlns:a="http://schemas.openxmlformats.org/drawingml/2006/main">
              <a:ext uri="{FF2B5EF4-FFF2-40B4-BE49-F238E27FC236}">
                <a16:creationId xmlns:a16="http://schemas.microsoft.com/office/drawing/2014/main" id="{6CCE4765-2708-4EB9-8EBD-B17B5CCE87DB}"/>
              </a:ext>
            </a:extLst>
          </p:cNvPr>
          <p:cNvSpPr>
            <a:spLocks xmlns:a="http://schemas.openxmlformats.org/drawingml/2006/main" noGrp="1"/>
          </p:cNvSpPr>
          <p:nvPr/>
        </p:nvSpPr>
        <p:spPr>
          <a:xfrm xmlns:a="http://schemas.openxmlformats.org/drawingml/2006/main">
            <a:off x="742950" y="3829050"/>
            <a:ext cx="2000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1" i="0">
                <a:solidFill>
                  <a:srgbClr val="F5F2EA"/>
                </a:solidFill>
                <a:latin typeface="Avenir Next"/>
                <a:ea typeface="Avenir Next"/>
                <a:cs typeface="Avenir Next"/>
              </a:defRPr>
            </a:defPPr>
          </a:lstStyle>
          <a:p xmlns:a="http://schemas.openxmlformats.org/drawingml/2006/main">
            <a:pPr algn="l">
              <a:defRPr sz="1088" b="1" i="0">
                <a:solidFill>
                  <a:srgbClr val="F5F2EA"/>
                </a:solidFill>
                <a:latin typeface="Avenir Next"/>
                <a:ea typeface="Avenir Next"/>
                <a:cs typeface="Avenir Next"/>
              </a:defRPr>
            </a:pPr>
            <a:r>
              <a:rPr sz="1088" b="1" i="0">
                <a:solidFill>
                  <a:srgbClr val="F5F2EA"/>
                </a:solidFill>
                <a:latin typeface="Avenir Next"/>
                <a:ea typeface="Avenir Next"/>
                <a:cs typeface="Avenir Next"/>
              </a:rPr>
              <a:t>QIF / trace probability</a:t>
            </a:r>
          </a:p>
        </p:txBody>
      </p:sp>
      <p:sp>
        <p:nvSpPr>
          <p:cNvPr id="26" name="prior-3-1">
            <a:extLst xmlns:a="http://schemas.openxmlformats.org/drawingml/2006/main">
              <a:ext uri="{FF2B5EF4-FFF2-40B4-BE49-F238E27FC236}">
                <a16:creationId xmlns:a16="http://schemas.microsoft.com/office/drawing/2014/main" id="{89F12FD5-402B-4B71-BB74-0200C61CBB76}"/>
              </a:ext>
            </a:extLst>
          </p:cNvPr>
          <p:cNvSpPr>
            <a:spLocks xmlns:a="http://schemas.openxmlformats.org/drawingml/2006/main" noGrp="1"/>
          </p:cNvSpPr>
          <p:nvPr/>
        </p:nvSpPr>
        <p:spPr>
          <a:xfrm xmlns:a="http://schemas.openxmlformats.org/drawingml/2006/main">
            <a:off x="2914650" y="3829050"/>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Information-theoretic leakage and finite trace laws.</a:t>
            </a:r>
          </a:p>
        </p:txBody>
      </p:sp>
      <p:sp>
        <p:nvSpPr>
          <p:cNvPr id="27" name="prior-3-2">
            <a:extLst xmlns:a="http://schemas.openxmlformats.org/drawingml/2006/main">
              <a:ext uri="{FF2B5EF4-FFF2-40B4-BE49-F238E27FC236}">
                <a16:creationId xmlns:a16="http://schemas.microsoft.com/office/drawing/2014/main" id="{EC71F4ED-5C69-4CCA-A8AE-891A80201D6C}"/>
              </a:ext>
            </a:extLst>
          </p:cNvPr>
          <p:cNvSpPr>
            <a:spLocks xmlns:a="http://schemas.openxmlformats.org/drawingml/2006/main" noGrp="1"/>
          </p:cNvSpPr>
          <p:nvPr/>
        </p:nvSpPr>
        <p:spPr>
          <a:xfrm xmlns:a="http://schemas.openxmlformats.org/drawingml/2006/main">
            <a:off x="7334250" y="3829050"/>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A usage-only observer for model-call flows.</a:t>
            </a:r>
          </a:p>
        </p:txBody>
      </p:sp>
      <p:sp>
        <p:nvSpPr>
          <p:cNvPr id="28" name="prior-row-rule-3">
            <a:extLst xmlns:a="http://schemas.openxmlformats.org/drawingml/2006/main">
              <a:ext uri="{FF2B5EF4-FFF2-40B4-BE49-F238E27FC236}">
                <a16:creationId xmlns:a16="http://schemas.microsoft.com/office/drawing/2014/main" id="{3264B0BE-C580-4444-8B59-4DBD2078702A}"/>
              </a:ext>
            </a:extLst>
          </p:cNvPr>
          <p:cNvSpPr>
            <a:spLocks xmlns:a="http://schemas.openxmlformats.org/drawingml/2006/main" noGrp="1"/>
          </p:cNvSpPr>
          <p:nvPr/>
        </p:nvSpPr>
        <p:spPr>
          <a:xfrm xmlns:a="http://schemas.openxmlformats.org/drawingml/2006/main">
            <a:off x="742950" y="4210050"/>
            <a:ext cx="10763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9" name="prior-4-0">
            <a:extLst xmlns:a="http://schemas.openxmlformats.org/drawingml/2006/main">
              <a:ext uri="{FF2B5EF4-FFF2-40B4-BE49-F238E27FC236}">
                <a16:creationId xmlns:a16="http://schemas.microsoft.com/office/drawing/2014/main" id="{E400C5DB-E4CE-41A3-841A-82688CD5D929}"/>
              </a:ext>
            </a:extLst>
          </p:cNvPr>
          <p:cNvSpPr>
            <a:spLocks xmlns:a="http://schemas.openxmlformats.org/drawingml/2006/main" noGrp="1"/>
          </p:cNvSpPr>
          <p:nvPr/>
        </p:nvSpPr>
        <p:spPr>
          <a:xfrm xmlns:a="http://schemas.openxmlformats.org/drawingml/2006/main">
            <a:off x="742950" y="4267200"/>
            <a:ext cx="2000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1" i="0">
                <a:solidFill>
                  <a:srgbClr val="F5F2EA"/>
                </a:solidFill>
                <a:latin typeface="Avenir Next"/>
                <a:ea typeface="Avenir Next"/>
                <a:cs typeface="Avenir Next"/>
              </a:defRPr>
            </a:defPPr>
          </a:lstStyle>
          <a:p xmlns:a="http://schemas.openxmlformats.org/drawingml/2006/main">
            <a:pPr algn="l">
              <a:defRPr sz="1088" b="1" i="0">
                <a:solidFill>
                  <a:srgbClr val="F5F2EA"/>
                </a:solidFill>
                <a:latin typeface="Avenir Next"/>
                <a:ea typeface="Avenir Next"/>
                <a:cs typeface="Avenir Next"/>
              </a:defRPr>
            </a:pPr>
            <a:r>
              <a:rPr sz="1088" b="1" i="0">
                <a:solidFill>
                  <a:srgbClr val="F5F2EA"/>
                </a:solidFill>
                <a:latin typeface="Avenir Next"/>
                <a:ea typeface="Avenir Next"/>
                <a:cs typeface="Avenir Next"/>
              </a:rPr>
              <a:t>Weighted automata / APEX</a:t>
            </a:r>
          </a:p>
        </p:txBody>
      </p:sp>
      <p:sp>
        <p:nvSpPr>
          <p:cNvPr id="30" name="prior-4-1">
            <a:extLst xmlns:a="http://schemas.openxmlformats.org/drawingml/2006/main">
              <a:ext uri="{FF2B5EF4-FFF2-40B4-BE49-F238E27FC236}">
                <a16:creationId xmlns:a16="http://schemas.microsoft.com/office/drawing/2014/main" id="{5CE11E10-A49D-474D-A707-8C45C8E6B03D}"/>
              </a:ext>
            </a:extLst>
          </p:cNvPr>
          <p:cNvSpPr>
            <a:spLocks xmlns:a="http://schemas.openxmlformats.org/drawingml/2006/main" noGrp="1"/>
          </p:cNvSpPr>
          <p:nvPr/>
        </p:nvSpPr>
        <p:spPr>
          <a:xfrm xmlns:a="http://schemas.openxmlformats.org/drawingml/2006/main">
            <a:off x="2914650" y="4267200"/>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Established finite-word equivalence algorithms and tools.</a:t>
            </a:r>
          </a:p>
        </p:txBody>
      </p:sp>
      <p:sp>
        <p:nvSpPr>
          <p:cNvPr id="31" name="prior-4-2">
            <a:extLst xmlns:a="http://schemas.openxmlformats.org/drawingml/2006/main">
              <a:ext uri="{FF2B5EF4-FFF2-40B4-BE49-F238E27FC236}">
                <a16:creationId xmlns:a16="http://schemas.microsoft.com/office/drawing/2014/main" id="{1BDBFD32-67F5-4397-9D0F-AE0DA4337A75}"/>
              </a:ext>
            </a:extLst>
          </p:cNvPr>
          <p:cNvSpPr>
            <a:spLocks xmlns:a="http://schemas.openxmlformats.org/drawingml/2006/main" noGrp="1"/>
          </p:cNvSpPr>
          <p:nvPr/>
        </p:nvSpPr>
        <p:spPr>
          <a:xfrm xmlns:a="http://schemas.openxmlformats.org/drawingml/2006/main">
            <a:off x="7334250" y="4267200"/>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A specialized alphabet and replayable certificate.</a:t>
            </a:r>
          </a:p>
        </p:txBody>
      </p:sp>
      <p:sp>
        <p:nvSpPr>
          <p:cNvPr id="32" name="prior-row-rule-4">
            <a:extLst xmlns:a="http://schemas.openxmlformats.org/drawingml/2006/main">
              <a:ext uri="{FF2B5EF4-FFF2-40B4-BE49-F238E27FC236}">
                <a16:creationId xmlns:a16="http://schemas.microsoft.com/office/drawing/2014/main" id="{20CD4AB4-FFFD-46DB-9BB0-9804BAF170F3}"/>
              </a:ext>
            </a:extLst>
          </p:cNvPr>
          <p:cNvSpPr>
            <a:spLocks xmlns:a="http://schemas.openxmlformats.org/drawingml/2006/main" noGrp="1"/>
          </p:cNvSpPr>
          <p:nvPr/>
        </p:nvSpPr>
        <p:spPr>
          <a:xfrm xmlns:a="http://schemas.openxmlformats.org/drawingml/2006/main">
            <a:off x="742950" y="4648200"/>
            <a:ext cx="10763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33" name="prior-5-0">
            <a:extLst xmlns:a="http://schemas.openxmlformats.org/drawingml/2006/main">
              <a:ext uri="{FF2B5EF4-FFF2-40B4-BE49-F238E27FC236}">
                <a16:creationId xmlns:a16="http://schemas.microsoft.com/office/drawing/2014/main" id="{E43C9865-6677-4D2A-9455-52C01DE23A2D}"/>
              </a:ext>
            </a:extLst>
          </p:cNvPr>
          <p:cNvSpPr>
            <a:spLocks xmlns:a="http://schemas.openxmlformats.org/drawingml/2006/main" noGrp="1"/>
          </p:cNvSpPr>
          <p:nvPr/>
        </p:nvSpPr>
        <p:spPr>
          <a:xfrm xmlns:a="http://schemas.openxmlformats.org/drawingml/2006/main">
            <a:off x="742950" y="4705350"/>
            <a:ext cx="2000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1" i="0">
                <a:solidFill>
                  <a:srgbClr val="F5F2EA"/>
                </a:solidFill>
                <a:latin typeface="Avenir Next"/>
                <a:ea typeface="Avenir Next"/>
                <a:cs typeface="Avenir Next"/>
              </a:defRPr>
            </a:defPPr>
          </a:lstStyle>
          <a:p xmlns:a="http://schemas.openxmlformats.org/drawingml/2006/main">
            <a:pPr algn="l">
              <a:defRPr sz="1088" b="1" i="0">
                <a:solidFill>
                  <a:srgbClr val="F5F2EA"/>
                </a:solidFill>
                <a:latin typeface="Avenir Next"/>
                <a:ea typeface="Avenir Next"/>
                <a:cs typeface="Avenir Next"/>
              </a:defRPr>
            </a:pPr>
            <a:r>
              <a:rPr sz="1088" b="1" i="0">
                <a:solidFill>
                  <a:srgbClr val="F5F2EA"/>
                </a:solidFill>
                <a:latin typeface="Avenir Next"/>
                <a:ea typeface="Avenir Next"/>
                <a:cs typeface="Avenir Next"/>
              </a:rPr>
              <a:t>AgentFlow / Agentproof</a:t>
            </a:r>
          </a:p>
        </p:txBody>
      </p:sp>
      <p:sp>
        <p:nvSpPr>
          <p:cNvPr id="34" name="prior-5-1">
            <a:extLst xmlns:a="http://schemas.openxmlformats.org/drawingml/2006/main">
              <a:ext uri="{FF2B5EF4-FFF2-40B4-BE49-F238E27FC236}">
                <a16:creationId xmlns:a16="http://schemas.microsoft.com/office/drawing/2014/main" id="{AB3362ED-B5F0-45C3-AAF5-D6DEF32AA010}"/>
              </a:ext>
            </a:extLst>
          </p:cNvPr>
          <p:cNvSpPr>
            <a:spLocks xmlns:a="http://schemas.openxmlformats.org/drawingml/2006/main" noGrp="1"/>
          </p:cNvSpPr>
          <p:nvPr/>
        </p:nvSpPr>
        <p:spPr>
          <a:xfrm xmlns:a="http://schemas.openxmlformats.org/drawingml/2006/main">
            <a:off x="2914650" y="4705350"/>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Static checks for structured agent workflows.</a:t>
            </a:r>
          </a:p>
        </p:txBody>
      </p:sp>
      <p:sp>
        <p:nvSpPr>
          <p:cNvPr id="35" name="prior-5-2">
            <a:extLst xmlns:a="http://schemas.openxmlformats.org/drawingml/2006/main">
              <a:ext uri="{FF2B5EF4-FFF2-40B4-BE49-F238E27FC236}">
                <a16:creationId xmlns:a16="http://schemas.microsoft.com/office/drawing/2014/main" id="{D6769165-6F0C-438F-B997-E72AA3502450}"/>
              </a:ext>
            </a:extLst>
          </p:cNvPr>
          <p:cNvSpPr>
            <a:spLocks xmlns:a="http://schemas.openxmlformats.org/drawingml/2006/main" noGrp="1"/>
          </p:cNvSpPr>
          <p:nvPr/>
        </p:nvSpPr>
        <p:spPr>
          <a:xfrm xmlns:a="http://schemas.openxmlformats.org/drawingml/2006/main">
            <a:off x="7334250" y="4705350"/>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Different policies and observation properties.</a:t>
            </a:r>
          </a:p>
        </p:txBody>
      </p:sp>
      <p:sp>
        <p:nvSpPr>
          <p:cNvPr id="36" name="prior-row-rule-5">
            <a:extLst xmlns:a="http://schemas.openxmlformats.org/drawingml/2006/main">
              <a:ext uri="{FF2B5EF4-FFF2-40B4-BE49-F238E27FC236}">
                <a16:creationId xmlns:a16="http://schemas.microsoft.com/office/drawing/2014/main" id="{44F447B3-AF61-4A89-9F35-F3F9E745488C}"/>
              </a:ext>
            </a:extLst>
          </p:cNvPr>
          <p:cNvSpPr>
            <a:spLocks xmlns:a="http://schemas.openxmlformats.org/drawingml/2006/main" noGrp="1"/>
          </p:cNvSpPr>
          <p:nvPr/>
        </p:nvSpPr>
        <p:spPr>
          <a:xfrm xmlns:a="http://schemas.openxmlformats.org/drawingml/2006/main">
            <a:off x="742950" y="5086350"/>
            <a:ext cx="10763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37" name="prior-6-0">
            <a:extLst xmlns:a="http://schemas.openxmlformats.org/drawingml/2006/main">
              <a:ext uri="{FF2B5EF4-FFF2-40B4-BE49-F238E27FC236}">
                <a16:creationId xmlns:a16="http://schemas.microsoft.com/office/drawing/2014/main" id="{150492F8-1B99-40C7-A2E4-DD8902837E67}"/>
              </a:ext>
            </a:extLst>
          </p:cNvPr>
          <p:cNvSpPr>
            <a:spLocks xmlns:a="http://schemas.openxmlformats.org/drawingml/2006/main" noGrp="1"/>
          </p:cNvSpPr>
          <p:nvPr/>
        </p:nvSpPr>
        <p:spPr>
          <a:xfrm xmlns:a="http://schemas.openxmlformats.org/drawingml/2006/main">
            <a:off x="742950" y="5143500"/>
            <a:ext cx="2000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88" b="1" i="0">
                <a:solidFill>
                  <a:srgbClr val="F5F2EA"/>
                </a:solidFill>
                <a:latin typeface="Avenir Next"/>
                <a:ea typeface="Avenir Next"/>
                <a:cs typeface="Avenir Next"/>
              </a:defRPr>
            </a:defPPr>
          </a:lstStyle>
          <a:p xmlns:a="http://schemas.openxmlformats.org/drawingml/2006/main">
            <a:pPr algn="l">
              <a:defRPr sz="1088" b="1" i="0">
                <a:solidFill>
                  <a:srgbClr val="F5F2EA"/>
                </a:solidFill>
                <a:latin typeface="Avenir Next"/>
                <a:ea typeface="Avenir Next"/>
                <a:cs typeface="Avenir Next"/>
              </a:defRPr>
            </a:pPr>
            <a:r>
              <a:rPr sz="1088" b="1" i="0">
                <a:solidFill>
                  <a:srgbClr val="F5F2EA"/>
                </a:solidFill>
                <a:latin typeface="Avenir Next"/>
                <a:ea typeface="Avenir Next"/>
                <a:cs typeface="Avenir Next"/>
              </a:rPr>
              <a:t>Petri-net workflow cost</a:t>
            </a:r>
          </a:p>
        </p:txBody>
      </p:sp>
      <p:sp>
        <p:nvSpPr>
          <p:cNvPr id="38" name="prior-6-1">
            <a:extLst xmlns:a="http://schemas.openxmlformats.org/drawingml/2006/main">
              <a:ext uri="{FF2B5EF4-FFF2-40B4-BE49-F238E27FC236}">
                <a16:creationId xmlns:a16="http://schemas.microsoft.com/office/drawing/2014/main" id="{D589383D-B79F-48D6-8A30-70F532F8848B}"/>
              </a:ext>
            </a:extLst>
          </p:cNvPr>
          <p:cNvSpPr>
            <a:spLocks xmlns:a="http://schemas.openxmlformats.org/drawingml/2006/main" noGrp="1"/>
          </p:cNvSpPr>
          <p:nvPr/>
        </p:nvSpPr>
        <p:spPr>
          <a:xfrm xmlns:a="http://schemas.openxmlformats.org/drawingml/2006/main">
            <a:off x="2914650" y="5143500"/>
            <a:ext cx="4191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Author-reported unary cumulative LLM cost bounds.</a:t>
            </a:r>
          </a:p>
        </p:txBody>
      </p:sp>
      <p:sp>
        <p:nvSpPr>
          <p:cNvPr id="39" name="prior-6-2">
            <a:extLst xmlns:a="http://schemas.openxmlformats.org/drawingml/2006/main">
              <a:ext uri="{FF2B5EF4-FFF2-40B4-BE49-F238E27FC236}">
                <a16:creationId xmlns:a16="http://schemas.microsoft.com/office/drawing/2014/main" id="{2E7B3D04-C333-4DF5-A5AF-4BD7581287C0}"/>
              </a:ext>
            </a:extLst>
          </p:cNvPr>
          <p:cNvSpPr>
            <a:spLocks xmlns:a="http://schemas.openxmlformats.org/drawingml/2006/main" noGrp="1"/>
          </p:cNvSpPr>
          <p:nvPr/>
        </p:nvSpPr>
        <p:spPr>
          <a:xfrm xmlns:a="http://schemas.openxmlformats.org/drawingml/2006/main">
            <a:off x="7334250" y="5143500"/>
            <a:ext cx="4171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28" b="0" i="0">
                <a:solidFill>
                  <a:srgbClr val="B8C1D1"/>
                </a:solidFill>
                <a:latin typeface="Avenir Next"/>
                <a:ea typeface="Avenir Next"/>
                <a:cs typeface="Avenir Next"/>
              </a:defRPr>
            </a:defPPr>
          </a:lstStyle>
          <a:p xmlns:a="http://schemas.openxmlformats.org/drawingml/2006/main">
            <a:pPr algn="l">
              <a:defRPr sz="1028" b="0" i="0">
                <a:solidFill>
                  <a:srgbClr val="B8C1D1"/>
                </a:solidFill>
                <a:latin typeface="Avenir Next"/>
                <a:ea typeface="Avenir Next"/>
                <a:cs typeface="Avenir Next"/>
              </a:defRPr>
            </a:pPr>
            <a:r>
              <a:rPr sz="1028" b="0" i="0">
                <a:solidFill>
                  <a:srgbClr val="B8C1D1"/>
                </a:solidFill>
                <a:latin typeface="Avenir Next"/>
                <a:ea typeface="Avenir Next"/>
                <a:cs typeface="Avenir Next"/>
              </a:rPr>
              <a:t>Relational usage equivalence; adjacent unrefereed work.</a:t>
            </a:r>
          </a:p>
        </p:txBody>
      </p:sp>
      <p:sp>
        <p:nvSpPr>
          <p:cNvPr id="40" name="prior-row-rule-6">
            <a:extLst xmlns:a="http://schemas.openxmlformats.org/drawingml/2006/main">
              <a:ext uri="{FF2B5EF4-FFF2-40B4-BE49-F238E27FC236}">
                <a16:creationId xmlns:a16="http://schemas.microsoft.com/office/drawing/2014/main" id="{C632A4B0-1D7B-4DFB-842B-9DF65F47CBC8}"/>
              </a:ext>
            </a:extLst>
          </p:cNvPr>
          <p:cNvSpPr>
            <a:spLocks xmlns:a="http://schemas.openxmlformats.org/drawingml/2006/main" noGrp="1"/>
          </p:cNvSpPr>
          <p:nvPr/>
        </p:nvSpPr>
        <p:spPr>
          <a:xfrm xmlns:a="http://schemas.openxmlformats.org/drawingml/2006/main">
            <a:off x="742950" y="5524500"/>
            <a:ext cx="107632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41" name="prior-boundary">
            <a:extLst xmlns:a="http://schemas.openxmlformats.org/drawingml/2006/main">
              <a:ext uri="{FF2B5EF4-FFF2-40B4-BE49-F238E27FC236}">
                <a16:creationId xmlns:a16="http://schemas.microsoft.com/office/drawing/2014/main" id="{8E219B09-E303-4AD5-AA35-2A092CC0E36A}"/>
              </a:ext>
            </a:extLst>
          </p:cNvPr>
          <p:cNvSpPr>
            <a:spLocks xmlns:a="http://schemas.openxmlformats.org/drawingml/2006/main" noGrp="1"/>
          </p:cNvSpPr>
          <p:nvPr/>
        </p:nvSpPr>
        <p:spPr>
          <a:xfrm xmlns:a="http://schemas.openxmlformats.org/drawingml/2006/main">
            <a:off x="952500" y="5724525"/>
            <a:ext cx="1028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i="0">
                <a:solidFill>
                  <a:srgbClr val="B8C1D1"/>
                </a:solidFill>
                <a:latin typeface="Avenir Next"/>
                <a:ea typeface="Avenir Next"/>
                <a:cs typeface="Avenir Next"/>
              </a:defRPr>
            </a:defPPr>
          </a:lstStyle>
          <a:p xmlns:a="http://schemas.openxmlformats.org/drawingml/2006/main">
            <a:pPr algn="ctr">
              <a:defRPr sz="1200" b="1" i="0">
                <a:solidFill>
                  <a:srgbClr val="B8C1D1"/>
                </a:solidFill>
                <a:latin typeface="Avenir Next"/>
                <a:ea typeface="Avenir Next"/>
                <a:cs typeface="Avenir Next"/>
              </a:defRPr>
            </a:pPr>
            <a:r>
              <a:rPr sz="1200" b="1" i="0">
                <a:solidFill>
                  <a:srgbClr val="B8C1D1"/>
                </a:solidFill>
                <a:latin typeface="Avenir Next"/>
                <a:ea typeface="Avenir Next"/>
                <a:cs typeface="Avenir Next"/>
              </a:rPr>
              <a:t>Contribution framing: applied workflow software and evidence, not a new general theory.</a:t>
            </a:r>
          </a:p>
        </p:txBody>
      </p:sp>
    </p:spTree>
    <p:extLst>
      <p:ext uri="{BB962C8B-B14F-4D97-AF65-F5344CB8AC3E}">
        <p14:creationId xmlns:p14="http://schemas.microsoft.com/office/powerpoint/2010/main" val="1451819137"/>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2" name="s23-brand">
            <a:extLst xmlns:a="http://schemas.openxmlformats.org/drawingml/2006/main">
              <a:ext uri="{FF2B5EF4-FFF2-40B4-BE49-F238E27FC236}">
                <a16:creationId xmlns:a16="http://schemas.microsoft.com/office/drawing/2014/main" id="{0A39F3BF-3F2C-4761-9BC7-B57F0A55FDAB}"/>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3-section">
            <a:extLst xmlns:a="http://schemas.openxmlformats.org/drawingml/2006/main">
              <a:ext uri="{FF2B5EF4-FFF2-40B4-BE49-F238E27FC236}">
                <a16:creationId xmlns:a16="http://schemas.microsoft.com/office/drawing/2014/main" id="{672D110E-2252-41E8-8ACA-B5A419C09881}"/>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CONTRACT</a:t>
            </a:r>
          </a:p>
        </p:txBody>
      </p:sp>
      <p:sp>
        <p:nvSpPr>
          <p:cNvPr id="3" name="s23-title">
            <a:extLst xmlns:a="http://schemas.openxmlformats.org/drawingml/2006/main">
              <a:ext uri="{FF2B5EF4-FFF2-40B4-BE49-F238E27FC236}">
                <a16:creationId xmlns:a16="http://schemas.microsoft.com/office/drawing/2014/main" id="{328DCA8F-A8BA-45ED-B420-911CE50EF118}"/>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13"/>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Relational claims depend on request and oracle contracts</a:t>
            </a:r>
          </a:p>
        </p:txBody>
      </p:sp>
      <p:sp>
        <p:nvSpPr>
          <p:cNvPr id="4" name="s23-subtitle">
            <a:extLst xmlns:a="http://schemas.openxmlformats.org/drawingml/2006/main">
              <a:ext uri="{FF2B5EF4-FFF2-40B4-BE49-F238E27FC236}">
                <a16:creationId xmlns:a16="http://schemas.microsoft.com/office/drawing/2014/main" id="{22F221B9-D02D-4FE2-9EC7-50D7D1C60A72}"/>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Claims depend on full modeled requests, compatible accounting and aligned hidden state.</a:t>
            </a:r>
          </a:p>
        </p:txBody>
      </p:sp>
      <p:sp>
        <p:nvSpPr>
          <p:cNvPr id="5" name="s23-source-rule">
            <a:extLst xmlns:a="http://schemas.openxmlformats.org/drawingml/2006/main">
              <a:ext uri="{FF2B5EF4-FFF2-40B4-BE49-F238E27FC236}">
                <a16:creationId xmlns:a16="http://schemas.microsoft.com/office/drawing/2014/main" id="{9993CD26-7A33-4C7C-8D22-34543C6BB55D}"/>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23-sources">
            <a:extLst xmlns:a="http://schemas.openxmlformats.org/drawingml/2006/main">
              <a:ext uri="{FF2B5EF4-FFF2-40B4-BE49-F238E27FC236}">
                <a16:creationId xmlns:a16="http://schemas.microsoft.com/office/drawing/2014/main" id="{D6EF7C2F-B824-4975-AA0D-14145FA3F6D7}"/>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docs/FORMAL_CONTRACT.md</a:t>
            </a:r>
          </a:p>
        </p:txBody>
      </p:sp>
      <p:sp>
        <p:nvSpPr>
          <p:cNvPr id="7" name="s23-footer-rule">
            <a:extLst xmlns:a="http://schemas.openxmlformats.org/drawingml/2006/main">
              <a:ext uri="{FF2B5EF4-FFF2-40B4-BE49-F238E27FC236}">
                <a16:creationId xmlns:a16="http://schemas.microsoft.com/office/drawing/2014/main" id="{731B3A18-9A1C-44CA-9536-FC4CD3D74633}"/>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23-footer">
            <a:extLst xmlns:a="http://schemas.openxmlformats.org/drawingml/2006/main">
              <a:ext uri="{FF2B5EF4-FFF2-40B4-BE49-F238E27FC236}">
                <a16:creationId xmlns:a16="http://schemas.microsoft.com/office/drawing/2014/main" id="{DF215D66-01A4-42CA-8D6D-ACF0ADDA433F}"/>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23-page">
            <a:extLst xmlns:a="http://schemas.openxmlformats.org/drawingml/2006/main">
              <a:ext uri="{FF2B5EF4-FFF2-40B4-BE49-F238E27FC236}">
                <a16:creationId xmlns:a16="http://schemas.microsoft.com/office/drawing/2014/main" id="{8E9EA1C5-94CA-4ECA-8310-E34755BF3B77}"/>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23</a:t>
            </a:r>
          </a:p>
        </p:txBody>
      </p:sp>
      <p:sp>
        <p:nvSpPr>
          <p:cNvPr id="10" name="scope-0-head">
            <a:extLst xmlns:a="http://schemas.openxmlformats.org/drawingml/2006/main">
              <a:ext uri="{FF2B5EF4-FFF2-40B4-BE49-F238E27FC236}">
                <a16:creationId xmlns:a16="http://schemas.microsoft.com/office/drawing/2014/main" id="{ABAAEF56-A08E-456B-9654-D3EEF63E75E9}"/>
              </a:ext>
            </a:extLst>
          </p:cNvPr>
          <p:cNvSpPr>
            <a:spLocks xmlns:a="http://schemas.openxmlformats.org/drawingml/2006/main" noGrp="1"/>
          </p:cNvSpPr>
          <p:nvPr/>
        </p:nvSpPr>
        <p:spPr>
          <a:xfrm xmlns:a="http://schemas.openxmlformats.org/drawingml/2006/main">
            <a:off x="781050" y="2590800"/>
            <a:ext cx="314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1F6F66"/>
                </a:solidFill>
                <a:latin typeface="Avenir Next"/>
                <a:ea typeface="Avenir Next"/>
                <a:cs typeface="Avenir Next"/>
              </a:defRPr>
            </a:defPPr>
          </a:lstStyle>
          <a:p xmlns:a="http://schemas.openxmlformats.org/drawingml/2006/main">
            <a:pPr algn="l">
              <a:defRPr sz="1125" b="1" i="0">
                <a:solidFill>
                  <a:srgbClr val="1F6F66"/>
                </a:solidFill>
                <a:latin typeface="Avenir Next"/>
                <a:ea typeface="Avenir Next"/>
                <a:cs typeface="Avenir Next"/>
              </a:defRPr>
            </a:pPr>
            <a:r>
              <a:rPr sz="1125" b="1" i="0">
                <a:solidFill>
                  <a:srgbClr val="1F6F66"/>
                </a:solidFill>
                <a:latin typeface="Avenir Next"/>
                <a:ea typeface="Avenir Next"/>
                <a:cs typeface="Avenir Next"/>
              </a:rPr>
              <a:t>RELATIONAL CLAIM</a:t>
            </a:r>
          </a:p>
        </p:txBody>
      </p:sp>
      <p:sp>
        <p:nvSpPr>
          <p:cNvPr id="11" name="scope-0-rule">
            <a:extLst xmlns:a="http://schemas.openxmlformats.org/drawingml/2006/main">
              <a:ext uri="{FF2B5EF4-FFF2-40B4-BE49-F238E27FC236}">
                <a16:creationId xmlns:a16="http://schemas.microsoft.com/office/drawing/2014/main" id="{98E36430-4BAE-4904-8AB9-55A0BA080A18}"/>
              </a:ext>
            </a:extLst>
          </p:cNvPr>
          <p:cNvSpPr>
            <a:spLocks xmlns:a="http://schemas.openxmlformats.org/drawingml/2006/main" noGrp="1"/>
          </p:cNvSpPr>
          <p:nvPr/>
        </p:nvSpPr>
        <p:spPr>
          <a:xfrm xmlns:a="http://schemas.openxmlformats.org/drawingml/2006/main">
            <a:off x="781050" y="2981325"/>
            <a:ext cx="3124200" cy="28575"/>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12" name="scope-0-body">
            <a:extLst xmlns:a="http://schemas.openxmlformats.org/drawingml/2006/main">
              <a:ext uri="{FF2B5EF4-FFF2-40B4-BE49-F238E27FC236}">
                <a16:creationId xmlns:a16="http://schemas.microsoft.com/office/drawing/2014/main" id="{E4B69BD7-D2F9-41CE-B1B2-6BB529D4C708}"/>
              </a:ext>
            </a:extLst>
          </p:cNvPr>
          <p:cNvSpPr>
            <a:spLocks xmlns:a="http://schemas.openxmlformats.org/drawingml/2006/main" noGrp="1"/>
          </p:cNvSpPr>
          <p:nvPr/>
        </p:nvSpPr>
        <p:spPr>
          <a:xfrm xmlns:a="http://schemas.openxmlformats.org/drawingml/2006/main">
            <a:off x="781050" y="3209925"/>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41B2B"/>
                </a:solidFill>
                <a:latin typeface="Avenir Next"/>
                <a:ea typeface="Avenir Next"/>
                <a:cs typeface="Avenir Next"/>
              </a:defRPr>
            </a:defPPr>
          </a:lstStyle>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Equal public-input identities</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Exact modeled request match</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Shared complete-outcome Ω</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Productive cycles: finite prefixes</a:t>
            </a:r>
          </a:p>
        </p:txBody>
      </p:sp>
      <p:sp>
        <p:nvSpPr>
          <p:cNvPr id="13" name="scope-0-divider">
            <a:extLst xmlns:a="http://schemas.openxmlformats.org/drawingml/2006/main">
              <a:ext uri="{FF2B5EF4-FFF2-40B4-BE49-F238E27FC236}">
                <a16:creationId xmlns:a16="http://schemas.microsoft.com/office/drawing/2014/main" id="{5A0811C2-3A89-4891-AF5F-02DA4D0CB370}"/>
              </a:ext>
            </a:extLst>
          </p:cNvPr>
          <p:cNvSpPr>
            <a:spLocks xmlns:a="http://schemas.openxmlformats.org/drawingml/2006/main" noGrp="1"/>
          </p:cNvSpPr>
          <p:nvPr/>
        </p:nvSpPr>
        <p:spPr>
          <a:xfrm xmlns:a="http://schemas.openxmlformats.org/drawingml/2006/main">
            <a:off x="4133850" y="2571750"/>
            <a:ext cx="9525" cy="27146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4" name="scope-1-head">
            <a:extLst xmlns:a="http://schemas.openxmlformats.org/drawingml/2006/main">
              <a:ext uri="{FF2B5EF4-FFF2-40B4-BE49-F238E27FC236}">
                <a16:creationId xmlns:a16="http://schemas.microsoft.com/office/drawing/2014/main" id="{4D399FFD-43B3-4E79-8F48-C06064971178}"/>
              </a:ext>
            </a:extLst>
          </p:cNvPr>
          <p:cNvSpPr>
            <a:spLocks xmlns:a="http://schemas.openxmlformats.org/drawingml/2006/main" noGrp="1"/>
          </p:cNvSpPr>
          <p:nvPr/>
        </p:nvSpPr>
        <p:spPr>
          <a:xfrm xmlns:a="http://schemas.openxmlformats.org/drawingml/2006/main">
            <a:off x="4419600" y="2590800"/>
            <a:ext cx="314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F8A5C"/>
                </a:solidFill>
                <a:latin typeface="Avenir Next"/>
                <a:ea typeface="Avenir Next"/>
                <a:cs typeface="Avenir Next"/>
              </a:defRPr>
            </a:defPPr>
          </a:lstStyle>
          <a:p xmlns:a="http://schemas.openxmlformats.org/drawingml/2006/main">
            <a:pPr algn="l">
              <a:defRPr sz="1125" b="1" i="0">
                <a:solidFill>
                  <a:srgbClr val="FF8A5C"/>
                </a:solidFill>
                <a:latin typeface="Avenir Next"/>
                <a:ea typeface="Avenir Next"/>
                <a:cs typeface="Avenir Next"/>
              </a:defRPr>
            </a:pPr>
            <a:r>
              <a:rPr sz="1125" b="1" i="0">
                <a:solidFill>
                  <a:srgbClr val="FF8A5C"/>
                </a:solidFill>
                <a:latin typeface="Avenir Next"/>
                <a:ea typeface="Avenir Next"/>
                <a:cs typeface="Avenir Next"/>
              </a:rPr>
              <a:t>ACCOUNTING PREMISES</a:t>
            </a:r>
          </a:p>
        </p:txBody>
      </p:sp>
      <p:sp>
        <p:nvSpPr>
          <p:cNvPr id="15" name="scope-1-rule">
            <a:extLst xmlns:a="http://schemas.openxmlformats.org/drawingml/2006/main">
              <a:ext uri="{FF2B5EF4-FFF2-40B4-BE49-F238E27FC236}">
                <a16:creationId xmlns:a16="http://schemas.microsoft.com/office/drawing/2014/main" id="{0792807F-7657-40B9-9905-593A6D1E1182}"/>
              </a:ext>
            </a:extLst>
          </p:cNvPr>
          <p:cNvSpPr>
            <a:spLocks xmlns:a="http://schemas.openxmlformats.org/drawingml/2006/main" noGrp="1"/>
          </p:cNvSpPr>
          <p:nvPr/>
        </p:nvSpPr>
        <p:spPr>
          <a:xfrm xmlns:a="http://schemas.openxmlformats.org/drawingml/2006/main">
            <a:off x="4419600" y="2981325"/>
            <a:ext cx="3124200" cy="28575"/>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6" name="scope-1-body">
            <a:extLst xmlns:a="http://schemas.openxmlformats.org/drawingml/2006/main">
              <a:ext uri="{FF2B5EF4-FFF2-40B4-BE49-F238E27FC236}">
                <a16:creationId xmlns:a16="http://schemas.microsoft.com/office/drawing/2014/main" id="{A52015F7-A851-409A-BB5B-7D96C97DA33A}"/>
              </a:ext>
            </a:extLst>
          </p:cNvPr>
          <p:cNvSpPr>
            <a:spLocks xmlns:a="http://schemas.openxmlformats.org/drawingml/2006/main" noGrp="1"/>
          </p:cNvSpPr>
          <p:nvPr/>
        </p:nvSpPr>
        <p:spPr>
          <a:xfrm xmlns:a="http://schemas.openxmlformats.org/drawingml/2006/main">
            <a:off x="4419600" y="3209925"/>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41B2B"/>
                </a:solidFill>
                <a:latin typeface="Avenir Next"/>
                <a:ea typeface="Avenir Next"/>
                <a:cs typeface="Avenir Next"/>
              </a:defRPr>
            </a:defPPr>
          </a:lstStyle>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Input estimate uses byte divisor</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Output obeys declared caps</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Model token units align</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Relevant history is included</a:t>
            </a:r>
          </a:p>
        </p:txBody>
      </p:sp>
      <p:sp>
        <p:nvSpPr>
          <p:cNvPr id="17" name="scope-1-divider">
            <a:extLst xmlns:a="http://schemas.openxmlformats.org/drawingml/2006/main">
              <a:ext uri="{FF2B5EF4-FFF2-40B4-BE49-F238E27FC236}">
                <a16:creationId xmlns:a16="http://schemas.microsoft.com/office/drawing/2014/main" id="{75A10EC1-9C51-4093-BB80-1893A3629E8E}"/>
              </a:ext>
            </a:extLst>
          </p:cNvPr>
          <p:cNvSpPr>
            <a:spLocks xmlns:a="http://schemas.openxmlformats.org/drawingml/2006/main" noGrp="1"/>
          </p:cNvSpPr>
          <p:nvPr/>
        </p:nvSpPr>
        <p:spPr>
          <a:xfrm xmlns:a="http://schemas.openxmlformats.org/drawingml/2006/main">
            <a:off x="7772400" y="2571750"/>
            <a:ext cx="9525" cy="27146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8" name="scope-2-head">
            <a:extLst xmlns:a="http://schemas.openxmlformats.org/drawingml/2006/main">
              <a:ext uri="{FF2B5EF4-FFF2-40B4-BE49-F238E27FC236}">
                <a16:creationId xmlns:a16="http://schemas.microsoft.com/office/drawing/2014/main" id="{7CA349B8-FD23-4A17-A8BE-887BA54EF7D8}"/>
              </a:ext>
            </a:extLst>
          </p:cNvPr>
          <p:cNvSpPr>
            <a:spLocks xmlns:a="http://schemas.openxmlformats.org/drawingml/2006/main" noGrp="1"/>
          </p:cNvSpPr>
          <p:nvPr/>
        </p:nvSpPr>
        <p:spPr>
          <a:xfrm xmlns:a="http://schemas.openxmlformats.org/drawingml/2006/main">
            <a:off x="8058150" y="2590800"/>
            <a:ext cx="3143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C2461F"/>
                </a:solidFill>
                <a:latin typeface="Avenir Next"/>
                <a:ea typeface="Avenir Next"/>
                <a:cs typeface="Avenir Next"/>
              </a:defRPr>
            </a:defPPr>
          </a:lstStyle>
          <a:p xmlns:a="http://schemas.openxmlformats.org/drawingml/2006/main">
            <a:pPr algn="l">
              <a:defRPr sz="1125" b="1" i="0">
                <a:solidFill>
                  <a:srgbClr val="C2461F"/>
                </a:solidFill>
                <a:latin typeface="Avenir Next"/>
                <a:ea typeface="Avenir Next"/>
                <a:cs typeface="Avenir Next"/>
              </a:defRPr>
            </a:pPr>
            <a:r>
              <a:rPr sz="1125" b="1" i="0">
                <a:solidFill>
                  <a:srgbClr val="C2461F"/>
                </a:solidFill>
                <a:latin typeface="Avenir Next"/>
                <a:ea typeface="Avenir Next"/>
                <a:cs typeface="Avenir Next"/>
              </a:rPr>
              <a:t>EXTERNAL FACTS LEFT OPEN</a:t>
            </a:r>
          </a:p>
        </p:txBody>
      </p:sp>
      <p:sp>
        <p:nvSpPr>
          <p:cNvPr id="19" name="scope-2-rule">
            <a:extLst xmlns:a="http://schemas.openxmlformats.org/drawingml/2006/main">
              <a:ext uri="{FF2B5EF4-FFF2-40B4-BE49-F238E27FC236}">
                <a16:creationId xmlns:a16="http://schemas.microsoft.com/office/drawing/2014/main" id="{35D087B6-BC79-456F-A4EC-2FF922725211}"/>
              </a:ext>
            </a:extLst>
          </p:cNvPr>
          <p:cNvSpPr>
            <a:spLocks xmlns:a="http://schemas.openxmlformats.org/drawingml/2006/main" noGrp="1"/>
          </p:cNvSpPr>
          <p:nvPr/>
        </p:nvSpPr>
        <p:spPr>
          <a:xfrm xmlns:a="http://schemas.openxmlformats.org/drawingml/2006/main">
            <a:off x="8058150" y="2981325"/>
            <a:ext cx="3124200" cy="28575"/>
          </a:xfrm>
          <a:prstGeom xmlns:a="http://schemas.openxmlformats.org/drawingml/2006/main" prst="rect">
            <a:avLst/>
          </a:prstGeom>
          <a:solidFill xmlns:a="http://schemas.openxmlformats.org/drawingml/2006/main">
            <a:srgbClr val="C2461F"/>
          </a:solidFill>
          <a:ln xmlns:a="http://schemas.openxmlformats.org/drawingml/2006/main" w="0">
            <a:noFill/>
            <a:prstDash val="solid"/>
          </a:ln>
        </p:spPr>
      </p:sp>
      <p:sp>
        <p:nvSpPr>
          <p:cNvPr id="20" name="scope-2-body">
            <a:extLst xmlns:a="http://schemas.openxmlformats.org/drawingml/2006/main">
              <a:ext uri="{FF2B5EF4-FFF2-40B4-BE49-F238E27FC236}">
                <a16:creationId xmlns:a16="http://schemas.microsoft.com/office/drawing/2014/main" id="{360F91E0-24BB-40DD-89AE-A457B5846A84}"/>
              </a:ext>
            </a:extLst>
          </p:cNvPr>
          <p:cNvSpPr>
            <a:spLocks xmlns:a="http://schemas.openxmlformats.org/drawingml/2006/main" noGrp="1"/>
          </p:cNvSpPr>
          <p:nvPr/>
        </p:nvSpPr>
        <p:spPr>
          <a:xfrm xmlns:a="http://schemas.openxmlformats.org/drawingml/2006/main">
            <a:off x="8058150" y="3209925"/>
            <a:ext cx="3143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141B2B"/>
                </a:solidFill>
                <a:latin typeface="Avenir Next"/>
                <a:ea typeface="Avenir Next"/>
                <a:cs typeface="Avenir Next"/>
              </a:defRPr>
            </a:defPPr>
          </a:lstStyle>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Full provider serialization</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Hidden account/cache/routing state</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Real tokenizer and invoices</a:t>
            </a:r>
          </a:p>
          <a:p xmlns:a="http://schemas.openxmlformats.org/drawingml/2006/main">
            <a:pPr algn="l">
              <a:defRPr sz="1350" b="0" i="0">
                <a:solidFill>
                  <a:srgbClr val="141B2B"/>
                </a:solidFill>
                <a:latin typeface="Avenir Next"/>
                <a:ea typeface="Avenir Next"/>
                <a:cs typeface="Avenir Next"/>
              </a:defRPr>
            </a:pPr>
            <a:r>
              <a:rPr sz="1350" b="0" i="0">
                <a:solidFill>
                  <a:srgbClr val="141B2B"/>
                </a:solidFill>
                <a:latin typeface="Avenir Next"/>
                <a:ea typeface="Avenir Next"/>
                <a:cs typeface="Avenir Next"/>
              </a:rPr>
              <a:t>Termination and total cycle cost</a:t>
            </a:r>
          </a:p>
        </p:txBody>
      </p:sp>
      <p:sp>
        <p:nvSpPr>
          <p:cNvPr id="21" name="scope-close">
            <a:extLst xmlns:a="http://schemas.openxmlformats.org/drawingml/2006/main">
              <a:ext uri="{FF2B5EF4-FFF2-40B4-BE49-F238E27FC236}">
                <a16:creationId xmlns:a16="http://schemas.microsoft.com/office/drawing/2014/main" id="{33E6F283-D807-4C47-ABD5-1FDFC3CE697B}"/>
              </a:ext>
            </a:extLst>
          </p:cNvPr>
          <p:cNvSpPr>
            <a:spLocks xmlns:a="http://schemas.openxmlformats.org/drawingml/2006/main" noGrp="1"/>
          </p:cNvSpPr>
          <p:nvPr/>
        </p:nvSpPr>
        <p:spPr>
          <a:xfrm xmlns:a="http://schemas.openxmlformats.org/drawingml/2006/main">
            <a:off x="1047750" y="5505450"/>
            <a:ext cx="1009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i="0">
                <a:solidFill>
                  <a:srgbClr val="141B2B"/>
                </a:solidFill>
                <a:latin typeface="Avenir Next"/>
                <a:ea typeface="Avenir Next"/>
                <a:cs typeface="Avenir Next"/>
              </a:defRPr>
            </a:defPPr>
          </a:lstStyle>
          <a:p xmlns:a="http://schemas.openxmlformats.org/drawingml/2006/main">
            <a:pPr algn="ctr">
              <a:defRPr sz="1350" b="1" i="0">
                <a:solidFill>
                  <a:srgbClr val="141B2B"/>
                </a:solidFill>
                <a:latin typeface="Avenir Next"/>
                <a:ea typeface="Avenir Next"/>
                <a:cs typeface="Avenir Next"/>
              </a:defRPr>
            </a:pPr>
            <a:r>
              <a:rPr sz="1350" b="1" i="0">
                <a:solidFill>
                  <a:srgbClr val="141B2B"/>
                </a:solidFill>
                <a:latin typeface="Avenir Next"/>
                <a:ea typeface="Avenir Next"/>
                <a:cs typeface="Avenir Next"/>
              </a:rPr>
              <a:t>The mathematical statement is only as broad as its input model and oracle contract.</a:t>
            </a:r>
          </a:p>
        </p:txBody>
      </p:sp>
    </p:spTree>
    <p:extLst>
      <p:ext uri="{BB962C8B-B14F-4D97-AF65-F5344CB8AC3E}">
        <p14:creationId xmlns:p14="http://schemas.microsoft.com/office/powerpoint/2010/main" val="1208191227"/>
      </p:ext>
    </p:extLst>
  </p:cSld>
</p:sld>
</file>

<file path=ppt/slides/slide24.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3" name="s24-brand">
            <a:extLst xmlns:a="http://schemas.openxmlformats.org/drawingml/2006/main">
              <a:ext uri="{FF2B5EF4-FFF2-40B4-BE49-F238E27FC236}">
                <a16:creationId xmlns:a16="http://schemas.microsoft.com/office/drawing/2014/main" id="{4170760A-D0C4-4C04-A2D5-5C52A4F0C384}"/>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4-section">
            <a:extLst xmlns:a="http://schemas.openxmlformats.org/drawingml/2006/main">
              <a:ext uri="{FF2B5EF4-FFF2-40B4-BE49-F238E27FC236}">
                <a16:creationId xmlns:a16="http://schemas.microsoft.com/office/drawing/2014/main" id="{CA5250A4-A75B-43B2-8FB6-BAA08935C633}"/>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ARTIFACT</a:t>
            </a:r>
          </a:p>
        </p:txBody>
      </p:sp>
      <p:sp>
        <p:nvSpPr>
          <p:cNvPr id="3" name="s24-title">
            <a:extLst xmlns:a="http://schemas.openxmlformats.org/drawingml/2006/main">
              <a:ext uri="{FF2B5EF4-FFF2-40B4-BE49-F238E27FC236}">
                <a16:creationId xmlns:a16="http://schemas.microsoft.com/office/drawing/2014/main" id="{67D8428D-A61A-4571-A576-C9F975780873}"/>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The artifact makes its limits inspectable</a:t>
            </a:r>
          </a:p>
        </p:txBody>
      </p:sp>
      <p:sp>
        <p:nvSpPr>
          <p:cNvPr id="4" name="s24-subtitle">
            <a:extLst xmlns:a="http://schemas.openxmlformats.org/drawingml/2006/main">
              <a:ext uri="{FF2B5EF4-FFF2-40B4-BE49-F238E27FC236}">
                <a16:creationId xmlns:a16="http://schemas.microsoft.com/office/drawing/2014/main" id="{0FE448D9-7891-4AA5-93E2-A34116C47D18}"/>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Reports, source hashes, replay tools, tests and documentation support independent review.</a:t>
            </a:r>
          </a:p>
        </p:txBody>
      </p:sp>
      <p:sp>
        <p:nvSpPr>
          <p:cNvPr id="5" name="s24-source-rule">
            <a:extLst xmlns:a="http://schemas.openxmlformats.org/drawingml/2006/main">
              <a:ext uri="{FF2B5EF4-FFF2-40B4-BE49-F238E27FC236}">
                <a16:creationId xmlns:a16="http://schemas.microsoft.com/office/drawing/2014/main" id="{410E331A-3DCA-440F-A92D-6F8844175894}"/>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24-sources">
            <a:extLst xmlns:a="http://schemas.openxmlformats.org/drawingml/2006/main">
              <a:ext uri="{FF2B5EF4-FFF2-40B4-BE49-F238E27FC236}">
                <a16:creationId xmlns:a16="http://schemas.microsoft.com/office/drawing/2014/main" id="{550F284B-5C20-4B70-AA9F-8D308C39A91C}"/>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audit/final/manifest.json</a:t>
            </a:r>
          </a:p>
        </p:txBody>
      </p:sp>
      <p:sp>
        <p:nvSpPr>
          <p:cNvPr id="7" name="s24-footer-rule">
            <a:extLst xmlns:a="http://schemas.openxmlformats.org/drawingml/2006/main">
              <a:ext uri="{FF2B5EF4-FFF2-40B4-BE49-F238E27FC236}">
                <a16:creationId xmlns:a16="http://schemas.microsoft.com/office/drawing/2014/main" id="{B2103AD4-D5D8-4F85-9F28-3CAFD96BCA40}"/>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24-footer">
            <a:extLst xmlns:a="http://schemas.openxmlformats.org/drawingml/2006/main">
              <a:ext uri="{FF2B5EF4-FFF2-40B4-BE49-F238E27FC236}">
                <a16:creationId xmlns:a16="http://schemas.microsoft.com/office/drawing/2014/main" id="{7565768E-5B24-417F-8B75-E5BDE0FA660C}"/>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24-page">
            <a:extLst xmlns:a="http://schemas.openxmlformats.org/drawingml/2006/main">
              <a:ext uri="{FF2B5EF4-FFF2-40B4-BE49-F238E27FC236}">
                <a16:creationId xmlns:a16="http://schemas.microsoft.com/office/drawing/2014/main" id="{1951465D-13B6-4582-A9CB-0A5764B9E2E3}"/>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24</a:t>
            </a:r>
          </a:p>
        </p:txBody>
      </p:sp>
      <p:sp>
        <p:nvSpPr>
          <p:cNvPr id="10" name="artifact-0-head">
            <a:extLst xmlns:a="http://schemas.openxmlformats.org/drawingml/2006/main">
              <a:ext uri="{FF2B5EF4-FFF2-40B4-BE49-F238E27FC236}">
                <a16:creationId xmlns:a16="http://schemas.microsoft.com/office/drawing/2014/main" id="{09AD029F-58CE-47F7-B708-A0036EECC7CF}"/>
              </a:ext>
            </a:extLst>
          </p:cNvPr>
          <p:cNvSpPr>
            <a:spLocks xmlns:a="http://schemas.openxmlformats.org/drawingml/2006/main" noGrp="1"/>
          </p:cNvSpPr>
          <p:nvPr/>
        </p:nvSpPr>
        <p:spPr>
          <a:xfrm xmlns:a="http://schemas.openxmlformats.org/drawingml/2006/main">
            <a:off x="876300" y="257175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CC8B8"/>
                </a:solidFill>
                <a:latin typeface="Avenir Next"/>
                <a:ea typeface="Avenir Next"/>
                <a:cs typeface="Avenir Next"/>
              </a:defRPr>
            </a:defPPr>
          </a:lstStyle>
          <a:p xmlns:a="http://schemas.openxmlformats.org/drawingml/2006/main">
            <a:pPr algn="l">
              <a:defRPr sz="1125" b="1" i="0">
                <a:solidFill>
                  <a:srgbClr val="5CC8B8"/>
                </a:solidFill>
                <a:latin typeface="Avenir Next"/>
                <a:ea typeface="Avenir Next"/>
                <a:cs typeface="Avenir Next"/>
              </a:defRPr>
            </a:pPr>
            <a:r>
              <a:rPr sz="1125" b="1" i="0">
                <a:solidFill>
                  <a:srgbClr val="5CC8B8"/>
                </a:solidFill>
                <a:latin typeface="Avenir Next"/>
                <a:ea typeface="Avenir Next"/>
                <a:cs typeface="Avenir Next"/>
              </a:rPr>
              <a:t>SOURCE</a:t>
            </a:r>
          </a:p>
        </p:txBody>
      </p:sp>
      <p:sp>
        <p:nvSpPr>
          <p:cNvPr id="11" name="artifact-0-body">
            <a:extLst xmlns:a="http://schemas.openxmlformats.org/drawingml/2006/main">
              <a:ext uri="{FF2B5EF4-FFF2-40B4-BE49-F238E27FC236}">
                <a16:creationId xmlns:a16="http://schemas.microsoft.com/office/drawing/2014/main" id="{6EC0EA80-1847-4D9C-8E0F-42AFFE09BC2E}"/>
              </a:ext>
            </a:extLst>
          </p:cNvPr>
          <p:cNvSpPr>
            <a:spLocks xmlns:a="http://schemas.openxmlformats.org/drawingml/2006/main" noGrp="1"/>
          </p:cNvSpPr>
          <p:nvPr/>
        </p:nvSpPr>
        <p:spPr>
          <a:xfrm xmlns:a="http://schemas.openxmlformats.org/drawingml/2006/main">
            <a:off x="3000375" y="2552700"/>
            <a:ext cx="828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Avenir Next"/>
                <a:ea typeface="Avenir Next"/>
                <a:cs typeface="Avenir Next"/>
              </a:defRPr>
            </a:defPPr>
          </a:lstStyle>
          <a:p xmlns:a="http://schemas.openxmlformats.org/drawingml/2006/main">
            <a:pPr algn="l">
              <a:defRPr sz="1350" b="0" i="0">
                <a:solidFill>
                  <a:srgbClr val="F5F2EA"/>
                </a:solidFill>
                <a:latin typeface="Avenir Next"/>
                <a:ea typeface="Avenir Next"/>
                <a:cs typeface="Avenir Next"/>
              </a:defRPr>
            </a:pPr>
            <a:r>
              <a:rPr sz="1350" b="0" i="0">
                <a:solidFill>
                  <a:srgbClr val="F5F2EA"/>
                </a:solidFill>
                <a:latin typeface="Avenir Next"/>
                <a:ea typeface="Avenir Next"/>
                <a:cs typeface="Avenir Next"/>
              </a:rPr>
              <a:t>C++ compiler · graph checker · source adapters · finite channel analyzer</a:t>
            </a:r>
          </a:p>
        </p:txBody>
      </p:sp>
      <p:sp>
        <p:nvSpPr>
          <p:cNvPr id="12" name="artifact-0-rule">
            <a:extLst xmlns:a="http://schemas.openxmlformats.org/drawingml/2006/main">
              <a:ext uri="{FF2B5EF4-FFF2-40B4-BE49-F238E27FC236}">
                <a16:creationId xmlns:a16="http://schemas.microsoft.com/office/drawing/2014/main" id="{2177CD82-F85B-4575-9B16-D4FD3CB46F63}"/>
              </a:ext>
            </a:extLst>
          </p:cNvPr>
          <p:cNvSpPr>
            <a:spLocks xmlns:a="http://schemas.openxmlformats.org/drawingml/2006/main" noGrp="1"/>
          </p:cNvSpPr>
          <p:nvPr/>
        </p:nvSpPr>
        <p:spPr>
          <a:xfrm xmlns:a="http://schemas.openxmlformats.org/drawingml/2006/main">
            <a:off x="876300" y="3000375"/>
            <a:ext cx="103822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3" name="artifact-1-head">
            <a:extLst xmlns:a="http://schemas.openxmlformats.org/drawingml/2006/main">
              <a:ext uri="{FF2B5EF4-FFF2-40B4-BE49-F238E27FC236}">
                <a16:creationId xmlns:a16="http://schemas.microsoft.com/office/drawing/2014/main" id="{F7B7B276-347C-411C-B7B1-A2494917F852}"/>
              </a:ext>
            </a:extLst>
          </p:cNvPr>
          <p:cNvSpPr>
            <a:spLocks xmlns:a="http://schemas.openxmlformats.org/drawingml/2006/main" noGrp="1"/>
          </p:cNvSpPr>
          <p:nvPr/>
        </p:nvSpPr>
        <p:spPr>
          <a:xfrm xmlns:a="http://schemas.openxmlformats.org/drawingml/2006/main">
            <a:off x="876300" y="328612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F8A5C"/>
                </a:solidFill>
                <a:latin typeface="Avenir Next"/>
                <a:ea typeface="Avenir Next"/>
                <a:cs typeface="Avenir Next"/>
              </a:defRPr>
            </a:defPPr>
          </a:lstStyle>
          <a:p xmlns:a="http://schemas.openxmlformats.org/drawingml/2006/main">
            <a:pPr algn="l">
              <a:defRPr sz="1125" b="1" i="0">
                <a:solidFill>
                  <a:srgbClr val="FF8A5C"/>
                </a:solidFill>
                <a:latin typeface="Avenir Next"/>
                <a:ea typeface="Avenir Next"/>
                <a:cs typeface="Avenir Next"/>
              </a:defRPr>
            </a:pPr>
            <a:r>
              <a:rPr sz="1125" b="1" i="0">
                <a:solidFill>
                  <a:srgbClr val="FF8A5C"/>
                </a:solidFill>
                <a:latin typeface="Avenir Next"/>
                <a:ea typeface="Avenir Next"/>
                <a:cs typeface="Avenir Next"/>
              </a:rPr>
              <a:t>INDEPENDENT CHECKS</a:t>
            </a:r>
          </a:p>
        </p:txBody>
      </p:sp>
      <p:sp>
        <p:nvSpPr>
          <p:cNvPr id="14" name="artifact-1-body">
            <a:extLst xmlns:a="http://schemas.openxmlformats.org/drawingml/2006/main">
              <a:ext uri="{FF2B5EF4-FFF2-40B4-BE49-F238E27FC236}">
                <a16:creationId xmlns:a16="http://schemas.microsoft.com/office/drawing/2014/main" id="{0E5CF6AD-9681-4CCC-99C7-B3E0B196E7C8}"/>
              </a:ext>
            </a:extLst>
          </p:cNvPr>
          <p:cNvSpPr>
            <a:spLocks xmlns:a="http://schemas.openxmlformats.org/drawingml/2006/main" noGrp="1"/>
          </p:cNvSpPr>
          <p:nvPr/>
        </p:nvSpPr>
        <p:spPr>
          <a:xfrm xmlns:a="http://schemas.openxmlformats.org/drawingml/2006/main">
            <a:off x="3000375" y="3267075"/>
            <a:ext cx="828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Avenir Next"/>
                <a:ea typeface="Avenir Next"/>
                <a:cs typeface="Avenir Next"/>
              </a:defRPr>
            </a:defPPr>
          </a:lstStyle>
          <a:p xmlns:a="http://schemas.openxmlformats.org/drawingml/2006/main">
            <a:pPr algn="l">
              <a:defRPr sz="1350" b="0" i="0">
                <a:solidFill>
                  <a:srgbClr val="F5F2EA"/>
                </a:solidFill>
                <a:latin typeface="Avenir Next"/>
                <a:ea typeface="Avenir Next"/>
                <a:cs typeface="Avenir Next"/>
              </a:defRPr>
            </a:pPr>
            <a:r>
              <a:rPr sz="1350" b="0" i="0">
                <a:solidFill>
                  <a:srgbClr val="F5F2EA"/>
                </a:solidFill>
                <a:latin typeface="Avenir Next"/>
                <a:ea typeface="Avenir Next"/>
                <a:cs typeface="Avenir Next"/>
              </a:rPr>
              <a:t>Source-cost auditor · graph, partition and trace-law replayers · no-merge DFS</a:t>
            </a:r>
          </a:p>
        </p:txBody>
      </p:sp>
      <p:sp>
        <p:nvSpPr>
          <p:cNvPr id="15" name="artifact-1-rule">
            <a:extLst xmlns:a="http://schemas.openxmlformats.org/drawingml/2006/main">
              <a:ext uri="{FF2B5EF4-FFF2-40B4-BE49-F238E27FC236}">
                <a16:creationId xmlns:a16="http://schemas.microsoft.com/office/drawing/2014/main" id="{18DA2C3D-E3D9-4294-B7DE-15BFEE5D67D7}"/>
              </a:ext>
            </a:extLst>
          </p:cNvPr>
          <p:cNvSpPr>
            <a:spLocks xmlns:a="http://schemas.openxmlformats.org/drawingml/2006/main" noGrp="1"/>
          </p:cNvSpPr>
          <p:nvPr/>
        </p:nvSpPr>
        <p:spPr>
          <a:xfrm xmlns:a="http://schemas.openxmlformats.org/drawingml/2006/main">
            <a:off x="876300" y="3714750"/>
            <a:ext cx="103822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6" name="artifact-2-head">
            <a:extLst xmlns:a="http://schemas.openxmlformats.org/drawingml/2006/main">
              <a:ext uri="{FF2B5EF4-FFF2-40B4-BE49-F238E27FC236}">
                <a16:creationId xmlns:a16="http://schemas.microsoft.com/office/drawing/2014/main" id="{6923C619-E61A-495E-AE46-C8B3E2168009}"/>
              </a:ext>
            </a:extLst>
          </p:cNvPr>
          <p:cNvSpPr>
            <a:spLocks xmlns:a="http://schemas.openxmlformats.org/drawingml/2006/main" noGrp="1"/>
          </p:cNvSpPr>
          <p:nvPr/>
        </p:nvSpPr>
        <p:spPr>
          <a:xfrm xmlns:a="http://schemas.openxmlformats.org/drawingml/2006/main">
            <a:off x="876300" y="40005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CC8B8"/>
                </a:solidFill>
                <a:latin typeface="Avenir Next"/>
                <a:ea typeface="Avenir Next"/>
                <a:cs typeface="Avenir Next"/>
              </a:defRPr>
            </a:defPPr>
          </a:lstStyle>
          <a:p xmlns:a="http://schemas.openxmlformats.org/drawingml/2006/main">
            <a:pPr algn="l">
              <a:defRPr sz="1125" b="1" i="0">
                <a:solidFill>
                  <a:srgbClr val="5CC8B8"/>
                </a:solidFill>
                <a:latin typeface="Avenir Next"/>
                <a:ea typeface="Avenir Next"/>
                <a:cs typeface="Avenir Next"/>
              </a:defRPr>
            </a:pPr>
            <a:r>
              <a:rPr sz="1125" b="1" i="0">
                <a:solidFill>
                  <a:srgbClr val="5CC8B8"/>
                </a:solidFill>
                <a:latin typeface="Avenir Next"/>
                <a:ea typeface="Avenir Next"/>
                <a:cs typeface="Avenir Next"/>
              </a:rPr>
              <a:t>EVIDENCE</a:t>
            </a:r>
          </a:p>
        </p:txBody>
      </p:sp>
      <p:sp>
        <p:nvSpPr>
          <p:cNvPr id="17" name="artifact-2-body">
            <a:extLst xmlns:a="http://schemas.openxmlformats.org/drawingml/2006/main">
              <a:ext uri="{FF2B5EF4-FFF2-40B4-BE49-F238E27FC236}">
                <a16:creationId xmlns:a16="http://schemas.microsoft.com/office/drawing/2014/main" id="{7249E78B-9C2D-4390-BD59-AB9DC3AE7D53}"/>
              </a:ext>
            </a:extLst>
          </p:cNvPr>
          <p:cNvSpPr>
            <a:spLocks xmlns:a="http://schemas.openxmlformats.org/drawingml/2006/main" noGrp="1"/>
          </p:cNvSpPr>
          <p:nvPr/>
        </p:nvSpPr>
        <p:spPr>
          <a:xfrm xmlns:a="http://schemas.openxmlformats.org/drawingml/2006/main">
            <a:off x="3000375" y="3981450"/>
            <a:ext cx="828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Avenir Next"/>
                <a:ea typeface="Avenir Next"/>
                <a:cs typeface="Avenir Next"/>
              </a:defRPr>
            </a:defPPr>
          </a:lstStyle>
          <a:p xmlns:a="http://schemas.openxmlformats.org/drawingml/2006/main">
            <a:pPr algn="l">
              <a:defRPr sz="1350" b="0" i="0">
                <a:solidFill>
                  <a:srgbClr val="F5F2EA"/>
                </a:solidFill>
                <a:latin typeface="Avenir Next"/>
                <a:ea typeface="Avenir Next"/>
                <a:cs typeface="Avenir Next"/>
              </a:defRPr>
            </a:pPr>
            <a:r>
              <a:rPr sz="1350" b="0" i="0">
                <a:solidFill>
                  <a:srgbClr val="F5F2EA"/>
                </a:solidFill>
                <a:latin typeface="Avenir Next"/>
                <a:ea typeface="Avenir Next"/>
                <a:cs typeface="Avenir Next"/>
              </a:rPr>
              <a:t>Hash-bound reports · pinned runtime · offline fixtures · explicit unknowns</a:t>
            </a:r>
          </a:p>
        </p:txBody>
      </p:sp>
      <p:sp>
        <p:nvSpPr>
          <p:cNvPr id="18" name="artifact-2-rule">
            <a:extLst xmlns:a="http://schemas.openxmlformats.org/drawingml/2006/main">
              <a:ext uri="{FF2B5EF4-FFF2-40B4-BE49-F238E27FC236}">
                <a16:creationId xmlns:a16="http://schemas.microsoft.com/office/drawing/2014/main" id="{05CEC376-0FCC-40B0-BF6C-17D13942072C}"/>
              </a:ext>
            </a:extLst>
          </p:cNvPr>
          <p:cNvSpPr>
            <a:spLocks xmlns:a="http://schemas.openxmlformats.org/drawingml/2006/main" noGrp="1"/>
          </p:cNvSpPr>
          <p:nvPr/>
        </p:nvSpPr>
        <p:spPr>
          <a:xfrm xmlns:a="http://schemas.openxmlformats.org/drawingml/2006/main">
            <a:off x="876300" y="4429125"/>
            <a:ext cx="103822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9" name="artifact-3-head">
            <a:extLst xmlns:a="http://schemas.openxmlformats.org/drawingml/2006/main">
              <a:ext uri="{FF2B5EF4-FFF2-40B4-BE49-F238E27FC236}">
                <a16:creationId xmlns:a16="http://schemas.microsoft.com/office/drawing/2014/main" id="{240DE293-42D8-46D3-9A99-38409576EA21}"/>
              </a:ext>
            </a:extLst>
          </p:cNvPr>
          <p:cNvSpPr>
            <a:spLocks xmlns:a="http://schemas.openxmlformats.org/drawingml/2006/main" noGrp="1"/>
          </p:cNvSpPr>
          <p:nvPr/>
        </p:nvSpPr>
        <p:spPr>
          <a:xfrm xmlns:a="http://schemas.openxmlformats.org/drawingml/2006/main">
            <a:off x="876300" y="4714875"/>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F8A5C"/>
                </a:solidFill>
                <a:latin typeface="Avenir Next"/>
                <a:ea typeface="Avenir Next"/>
                <a:cs typeface="Avenir Next"/>
              </a:defRPr>
            </a:defPPr>
          </a:lstStyle>
          <a:p xmlns:a="http://schemas.openxmlformats.org/drawingml/2006/main">
            <a:pPr algn="l">
              <a:defRPr sz="1125" b="1" i="0">
                <a:solidFill>
                  <a:srgbClr val="FF8A5C"/>
                </a:solidFill>
                <a:latin typeface="Avenir Next"/>
                <a:ea typeface="Avenir Next"/>
                <a:cs typeface="Avenir Next"/>
              </a:defRPr>
            </a:pPr>
            <a:r>
              <a:rPr sz="1125" b="1" i="0">
                <a:solidFill>
                  <a:srgbClr val="FF8A5C"/>
                </a:solidFill>
                <a:latin typeface="Avenir Next"/>
                <a:ea typeface="Avenir Next"/>
                <a:cs typeface="Avenir Next"/>
              </a:rPr>
              <a:t>ACCESS</a:t>
            </a:r>
          </a:p>
        </p:txBody>
      </p:sp>
      <p:sp>
        <p:nvSpPr>
          <p:cNvPr id="20" name="artifact-3-body">
            <a:extLst xmlns:a="http://schemas.openxmlformats.org/drawingml/2006/main">
              <a:ext uri="{FF2B5EF4-FFF2-40B4-BE49-F238E27FC236}">
                <a16:creationId xmlns:a16="http://schemas.microsoft.com/office/drawing/2014/main" id="{262FB2EA-C0A9-441E-8193-E3BC8A60EC49}"/>
              </a:ext>
            </a:extLst>
          </p:cNvPr>
          <p:cNvSpPr>
            <a:spLocks xmlns:a="http://schemas.openxmlformats.org/drawingml/2006/main" noGrp="1"/>
          </p:cNvSpPr>
          <p:nvPr/>
        </p:nvSpPr>
        <p:spPr>
          <a:xfrm xmlns:a="http://schemas.openxmlformats.org/drawingml/2006/main">
            <a:off x="3000375" y="4695825"/>
            <a:ext cx="828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i="0">
                <a:solidFill>
                  <a:srgbClr val="F5F2EA"/>
                </a:solidFill>
                <a:latin typeface="Avenir Next"/>
                <a:ea typeface="Avenir Next"/>
                <a:cs typeface="Avenir Next"/>
              </a:defRPr>
            </a:defPPr>
          </a:lstStyle>
          <a:p xmlns:a="http://schemas.openxmlformats.org/drawingml/2006/main">
            <a:pPr algn="l">
              <a:defRPr sz="1350" b="0" i="0">
                <a:solidFill>
                  <a:srgbClr val="F5F2EA"/>
                </a:solidFill>
                <a:latin typeface="Avenir Next"/>
                <a:ea typeface="Avenir Next"/>
                <a:cs typeface="Avenir Next"/>
              </a:defRPr>
            </a:pPr>
            <a:r>
              <a:rPr sz="1350" b="0" i="0">
                <a:solidFill>
                  <a:srgbClr val="F5F2EA"/>
                </a:solidFill>
                <a:latin typeface="Avenir Next"/>
                <a:ea typeface="Avenir Next"/>
                <a:cs typeface="Avenir Next"/>
              </a:rPr>
              <a:t>MIT license · citation metadata · install/build/reproduce instructions</a:t>
            </a:r>
          </a:p>
        </p:txBody>
      </p:sp>
      <p:sp>
        <p:nvSpPr>
          <p:cNvPr id="21" name="artifact-3-rule">
            <a:extLst xmlns:a="http://schemas.openxmlformats.org/drawingml/2006/main">
              <a:ext uri="{FF2B5EF4-FFF2-40B4-BE49-F238E27FC236}">
                <a16:creationId xmlns:a16="http://schemas.microsoft.com/office/drawing/2014/main" id="{409B764C-6315-4677-A3EB-6AD7E05BF2A5}"/>
              </a:ext>
            </a:extLst>
          </p:cNvPr>
          <p:cNvSpPr>
            <a:spLocks xmlns:a="http://schemas.openxmlformats.org/drawingml/2006/main" noGrp="1"/>
          </p:cNvSpPr>
          <p:nvPr/>
        </p:nvSpPr>
        <p:spPr>
          <a:xfrm xmlns:a="http://schemas.openxmlformats.org/drawingml/2006/main">
            <a:off x="876300" y="5143500"/>
            <a:ext cx="103822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2" name="artifact-scope">
            <a:extLst xmlns:a="http://schemas.openxmlformats.org/drawingml/2006/main">
              <a:ext uri="{FF2B5EF4-FFF2-40B4-BE49-F238E27FC236}">
                <a16:creationId xmlns:a16="http://schemas.microsoft.com/office/drawing/2014/main" id="{D82FF994-C713-4A44-A21E-87680DAC25FA}"/>
              </a:ext>
            </a:extLst>
          </p:cNvPr>
          <p:cNvSpPr>
            <a:spLocks xmlns:a="http://schemas.openxmlformats.org/drawingml/2006/main" noGrp="1"/>
          </p:cNvSpPr>
          <p:nvPr/>
        </p:nvSpPr>
        <p:spPr>
          <a:xfrm xmlns:a="http://schemas.openxmlformats.org/drawingml/2006/main">
            <a:off x="1028700" y="5638800"/>
            <a:ext cx="101441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i="0">
                <a:solidFill>
                  <a:srgbClr val="B8C1D1"/>
                </a:solidFill>
                <a:latin typeface="Avenir Next"/>
                <a:ea typeface="Avenir Next"/>
                <a:cs typeface="Avenir Next"/>
              </a:defRPr>
            </a:defPPr>
          </a:lstStyle>
          <a:p xmlns:a="http://schemas.openxmlformats.org/drawingml/2006/main">
            <a:pPr algn="ctr">
              <a:defRPr sz="1200" b="1" i="0">
                <a:solidFill>
                  <a:srgbClr val="B8C1D1"/>
                </a:solidFill>
                <a:latin typeface="Avenir Next"/>
                <a:ea typeface="Avenir Next"/>
                <a:cs typeface="Avenir Next"/>
              </a:defRPr>
            </a:pPr>
            <a:r>
              <a:rPr sz="1200" b="1" i="0">
                <a:solidFill>
                  <a:srgbClr val="B8C1D1"/>
                </a:solidFill>
                <a:latin typeface="Avenir Next"/>
                <a:ea typeface="Avenir Next"/>
                <a:cs typeface="Avenir Next"/>
              </a:rPr>
              <a:t>Reproducible evidence supports review; it does not replace a soundness proof or venue decision.</a:t>
            </a:r>
          </a:p>
        </p:txBody>
      </p:sp>
    </p:spTree>
    <p:extLst>
      <p:ext uri="{BB962C8B-B14F-4D97-AF65-F5344CB8AC3E}">
        <p14:creationId xmlns:p14="http://schemas.microsoft.com/office/powerpoint/2010/main" val="289632799"/>
      </p:ext>
    </p:extLst>
  </p:cSld>
</p:sld>
</file>

<file path=ppt/slides/slide2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s25-brand">
            <a:extLst xmlns:a="http://schemas.openxmlformats.org/drawingml/2006/main">
              <a:ext uri="{FF2B5EF4-FFF2-40B4-BE49-F238E27FC236}">
                <a16:creationId xmlns:a16="http://schemas.microsoft.com/office/drawing/2014/main" id="{E2555AB5-DD02-49B7-B3E0-52D1DFEECBD3}"/>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5-section">
            <a:extLst xmlns:a="http://schemas.openxmlformats.org/drawingml/2006/main">
              <a:ext uri="{FF2B5EF4-FFF2-40B4-BE49-F238E27FC236}">
                <a16:creationId xmlns:a16="http://schemas.microsoft.com/office/drawing/2014/main" id="{15579EC9-5A82-4EB5-BDC1-D744357E103E}"/>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CONCLUSION</a:t>
            </a:r>
          </a:p>
        </p:txBody>
      </p:sp>
      <p:sp>
        <p:nvSpPr>
          <p:cNvPr id="3" name="s25-title">
            <a:extLst xmlns:a="http://schemas.openxmlformats.org/drawingml/2006/main">
              <a:ext uri="{FF2B5EF4-FFF2-40B4-BE49-F238E27FC236}">
                <a16:creationId xmlns:a16="http://schemas.microsoft.com/office/drawing/2014/main" id="{2CF28928-C243-45D1-962F-8A3BF51022B6}"/>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A narrow usage contract supports reviewable claims</a:t>
            </a:r>
          </a:p>
        </p:txBody>
      </p:sp>
      <p:sp>
        <p:nvSpPr>
          <p:cNvPr id="4" name="s25-subtitle">
            <a:extLst xmlns:a="http://schemas.openxmlformats.org/drawingml/2006/main">
              <a:ext uri="{FF2B5EF4-FFF2-40B4-BE49-F238E27FC236}">
                <a16:creationId xmlns:a16="http://schemas.microsoft.com/office/drawing/2014/main" id="{62A5B708-1EA8-40D8-A5B4-7999F7D973F6}"/>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646B7A"/>
                </a:solidFill>
                <a:latin typeface="Avenir Next"/>
                <a:ea typeface="Avenir Next"/>
                <a:cs typeface="Avenir Next"/>
              </a:defRPr>
            </a:defPPr>
          </a:lstStyle>
          <a:p xmlns:a="http://schemas.openxmlformats.org/drawingml/2006/main">
            <a:pPr algn="l">
              <a:defRPr sz="1575" b="0" i="0">
                <a:solidFill>
                  <a:srgbClr val="646B7A"/>
                </a:solidFill>
                <a:latin typeface="Avenir Next"/>
                <a:ea typeface="Avenir Next"/>
                <a:cs typeface="Avenir Next"/>
              </a:defRPr>
            </a:pPr>
            <a:r>
              <a:rPr sz="1575" b="0" i="0">
                <a:solidFill>
                  <a:srgbClr val="646B7A"/>
                </a:solidFill>
                <a:latin typeface="Avenir Next"/>
                <a:ea typeface="Avenir Next"/>
                <a:cs typeface="Avenir Next"/>
              </a:rPr>
              <a:t>Static relations, exact trace laws and offline executions answer different questions.</a:t>
            </a:r>
          </a:p>
        </p:txBody>
      </p:sp>
      <p:sp>
        <p:nvSpPr>
          <p:cNvPr id="5" name="s25-source-rule">
            <a:extLst xmlns:a="http://schemas.openxmlformats.org/drawingml/2006/main">
              <a:ext uri="{FF2B5EF4-FFF2-40B4-BE49-F238E27FC236}">
                <a16:creationId xmlns:a16="http://schemas.microsoft.com/office/drawing/2014/main" id="{2F19960E-9B13-4079-9A52-8713C743A709}"/>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6" name="s25-sources">
            <a:extLst xmlns:a="http://schemas.openxmlformats.org/drawingml/2006/main">
              <a:ext uri="{FF2B5EF4-FFF2-40B4-BE49-F238E27FC236}">
                <a16:creationId xmlns:a16="http://schemas.microsoft.com/office/drawing/2014/main" id="{C6F9F9DC-7879-48A3-A410-99F84A59A042}"/>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docs/PAPER.md</a:t>
            </a:r>
          </a:p>
        </p:txBody>
      </p:sp>
      <p:sp>
        <p:nvSpPr>
          <p:cNvPr id="7" name="s25-footer-rule">
            <a:extLst xmlns:a="http://schemas.openxmlformats.org/drawingml/2006/main">
              <a:ext uri="{FF2B5EF4-FFF2-40B4-BE49-F238E27FC236}">
                <a16:creationId xmlns:a16="http://schemas.microsoft.com/office/drawing/2014/main" id="{6B94E316-0F88-4C10-9087-15135356898B}"/>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8" name="s25-footer">
            <a:extLst xmlns:a="http://schemas.openxmlformats.org/drawingml/2006/main">
              <a:ext uri="{FF2B5EF4-FFF2-40B4-BE49-F238E27FC236}">
                <a16:creationId xmlns:a16="http://schemas.microsoft.com/office/drawing/2014/main" id="{FD6D0BCA-7CDC-4585-A63E-C9EBC3FF8861}"/>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9" name="s25-page">
            <a:extLst xmlns:a="http://schemas.openxmlformats.org/drawingml/2006/main">
              <a:ext uri="{FF2B5EF4-FFF2-40B4-BE49-F238E27FC236}">
                <a16:creationId xmlns:a16="http://schemas.microsoft.com/office/drawing/2014/main" id="{2E10F5D2-9ACD-43A0-9A51-A56F347EC820}"/>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25</a:t>
            </a:r>
          </a:p>
        </p:txBody>
      </p:sp>
      <p:sp>
        <p:nvSpPr>
          <p:cNvPr id="10" name="close-tag-0-pill">
            <a:extLst xmlns:a="http://schemas.openxmlformats.org/drawingml/2006/main">
              <a:ext uri="{FF2B5EF4-FFF2-40B4-BE49-F238E27FC236}">
                <a16:creationId xmlns:a16="http://schemas.microsoft.com/office/drawing/2014/main" id="{04CE57DE-CC7A-4234-ADE2-B205CE917223}"/>
              </a:ext>
            </a:extLst>
          </p:cNvPr>
          <p:cNvSpPr>
            <a:spLocks xmlns:a="http://schemas.openxmlformats.org/drawingml/2006/main" noGrp="1"/>
          </p:cNvSpPr>
          <p:nvPr/>
        </p:nvSpPr>
        <p:spPr>
          <a:xfrm xmlns:a="http://schemas.openxmlformats.org/drawingml/2006/main">
            <a:off x="952500" y="2619375"/>
            <a:ext cx="1809750" cy="266700"/>
          </a:xfrm>
          <a:prstGeom xmlns:a="http://schemas.openxmlformats.org/drawingml/2006/main" prst="roundRect">
            <a:avLst>
              <a:gd name="adj" fmla="val 35714"/>
            </a:avLst>
          </a:prstGeom>
          <a:solidFill xmlns:a="http://schemas.openxmlformats.org/drawingml/2006/main">
            <a:srgbClr val="1F6F66"/>
          </a:solidFill>
          <a:ln xmlns:a="http://schemas.openxmlformats.org/drawingml/2006/main" w="0">
            <a:noFill/>
            <a:prstDash val="solid"/>
          </a:ln>
        </p:spPr>
      </p:sp>
      <p:sp>
        <p:nvSpPr>
          <p:cNvPr id="11" name="close-tag-0-text">
            <a:extLst xmlns:a="http://schemas.openxmlformats.org/drawingml/2006/main">
              <a:ext uri="{FF2B5EF4-FFF2-40B4-BE49-F238E27FC236}">
                <a16:creationId xmlns:a16="http://schemas.microsoft.com/office/drawing/2014/main" id="{7BBE029F-4838-4958-97FB-E93BA0FCCED1}"/>
              </a:ext>
            </a:extLst>
          </p:cNvPr>
          <p:cNvSpPr>
            <a:spLocks xmlns:a="http://schemas.openxmlformats.org/drawingml/2006/main" noGrp="1"/>
          </p:cNvSpPr>
          <p:nvPr/>
        </p:nvSpPr>
        <p:spPr>
          <a:xfrm xmlns:a="http://schemas.openxmlformats.org/drawingml/2006/main">
            <a:off x="1047750" y="266700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F5F2EA"/>
                </a:solidFill>
                <a:latin typeface="Avenir Next"/>
                <a:ea typeface="Avenir Next"/>
                <a:cs typeface="Avenir Next"/>
              </a:defRPr>
            </a:defPPr>
          </a:lstStyle>
          <a:p xmlns:a="http://schemas.openxmlformats.org/drawingml/2006/main">
            <a:pPr algn="ctr">
              <a:defRPr sz="975" b="1" i="0">
                <a:solidFill>
                  <a:srgbClr val="F5F2EA"/>
                </a:solidFill>
                <a:latin typeface="Avenir Next"/>
                <a:ea typeface="Avenir Next"/>
                <a:cs typeface="Avenir Next"/>
              </a:defRPr>
            </a:pPr>
            <a:r>
              <a:rPr sz="975" b="1" i="0">
                <a:solidFill>
                  <a:srgbClr val="F5F2EA"/>
                </a:solidFill>
                <a:latin typeface="Avenir Next"/>
                <a:ea typeface="Avenir Next"/>
                <a:cs typeface="Avenir Next"/>
              </a:rPr>
              <a:t>STATIC</a:t>
            </a:r>
          </a:p>
        </p:txBody>
      </p:sp>
      <p:sp>
        <p:nvSpPr>
          <p:cNvPr id="12" name="close-body-0">
            <a:extLst xmlns:a="http://schemas.openxmlformats.org/drawingml/2006/main">
              <a:ext uri="{FF2B5EF4-FFF2-40B4-BE49-F238E27FC236}">
                <a16:creationId xmlns:a16="http://schemas.microsoft.com/office/drawing/2014/main" id="{F0F1EA1D-2BF9-4B29-9499-B65C5AE7B243}"/>
              </a:ext>
            </a:extLst>
          </p:cNvPr>
          <p:cNvSpPr>
            <a:spLocks xmlns:a="http://schemas.openxmlformats.org/drawingml/2006/main" noGrp="1"/>
          </p:cNvSpPr>
          <p:nvPr/>
        </p:nvSpPr>
        <p:spPr>
          <a:xfrm xmlns:a="http://schemas.openxmlformats.org/drawingml/2006/main">
            <a:off x="3143250" y="2571750"/>
            <a:ext cx="790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41B2B"/>
                </a:solidFill>
                <a:latin typeface="Avenir Next"/>
                <a:ea typeface="Avenir Next"/>
                <a:cs typeface="Avenir Next"/>
              </a:defRPr>
            </a:defPPr>
          </a:lstStyle>
          <a:p xmlns:a="http://schemas.openxmlformats.org/drawingml/2006/main">
            <a:pPr algn="l">
              <a:defRPr sz="1575" b="1" i="0">
                <a:solidFill>
                  <a:srgbClr val="141B2B"/>
                </a:solidFill>
                <a:latin typeface="Avenir Next"/>
                <a:ea typeface="Avenir Next"/>
                <a:cs typeface="Avenir Next"/>
              </a:defRPr>
            </a:pPr>
            <a:r>
              <a:rPr sz="1575" b="1" i="0">
                <a:solidFill>
                  <a:srgbClr val="141B2B"/>
                </a:solidFill>
                <a:latin typeface="Avenir Next"/>
                <a:ea typeface="Avenir Next"/>
                <a:cs typeface="Avenir Next"/>
              </a:rPr>
              <a:t>Compare modeled usage traces across secret choices.</a:t>
            </a:r>
          </a:p>
        </p:txBody>
      </p:sp>
      <p:sp>
        <p:nvSpPr>
          <p:cNvPr id="13" name="close-rule-0">
            <a:extLst xmlns:a="http://schemas.openxmlformats.org/drawingml/2006/main">
              <a:ext uri="{FF2B5EF4-FFF2-40B4-BE49-F238E27FC236}">
                <a16:creationId xmlns:a16="http://schemas.microsoft.com/office/drawing/2014/main" id="{331CE127-1AE4-4AC7-BD9D-5E97581F284F}"/>
              </a:ext>
            </a:extLst>
          </p:cNvPr>
          <p:cNvSpPr>
            <a:spLocks xmlns:a="http://schemas.openxmlformats.org/drawingml/2006/main" noGrp="1"/>
          </p:cNvSpPr>
          <p:nvPr/>
        </p:nvSpPr>
        <p:spPr>
          <a:xfrm xmlns:a="http://schemas.openxmlformats.org/drawingml/2006/main">
            <a:off x="952500" y="3171825"/>
            <a:ext cx="10096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4" name="close-tag-1-pill">
            <a:extLst xmlns:a="http://schemas.openxmlformats.org/drawingml/2006/main">
              <a:ext uri="{FF2B5EF4-FFF2-40B4-BE49-F238E27FC236}">
                <a16:creationId xmlns:a16="http://schemas.microsoft.com/office/drawing/2014/main" id="{AC79E2EA-66EE-47A3-9B5D-C909F3755D6A}"/>
              </a:ext>
            </a:extLst>
          </p:cNvPr>
          <p:cNvSpPr>
            <a:spLocks xmlns:a="http://schemas.openxmlformats.org/drawingml/2006/main" noGrp="1"/>
          </p:cNvSpPr>
          <p:nvPr/>
        </p:nvSpPr>
        <p:spPr>
          <a:xfrm xmlns:a="http://schemas.openxmlformats.org/drawingml/2006/main">
            <a:off x="952500" y="3486150"/>
            <a:ext cx="1809750" cy="266700"/>
          </a:xfrm>
          <a:prstGeom xmlns:a="http://schemas.openxmlformats.org/drawingml/2006/main" prst="roundRect">
            <a:avLst>
              <a:gd name="adj" fmla="val 35714"/>
            </a:avLst>
          </a:prstGeom>
          <a:solidFill xmlns:a="http://schemas.openxmlformats.org/drawingml/2006/main">
            <a:srgbClr val="FF8A5C"/>
          </a:solidFill>
          <a:ln xmlns:a="http://schemas.openxmlformats.org/drawingml/2006/main" w="0">
            <a:noFill/>
            <a:prstDash val="solid"/>
          </a:ln>
        </p:spPr>
      </p:sp>
      <p:sp>
        <p:nvSpPr>
          <p:cNvPr id="15" name="close-tag-1-text">
            <a:extLst xmlns:a="http://schemas.openxmlformats.org/drawingml/2006/main">
              <a:ext uri="{FF2B5EF4-FFF2-40B4-BE49-F238E27FC236}">
                <a16:creationId xmlns:a16="http://schemas.microsoft.com/office/drawing/2014/main" id="{19AC36DD-4469-4856-9321-79FBEE323F41}"/>
              </a:ext>
            </a:extLst>
          </p:cNvPr>
          <p:cNvSpPr>
            <a:spLocks xmlns:a="http://schemas.openxmlformats.org/drawingml/2006/main" noGrp="1"/>
          </p:cNvSpPr>
          <p:nvPr/>
        </p:nvSpPr>
        <p:spPr>
          <a:xfrm xmlns:a="http://schemas.openxmlformats.org/drawingml/2006/main">
            <a:off x="1047750" y="3533775"/>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141B2B"/>
                </a:solidFill>
                <a:latin typeface="Avenir Next"/>
                <a:ea typeface="Avenir Next"/>
                <a:cs typeface="Avenir Next"/>
              </a:defRPr>
            </a:defPPr>
          </a:lstStyle>
          <a:p xmlns:a="http://schemas.openxmlformats.org/drawingml/2006/main">
            <a:pPr algn="ctr">
              <a:defRPr sz="975" b="1" i="0">
                <a:solidFill>
                  <a:srgbClr val="141B2B"/>
                </a:solidFill>
                <a:latin typeface="Avenir Next"/>
                <a:ea typeface="Avenir Next"/>
                <a:cs typeface="Avenir Next"/>
              </a:defRPr>
            </a:pPr>
            <a:r>
              <a:rPr sz="975" b="1" i="0">
                <a:solidFill>
                  <a:srgbClr val="141B2B"/>
                </a:solidFill>
                <a:latin typeface="Avenir Next"/>
                <a:ea typeface="Avenir Next"/>
                <a:cs typeface="Avenir Next"/>
              </a:rPr>
              <a:t>CYCLIC</a:t>
            </a:r>
          </a:p>
        </p:txBody>
      </p:sp>
      <p:sp>
        <p:nvSpPr>
          <p:cNvPr id="16" name="close-body-1">
            <a:extLst xmlns:a="http://schemas.openxmlformats.org/drawingml/2006/main">
              <a:ext uri="{FF2B5EF4-FFF2-40B4-BE49-F238E27FC236}">
                <a16:creationId xmlns:a16="http://schemas.microsoft.com/office/drawing/2014/main" id="{7DBEA40A-3F9C-4F01-ACEE-37662EE237C2}"/>
              </a:ext>
            </a:extLst>
          </p:cNvPr>
          <p:cNvSpPr>
            <a:spLocks xmlns:a="http://schemas.openxmlformats.org/drawingml/2006/main" noGrp="1"/>
          </p:cNvSpPr>
          <p:nvPr/>
        </p:nvSpPr>
        <p:spPr>
          <a:xfrm xmlns:a="http://schemas.openxmlformats.org/drawingml/2006/main">
            <a:off x="3143250" y="3438525"/>
            <a:ext cx="790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41B2B"/>
                </a:solidFill>
                <a:latin typeface="Avenir Next"/>
                <a:ea typeface="Avenir Next"/>
                <a:cs typeface="Avenir Next"/>
              </a:defRPr>
            </a:defPPr>
          </a:lstStyle>
          <a:p xmlns:a="http://schemas.openxmlformats.org/drawingml/2006/main">
            <a:pPr algn="l">
              <a:defRPr sz="1575" b="1" i="0">
                <a:solidFill>
                  <a:srgbClr val="141B2B"/>
                </a:solidFill>
                <a:latin typeface="Avenir Next"/>
                <a:ea typeface="Avenir Next"/>
                <a:cs typeface="Avenir Next"/>
              </a:defRPr>
            </a:pPr>
            <a:r>
              <a:rPr sz="1575" b="1" i="0">
                <a:solidFill>
                  <a:srgbClr val="141B2B"/>
                </a:solidFill>
                <a:latin typeface="Avenir Next"/>
                <a:ea typeface="Avenir Next"/>
                <a:cs typeface="Avenir Next"/>
              </a:rPr>
              <a:t>Close productive graph cycles for every finite prefix.</a:t>
            </a:r>
          </a:p>
        </p:txBody>
      </p:sp>
      <p:sp>
        <p:nvSpPr>
          <p:cNvPr id="17" name="close-rule-1">
            <a:extLst xmlns:a="http://schemas.openxmlformats.org/drawingml/2006/main">
              <a:ext uri="{FF2B5EF4-FFF2-40B4-BE49-F238E27FC236}">
                <a16:creationId xmlns:a16="http://schemas.microsoft.com/office/drawing/2014/main" id="{5620B247-2DBB-4D76-B494-D4518A4DFFF2}"/>
              </a:ext>
            </a:extLst>
          </p:cNvPr>
          <p:cNvSpPr>
            <a:spLocks xmlns:a="http://schemas.openxmlformats.org/drawingml/2006/main" noGrp="1"/>
          </p:cNvSpPr>
          <p:nvPr/>
        </p:nvSpPr>
        <p:spPr>
          <a:xfrm xmlns:a="http://schemas.openxmlformats.org/drawingml/2006/main">
            <a:off x="952500" y="4038600"/>
            <a:ext cx="10096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8" name="close-tag-2-pill">
            <a:extLst xmlns:a="http://schemas.openxmlformats.org/drawingml/2006/main">
              <a:ext uri="{FF2B5EF4-FFF2-40B4-BE49-F238E27FC236}">
                <a16:creationId xmlns:a16="http://schemas.microsoft.com/office/drawing/2014/main" id="{A3E4A0D0-809A-4248-972E-FB4114BCC55E}"/>
              </a:ext>
            </a:extLst>
          </p:cNvPr>
          <p:cNvSpPr>
            <a:spLocks xmlns:a="http://schemas.openxmlformats.org/drawingml/2006/main" noGrp="1"/>
          </p:cNvSpPr>
          <p:nvPr/>
        </p:nvSpPr>
        <p:spPr>
          <a:xfrm xmlns:a="http://schemas.openxmlformats.org/drawingml/2006/main">
            <a:off x="952500" y="4352925"/>
            <a:ext cx="1809750" cy="266700"/>
          </a:xfrm>
          <a:prstGeom xmlns:a="http://schemas.openxmlformats.org/drawingml/2006/main" prst="roundRect">
            <a:avLst>
              <a:gd name="adj" fmla="val 35714"/>
            </a:avLst>
          </a:prstGeom>
          <a:solidFill xmlns:a="http://schemas.openxmlformats.org/drawingml/2006/main">
            <a:srgbClr val="1F6F66"/>
          </a:solidFill>
          <a:ln xmlns:a="http://schemas.openxmlformats.org/drawingml/2006/main" w="0">
            <a:noFill/>
            <a:prstDash val="solid"/>
          </a:ln>
        </p:spPr>
      </p:sp>
      <p:sp>
        <p:nvSpPr>
          <p:cNvPr id="19" name="close-tag-2-text">
            <a:extLst xmlns:a="http://schemas.openxmlformats.org/drawingml/2006/main">
              <a:ext uri="{FF2B5EF4-FFF2-40B4-BE49-F238E27FC236}">
                <a16:creationId xmlns:a16="http://schemas.microsoft.com/office/drawing/2014/main" id="{8E47FDE9-83B6-4B3B-BB01-78B8870C87F6}"/>
              </a:ext>
            </a:extLst>
          </p:cNvPr>
          <p:cNvSpPr>
            <a:spLocks xmlns:a="http://schemas.openxmlformats.org/drawingml/2006/main" noGrp="1"/>
          </p:cNvSpPr>
          <p:nvPr/>
        </p:nvSpPr>
        <p:spPr>
          <a:xfrm xmlns:a="http://schemas.openxmlformats.org/drawingml/2006/main">
            <a:off x="1047750" y="44005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975" b="1" i="0">
                <a:solidFill>
                  <a:srgbClr val="F5F2EA"/>
                </a:solidFill>
                <a:latin typeface="Avenir Next"/>
                <a:ea typeface="Avenir Next"/>
                <a:cs typeface="Avenir Next"/>
              </a:defRPr>
            </a:defPPr>
          </a:lstStyle>
          <a:p xmlns:a="http://schemas.openxmlformats.org/drawingml/2006/main">
            <a:pPr algn="ctr">
              <a:defRPr sz="975" b="1" i="0">
                <a:solidFill>
                  <a:srgbClr val="F5F2EA"/>
                </a:solidFill>
                <a:latin typeface="Avenir Next"/>
                <a:ea typeface="Avenir Next"/>
                <a:cs typeface="Avenir Next"/>
              </a:defRPr>
            </a:pPr>
            <a:r>
              <a:rPr sz="975" b="1" i="0">
                <a:solidFill>
                  <a:srgbClr val="F5F2EA"/>
                </a:solidFill>
                <a:latin typeface="Avenir Next"/>
                <a:ea typeface="Avenir Next"/>
                <a:cs typeface="Avenir Next"/>
              </a:rPr>
              <a:t>PROBABILISTIC</a:t>
            </a:r>
          </a:p>
        </p:txBody>
      </p:sp>
      <p:sp>
        <p:nvSpPr>
          <p:cNvPr id="20" name="close-body-2">
            <a:extLst xmlns:a="http://schemas.openxmlformats.org/drawingml/2006/main">
              <a:ext uri="{FF2B5EF4-FFF2-40B4-BE49-F238E27FC236}">
                <a16:creationId xmlns:a16="http://schemas.microsoft.com/office/drawing/2014/main" id="{65AB4554-1119-48E6-B9F5-3D4EC4547924}"/>
              </a:ext>
            </a:extLst>
          </p:cNvPr>
          <p:cNvSpPr>
            <a:spLocks xmlns:a="http://schemas.openxmlformats.org/drawingml/2006/main" noGrp="1"/>
          </p:cNvSpPr>
          <p:nvPr/>
        </p:nvSpPr>
        <p:spPr>
          <a:xfrm xmlns:a="http://schemas.openxmlformats.org/drawingml/2006/main">
            <a:off x="3143250" y="4305300"/>
            <a:ext cx="790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i="0">
                <a:solidFill>
                  <a:srgbClr val="141B2B"/>
                </a:solidFill>
                <a:latin typeface="Avenir Next"/>
                <a:ea typeface="Avenir Next"/>
                <a:cs typeface="Avenir Next"/>
              </a:defRPr>
            </a:defPPr>
          </a:lstStyle>
          <a:p xmlns:a="http://schemas.openxmlformats.org/drawingml/2006/main">
            <a:pPr algn="l">
              <a:defRPr sz="1575" b="1" i="0">
                <a:solidFill>
                  <a:srgbClr val="141B2B"/>
                </a:solidFill>
                <a:latin typeface="Avenir Next"/>
                <a:ea typeface="Avenir Next"/>
                <a:cs typeface="Avenir Next"/>
              </a:defRPr>
            </a:pPr>
            <a:r>
              <a:rPr sz="1575" b="1" i="0">
                <a:solidFill>
                  <a:srgbClr val="141B2B"/>
                </a:solidFill>
                <a:latin typeface="Avenir Next"/>
                <a:ea typeface="Avenir Next"/>
                <a:cs typeface="Avenir Next"/>
              </a:rPr>
              <a:t>Channels, bisimulation and row-span checks use finite kernels.</a:t>
            </a:r>
          </a:p>
        </p:txBody>
      </p:sp>
      <p:sp>
        <p:nvSpPr>
          <p:cNvPr id="21" name="close-rule-2">
            <a:extLst xmlns:a="http://schemas.openxmlformats.org/drawingml/2006/main">
              <a:ext uri="{FF2B5EF4-FFF2-40B4-BE49-F238E27FC236}">
                <a16:creationId xmlns:a16="http://schemas.microsoft.com/office/drawing/2014/main" id="{65E29DB3-BC2C-449E-BD27-EE3C95AC66D0}"/>
              </a:ext>
            </a:extLst>
          </p:cNvPr>
          <p:cNvSpPr>
            <a:spLocks xmlns:a="http://schemas.openxmlformats.org/drawingml/2006/main" noGrp="1"/>
          </p:cNvSpPr>
          <p:nvPr/>
        </p:nvSpPr>
        <p:spPr>
          <a:xfrm xmlns:a="http://schemas.openxmlformats.org/drawingml/2006/main">
            <a:off x="952500" y="4905375"/>
            <a:ext cx="10096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2" name="close-next">
            <a:extLst xmlns:a="http://schemas.openxmlformats.org/drawingml/2006/main">
              <a:ext uri="{FF2B5EF4-FFF2-40B4-BE49-F238E27FC236}">
                <a16:creationId xmlns:a16="http://schemas.microsoft.com/office/drawing/2014/main" id="{E41577B8-3B9B-467E-AFA8-63367E2C9851}"/>
              </a:ext>
            </a:extLst>
          </p:cNvPr>
          <p:cNvSpPr>
            <a:spLocks xmlns:a="http://schemas.openxmlformats.org/drawingml/2006/main" noGrp="1"/>
          </p:cNvSpPr>
          <p:nvPr/>
        </p:nvSpPr>
        <p:spPr>
          <a:xfrm xmlns:a="http://schemas.openxmlformats.org/drawingml/2006/main">
            <a:off x="1714500" y="5467350"/>
            <a:ext cx="876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75" b="1" i="0">
                <a:solidFill>
                  <a:srgbClr val="1F6F66"/>
                </a:solidFill>
                <a:latin typeface="Avenir Next"/>
                <a:ea typeface="Avenir Next"/>
                <a:cs typeface="Avenir Next"/>
              </a:defRPr>
            </a:defPPr>
          </a:lstStyle>
          <a:p xmlns:a="http://schemas.openxmlformats.org/drawingml/2006/main">
            <a:pPr algn="ctr">
              <a:defRPr sz="1575" b="1" i="0">
                <a:solidFill>
                  <a:srgbClr val="1F6F66"/>
                </a:solidFill>
                <a:latin typeface="Avenir Next"/>
                <a:ea typeface="Avenir Next"/>
                <a:cs typeface="Avenir Next"/>
              </a:defRPr>
            </a:pPr>
            <a:r>
              <a:rPr sz="1575" b="1" i="0">
                <a:solidFill>
                  <a:srgbClr val="1F6F66"/>
                </a:solidFill>
                <a:latin typeface="Avenir Next"/>
                <a:ea typeface="Avenir Next"/>
                <a:cs typeface="Avenir Next"/>
              </a:rPr>
              <a:t>Questions · then a local demonstration</a:t>
            </a:r>
          </a:p>
        </p:txBody>
      </p:sp>
    </p:spTree>
    <p:extLst>
      <p:ext uri="{BB962C8B-B14F-4D97-AF65-F5344CB8AC3E}">
        <p14:creationId xmlns:p14="http://schemas.microsoft.com/office/powerpoint/2010/main" val="1358673682"/>
      </p:ext>
    </p:extLst>
  </p:cSld>
</p:sld>
</file>

<file path=ppt/slides/slide26.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3" name="s26-brand">
            <a:extLst xmlns:a="http://schemas.openxmlformats.org/drawingml/2006/main">
              <a:ext uri="{FF2B5EF4-FFF2-40B4-BE49-F238E27FC236}">
                <a16:creationId xmlns:a16="http://schemas.microsoft.com/office/drawing/2014/main" id="{0CFD6CEC-0C2B-4696-8286-8337904DCB9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6-section">
            <a:extLst xmlns:a="http://schemas.openxmlformats.org/drawingml/2006/main">
              <a:ext uri="{FF2B5EF4-FFF2-40B4-BE49-F238E27FC236}">
                <a16:creationId xmlns:a16="http://schemas.microsoft.com/office/drawing/2014/main" id="{D9611E8B-DE78-4F6F-B285-77E19B6EA373}"/>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A1</a:t>
            </a:r>
          </a:p>
        </p:txBody>
      </p:sp>
      <p:sp>
        <p:nvSpPr>
          <p:cNvPr id="3" name="s26-title">
            <a:extLst xmlns:a="http://schemas.openxmlformats.org/drawingml/2006/main">
              <a:ext uri="{FF2B5EF4-FFF2-40B4-BE49-F238E27FC236}">
                <a16:creationId xmlns:a16="http://schemas.microsoft.com/office/drawing/2014/main" id="{A11F27D4-4CB7-4E7A-8176-E499598BFA0C}"/>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Formal usage observation and coupling</a:t>
            </a:r>
          </a:p>
        </p:txBody>
      </p:sp>
      <p:sp>
        <p:nvSpPr>
          <p:cNvPr id="4" name="s26-source-rule">
            <a:extLst xmlns:a="http://schemas.openxmlformats.org/drawingml/2006/main">
              <a:ext uri="{FF2B5EF4-FFF2-40B4-BE49-F238E27FC236}">
                <a16:creationId xmlns:a16="http://schemas.microsoft.com/office/drawing/2014/main" id="{661330C8-41B1-4DAC-8DC0-7960AB2A102F}"/>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26-sources">
            <a:extLst xmlns:a="http://schemas.openxmlformats.org/drawingml/2006/main">
              <a:ext uri="{FF2B5EF4-FFF2-40B4-BE49-F238E27FC236}">
                <a16:creationId xmlns:a16="http://schemas.microsoft.com/office/drawing/2014/main" id="{C3A4B174-77DF-4A8F-8E7C-60FA4D089050}"/>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docs/FORMAL_CONTRACT.md</a:t>
            </a:r>
          </a:p>
        </p:txBody>
      </p:sp>
      <p:sp>
        <p:nvSpPr>
          <p:cNvPr id="6" name="s26-footer-rule">
            <a:extLst xmlns:a="http://schemas.openxmlformats.org/drawingml/2006/main">
              <a:ext uri="{FF2B5EF4-FFF2-40B4-BE49-F238E27FC236}">
                <a16:creationId xmlns:a16="http://schemas.microsoft.com/office/drawing/2014/main" id="{61EC650C-7414-4E86-A70F-CBCD5FA40BB1}"/>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26-footer">
            <a:extLst xmlns:a="http://schemas.openxmlformats.org/drawingml/2006/main">
              <a:ext uri="{FF2B5EF4-FFF2-40B4-BE49-F238E27FC236}">
                <a16:creationId xmlns:a16="http://schemas.microsoft.com/office/drawing/2014/main" id="{04BFBE2A-9AC7-432F-BF80-B37FCAA1746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26-page">
            <a:extLst xmlns:a="http://schemas.openxmlformats.org/drawingml/2006/main">
              <a:ext uri="{FF2B5EF4-FFF2-40B4-BE49-F238E27FC236}">
                <a16:creationId xmlns:a16="http://schemas.microsoft.com/office/drawing/2014/main" id="{243EA2B2-43A5-4662-81A0-DC7465F5D266}"/>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A1</a:t>
            </a:r>
          </a:p>
        </p:txBody>
      </p:sp>
      <p:sp>
        <p:nvSpPr>
          <p:cNvPr id="9" name="app-26-0-panel">
            <a:extLst xmlns:a="http://schemas.openxmlformats.org/drawingml/2006/main">
              <a:ext uri="{FF2B5EF4-FFF2-40B4-BE49-F238E27FC236}">
                <a16:creationId xmlns:a16="http://schemas.microsoft.com/office/drawing/2014/main" id="{323264B5-0429-4E30-BC98-03F26F3674B6}"/>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0" name="app-26-0-accent">
            <a:extLst xmlns:a="http://schemas.openxmlformats.org/drawingml/2006/main">
              <a:ext uri="{FF2B5EF4-FFF2-40B4-BE49-F238E27FC236}">
                <a16:creationId xmlns:a16="http://schemas.microsoft.com/office/drawing/2014/main" id="{8D7816A5-6F7B-4F9E-80EC-DAA8786E0B50}"/>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6-0-title">
            <a:extLst xmlns:a="http://schemas.openxmlformats.org/drawingml/2006/main">
              <a:ext uri="{FF2B5EF4-FFF2-40B4-BE49-F238E27FC236}">
                <a16:creationId xmlns:a16="http://schemas.microsoft.com/office/drawing/2014/main" id="{51964EA4-62B7-46C9-B351-C48454AE874C}"/>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Event</a:t>
            </a:r>
          </a:p>
        </p:txBody>
      </p:sp>
      <p:sp>
        <p:nvSpPr>
          <p:cNvPr id="12" name="app-26-0-body">
            <a:extLst xmlns:a="http://schemas.openxmlformats.org/drawingml/2006/main">
              <a:ext uri="{FF2B5EF4-FFF2-40B4-BE49-F238E27FC236}">
                <a16:creationId xmlns:a16="http://schemas.microsoft.com/office/drawing/2014/main" id="{3BB30090-6E9B-4929-8C3A-EEE8C13BB089}"/>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(resolved contract, input usage, output usage).</a:t>
            </a:r>
          </a:p>
        </p:txBody>
      </p:sp>
      <p:sp>
        <p:nvSpPr>
          <p:cNvPr id="13" name="app-26-1-panel">
            <a:extLst xmlns:a="http://schemas.openxmlformats.org/drawingml/2006/main">
              <a:ext uri="{FF2B5EF4-FFF2-40B4-BE49-F238E27FC236}">
                <a16:creationId xmlns:a16="http://schemas.microsoft.com/office/drawing/2014/main" id="{DFE9C7CE-F228-45C8-AF35-3DA821ED340C}"/>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4" name="app-26-1-accent">
            <a:extLst xmlns:a="http://schemas.openxmlformats.org/drawingml/2006/main">
              <a:ext uri="{FF2B5EF4-FFF2-40B4-BE49-F238E27FC236}">
                <a16:creationId xmlns:a16="http://schemas.microsoft.com/office/drawing/2014/main" id="{B562CDF2-F0AC-427B-91F1-2C8560C4F7F3}"/>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6-1-title">
            <a:extLst xmlns:a="http://schemas.openxmlformats.org/drawingml/2006/main">
              <a:ext uri="{FF2B5EF4-FFF2-40B4-BE49-F238E27FC236}">
                <a16:creationId xmlns:a16="http://schemas.microsoft.com/office/drawing/2014/main" id="{08B7C76F-E227-4AEF-85E9-24553FD2F4D1}"/>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Aggregate observer</a:t>
            </a:r>
          </a:p>
        </p:txBody>
      </p:sp>
      <p:sp>
        <p:nvSpPr>
          <p:cNvPr id="16" name="app-26-1-body">
            <a:extLst xmlns:a="http://schemas.openxmlformats.org/drawingml/2006/main">
              <a:ext uri="{FF2B5EF4-FFF2-40B4-BE49-F238E27FC236}">
                <a16:creationId xmlns:a16="http://schemas.microsoft.com/office/drawing/2014/main" id="{BB131939-98F7-4E96-A2DC-93D5A465BFB2}"/>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Per contract: call count and input/output sums, plus stopped.</a:t>
            </a:r>
          </a:p>
        </p:txBody>
      </p:sp>
      <p:sp>
        <p:nvSpPr>
          <p:cNvPr id="17" name="app-26-2-panel">
            <a:extLst xmlns:a="http://schemas.openxmlformats.org/drawingml/2006/main">
              <a:ext uri="{FF2B5EF4-FFF2-40B4-BE49-F238E27FC236}">
                <a16:creationId xmlns:a16="http://schemas.microsoft.com/office/drawing/2014/main" id="{53306B7F-94E5-4CBB-BB4C-0573B539810E}"/>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8" name="app-26-2-accent">
            <a:extLst xmlns:a="http://schemas.openxmlformats.org/drawingml/2006/main">
              <a:ext uri="{FF2B5EF4-FFF2-40B4-BE49-F238E27FC236}">
                <a16:creationId xmlns:a16="http://schemas.microsoft.com/office/drawing/2014/main" id="{E46B6D65-62FF-4226-9AB9-A15B6621DC58}"/>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6-2-title">
            <a:extLst xmlns:a="http://schemas.openxmlformats.org/drawingml/2006/main">
              <a:ext uri="{FF2B5EF4-FFF2-40B4-BE49-F238E27FC236}">
                <a16:creationId xmlns:a16="http://schemas.microsoft.com/office/drawing/2014/main" id="{F7939C47-3F6B-41E2-A787-0E9A1C00EC0E}"/>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Ordered observer</a:t>
            </a:r>
          </a:p>
        </p:txBody>
      </p:sp>
      <p:sp>
        <p:nvSpPr>
          <p:cNvPr id="20" name="app-26-2-body">
            <a:extLst xmlns:a="http://schemas.openxmlformats.org/drawingml/2006/main">
              <a:ext uri="{FF2B5EF4-FFF2-40B4-BE49-F238E27FC236}">
                <a16:creationId xmlns:a16="http://schemas.microsoft.com/office/drawing/2014/main" id="{664718E7-5B23-401E-B8BF-094D52F5D144}"/>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Ordered events plus stopped or horizon-truncated status.</a:t>
            </a:r>
          </a:p>
        </p:txBody>
      </p:sp>
      <p:sp>
        <p:nvSpPr>
          <p:cNvPr id="21" name="app-26-3-panel">
            <a:extLst xmlns:a="http://schemas.openxmlformats.org/drawingml/2006/main">
              <a:ext uri="{FF2B5EF4-FFF2-40B4-BE49-F238E27FC236}">
                <a16:creationId xmlns:a16="http://schemas.microsoft.com/office/drawing/2014/main" id="{F742010C-E68F-4DD2-BCCB-CE9B88F0BB90}"/>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2" name="app-26-3-accent">
            <a:extLst xmlns:a="http://schemas.openxmlformats.org/drawingml/2006/main">
              <a:ext uri="{FF2B5EF4-FFF2-40B4-BE49-F238E27FC236}">
                <a16:creationId xmlns:a16="http://schemas.microsoft.com/office/drawing/2014/main" id="{5F670015-7D69-414B-AEDF-EEC8B6218678}"/>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6-3-title">
            <a:extLst xmlns:a="http://schemas.openxmlformats.org/drawingml/2006/main">
              <a:ext uri="{FF2B5EF4-FFF2-40B4-BE49-F238E27FC236}">
                <a16:creationId xmlns:a16="http://schemas.microsoft.com/office/drawing/2014/main" id="{1F215B6D-AF20-4BE5-A4C4-B00509EDA034}"/>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Shared oracle</a:t>
            </a:r>
          </a:p>
        </p:txBody>
      </p:sp>
      <p:sp>
        <p:nvSpPr>
          <p:cNvPr id="24" name="app-26-3-body">
            <a:extLst xmlns:a="http://schemas.openxmlformats.org/drawingml/2006/main">
              <a:ext uri="{FF2B5EF4-FFF2-40B4-BE49-F238E27FC236}">
                <a16:creationId xmlns:a16="http://schemas.microsoft.com/office/drawing/2014/main" id="{5B59EF15-C3E7-4AFF-B351-8A4B18C04EEA}"/>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Ω(M, k, Q, aligned relevant history) returns a complete outcome.</a:t>
            </a:r>
          </a:p>
        </p:txBody>
      </p:sp>
      <p:sp>
        <p:nvSpPr>
          <p:cNvPr id="25" name="app-26-4-panel">
            <a:extLst xmlns:a="http://schemas.openxmlformats.org/drawingml/2006/main">
              <a:ext uri="{FF2B5EF4-FFF2-40B4-BE49-F238E27FC236}">
                <a16:creationId xmlns:a16="http://schemas.microsoft.com/office/drawing/2014/main" id="{E0F8E0E1-C915-429A-9026-E5092457641A}"/>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6" name="app-26-4-accent">
            <a:extLst xmlns:a="http://schemas.openxmlformats.org/drawingml/2006/main">
              <a:ext uri="{FF2B5EF4-FFF2-40B4-BE49-F238E27FC236}">
                <a16:creationId xmlns:a16="http://schemas.microsoft.com/office/drawing/2014/main" id="{599E28FD-2F13-45DF-914F-FB2C195D12EB}"/>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6-4-title">
            <a:extLst xmlns:a="http://schemas.openxmlformats.org/drawingml/2006/main">
              <a:ext uri="{FF2B5EF4-FFF2-40B4-BE49-F238E27FC236}">
                <a16:creationId xmlns:a16="http://schemas.microsoft.com/office/drawing/2014/main" id="{5F6D1D2A-B971-4C66-968D-DABF683FBD8C}"/>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Cycle result</a:t>
            </a:r>
          </a:p>
        </p:txBody>
      </p:sp>
      <p:sp>
        <p:nvSpPr>
          <p:cNvPr id="28" name="app-26-4-body">
            <a:extLst xmlns:a="http://schemas.openxmlformats.org/drawingml/2006/main">
              <a:ext uri="{FF2B5EF4-FFF2-40B4-BE49-F238E27FC236}">
                <a16:creationId xmlns:a16="http://schemas.microsoft.com/office/drawing/2014/main" id="{DB0C654D-D83C-4766-9733-DB7BB515481B}"/>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Productive cycles establish finite usage prefixes only.</a:t>
            </a:r>
          </a:p>
        </p:txBody>
      </p:sp>
      <p:sp>
        <p:nvSpPr>
          <p:cNvPr id="29" name="app-26-5-panel">
            <a:extLst xmlns:a="http://schemas.openxmlformats.org/drawingml/2006/main">
              <a:ext uri="{FF2B5EF4-FFF2-40B4-BE49-F238E27FC236}">
                <a16:creationId xmlns:a16="http://schemas.microsoft.com/office/drawing/2014/main" id="{1854C63F-E00F-48E8-861A-813F42649A8D}"/>
              </a:ext>
            </a:extLst>
          </p:cNvPr>
          <p:cNvSpPr>
            <a:spLocks xmlns:a="http://schemas.openxmlformats.org/drawingml/2006/main" noGrp="1"/>
          </p:cNvSpPr>
          <p:nvPr/>
        </p:nvSpPr>
        <p:spPr>
          <a:xfrm xmlns:a="http://schemas.openxmlformats.org/drawingml/2006/main">
            <a:off x="6210300" y="47244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30" name="app-26-5-accent">
            <a:extLst xmlns:a="http://schemas.openxmlformats.org/drawingml/2006/main">
              <a:ext uri="{FF2B5EF4-FFF2-40B4-BE49-F238E27FC236}">
                <a16:creationId xmlns:a16="http://schemas.microsoft.com/office/drawing/2014/main" id="{DDFB2242-861C-4FF7-BD98-A0A0E47416E6}"/>
              </a:ext>
            </a:extLst>
          </p:cNvPr>
          <p:cNvSpPr>
            <a:spLocks xmlns:a="http://schemas.openxmlformats.org/drawingml/2006/main" noGrp="1"/>
          </p:cNvSpPr>
          <p:nvPr/>
        </p:nvSpPr>
        <p:spPr>
          <a:xfrm xmlns:a="http://schemas.openxmlformats.org/drawingml/2006/main">
            <a:off x="6210300" y="47244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31" name="app-26-5-title">
            <a:extLst xmlns:a="http://schemas.openxmlformats.org/drawingml/2006/main">
              <a:ext uri="{FF2B5EF4-FFF2-40B4-BE49-F238E27FC236}">
                <a16:creationId xmlns:a16="http://schemas.microsoft.com/office/drawing/2014/main" id="{2F3F7A46-320F-46AE-A2D0-80CDDFC027AC}"/>
              </a:ext>
            </a:extLst>
          </p:cNvPr>
          <p:cNvSpPr>
            <a:spLocks xmlns:a="http://schemas.openxmlformats.org/drawingml/2006/main" noGrp="1"/>
          </p:cNvSpPr>
          <p:nvPr/>
        </p:nvSpPr>
        <p:spPr>
          <a:xfrm xmlns:a="http://schemas.openxmlformats.org/drawingml/2006/main">
            <a:off x="641985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Trace-law extension</a:t>
            </a:r>
          </a:p>
        </p:txBody>
      </p:sp>
      <p:sp>
        <p:nvSpPr>
          <p:cNvPr id="32" name="app-26-5-body">
            <a:extLst xmlns:a="http://schemas.openxmlformats.org/drawingml/2006/main">
              <a:ext uri="{FF2B5EF4-FFF2-40B4-BE49-F238E27FC236}">
                <a16:creationId xmlns:a16="http://schemas.microsoft.com/office/drawing/2014/main" id="{911907F1-77CE-4801-866C-AB96B9C0C292}"/>
              </a:ext>
            </a:extLst>
          </p:cNvPr>
          <p:cNvSpPr>
            <a:spLocks xmlns:a="http://schemas.openxmlformats.org/drawingml/2006/main" noGrp="1"/>
          </p:cNvSpPr>
          <p:nvPr/>
        </p:nvSpPr>
        <p:spPr>
          <a:xfrm xmlns:a="http://schemas.openxmlformats.org/drawingml/2006/main">
            <a:off x="641985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Exact rational word equivalence compares STOP and live-prefix mass.</a:t>
            </a:r>
          </a:p>
        </p:txBody>
      </p:sp>
    </p:spTree>
    <p:extLst>
      <p:ext uri="{BB962C8B-B14F-4D97-AF65-F5344CB8AC3E}">
        <p14:creationId xmlns:p14="http://schemas.microsoft.com/office/powerpoint/2010/main" val="1997911660"/>
      </p:ext>
    </p:extLst>
  </p:cSld>
</p:sld>
</file>

<file path=ppt/slides/slide2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s27-brand">
            <a:extLst xmlns:a="http://schemas.openxmlformats.org/drawingml/2006/main">
              <a:ext uri="{FF2B5EF4-FFF2-40B4-BE49-F238E27FC236}">
                <a16:creationId xmlns:a16="http://schemas.microsoft.com/office/drawing/2014/main" id="{D9D56CDC-1D48-42BA-AD7F-0DA50D93CDF1}"/>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7-section">
            <a:extLst xmlns:a="http://schemas.openxmlformats.org/drawingml/2006/main">
              <a:ext uri="{FF2B5EF4-FFF2-40B4-BE49-F238E27FC236}">
                <a16:creationId xmlns:a16="http://schemas.microsoft.com/office/drawing/2014/main" id="{18385ABB-359A-435F-95E3-3067801CAF87}"/>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A2</a:t>
            </a:r>
          </a:p>
        </p:txBody>
      </p:sp>
      <p:sp>
        <p:nvSpPr>
          <p:cNvPr id="3" name="s27-title">
            <a:extLst xmlns:a="http://schemas.openxmlformats.org/drawingml/2006/main">
              <a:ext uri="{FF2B5EF4-FFF2-40B4-BE49-F238E27FC236}">
                <a16:creationId xmlns:a16="http://schemas.microsoft.com/office/drawing/2014/main" id="{A0FBC476-542C-4827-90EF-B65F82C200F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Graph schema and certificate replay</a:t>
            </a:r>
          </a:p>
        </p:txBody>
      </p:sp>
      <p:sp>
        <p:nvSpPr>
          <p:cNvPr id="4" name="s27-source-rule">
            <a:extLst xmlns:a="http://schemas.openxmlformats.org/drawingml/2006/main">
              <a:ext uri="{FF2B5EF4-FFF2-40B4-BE49-F238E27FC236}">
                <a16:creationId xmlns:a16="http://schemas.microsoft.com/office/drawing/2014/main" id="{AF9A4487-E998-4F45-9B45-0EF78381AC74}"/>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27-sources">
            <a:extLst xmlns:a="http://schemas.openxmlformats.org/drawingml/2006/main">
              <a:ext uri="{FF2B5EF4-FFF2-40B4-BE49-F238E27FC236}">
                <a16:creationId xmlns:a16="http://schemas.microsoft.com/office/drawing/2014/main" id="{F53AF098-62DF-4CBE-9F44-13845CC85FF8}"/>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audit/orchgraph.py</a:t>
            </a:r>
          </a:p>
        </p:txBody>
      </p:sp>
      <p:sp>
        <p:nvSpPr>
          <p:cNvPr id="6" name="s27-footer-rule">
            <a:extLst xmlns:a="http://schemas.openxmlformats.org/drawingml/2006/main">
              <a:ext uri="{FF2B5EF4-FFF2-40B4-BE49-F238E27FC236}">
                <a16:creationId xmlns:a16="http://schemas.microsoft.com/office/drawing/2014/main" id="{D2DA2641-F633-4BB1-BDEC-5B1EB620050C}"/>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27-footer">
            <a:extLst xmlns:a="http://schemas.openxmlformats.org/drawingml/2006/main">
              <a:ext uri="{FF2B5EF4-FFF2-40B4-BE49-F238E27FC236}">
                <a16:creationId xmlns:a16="http://schemas.microsoft.com/office/drawing/2014/main" id="{FD34454A-D2FB-4E61-966B-26189CB0EBE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27-page">
            <a:extLst xmlns:a="http://schemas.openxmlformats.org/drawingml/2006/main">
              <a:ext uri="{FF2B5EF4-FFF2-40B4-BE49-F238E27FC236}">
                <a16:creationId xmlns:a16="http://schemas.microsoft.com/office/drawing/2014/main" id="{677BA535-3BDF-43C0-9B78-BF66EAE4E991}"/>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A2</a:t>
            </a:r>
          </a:p>
        </p:txBody>
      </p:sp>
      <p:sp>
        <p:nvSpPr>
          <p:cNvPr id="9" name="app-27-0-panel">
            <a:extLst xmlns:a="http://schemas.openxmlformats.org/drawingml/2006/main">
              <a:ext uri="{FF2B5EF4-FFF2-40B4-BE49-F238E27FC236}">
                <a16:creationId xmlns:a16="http://schemas.microsoft.com/office/drawing/2014/main" id="{200AF258-3FE2-4F45-9792-0E4ED3054FFC}"/>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0" name="app-27-0-accent">
            <a:extLst xmlns:a="http://schemas.openxmlformats.org/drawingml/2006/main">
              <a:ext uri="{FF2B5EF4-FFF2-40B4-BE49-F238E27FC236}">
                <a16:creationId xmlns:a16="http://schemas.microsoft.com/office/drawing/2014/main" id="{F2EEE7FD-147E-4966-9DCA-2448961F39F0}"/>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7-0-title">
            <a:extLst xmlns:a="http://schemas.openxmlformats.org/drawingml/2006/main">
              <a:ext uri="{FF2B5EF4-FFF2-40B4-BE49-F238E27FC236}">
                <a16:creationId xmlns:a16="http://schemas.microsoft.com/office/drawing/2014/main" id="{6506590E-3A44-480C-9E08-E04EF65CC819}"/>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Inputs</a:t>
            </a:r>
          </a:p>
        </p:txBody>
      </p:sp>
      <p:sp>
        <p:nvSpPr>
          <p:cNvPr id="12" name="app-27-0-body">
            <a:extLst xmlns:a="http://schemas.openxmlformats.org/drawingml/2006/main">
              <a:ext uri="{FF2B5EF4-FFF2-40B4-BE49-F238E27FC236}">
                <a16:creationId xmlns:a16="http://schemas.microsoft.com/office/drawing/2014/main" id="{DECE4EBB-FACC-43F3-86D7-1938F038F4C8}"/>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Typed bounded public and secret inputs; public identities seed R.</a:t>
            </a:r>
          </a:p>
        </p:txBody>
      </p:sp>
      <p:sp>
        <p:nvSpPr>
          <p:cNvPr id="13" name="app-27-1-panel">
            <a:extLst xmlns:a="http://schemas.openxmlformats.org/drawingml/2006/main">
              <a:ext uri="{FF2B5EF4-FFF2-40B4-BE49-F238E27FC236}">
                <a16:creationId xmlns:a16="http://schemas.microsoft.com/office/drawing/2014/main" id="{BEC38F41-B015-46EC-859C-95CE7E631A9D}"/>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4" name="app-27-1-accent">
            <a:extLst xmlns:a="http://schemas.openxmlformats.org/drawingml/2006/main">
              <a:ext uri="{FF2B5EF4-FFF2-40B4-BE49-F238E27FC236}">
                <a16:creationId xmlns:a16="http://schemas.microsoft.com/office/drawing/2014/main" id="{13B24325-4BBC-474D-AAA6-AC16DBF27887}"/>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7-1-title">
            <a:extLst xmlns:a="http://schemas.openxmlformats.org/drawingml/2006/main">
              <a:ext uri="{FF2B5EF4-FFF2-40B4-BE49-F238E27FC236}">
                <a16:creationId xmlns:a16="http://schemas.microsoft.com/office/drawing/2014/main" id="{6D6130D5-7CF8-4E35-B57D-E8975335091B}"/>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Models</a:t>
            </a:r>
          </a:p>
        </p:txBody>
      </p:sp>
      <p:sp>
        <p:nvSpPr>
          <p:cNvPr id="16" name="app-27-1-body">
            <a:extLst xmlns:a="http://schemas.openxmlformats.org/drawingml/2006/main">
              <a:ext uri="{FF2B5EF4-FFF2-40B4-BE49-F238E27FC236}">
                <a16:creationId xmlns:a16="http://schemas.microsoft.com/office/drawing/2014/main" id="{C7D71C0D-1982-4144-B97B-212F960D0414}"/>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Provider, actual model ID, output cap and optional price metadata.</a:t>
            </a:r>
          </a:p>
        </p:txBody>
      </p:sp>
      <p:sp>
        <p:nvSpPr>
          <p:cNvPr id="17" name="app-27-2-panel">
            <a:extLst xmlns:a="http://schemas.openxmlformats.org/drawingml/2006/main">
              <a:ext uri="{FF2B5EF4-FFF2-40B4-BE49-F238E27FC236}">
                <a16:creationId xmlns:a16="http://schemas.microsoft.com/office/drawing/2014/main" id="{5A243DA2-D8B1-4837-B141-B3062DEB9BE4}"/>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8" name="app-27-2-accent">
            <a:extLst xmlns:a="http://schemas.openxmlformats.org/drawingml/2006/main">
              <a:ext uri="{FF2B5EF4-FFF2-40B4-BE49-F238E27FC236}">
                <a16:creationId xmlns:a16="http://schemas.microsoft.com/office/drawing/2014/main" id="{EA0E6400-7603-426F-A5A1-1CBBB1CDC7D8}"/>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7-2-title">
            <a:extLst xmlns:a="http://schemas.openxmlformats.org/drawingml/2006/main">
              <a:ext uri="{FF2B5EF4-FFF2-40B4-BE49-F238E27FC236}">
                <a16:creationId xmlns:a16="http://schemas.microsoft.com/office/drawing/2014/main" id="{44BEDF52-676E-449D-9A42-1FE4C061E132}"/>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Calls</a:t>
            </a:r>
          </a:p>
        </p:txBody>
      </p:sp>
      <p:sp>
        <p:nvSpPr>
          <p:cNvPr id="20" name="app-27-2-body">
            <a:extLst xmlns:a="http://schemas.openxmlformats.org/drawingml/2006/main">
              <a:ext uri="{FF2B5EF4-FFF2-40B4-BE49-F238E27FC236}">
                <a16:creationId xmlns:a16="http://schemas.microsoft.com/office/drawing/2014/main" id="{9D13269A-D8DE-4F40-B9CB-80576EFB7412}"/>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Exact template; ordered literal/public/register atoms; result register.</a:t>
            </a:r>
          </a:p>
        </p:txBody>
      </p:sp>
      <p:sp>
        <p:nvSpPr>
          <p:cNvPr id="21" name="app-27-3-panel">
            <a:extLst xmlns:a="http://schemas.openxmlformats.org/drawingml/2006/main">
              <a:ext uri="{FF2B5EF4-FFF2-40B4-BE49-F238E27FC236}">
                <a16:creationId xmlns:a16="http://schemas.microsoft.com/office/drawing/2014/main" id="{A58D469E-EB01-4EC8-BCE6-4A415FF2BEAE}"/>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2" name="app-27-3-accent">
            <a:extLst xmlns:a="http://schemas.openxmlformats.org/drawingml/2006/main">
              <a:ext uri="{FF2B5EF4-FFF2-40B4-BE49-F238E27FC236}">
                <a16:creationId xmlns:a16="http://schemas.microsoft.com/office/drawing/2014/main" id="{38CB6D6A-CEA3-4889-990B-F7D0FC733E19}"/>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7-3-title">
            <a:extLst xmlns:a="http://schemas.openxmlformats.org/drawingml/2006/main">
              <a:ext uri="{FF2B5EF4-FFF2-40B4-BE49-F238E27FC236}">
                <a16:creationId xmlns:a16="http://schemas.microsoft.com/office/drawing/2014/main" id="{52D1FEB4-575A-478E-9DF1-2A3F4DB40A43}"/>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Control</a:t>
            </a:r>
          </a:p>
        </p:txBody>
      </p:sp>
      <p:sp>
        <p:nvSpPr>
          <p:cNvPr id="24" name="app-27-3-body">
            <a:extLst xmlns:a="http://schemas.openxmlformats.org/drawingml/2006/main">
              <a:ext uri="{FF2B5EF4-FFF2-40B4-BE49-F238E27FC236}">
                <a16:creationId xmlns:a16="http://schemas.microsoft.com/office/drawing/2014/main" id="{04EA3188-3EA0-49A7-907F-6EFB151DA81E}"/>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Finite states with call sequences and goto/public/secret/stop step.</a:t>
            </a:r>
          </a:p>
        </p:txBody>
      </p:sp>
      <p:sp>
        <p:nvSpPr>
          <p:cNvPr id="25" name="app-27-4-panel">
            <a:extLst xmlns:a="http://schemas.openxmlformats.org/drawingml/2006/main">
              <a:ext uri="{FF2B5EF4-FFF2-40B4-BE49-F238E27FC236}">
                <a16:creationId xmlns:a16="http://schemas.microsoft.com/office/drawing/2014/main" id="{3D7F29EC-28C4-4E5E-B7D2-2822BD6D07F5}"/>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6" name="app-27-4-accent">
            <a:extLst xmlns:a="http://schemas.openxmlformats.org/drawingml/2006/main">
              <a:ext uri="{FF2B5EF4-FFF2-40B4-BE49-F238E27FC236}">
                <a16:creationId xmlns:a16="http://schemas.microsoft.com/office/drawing/2014/main" id="{278B2764-C3CD-497D-BA59-9884218C36A9}"/>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7-4-title">
            <a:extLst xmlns:a="http://schemas.openxmlformats.org/drawingml/2006/main">
              <a:ext uri="{FF2B5EF4-FFF2-40B4-BE49-F238E27FC236}">
                <a16:creationId xmlns:a16="http://schemas.microsoft.com/office/drawing/2014/main" id="{E3508EAC-9865-4055-994B-43DB611096EE}"/>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Replay</a:t>
            </a:r>
          </a:p>
        </p:txBody>
      </p:sp>
      <p:sp>
        <p:nvSpPr>
          <p:cNvPr id="28" name="app-27-4-body">
            <a:extLst xmlns:a="http://schemas.openxmlformats.org/drawingml/2006/main">
              <a:ext uri="{FF2B5EF4-FFF2-40B4-BE49-F238E27FC236}">
                <a16:creationId xmlns:a16="http://schemas.microsoft.com/office/drawing/2014/main" id="{8CDEC86A-360A-48D7-87D0-9DEE05C103EE}"/>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Rebuild all reachable product nodes, rules, relations and edges.</a:t>
            </a:r>
          </a:p>
        </p:txBody>
      </p:sp>
    </p:spTree>
    <p:extLst>
      <p:ext uri="{BB962C8B-B14F-4D97-AF65-F5344CB8AC3E}">
        <p14:creationId xmlns:p14="http://schemas.microsoft.com/office/powerpoint/2010/main" val="1778176923"/>
      </p:ext>
    </p:extLst>
  </p:cSld>
</p:sld>
</file>

<file path=ppt/slides/slide28.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9" name="s28-brand">
            <a:extLst xmlns:a="http://schemas.openxmlformats.org/drawingml/2006/main">
              <a:ext uri="{FF2B5EF4-FFF2-40B4-BE49-F238E27FC236}">
                <a16:creationId xmlns:a16="http://schemas.microsoft.com/office/drawing/2014/main" id="{1A66FF5C-E084-4FBA-85CA-C9E4DB923AD7}"/>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28-section">
            <a:extLst xmlns:a="http://schemas.openxmlformats.org/drawingml/2006/main">
              <a:ext uri="{FF2B5EF4-FFF2-40B4-BE49-F238E27FC236}">
                <a16:creationId xmlns:a16="http://schemas.microsoft.com/office/drawing/2014/main" id="{B286940C-B67A-461E-9BFE-DD9665917D2D}"/>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A3</a:t>
            </a:r>
          </a:p>
        </p:txBody>
      </p:sp>
      <p:sp>
        <p:nvSpPr>
          <p:cNvPr id="3" name="s28-title">
            <a:extLst xmlns:a="http://schemas.openxmlformats.org/drawingml/2006/main">
              <a:ext uri="{FF2B5EF4-FFF2-40B4-BE49-F238E27FC236}">
                <a16:creationId xmlns:a16="http://schemas.microsoft.com/office/drawing/2014/main" id="{B23A056F-EB0B-48D0-98C5-C97C84CFC091}"/>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Source support and exclusions</a:t>
            </a:r>
          </a:p>
        </p:txBody>
      </p:sp>
      <p:sp>
        <p:nvSpPr>
          <p:cNvPr id="4" name="s28-source-rule">
            <a:extLst xmlns:a="http://schemas.openxmlformats.org/drawingml/2006/main">
              <a:ext uri="{FF2B5EF4-FFF2-40B4-BE49-F238E27FC236}">
                <a16:creationId xmlns:a16="http://schemas.microsoft.com/office/drawing/2014/main" id="{5E39D3CE-E4D0-44B1-842B-B8B75173D3E5}"/>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28-sources">
            <a:extLst xmlns:a="http://schemas.openxmlformats.org/drawingml/2006/main">
              <a:ext uri="{FF2B5EF4-FFF2-40B4-BE49-F238E27FC236}">
                <a16:creationId xmlns:a16="http://schemas.microsoft.com/office/drawing/2014/main" id="{759BA342-B9F1-41D5-AE90-380BAFC04E6E}"/>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docs/SOURCE_GRAPH_BRIDGE.md</a:t>
            </a:r>
          </a:p>
        </p:txBody>
      </p:sp>
      <p:sp>
        <p:nvSpPr>
          <p:cNvPr id="6" name="s28-footer-rule">
            <a:extLst xmlns:a="http://schemas.openxmlformats.org/drawingml/2006/main">
              <a:ext uri="{FF2B5EF4-FFF2-40B4-BE49-F238E27FC236}">
                <a16:creationId xmlns:a16="http://schemas.microsoft.com/office/drawing/2014/main" id="{0F90DF32-A721-4601-8AA6-13D0DF7FF578}"/>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28-footer">
            <a:extLst xmlns:a="http://schemas.openxmlformats.org/drawingml/2006/main">
              <a:ext uri="{FF2B5EF4-FFF2-40B4-BE49-F238E27FC236}">
                <a16:creationId xmlns:a16="http://schemas.microsoft.com/office/drawing/2014/main" id="{28480F37-2FB6-46A2-8AD4-A7E8F02603D6}"/>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28-page">
            <a:extLst xmlns:a="http://schemas.openxmlformats.org/drawingml/2006/main">
              <a:ext uri="{FF2B5EF4-FFF2-40B4-BE49-F238E27FC236}">
                <a16:creationId xmlns:a16="http://schemas.microsoft.com/office/drawing/2014/main" id="{0D5A792E-CCE4-4CDF-82B0-CAEA1A3E86D2}"/>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A3</a:t>
            </a:r>
          </a:p>
        </p:txBody>
      </p:sp>
      <p:sp>
        <p:nvSpPr>
          <p:cNvPr id="9" name="app-28-0-panel">
            <a:extLst xmlns:a="http://schemas.openxmlformats.org/drawingml/2006/main">
              <a:ext uri="{FF2B5EF4-FFF2-40B4-BE49-F238E27FC236}">
                <a16:creationId xmlns:a16="http://schemas.microsoft.com/office/drawing/2014/main" id="{2A0736A3-C028-4FDB-8AE3-C0612C0CB776}"/>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0" name="app-28-0-accent">
            <a:extLst xmlns:a="http://schemas.openxmlformats.org/drawingml/2006/main">
              <a:ext uri="{FF2B5EF4-FFF2-40B4-BE49-F238E27FC236}">
                <a16:creationId xmlns:a16="http://schemas.microsoft.com/office/drawing/2014/main" id="{7140963F-565B-4B7B-8FF7-C8BAD122DC2D}"/>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8-0-title">
            <a:extLst xmlns:a="http://schemas.openxmlformats.org/drawingml/2006/main">
              <a:ext uri="{FF2B5EF4-FFF2-40B4-BE49-F238E27FC236}">
                <a16:creationId xmlns:a16="http://schemas.microsoft.com/office/drawing/2014/main" id="{45B7AD17-6534-42D7-B7B2-01196991C094}"/>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OrchLang bridge</a:t>
            </a:r>
          </a:p>
        </p:txBody>
      </p:sp>
      <p:sp>
        <p:nvSpPr>
          <p:cNvPr id="12" name="app-28-0-body">
            <a:extLst xmlns:a="http://schemas.openxmlformats.org/drawingml/2006/main">
              <a:ext uri="{FF2B5EF4-FFF2-40B4-BE49-F238E27FC236}">
                <a16:creationId xmlns:a16="http://schemas.microsoft.com/office/drawing/2014/main" id="{3888F39A-467D-4F80-B7B4-5A8474AF60C2}"/>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Text inputs, mock models, text prompts/calls, supported guards.</a:t>
            </a:r>
          </a:p>
        </p:txBody>
      </p:sp>
      <p:sp>
        <p:nvSpPr>
          <p:cNvPr id="13" name="app-28-1-panel">
            <a:extLst xmlns:a="http://schemas.openxmlformats.org/drawingml/2006/main">
              <a:ext uri="{FF2B5EF4-FFF2-40B4-BE49-F238E27FC236}">
                <a16:creationId xmlns:a16="http://schemas.microsoft.com/office/drawing/2014/main" id="{7DCCECA7-F93D-43A8-BC9F-299F67F2EFC5}"/>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4" name="app-28-1-accent">
            <a:extLst xmlns:a="http://schemas.openxmlformats.org/drawingml/2006/main">
              <a:ext uri="{FF2B5EF4-FFF2-40B4-BE49-F238E27FC236}">
                <a16:creationId xmlns:a16="http://schemas.microsoft.com/office/drawing/2014/main" id="{B8367566-72FC-44FA-95A4-ADC8DB540489}"/>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8-1-title">
            <a:extLst xmlns:a="http://schemas.openxmlformats.org/drawingml/2006/main">
              <a:ext uri="{FF2B5EF4-FFF2-40B4-BE49-F238E27FC236}">
                <a16:creationId xmlns:a16="http://schemas.microsoft.com/office/drawing/2014/main" id="{5AABBFB9-CBF2-43D6-AF23-F4E104D538FF}"/>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Retry</a:t>
            </a:r>
          </a:p>
        </p:txBody>
      </p:sp>
      <p:sp>
        <p:nvSpPr>
          <p:cNvPr id="16" name="app-28-1-body">
            <a:extLst xmlns:a="http://schemas.openxmlformats.org/drawingml/2006/main">
              <a:ext uri="{FF2B5EF4-FFF2-40B4-BE49-F238E27FC236}">
                <a16:creationId xmlns:a16="http://schemas.microsoft.com/office/drawing/2014/main" id="{A336C8C6-138E-4EDA-89EE-585CA866F76E}"/>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Excluded because native retry/failure schedules are not graph v1.</a:t>
            </a:r>
          </a:p>
        </p:txBody>
      </p:sp>
      <p:sp>
        <p:nvSpPr>
          <p:cNvPr id="17" name="app-28-2-panel">
            <a:extLst xmlns:a="http://schemas.openxmlformats.org/drawingml/2006/main">
              <a:ext uri="{FF2B5EF4-FFF2-40B4-BE49-F238E27FC236}">
                <a16:creationId xmlns:a16="http://schemas.microsoft.com/office/drawing/2014/main" id="{F15F32E5-E72C-47DE-87CF-D36E288FFD94}"/>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18" name="app-28-2-accent">
            <a:extLst xmlns:a="http://schemas.openxmlformats.org/drawingml/2006/main">
              <a:ext uri="{FF2B5EF4-FFF2-40B4-BE49-F238E27FC236}">
                <a16:creationId xmlns:a16="http://schemas.microsoft.com/office/drawing/2014/main" id="{616D855E-3027-408C-9F4F-A7E6E65BDE28}"/>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8-2-title">
            <a:extLst xmlns:a="http://schemas.openxmlformats.org/drawingml/2006/main">
              <a:ext uri="{FF2B5EF4-FFF2-40B4-BE49-F238E27FC236}">
                <a16:creationId xmlns:a16="http://schemas.microsoft.com/office/drawing/2014/main" id="{FFD212B0-4DCB-4B4F-81F3-1141798477EA}"/>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Python subset</a:t>
            </a:r>
          </a:p>
        </p:txBody>
      </p:sp>
      <p:sp>
        <p:nvSpPr>
          <p:cNvPr id="20" name="app-28-2-body">
            <a:extLst xmlns:a="http://schemas.openxmlformats.org/drawingml/2006/main">
              <a:ext uri="{FF2B5EF4-FFF2-40B4-BE49-F238E27FC236}">
                <a16:creationId xmlns:a16="http://schemas.microsoft.com/office/drawing/2014/main" id="{C3506775-B35C-458E-A0D9-2A25BC2F7F59}"/>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Static StateGraph builder; bounded state; synchronous call functions.</a:t>
            </a:r>
          </a:p>
        </p:txBody>
      </p:sp>
      <p:sp>
        <p:nvSpPr>
          <p:cNvPr id="21" name="app-28-3-panel">
            <a:extLst xmlns:a="http://schemas.openxmlformats.org/drawingml/2006/main">
              <a:ext uri="{FF2B5EF4-FFF2-40B4-BE49-F238E27FC236}">
                <a16:creationId xmlns:a16="http://schemas.microsoft.com/office/drawing/2014/main" id="{928B1847-F15A-4A11-9B5D-3F7182CDAE39}"/>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2" name="app-28-3-accent">
            <a:extLst xmlns:a="http://schemas.openxmlformats.org/drawingml/2006/main">
              <a:ext uri="{FF2B5EF4-FFF2-40B4-BE49-F238E27FC236}">
                <a16:creationId xmlns:a16="http://schemas.microsoft.com/office/drawing/2014/main" id="{3279C716-CB85-4452-B0CE-01F644F31305}"/>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8-3-title">
            <a:extLst xmlns:a="http://schemas.openxmlformats.org/drawingml/2006/main">
              <a:ext uri="{FF2B5EF4-FFF2-40B4-BE49-F238E27FC236}">
                <a16:creationId xmlns:a16="http://schemas.microsoft.com/office/drawing/2014/main" id="{3495F8F1-1DA0-4D9E-BEC0-ACF37E8E65B5}"/>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Runtime</a:t>
            </a:r>
          </a:p>
        </p:txBody>
      </p:sp>
      <p:sp>
        <p:nvSpPr>
          <p:cNvPr id="24" name="app-28-3-body">
            <a:extLst xmlns:a="http://schemas.openxmlformats.org/drawingml/2006/main">
              <a:ext uri="{FF2B5EF4-FFF2-40B4-BE49-F238E27FC236}">
                <a16:creationId xmlns:a16="http://schemas.microsoft.com/office/drawing/2014/main" id="{858CAAF4-120F-4EB0-B4B8-71FD3AE48AA2}"/>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Pinned LangGraph; deterministic offline response session.</a:t>
            </a:r>
          </a:p>
        </p:txBody>
      </p:sp>
      <p:sp>
        <p:nvSpPr>
          <p:cNvPr id="25" name="app-28-4-panel">
            <a:extLst xmlns:a="http://schemas.openxmlformats.org/drawingml/2006/main">
              <a:ext uri="{FF2B5EF4-FFF2-40B4-BE49-F238E27FC236}">
                <a16:creationId xmlns:a16="http://schemas.microsoft.com/office/drawing/2014/main" id="{DF4CED67-90D0-479A-91A5-56402F230523}"/>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1C2638"/>
          </a:solidFill>
          <a:ln xmlns:a="http://schemas.openxmlformats.org/drawingml/2006/main" w="9525">
            <a:solidFill>
              <a:srgbClr val="343D50"/>
            </a:solidFill>
            <a:prstDash val="solid"/>
          </a:ln>
        </p:spPr>
      </p:sp>
      <p:sp>
        <p:nvSpPr>
          <p:cNvPr id="26" name="app-28-4-accent">
            <a:extLst xmlns:a="http://schemas.openxmlformats.org/drawingml/2006/main">
              <a:ext uri="{FF2B5EF4-FFF2-40B4-BE49-F238E27FC236}">
                <a16:creationId xmlns:a16="http://schemas.microsoft.com/office/drawing/2014/main" id="{0AC7951B-2107-4233-8F18-33E82CF8D64D}"/>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8-4-title">
            <a:extLst xmlns:a="http://schemas.openxmlformats.org/drawingml/2006/main">
              <a:ext uri="{FF2B5EF4-FFF2-40B4-BE49-F238E27FC236}">
                <a16:creationId xmlns:a16="http://schemas.microsoft.com/office/drawing/2014/main" id="{7C73BEED-CBEF-42E6-B149-2BF2D8BBC58B}"/>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F5F2EA"/>
                </a:solidFill>
                <a:latin typeface="Avenir Next"/>
                <a:ea typeface="Avenir Next"/>
                <a:cs typeface="Avenir Next"/>
              </a:defRPr>
            </a:defPPr>
          </a:lstStyle>
          <a:p xmlns:a="http://schemas.openxmlformats.org/drawingml/2006/main">
            <a:pPr algn="l">
              <a:defRPr sz="1275" b="1" i="0">
                <a:solidFill>
                  <a:srgbClr val="F5F2EA"/>
                </a:solidFill>
                <a:latin typeface="Avenir Next"/>
                <a:ea typeface="Avenir Next"/>
                <a:cs typeface="Avenir Next"/>
              </a:defRPr>
            </a:pPr>
            <a:r>
              <a:rPr sz="1275" b="1" i="0">
                <a:solidFill>
                  <a:srgbClr val="F5F2EA"/>
                </a:solidFill>
                <a:latin typeface="Avenir Next"/>
                <a:ea typeface="Avenir Next"/>
                <a:cs typeface="Avenir Next"/>
              </a:rPr>
              <a:t>Provenance</a:t>
            </a:r>
          </a:p>
        </p:txBody>
      </p:sp>
      <p:sp>
        <p:nvSpPr>
          <p:cNvPr id="28" name="app-28-4-body">
            <a:extLst xmlns:a="http://schemas.openxmlformats.org/drawingml/2006/main">
              <a:ext uri="{FF2B5EF4-FFF2-40B4-BE49-F238E27FC236}">
                <a16:creationId xmlns:a16="http://schemas.microsoft.com/office/drawing/2014/main" id="{033CB042-C9A4-4D41-B7A3-220E72EE6363}"/>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B8C1D1"/>
                </a:solidFill>
                <a:latin typeface="Avenir Next"/>
                <a:ea typeface="Avenir Next"/>
                <a:cs typeface="Avenir Next"/>
              </a:defRPr>
            </a:defPPr>
          </a:lstStyle>
          <a:p xmlns:a="http://schemas.openxmlformats.org/drawingml/2006/main">
            <a:pPr algn="l">
              <a:defRPr sz="1163" b="0" i="0">
                <a:solidFill>
                  <a:srgbClr val="B8C1D1"/>
                </a:solidFill>
                <a:latin typeface="Avenir Next"/>
                <a:ea typeface="Avenir Next"/>
                <a:cs typeface="Avenir Next"/>
              </a:defRPr>
            </a:pPr>
            <a:r>
              <a:rPr sz="1163" b="0" i="0">
                <a:solidFill>
                  <a:srgbClr val="B8C1D1"/>
                </a:solidFill>
                <a:latin typeface="Avenir Next"/>
                <a:ea typeface="Avenir Next"/>
                <a:cs typeface="Avenir Next"/>
              </a:rPr>
              <a:t>Hashes detect changed artifacts; they do not prove translation.</a:t>
            </a:r>
          </a:p>
        </p:txBody>
      </p:sp>
    </p:spTree>
    <p:extLst>
      <p:ext uri="{BB962C8B-B14F-4D97-AF65-F5344CB8AC3E}">
        <p14:creationId xmlns:p14="http://schemas.microsoft.com/office/powerpoint/2010/main" val="1321297311"/>
      </p:ext>
    </p:extLst>
  </p:cSld>
</p:sld>
</file>

<file path=ppt/slides/slide2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3" name="s29-brand">
            <a:extLst xmlns:a="http://schemas.openxmlformats.org/drawingml/2006/main">
              <a:ext uri="{FF2B5EF4-FFF2-40B4-BE49-F238E27FC236}">
                <a16:creationId xmlns:a16="http://schemas.microsoft.com/office/drawing/2014/main" id="{24414714-3DA5-46C1-90E4-995DCB4BEA7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29-section">
            <a:extLst xmlns:a="http://schemas.openxmlformats.org/drawingml/2006/main">
              <a:ext uri="{FF2B5EF4-FFF2-40B4-BE49-F238E27FC236}">
                <a16:creationId xmlns:a16="http://schemas.microsoft.com/office/drawing/2014/main" id="{6A9D03A3-0EC3-4021-8FA3-4B847A6686EE}"/>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A4</a:t>
            </a:r>
          </a:p>
        </p:txBody>
      </p:sp>
      <p:sp>
        <p:nvSpPr>
          <p:cNvPr id="3" name="s29-title">
            <a:extLst xmlns:a="http://schemas.openxmlformats.org/drawingml/2006/main">
              <a:ext uri="{FF2B5EF4-FFF2-40B4-BE49-F238E27FC236}">
                <a16:creationId xmlns:a16="http://schemas.microsoft.com/office/drawing/2014/main" id="{2FF3701B-66C8-40CE-9BCE-1F0D6E50FA4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Evidence ledger and denominators</a:t>
            </a:r>
          </a:p>
        </p:txBody>
      </p:sp>
      <p:sp>
        <p:nvSpPr>
          <p:cNvPr id="4" name="s29-source-rule">
            <a:extLst xmlns:a="http://schemas.openxmlformats.org/drawingml/2006/main">
              <a:ext uri="{FF2B5EF4-FFF2-40B4-BE49-F238E27FC236}">
                <a16:creationId xmlns:a16="http://schemas.microsoft.com/office/drawing/2014/main" id="{80538C87-7355-4CC8-AD0E-66D0ACBD8AB9}"/>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29-sources">
            <a:extLst xmlns:a="http://schemas.openxmlformats.org/drawingml/2006/main">
              <a:ext uri="{FF2B5EF4-FFF2-40B4-BE49-F238E27FC236}">
                <a16:creationId xmlns:a16="http://schemas.microsoft.com/office/drawing/2014/main" id="{279ADC4B-D56C-4E74-A378-D8CBDA298267}"/>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bench/results/sourced.json</a:t>
            </a:r>
          </a:p>
        </p:txBody>
      </p:sp>
      <p:sp>
        <p:nvSpPr>
          <p:cNvPr id="6" name="s29-footer-rule">
            <a:extLst xmlns:a="http://schemas.openxmlformats.org/drawingml/2006/main">
              <a:ext uri="{FF2B5EF4-FFF2-40B4-BE49-F238E27FC236}">
                <a16:creationId xmlns:a16="http://schemas.microsoft.com/office/drawing/2014/main" id="{1CA88145-5788-4B13-8882-6E4961110A5E}"/>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29-footer">
            <a:extLst xmlns:a="http://schemas.openxmlformats.org/drawingml/2006/main">
              <a:ext uri="{FF2B5EF4-FFF2-40B4-BE49-F238E27FC236}">
                <a16:creationId xmlns:a16="http://schemas.microsoft.com/office/drawing/2014/main" id="{B1E1055C-4C8F-44B3-B150-27E311623499}"/>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29-page">
            <a:extLst xmlns:a="http://schemas.openxmlformats.org/drawingml/2006/main">
              <a:ext uri="{FF2B5EF4-FFF2-40B4-BE49-F238E27FC236}">
                <a16:creationId xmlns:a16="http://schemas.microsoft.com/office/drawing/2014/main" id="{55FD3FC0-3D73-488C-9C9D-7EFAC3AF9987}"/>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A4</a:t>
            </a:r>
          </a:p>
        </p:txBody>
      </p:sp>
      <p:sp>
        <p:nvSpPr>
          <p:cNvPr id="9" name="app-29-0-panel">
            <a:extLst xmlns:a="http://schemas.openxmlformats.org/drawingml/2006/main">
              <a:ext uri="{FF2B5EF4-FFF2-40B4-BE49-F238E27FC236}">
                <a16:creationId xmlns:a16="http://schemas.microsoft.com/office/drawing/2014/main" id="{98641327-2315-449A-AD14-CDE71135FC43}"/>
              </a:ext>
            </a:extLst>
          </p:cNvPr>
          <p:cNvSpPr>
            <a:spLocks xmlns:a="http://schemas.openxmlformats.org/drawingml/2006/main" noGrp="1"/>
          </p:cNvSpPr>
          <p:nvPr/>
        </p:nvSpPr>
        <p:spPr>
          <a:xfrm xmlns:a="http://schemas.openxmlformats.org/drawingml/2006/main">
            <a:off x="78105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0" name="app-29-0-accent">
            <a:extLst xmlns:a="http://schemas.openxmlformats.org/drawingml/2006/main">
              <a:ext uri="{FF2B5EF4-FFF2-40B4-BE49-F238E27FC236}">
                <a16:creationId xmlns:a16="http://schemas.microsoft.com/office/drawing/2014/main" id="{F9CAB884-EBDA-4147-9D0F-E018EF6B2230}"/>
              </a:ext>
            </a:extLst>
          </p:cNvPr>
          <p:cNvSpPr>
            <a:spLocks xmlns:a="http://schemas.openxmlformats.org/drawingml/2006/main" noGrp="1"/>
          </p:cNvSpPr>
          <p:nvPr/>
        </p:nvSpPr>
        <p:spPr>
          <a:xfrm xmlns:a="http://schemas.openxmlformats.org/drawingml/2006/main">
            <a:off x="781050" y="24765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11" name="app-29-0-title">
            <a:extLst xmlns:a="http://schemas.openxmlformats.org/drawingml/2006/main">
              <a:ext uri="{FF2B5EF4-FFF2-40B4-BE49-F238E27FC236}">
                <a16:creationId xmlns:a16="http://schemas.microsoft.com/office/drawing/2014/main" id="{22D1AA2D-0738-4F64-BA13-13FAF39ECC39}"/>
              </a:ext>
            </a:extLst>
          </p:cNvPr>
          <p:cNvSpPr>
            <a:spLocks xmlns:a="http://schemas.openxmlformats.org/drawingml/2006/main" noGrp="1"/>
          </p:cNvSpPr>
          <p:nvPr/>
        </p:nvSpPr>
        <p:spPr>
          <a:xfrm xmlns:a="http://schemas.openxmlformats.org/drawingml/2006/main">
            <a:off x="99060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Source projections</a:t>
            </a:r>
          </a:p>
        </p:txBody>
      </p:sp>
      <p:sp>
        <p:nvSpPr>
          <p:cNvPr id="12" name="app-29-0-body">
            <a:extLst xmlns:a="http://schemas.openxmlformats.org/drawingml/2006/main">
              <a:ext uri="{FF2B5EF4-FFF2-40B4-BE49-F238E27FC236}">
                <a16:creationId xmlns:a16="http://schemas.microsoft.com/office/drawing/2014/main" id="{8B595B26-40A2-4B66-A2F0-1F860DDDDA23}"/>
              </a:ext>
            </a:extLst>
          </p:cNvPr>
          <p:cNvSpPr>
            <a:spLocks xmlns:a="http://schemas.openxmlformats.org/drawingml/2006/main" noGrp="1"/>
          </p:cNvSpPr>
          <p:nvPr/>
        </p:nvSpPr>
        <p:spPr>
          <a:xfrm xmlns:a="http://schemas.openxmlformats.org/drawingml/2006/main">
            <a:off x="99060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15 partial source patterns; same grid repeated across two mock modes.</a:t>
            </a:r>
          </a:p>
        </p:txBody>
      </p:sp>
      <p:sp>
        <p:nvSpPr>
          <p:cNvPr id="13" name="app-29-1-panel">
            <a:extLst xmlns:a="http://schemas.openxmlformats.org/drawingml/2006/main">
              <a:ext uri="{FF2B5EF4-FFF2-40B4-BE49-F238E27FC236}">
                <a16:creationId xmlns:a16="http://schemas.microsoft.com/office/drawing/2014/main" id="{F12A8849-8303-4528-9304-673E8D979144}"/>
              </a:ext>
            </a:extLst>
          </p:cNvPr>
          <p:cNvSpPr>
            <a:spLocks xmlns:a="http://schemas.openxmlformats.org/drawingml/2006/main" noGrp="1"/>
          </p:cNvSpPr>
          <p:nvPr/>
        </p:nvSpPr>
        <p:spPr>
          <a:xfrm xmlns:a="http://schemas.openxmlformats.org/drawingml/2006/main">
            <a:off x="6210300" y="24765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4" name="app-29-1-accent">
            <a:extLst xmlns:a="http://schemas.openxmlformats.org/drawingml/2006/main">
              <a:ext uri="{FF2B5EF4-FFF2-40B4-BE49-F238E27FC236}">
                <a16:creationId xmlns:a16="http://schemas.microsoft.com/office/drawing/2014/main" id="{38E03E3E-4364-45A6-A6A7-11FC756503D1}"/>
              </a:ext>
            </a:extLst>
          </p:cNvPr>
          <p:cNvSpPr>
            <a:spLocks xmlns:a="http://schemas.openxmlformats.org/drawingml/2006/main" noGrp="1"/>
          </p:cNvSpPr>
          <p:nvPr/>
        </p:nvSpPr>
        <p:spPr>
          <a:xfrm xmlns:a="http://schemas.openxmlformats.org/drawingml/2006/main">
            <a:off x="6210300" y="24765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15" name="app-29-1-title">
            <a:extLst xmlns:a="http://schemas.openxmlformats.org/drawingml/2006/main">
              <a:ext uri="{FF2B5EF4-FFF2-40B4-BE49-F238E27FC236}">
                <a16:creationId xmlns:a16="http://schemas.microsoft.com/office/drawing/2014/main" id="{46291404-5979-4EE9-9002-825AC9875D49}"/>
              </a:ext>
            </a:extLst>
          </p:cNvPr>
          <p:cNvSpPr>
            <a:spLocks xmlns:a="http://schemas.openxmlformats.org/drawingml/2006/main" noGrp="1"/>
          </p:cNvSpPr>
          <p:nvPr/>
        </p:nvSpPr>
        <p:spPr>
          <a:xfrm xmlns:a="http://schemas.openxmlformats.org/drawingml/2006/main">
            <a:off x="6419850" y="26479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C++ stress</a:t>
            </a:r>
          </a:p>
        </p:txBody>
      </p:sp>
      <p:sp>
        <p:nvSpPr>
          <p:cNvPr id="16" name="app-29-1-body">
            <a:extLst xmlns:a="http://schemas.openxmlformats.org/drawingml/2006/main">
              <a:ext uri="{FF2B5EF4-FFF2-40B4-BE49-F238E27FC236}">
                <a16:creationId xmlns:a16="http://schemas.microsoft.com/office/drawing/2014/main" id="{6027F10D-7C73-4000-9FCF-59AD9ED4658D}"/>
              </a:ext>
            </a:extLst>
          </p:cNvPr>
          <p:cNvSpPr>
            <a:spLocks xmlns:a="http://schemas.openxmlformats.org/drawingml/2006/main" noGrp="1"/>
          </p:cNvSpPr>
          <p:nvPr/>
        </p:nvSpPr>
        <p:spPr>
          <a:xfrm xmlns:a="http://schemas.openxmlformats.org/drawingml/2006/main">
            <a:off x="6419850" y="29337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264 cases; 13,824 accepted comparisons; 66,240 accounting checks.</a:t>
            </a:r>
          </a:p>
        </p:txBody>
      </p:sp>
      <p:sp>
        <p:nvSpPr>
          <p:cNvPr id="17" name="app-29-2-panel">
            <a:extLst xmlns:a="http://schemas.openxmlformats.org/drawingml/2006/main">
              <a:ext uri="{FF2B5EF4-FFF2-40B4-BE49-F238E27FC236}">
                <a16:creationId xmlns:a16="http://schemas.microsoft.com/office/drawing/2014/main" id="{2F1CFEF7-FDD2-46A4-9378-1595212D025C}"/>
              </a:ext>
            </a:extLst>
          </p:cNvPr>
          <p:cNvSpPr>
            <a:spLocks xmlns:a="http://schemas.openxmlformats.org/drawingml/2006/main" noGrp="1"/>
          </p:cNvSpPr>
          <p:nvPr/>
        </p:nvSpPr>
        <p:spPr>
          <a:xfrm xmlns:a="http://schemas.openxmlformats.org/drawingml/2006/main">
            <a:off x="78105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18" name="app-29-2-accent">
            <a:extLst xmlns:a="http://schemas.openxmlformats.org/drawingml/2006/main">
              <a:ext uri="{FF2B5EF4-FFF2-40B4-BE49-F238E27FC236}">
                <a16:creationId xmlns:a16="http://schemas.microsoft.com/office/drawing/2014/main" id="{E8BCAA00-CBB7-4162-BE3D-6193CD400928}"/>
              </a:ext>
            </a:extLst>
          </p:cNvPr>
          <p:cNvSpPr>
            <a:spLocks xmlns:a="http://schemas.openxmlformats.org/drawingml/2006/main" noGrp="1"/>
          </p:cNvSpPr>
          <p:nvPr/>
        </p:nvSpPr>
        <p:spPr>
          <a:xfrm xmlns:a="http://schemas.openxmlformats.org/drawingml/2006/main">
            <a:off x="781050" y="3600450"/>
            <a:ext cx="57150" cy="895350"/>
          </a:xfrm>
          <a:prstGeom xmlns:a="http://schemas.openxmlformats.org/drawingml/2006/main" prst="rect">
            <a:avLst/>
          </a:prstGeom>
          <a:solidFill xmlns:a="http://schemas.openxmlformats.org/drawingml/2006/main">
            <a:srgbClr val="D9CBB6"/>
          </a:solidFill>
          <a:ln xmlns:a="http://schemas.openxmlformats.org/drawingml/2006/main" w="0">
            <a:noFill/>
            <a:prstDash val="solid"/>
          </a:ln>
        </p:spPr>
      </p:sp>
      <p:sp>
        <p:nvSpPr>
          <p:cNvPr id="19" name="app-29-2-title">
            <a:extLst xmlns:a="http://schemas.openxmlformats.org/drawingml/2006/main">
              <a:ext uri="{FF2B5EF4-FFF2-40B4-BE49-F238E27FC236}">
                <a16:creationId xmlns:a16="http://schemas.microsoft.com/office/drawing/2014/main" id="{23D017A1-C151-4B50-864D-3D8EE91E91FD}"/>
              </a:ext>
            </a:extLst>
          </p:cNvPr>
          <p:cNvSpPr>
            <a:spLocks xmlns:a="http://schemas.openxmlformats.org/drawingml/2006/main" noGrp="1"/>
          </p:cNvSpPr>
          <p:nvPr/>
        </p:nvSpPr>
        <p:spPr>
          <a:xfrm xmlns:a="http://schemas.openxmlformats.org/drawingml/2006/main">
            <a:off x="99060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Graph/LangGraph</a:t>
            </a:r>
          </a:p>
        </p:txBody>
      </p:sp>
      <p:sp>
        <p:nvSpPr>
          <p:cNvPr id="20" name="app-29-2-body">
            <a:extLst xmlns:a="http://schemas.openxmlformats.org/drawingml/2006/main">
              <a:ext uri="{FF2B5EF4-FFF2-40B4-BE49-F238E27FC236}">
                <a16:creationId xmlns:a16="http://schemas.microsoft.com/office/drawing/2014/main" id="{5F3F097E-D00D-403D-8E55-B5FBFD439ECF}"/>
              </a:ext>
            </a:extLst>
          </p:cNvPr>
          <p:cNvSpPr>
            <a:spLocks xmlns:a="http://schemas.openxmlformats.org/drawingml/2006/main" noGrp="1"/>
          </p:cNvSpPr>
          <p:nvPr/>
        </p:nvSpPr>
        <p:spPr>
          <a:xfrm xmlns:a="http://schemas.openxmlformats.org/drawingml/2006/main">
            <a:off x="99060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Graph fixtures, source exports and pinned offline runtime use separate grids.</a:t>
            </a:r>
          </a:p>
        </p:txBody>
      </p:sp>
      <p:sp>
        <p:nvSpPr>
          <p:cNvPr id="21" name="app-29-3-panel">
            <a:extLst xmlns:a="http://schemas.openxmlformats.org/drawingml/2006/main">
              <a:ext uri="{FF2B5EF4-FFF2-40B4-BE49-F238E27FC236}">
                <a16:creationId xmlns:a16="http://schemas.microsoft.com/office/drawing/2014/main" id="{6789E69A-1C6D-4111-9D93-23A62288F288}"/>
              </a:ext>
            </a:extLst>
          </p:cNvPr>
          <p:cNvSpPr>
            <a:spLocks xmlns:a="http://schemas.openxmlformats.org/drawingml/2006/main" noGrp="1"/>
          </p:cNvSpPr>
          <p:nvPr/>
        </p:nvSpPr>
        <p:spPr>
          <a:xfrm xmlns:a="http://schemas.openxmlformats.org/drawingml/2006/main">
            <a:off x="6210300" y="360045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2" name="app-29-3-accent">
            <a:extLst xmlns:a="http://schemas.openxmlformats.org/drawingml/2006/main">
              <a:ext uri="{FF2B5EF4-FFF2-40B4-BE49-F238E27FC236}">
                <a16:creationId xmlns:a16="http://schemas.microsoft.com/office/drawing/2014/main" id="{7B659E76-6DE4-476B-A53B-FC78C0C55BFD}"/>
              </a:ext>
            </a:extLst>
          </p:cNvPr>
          <p:cNvSpPr>
            <a:spLocks xmlns:a="http://schemas.openxmlformats.org/drawingml/2006/main" noGrp="1"/>
          </p:cNvSpPr>
          <p:nvPr/>
        </p:nvSpPr>
        <p:spPr>
          <a:xfrm xmlns:a="http://schemas.openxmlformats.org/drawingml/2006/main">
            <a:off x="6210300" y="3600450"/>
            <a:ext cx="57150" cy="895350"/>
          </a:xfrm>
          <a:prstGeom xmlns:a="http://schemas.openxmlformats.org/drawingml/2006/main" prst="rect">
            <a:avLst/>
          </a:prstGeom>
          <a:solidFill xmlns:a="http://schemas.openxmlformats.org/drawingml/2006/main">
            <a:srgbClr val="1F6F66"/>
          </a:solidFill>
          <a:ln xmlns:a="http://schemas.openxmlformats.org/drawingml/2006/main" w="0">
            <a:noFill/>
            <a:prstDash val="solid"/>
          </a:ln>
        </p:spPr>
      </p:sp>
      <p:sp>
        <p:nvSpPr>
          <p:cNvPr id="23" name="app-29-3-title">
            <a:extLst xmlns:a="http://schemas.openxmlformats.org/drawingml/2006/main">
              <a:ext uri="{FF2B5EF4-FFF2-40B4-BE49-F238E27FC236}">
                <a16:creationId xmlns:a16="http://schemas.microsoft.com/office/drawing/2014/main" id="{16ABBD34-6EFE-40FA-8F56-6D8DE3D4E7E5}"/>
              </a:ext>
            </a:extLst>
          </p:cNvPr>
          <p:cNvSpPr>
            <a:spLocks xmlns:a="http://schemas.openxmlformats.org/drawingml/2006/main" noGrp="1"/>
          </p:cNvSpPr>
          <p:nvPr/>
        </p:nvSpPr>
        <p:spPr>
          <a:xfrm xmlns:a="http://schemas.openxmlformats.org/drawingml/2006/main">
            <a:off x="6419850" y="377190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Finite channels</a:t>
            </a:r>
          </a:p>
        </p:txBody>
      </p:sp>
      <p:sp>
        <p:nvSpPr>
          <p:cNvPr id="24" name="app-29-3-body">
            <a:extLst xmlns:a="http://schemas.openxmlformats.org/drawingml/2006/main">
              <a:ext uri="{FF2B5EF4-FFF2-40B4-BE49-F238E27FC236}">
                <a16:creationId xmlns:a16="http://schemas.microsoft.com/office/drawing/2014/main" id="{95B7CD4B-B50B-4A72-B05A-46C4C609EA72}"/>
              </a:ext>
            </a:extLst>
          </p:cNvPr>
          <p:cNvSpPr>
            <a:spLocks xmlns:a="http://schemas.openxmlformats.org/drawingml/2006/main" noGrp="1"/>
          </p:cNvSpPr>
          <p:nvPr/>
        </p:nvSpPr>
        <p:spPr>
          <a:xfrm xmlns:a="http://schemas.openxmlformats.org/drawingml/2006/main">
            <a:off x="6419850" y="405765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Finite kernels; exact DP/DFS histograms and channel metrics.</a:t>
            </a:r>
          </a:p>
        </p:txBody>
      </p:sp>
      <p:sp>
        <p:nvSpPr>
          <p:cNvPr id="25" name="app-29-4-panel">
            <a:extLst xmlns:a="http://schemas.openxmlformats.org/drawingml/2006/main">
              <a:ext uri="{FF2B5EF4-FFF2-40B4-BE49-F238E27FC236}">
                <a16:creationId xmlns:a16="http://schemas.microsoft.com/office/drawing/2014/main" id="{DBF4B8D4-C21B-4F83-8483-27D330D678E9}"/>
              </a:ext>
            </a:extLst>
          </p:cNvPr>
          <p:cNvSpPr>
            <a:spLocks xmlns:a="http://schemas.openxmlformats.org/drawingml/2006/main" noGrp="1"/>
          </p:cNvSpPr>
          <p:nvPr/>
        </p:nvSpPr>
        <p:spPr>
          <a:xfrm xmlns:a="http://schemas.openxmlformats.org/drawingml/2006/main">
            <a:off x="781050" y="47244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26" name="app-29-4-accent">
            <a:extLst xmlns:a="http://schemas.openxmlformats.org/drawingml/2006/main">
              <a:ext uri="{FF2B5EF4-FFF2-40B4-BE49-F238E27FC236}">
                <a16:creationId xmlns:a16="http://schemas.microsoft.com/office/drawing/2014/main" id="{F38C40CA-C8A4-4296-B55E-EAF105A17E2A}"/>
              </a:ext>
            </a:extLst>
          </p:cNvPr>
          <p:cNvSpPr>
            <a:spLocks xmlns:a="http://schemas.openxmlformats.org/drawingml/2006/main" noGrp="1"/>
          </p:cNvSpPr>
          <p:nvPr/>
        </p:nvSpPr>
        <p:spPr>
          <a:xfrm xmlns:a="http://schemas.openxmlformats.org/drawingml/2006/main">
            <a:off x="781050" y="4724400"/>
            <a:ext cx="57150" cy="895350"/>
          </a:xfrm>
          <a:prstGeom xmlns:a="http://schemas.openxmlformats.org/drawingml/2006/main" prst="rect">
            <a:avLst/>
          </a:prstGeom>
          <a:solidFill xmlns:a="http://schemas.openxmlformats.org/drawingml/2006/main">
            <a:srgbClr val="5CC8B8"/>
          </a:solidFill>
          <a:ln xmlns:a="http://schemas.openxmlformats.org/drawingml/2006/main" w="0">
            <a:noFill/>
            <a:prstDash val="solid"/>
          </a:ln>
        </p:spPr>
      </p:sp>
      <p:sp>
        <p:nvSpPr>
          <p:cNvPr id="27" name="app-29-4-title">
            <a:extLst xmlns:a="http://schemas.openxmlformats.org/drawingml/2006/main">
              <a:ext uri="{FF2B5EF4-FFF2-40B4-BE49-F238E27FC236}">
                <a16:creationId xmlns:a16="http://schemas.microsoft.com/office/drawing/2014/main" id="{982F3535-A461-4DE2-890B-F7B628ABBDBE}"/>
              </a:ext>
            </a:extLst>
          </p:cNvPr>
          <p:cNvSpPr>
            <a:spLocks xmlns:a="http://schemas.openxmlformats.org/drawingml/2006/main" noGrp="1"/>
          </p:cNvSpPr>
          <p:nvPr/>
        </p:nvSpPr>
        <p:spPr>
          <a:xfrm xmlns:a="http://schemas.openxmlformats.org/drawingml/2006/main">
            <a:off x="99060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Bisimulation</a:t>
            </a:r>
          </a:p>
        </p:txBody>
      </p:sp>
      <p:sp>
        <p:nvSpPr>
          <p:cNvPr id="28" name="app-29-4-body">
            <a:extLst xmlns:a="http://schemas.openxmlformats.org/drawingml/2006/main">
              <a:ext uri="{FF2B5EF4-FFF2-40B4-BE49-F238E27FC236}">
                <a16:creationId xmlns:a16="http://schemas.microsoft.com/office/drawing/2014/main" id="{DE87F2ED-07B9-4852-8175-AE708440908B}"/>
              </a:ext>
            </a:extLst>
          </p:cNvPr>
          <p:cNvSpPr>
            <a:spLocks xmlns:a="http://schemas.openxmlformats.org/drawingml/2006/main" noGrp="1"/>
          </p:cNvSpPr>
          <p:nvPr/>
        </p:nvSpPr>
        <p:spPr>
          <a:xfrm xmlns:a="http://schemas.openxmlformats.org/drawingml/2006/main">
            <a:off x="99060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Sufficient all-horizon partition; a split remains inconclusive.</a:t>
            </a:r>
          </a:p>
        </p:txBody>
      </p:sp>
      <p:sp>
        <p:nvSpPr>
          <p:cNvPr id="29" name="app-29-5-panel">
            <a:extLst xmlns:a="http://schemas.openxmlformats.org/drawingml/2006/main">
              <a:ext uri="{FF2B5EF4-FFF2-40B4-BE49-F238E27FC236}">
                <a16:creationId xmlns:a16="http://schemas.microsoft.com/office/drawing/2014/main" id="{3E73C5FF-646A-4FC0-A99A-B0C41B99B718}"/>
              </a:ext>
            </a:extLst>
          </p:cNvPr>
          <p:cNvSpPr>
            <a:spLocks xmlns:a="http://schemas.openxmlformats.org/drawingml/2006/main" noGrp="1"/>
          </p:cNvSpPr>
          <p:nvPr/>
        </p:nvSpPr>
        <p:spPr>
          <a:xfrm xmlns:a="http://schemas.openxmlformats.org/drawingml/2006/main">
            <a:off x="6210300" y="4724400"/>
            <a:ext cx="5191125" cy="895350"/>
          </a:xfrm>
          <a:prstGeom xmlns:a="http://schemas.openxmlformats.org/drawingml/2006/main" prst="roundRect">
            <a:avLst>
              <a:gd name="adj" fmla="val 8511"/>
            </a:avLst>
          </a:prstGeom>
          <a:solidFill xmlns:a="http://schemas.openxmlformats.org/drawingml/2006/main">
            <a:srgbClr val="FFFDF8"/>
          </a:solidFill>
          <a:ln xmlns:a="http://schemas.openxmlformats.org/drawingml/2006/main" w="9525">
            <a:solidFill>
              <a:srgbClr val="D7D0C4"/>
            </a:solidFill>
            <a:prstDash val="solid"/>
          </a:ln>
        </p:spPr>
      </p:sp>
      <p:sp>
        <p:nvSpPr>
          <p:cNvPr id="30" name="app-29-5-accent">
            <a:extLst xmlns:a="http://schemas.openxmlformats.org/drawingml/2006/main">
              <a:ext uri="{FF2B5EF4-FFF2-40B4-BE49-F238E27FC236}">
                <a16:creationId xmlns:a16="http://schemas.microsoft.com/office/drawing/2014/main" id="{5ABCD45E-F342-47C6-BCE8-FDEBEB4652EA}"/>
              </a:ext>
            </a:extLst>
          </p:cNvPr>
          <p:cNvSpPr>
            <a:spLocks xmlns:a="http://schemas.openxmlformats.org/drawingml/2006/main" noGrp="1"/>
          </p:cNvSpPr>
          <p:nvPr/>
        </p:nvSpPr>
        <p:spPr>
          <a:xfrm xmlns:a="http://schemas.openxmlformats.org/drawingml/2006/main">
            <a:off x="6210300" y="4724400"/>
            <a:ext cx="57150" cy="895350"/>
          </a:xfrm>
          <a:prstGeom xmlns:a="http://schemas.openxmlformats.org/drawingml/2006/main" prst="rect">
            <a:avLst/>
          </a:prstGeom>
          <a:solidFill xmlns:a="http://schemas.openxmlformats.org/drawingml/2006/main">
            <a:srgbClr val="FF8A5C"/>
          </a:solidFill>
          <a:ln xmlns:a="http://schemas.openxmlformats.org/drawingml/2006/main" w="0">
            <a:noFill/>
            <a:prstDash val="solid"/>
          </a:ln>
        </p:spPr>
      </p:sp>
      <p:sp>
        <p:nvSpPr>
          <p:cNvPr id="31" name="app-29-5-title">
            <a:extLst xmlns:a="http://schemas.openxmlformats.org/drawingml/2006/main">
              <a:ext uri="{FF2B5EF4-FFF2-40B4-BE49-F238E27FC236}">
                <a16:creationId xmlns:a16="http://schemas.microsoft.com/office/drawing/2014/main" id="{429DE73D-A0EB-41A8-84D2-D72820FDF356}"/>
              </a:ext>
            </a:extLst>
          </p:cNvPr>
          <p:cNvSpPr>
            <a:spLocks xmlns:a="http://schemas.openxmlformats.org/drawingml/2006/main" noGrp="1"/>
          </p:cNvSpPr>
          <p:nvPr/>
        </p:nvSpPr>
        <p:spPr>
          <a:xfrm xmlns:a="http://schemas.openxmlformats.org/drawingml/2006/main">
            <a:off x="6419850" y="4895850"/>
            <a:ext cx="47720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i="0">
                <a:solidFill>
                  <a:srgbClr val="141B2B"/>
                </a:solidFill>
                <a:latin typeface="Avenir Next"/>
                <a:ea typeface="Avenir Next"/>
                <a:cs typeface="Avenir Next"/>
              </a:defRPr>
            </a:defPPr>
          </a:lstStyle>
          <a:p xmlns:a="http://schemas.openxmlformats.org/drawingml/2006/main">
            <a:pPr algn="l">
              <a:defRPr sz="1275" b="1" i="0">
                <a:solidFill>
                  <a:srgbClr val="141B2B"/>
                </a:solidFill>
                <a:latin typeface="Avenir Next"/>
                <a:ea typeface="Avenir Next"/>
                <a:cs typeface="Avenir Next"/>
              </a:defRPr>
            </a:pPr>
            <a:r>
              <a:rPr sz="1275" b="1" i="0">
                <a:solidFill>
                  <a:srgbClr val="141B2B"/>
                </a:solidFill>
                <a:latin typeface="Avenir Next"/>
                <a:ea typeface="Avenir Next"/>
                <a:cs typeface="Avenir Next"/>
              </a:rPr>
              <a:t>Exact trace laws</a:t>
            </a:r>
          </a:p>
        </p:txBody>
      </p:sp>
      <p:sp>
        <p:nvSpPr>
          <p:cNvPr id="32" name="app-29-5-body">
            <a:extLst xmlns:a="http://schemas.openxmlformats.org/drawingml/2006/main">
              <a:ext uri="{FF2B5EF4-FFF2-40B4-BE49-F238E27FC236}">
                <a16:creationId xmlns:a16="http://schemas.microsoft.com/office/drawing/2014/main" id="{B81FF548-0B1E-474D-9939-BB9B44079231}"/>
              </a:ext>
            </a:extLst>
          </p:cNvPr>
          <p:cNvSpPr>
            <a:spLocks xmlns:a="http://schemas.openxmlformats.org/drawingml/2006/main" noGrp="1"/>
          </p:cNvSpPr>
          <p:nvPr/>
        </p:nvSpPr>
        <p:spPr>
          <a:xfrm xmlns:a="http://schemas.openxmlformats.org/drawingml/2006/main">
            <a:off x="6419850" y="5181600"/>
            <a:ext cx="47720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63" b="0" i="0">
                <a:solidFill>
                  <a:srgbClr val="646B7A"/>
                </a:solidFill>
                <a:latin typeface="Avenir Next"/>
                <a:ea typeface="Avenir Next"/>
                <a:cs typeface="Avenir Next"/>
              </a:defRPr>
            </a:defPPr>
          </a:lstStyle>
          <a:p xmlns:a="http://schemas.openxmlformats.org/drawingml/2006/main">
            <a:pPr algn="l">
              <a:defRPr sz="1163" b="0" i="0">
                <a:solidFill>
                  <a:srgbClr val="646B7A"/>
                </a:solidFill>
                <a:latin typeface="Avenir Next"/>
                <a:ea typeface="Avenir Next"/>
                <a:cs typeface="Avenir Next"/>
              </a:defRPr>
            </a:pPr>
            <a:r>
              <a:rPr sz="1163" b="0" i="0">
                <a:solidFill>
                  <a:srgbClr val="646B7A"/>
                </a:solidFill>
                <a:latin typeface="Avenir Next"/>
                <a:ea typeface="Avenir Next"/>
                <a:cs typeface="Avenir Next"/>
              </a:rPr>
              <a:t>12 cases · 6 equal / 6 unequal · 12 replayed</a:t>
            </a:r>
          </a:p>
        </p:txBody>
      </p:sp>
    </p:spTree>
    <p:extLst>
      <p:ext uri="{BB962C8B-B14F-4D97-AF65-F5344CB8AC3E}">
        <p14:creationId xmlns:p14="http://schemas.microsoft.com/office/powerpoint/2010/main" val="482397047"/>
      </p:ext>
    </p:extLst>
  </p:cSld>
</p:sld>
</file>

<file path=ppt/slides/slide30.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32" name="s30-brand">
            <a:extLst xmlns:a="http://schemas.openxmlformats.org/drawingml/2006/main">
              <a:ext uri="{FF2B5EF4-FFF2-40B4-BE49-F238E27FC236}">
                <a16:creationId xmlns:a16="http://schemas.microsoft.com/office/drawing/2014/main" id="{25FC0425-E282-4F20-AFB5-1C4340CD945E}"/>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30-section">
            <a:extLst xmlns:a="http://schemas.openxmlformats.org/drawingml/2006/main">
              <a:ext uri="{FF2B5EF4-FFF2-40B4-BE49-F238E27FC236}">
                <a16:creationId xmlns:a16="http://schemas.microsoft.com/office/drawing/2014/main" id="{6F752EC1-C73A-4911-AE54-2416510306CA}"/>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APPENDIX A5</a:t>
            </a:r>
          </a:p>
        </p:txBody>
      </p:sp>
      <p:sp>
        <p:nvSpPr>
          <p:cNvPr id="3" name="s30-title">
            <a:extLst xmlns:a="http://schemas.openxmlformats.org/drawingml/2006/main">
              <a:ext uri="{FF2B5EF4-FFF2-40B4-BE49-F238E27FC236}">
                <a16:creationId xmlns:a16="http://schemas.microsoft.com/office/drawing/2014/main" id="{5DC2F5F4-8824-4015-9F65-0EB5CF339233}"/>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Likely examiner questions</a:t>
            </a:r>
          </a:p>
        </p:txBody>
      </p:sp>
      <p:sp>
        <p:nvSpPr>
          <p:cNvPr id="4" name="s30-source-rule">
            <a:extLst xmlns:a="http://schemas.openxmlformats.org/drawingml/2006/main">
              <a:ext uri="{FF2B5EF4-FFF2-40B4-BE49-F238E27FC236}">
                <a16:creationId xmlns:a16="http://schemas.microsoft.com/office/drawing/2014/main" id="{D01C1355-A28D-4568-BA1C-318871922075}"/>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5" name="s30-sources">
            <a:extLst xmlns:a="http://schemas.openxmlformats.org/drawingml/2006/main">
              <a:ext uri="{FF2B5EF4-FFF2-40B4-BE49-F238E27FC236}">
                <a16:creationId xmlns:a16="http://schemas.microsoft.com/office/drawing/2014/main" id="{9D8235D3-79C2-4B0B-808E-BB8D74E5DF73}"/>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docs/FORMAL_CONTRACT.md</a:t>
            </a:r>
          </a:p>
        </p:txBody>
      </p:sp>
      <p:sp>
        <p:nvSpPr>
          <p:cNvPr id="6" name="s30-footer-rule">
            <a:extLst xmlns:a="http://schemas.openxmlformats.org/drawingml/2006/main">
              <a:ext uri="{FF2B5EF4-FFF2-40B4-BE49-F238E27FC236}">
                <a16:creationId xmlns:a16="http://schemas.microsoft.com/office/drawing/2014/main" id="{C1335E8E-852E-4266-B46F-52EB74AD641E}"/>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7" name="s30-footer">
            <a:extLst xmlns:a="http://schemas.openxmlformats.org/drawingml/2006/main">
              <a:ext uri="{FF2B5EF4-FFF2-40B4-BE49-F238E27FC236}">
                <a16:creationId xmlns:a16="http://schemas.microsoft.com/office/drawing/2014/main" id="{17399685-D452-4C94-BC05-80A256069700}"/>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8" name="s30-page">
            <a:extLst xmlns:a="http://schemas.openxmlformats.org/drawingml/2006/main">
              <a:ext uri="{FF2B5EF4-FFF2-40B4-BE49-F238E27FC236}">
                <a16:creationId xmlns:a16="http://schemas.microsoft.com/office/drawing/2014/main" id="{7AE4C945-F6F0-48CC-AE57-548980CF9B85}"/>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A5</a:t>
            </a:r>
          </a:p>
        </p:txBody>
      </p:sp>
      <p:sp>
        <p:nvSpPr>
          <p:cNvPr id="9" name="qa-0-q">
            <a:extLst xmlns:a="http://schemas.openxmlformats.org/drawingml/2006/main">
              <a:ext uri="{FF2B5EF4-FFF2-40B4-BE49-F238E27FC236}">
                <a16:creationId xmlns:a16="http://schemas.microsoft.com/office/drawing/2014/main" id="{0652DA3E-A86C-4A74-94B6-7CCE7B124F42}"/>
              </a:ext>
            </a:extLst>
          </p:cNvPr>
          <p:cNvSpPr>
            <a:spLocks xmlns:a="http://schemas.openxmlformats.org/drawingml/2006/main" noGrp="1"/>
          </p:cNvSpPr>
          <p:nvPr/>
        </p:nvSpPr>
        <p:spPr>
          <a:xfrm xmlns:a="http://schemas.openxmlformats.org/drawingml/2006/main">
            <a:off x="742950" y="23622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FF8A5C"/>
                </a:solidFill>
                <a:latin typeface="Avenir Next"/>
                <a:ea typeface="Avenir Next"/>
                <a:cs typeface="Avenir Next"/>
              </a:defRPr>
            </a:defPPr>
          </a:lstStyle>
          <a:p xmlns:a="http://schemas.openxmlformats.org/drawingml/2006/main">
            <a:pPr algn="l">
              <a:defRPr sz="1238" b="1" i="0">
                <a:solidFill>
                  <a:srgbClr val="FF8A5C"/>
                </a:solidFill>
                <a:latin typeface="Avenir Next"/>
                <a:ea typeface="Avenir Next"/>
                <a:cs typeface="Avenir Next"/>
              </a:defRPr>
            </a:pPr>
            <a:r>
              <a:rPr sz="1238" b="1" i="0">
                <a:solidFill>
                  <a:srgbClr val="FF8A5C"/>
                </a:solidFill>
                <a:latin typeface="Avenir Next"/>
                <a:ea typeface="Avenir Next"/>
                <a:cs typeface="Avenir Next"/>
              </a:rPr>
              <a:t>Is this new general theory?</a:t>
            </a:r>
          </a:p>
        </p:txBody>
      </p:sp>
      <p:sp>
        <p:nvSpPr>
          <p:cNvPr id="10" name="qa-0-a">
            <a:extLst xmlns:a="http://schemas.openxmlformats.org/drawingml/2006/main">
              <a:ext uri="{FF2B5EF4-FFF2-40B4-BE49-F238E27FC236}">
                <a16:creationId xmlns:a16="http://schemas.microsoft.com/office/drawing/2014/main" id="{4B4B461C-12D5-4799-B224-BE58630C04E7}"/>
              </a:ext>
            </a:extLst>
          </p:cNvPr>
          <p:cNvSpPr>
            <a:spLocks xmlns:a="http://schemas.openxmlformats.org/drawingml/2006/main" noGrp="1"/>
          </p:cNvSpPr>
          <p:nvPr/>
        </p:nvSpPr>
        <p:spPr>
          <a:xfrm xmlns:a="http://schemas.openxmlformats.org/drawingml/2006/main">
            <a:off x="4000500" y="2362200"/>
            <a:ext cx="733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5F2EA"/>
                </a:solidFill>
                <a:latin typeface="Avenir Next"/>
                <a:ea typeface="Avenir Next"/>
                <a:cs typeface="Avenir Next"/>
              </a:defRPr>
            </a:defPPr>
          </a:lstStyle>
          <a:p xmlns:a="http://schemas.openxmlformats.org/drawingml/2006/main">
            <a:pPr algn="l">
              <a:defRPr sz="1200" b="0" i="0">
                <a:solidFill>
                  <a:srgbClr val="F5F2EA"/>
                </a:solidFill>
                <a:latin typeface="Avenir Next"/>
                <a:ea typeface="Avenir Next"/>
                <a:cs typeface="Avenir Next"/>
              </a:defRPr>
            </a:pPr>
            <a:r>
              <a:rPr sz="1200" b="0" i="0">
                <a:solidFill>
                  <a:srgbClr val="F5F2EA"/>
                </a:solidFill>
                <a:latin typeface="Avenir Next"/>
                <a:ea typeface="Avenir Next"/>
                <a:cs typeface="Avenir Next"/>
              </a:rPr>
              <a:t>No. It applies established relational methods to a specific usage contract.</a:t>
            </a:r>
          </a:p>
        </p:txBody>
      </p:sp>
      <p:sp>
        <p:nvSpPr>
          <p:cNvPr id="11" name="qa-0-rule">
            <a:extLst xmlns:a="http://schemas.openxmlformats.org/drawingml/2006/main">
              <a:ext uri="{FF2B5EF4-FFF2-40B4-BE49-F238E27FC236}">
                <a16:creationId xmlns:a16="http://schemas.microsoft.com/office/drawing/2014/main" id="{F94C6DC6-809F-4FF2-995C-C8E8CF8EE993}"/>
              </a:ext>
            </a:extLst>
          </p:cNvPr>
          <p:cNvSpPr>
            <a:spLocks xmlns:a="http://schemas.openxmlformats.org/drawingml/2006/main" noGrp="1"/>
          </p:cNvSpPr>
          <p:nvPr/>
        </p:nvSpPr>
        <p:spPr>
          <a:xfrm xmlns:a="http://schemas.openxmlformats.org/drawingml/2006/main">
            <a:off x="742950" y="2714625"/>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2" name="qa-1-q">
            <a:extLst xmlns:a="http://schemas.openxmlformats.org/drawingml/2006/main">
              <a:ext uri="{FF2B5EF4-FFF2-40B4-BE49-F238E27FC236}">
                <a16:creationId xmlns:a16="http://schemas.microsoft.com/office/drawing/2014/main" id="{069BCE28-582D-43C7-8330-CD656278425F}"/>
              </a:ext>
            </a:extLst>
          </p:cNvPr>
          <p:cNvSpPr>
            <a:spLocks xmlns:a="http://schemas.openxmlformats.org/drawingml/2006/main" noGrp="1"/>
          </p:cNvSpPr>
          <p:nvPr/>
        </p:nvSpPr>
        <p:spPr>
          <a:xfrm xmlns:a="http://schemas.openxmlformats.org/drawingml/2006/main">
            <a:off x="742950" y="27908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5CC8B8"/>
                </a:solidFill>
                <a:latin typeface="Avenir Next"/>
                <a:ea typeface="Avenir Next"/>
                <a:cs typeface="Avenir Next"/>
              </a:defRPr>
            </a:defPPr>
          </a:lstStyle>
          <a:p xmlns:a="http://schemas.openxmlformats.org/drawingml/2006/main">
            <a:pPr algn="l">
              <a:defRPr sz="1238" b="1" i="0">
                <a:solidFill>
                  <a:srgbClr val="5CC8B8"/>
                </a:solidFill>
                <a:latin typeface="Avenir Next"/>
                <a:ea typeface="Avenir Next"/>
                <a:cs typeface="Avenir Next"/>
              </a:defRPr>
            </a:pPr>
            <a:r>
              <a:rPr sz="1238" b="1" i="0">
                <a:solidFill>
                  <a:srgbClr val="5CC8B8"/>
                </a:solidFill>
                <a:latin typeface="Avenir Next"/>
                <a:ea typeface="Avenir Next"/>
                <a:cs typeface="Avenir Next"/>
              </a:rPr>
              <a:t>Do cycles imply a finite budget?</a:t>
            </a:r>
          </a:p>
        </p:txBody>
      </p:sp>
      <p:sp>
        <p:nvSpPr>
          <p:cNvPr id="13" name="qa-1-a">
            <a:extLst xmlns:a="http://schemas.openxmlformats.org/drawingml/2006/main">
              <a:ext uri="{FF2B5EF4-FFF2-40B4-BE49-F238E27FC236}">
                <a16:creationId xmlns:a16="http://schemas.microsoft.com/office/drawing/2014/main" id="{1DC70A25-4CE3-4948-ACBA-822498365F49}"/>
              </a:ext>
            </a:extLst>
          </p:cNvPr>
          <p:cNvSpPr>
            <a:spLocks xmlns:a="http://schemas.openxmlformats.org/drawingml/2006/main" noGrp="1"/>
          </p:cNvSpPr>
          <p:nvPr/>
        </p:nvSpPr>
        <p:spPr>
          <a:xfrm xmlns:a="http://schemas.openxmlformats.org/drawingml/2006/main">
            <a:off x="4000500" y="2790825"/>
            <a:ext cx="733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5F2EA"/>
                </a:solidFill>
                <a:latin typeface="Avenir Next"/>
                <a:ea typeface="Avenir Next"/>
                <a:cs typeface="Avenir Next"/>
              </a:defRPr>
            </a:defPPr>
          </a:lstStyle>
          <a:p xmlns:a="http://schemas.openxmlformats.org/drawingml/2006/main">
            <a:pPr algn="l">
              <a:defRPr sz="1200" b="0" i="0">
                <a:solidFill>
                  <a:srgbClr val="F5F2EA"/>
                </a:solidFill>
                <a:latin typeface="Avenir Next"/>
                <a:ea typeface="Avenir Next"/>
                <a:cs typeface="Avenir Next"/>
              </a:defRPr>
            </a:pPr>
            <a:r>
              <a:rPr sz="1200" b="0" i="0">
                <a:solidFill>
                  <a:srgbClr val="F5F2EA"/>
                </a:solidFill>
                <a:latin typeface="Avenir Next"/>
                <a:ea typeface="Avenir Next"/>
                <a:cs typeface="Avenir Next"/>
              </a:rPr>
              <a:t>No. The result concerns finite trace prefixes under Ω.</a:t>
            </a:r>
          </a:p>
        </p:txBody>
      </p:sp>
      <p:sp>
        <p:nvSpPr>
          <p:cNvPr id="14" name="qa-1-rule">
            <a:extLst xmlns:a="http://schemas.openxmlformats.org/drawingml/2006/main">
              <a:ext uri="{FF2B5EF4-FFF2-40B4-BE49-F238E27FC236}">
                <a16:creationId xmlns:a16="http://schemas.microsoft.com/office/drawing/2014/main" id="{77AF8824-D252-4598-AF4A-3FAFE719A36D}"/>
              </a:ext>
            </a:extLst>
          </p:cNvPr>
          <p:cNvSpPr>
            <a:spLocks xmlns:a="http://schemas.openxmlformats.org/drawingml/2006/main" noGrp="1"/>
          </p:cNvSpPr>
          <p:nvPr/>
        </p:nvSpPr>
        <p:spPr>
          <a:xfrm xmlns:a="http://schemas.openxmlformats.org/drawingml/2006/main">
            <a:off x="742950" y="314325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5" name="qa-2-q">
            <a:extLst xmlns:a="http://schemas.openxmlformats.org/drawingml/2006/main">
              <a:ext uri="{FF2B5EF4-FFF2-40B4-BE49-F238E27FC236}">
                <a16:creationId xmlns:a16="http://schemas.microsoft.com/office/drawing/2014/main" id="{AD78B4F7-5F16-4DC1-B510-0495FE1EED9C}"/>
              </a:ext>
            </a:extLst>
          </p:cNvPr>
          <p:cNvSpPr>
            <a:spLocks xmlns:a="http://schemas.openxmlformats.org/drawingml/2006/main" noGrp="1"/>
          </p:cNvSpPr>
          <p:nvPr/>
        </p:nvSpPr>
        <p:spPr>
          <a:xfrm xmlns:a="http://schemas.openxmlformats.org/drawingml/2006/main">
            <a:off x="742950" y="32194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FF8A5C"/>
                </a:solidFill>
                <a:latin typeface="Avenir Next"/>
                <a:ea typeface="Avenir Next"/>
                <a:cs typeface="Avenir Next"/>
              </a:defRPr>
            </a:defPPr>
          </a:lstStyle>
          <a:p xmlns:a="http://schemas.openxmlformats.org/drawingml/2006/main">
            <a:pPr algn="l">
              <a:defRPr sz="1238" b="1" i="0">
                <a:solidFill>
                  <a:srgbClr val="FF8A5C"/>
                </a:solidFill>
                <a:latin typeface="Avenir Next"/>
                <a:ea typeface="Avenir Next"/>
                <a:cs typeface="Avenir Next"/>
              </a:defRPr>
            </a:pPr>
            <a:r>
              <a:rPr sz="1238" b="1" i="0">
                <a:solidFill>
                  <a:srgbClr val="FF8A5C"/>
                </a:solidFill>
                <a:latin typeface="Avenir Next"/>
                <a:ea typeface="Avenir Next"/>
                <a:cs typeface="Avenir Next"/>
              </a:rPr>
              <a:t>Does the channel tool predict providers?</a:t>
            </a:r>
          </a:p>
        </p:txBody>
      </p:sp>
      <p:sp>
        <p:nvSpPr>
          <p:cNvPr id="16" name="qa-2-a">
            <a:extLst xmlns:a="http://schemas.openxmlformats.org/drawingml/2006/main">
              <a:ext uri="{FF2B5EF4-FFF2-40B4-BE49-F238E27FC236}">
                <a16:creationId xmlns:a16="http://schemas.microsoft.com/office/drawing/2014/main" id="{93E3472B-D8AB-42C5-9270-980D28E86035}"/>
              </a:ext>
            </a:extLst>
          </p:cNvPr>
          <p:cNvSpPr>
            <a:spLocks xmlns:a="http://schemas.openxmlformats.org/drawingml/2006/main" noGrp="1"/>
          </p:cNvSpPr>
          <p:nvPr/>
        </p:nvSpPr>
        <p:spPr>
          <a:xfrm xmlns:a="http://schemas.openxmlformats.org/drawingml/2006/main">
            <a:off x="4000500" y="3219450"/>
            <a:ext cx="733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5F2EA"/>
                </a:solidFill>
                <a:latin typeface="Avenir Next"/>
                <a:ea typeface="Avenir Next"/>
                <a:cs typeface="Avenir Next"/>
              </a:defRPr>
            </a:defPPr>
          </a:lstStyle>
          <a:p xmlns:a="http://schemas.openxmlformats.org/drawingml/2006/main">
            <a:pPr algn="l">
              <a:defRPr sz="1200" b="0" i="0">
                <a:solidFill>
                  <a:srgbClr val="F5F2EA"/>
                </a:solidFill>
                <a:latin typeface="Avenir Next"/>
                <a:ea typeface="Avenir Next"/>
                <a:cs typeface="Avenir Next"/>
              </a:defRPr>
            </a:pPr>
            <a:r>
              <a:rPr sz="1200" b="0" i="0">
                <a:solidFill>
                  <a:srgbClr val="F5F2EA"/>
                </a:solidFill>
                <a:latin typeface="Avenir Next"/>
                <a:ea typeface="Avenir Next"/>
                <a:cs typeface="Avenir Next"/>
              </a:rPr>
              <a:t>No. It analyzes explicitly supplied finite kernels.</a:t>
            </a:r>
          </a:p>
        </p:txBody>
      </p:sp>
      <p:sp>
        <p:nvSpPr>
          <p:cNvPr id="17" name="qa-2-rule">
            <a:extLst xmlns:a="http://schemas.openxmlformats.org/drawingml/2006/main">
              <a:ext uri="{FF2B5EF4-FFF2-40B4-BE49-F238E27FC236}">
                <a16:creationId xmlns:a16="http://schemas.microsoft.com/office/drawing/2014/main" id="{86054F61-0DD2-4394-ADE0-015312C14DE5}"/>
              </a:ext>
            </a:extLst>
          </p:cNvPr>
          <p:cNvSpPr>
            <a:spLocks xmlns:a="http://schemas.openxmlformats.org/drawingml/2006/main" noGrp="1"/>
          </p:cNvSpPr>
          <p:nvPr/>
        </p:nvSpPr>
        <p:spPr>
          <a:xfrm xmlns:a="http://schemas.openxmlformats.org/drawingml/2006/main">
            <a:off x="742950" y="3571875"/>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8" name="qa-3-q">
            <a:extLst xmlns:a="http://schemas.openxmlformats.org/drawingml/2006/main">
              <a:ext uri="{FF2B5EF4-FFF2-40B4-BE49-F238E27FC236}">
                <a16:creationId xmlns:a16="http://schemas.microsoft.com/office/drawing/2014/main" id="{87F5B018-9DAA-4211-91AA-FC590C573CFA}"/>
              </a:ext>
            </a:extLst>
          </p:cNvPr>
          <p:cNvSpPr>
            <a:spLocks xmlns:a="http://schemas.openxmlformats.org/drawingml/2006/main" noGrp="1"/>
          </p:cNvSpPr>
          <p:nvPr/>
        </p:nvSpPr>
        <p:spPr>
          <a:xfrm xmlns:a="http://schemas.openxmlformats.org/drawingml/2006/main">
            <a:off x="742950" y="364807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872"/>
          </a:bodyPr>
          <a:lstStyle xmlns:a="http://schemas.openxmlformats.org/drawingml/2006/main">
            <a:defPPr algn="l">
              <a:defRPr sz="1238" b="1" i="0">
                <a:solidFill>
                  <a:srgbClr val="5CC8B8"/>
                </a:solidFill>
                <a:latin typeface="Avenir Next"/>
                <a:ea typeface="Avenir Next"/>
                <a:cs typeface="Avenir Next"/>
              </a:defRPr>
            </a:defPPr>
          </a:lstStyle>
          <a:p xmlns:a="http://schemas.openxmlformats.org/drawingml/2006/main">
            <a:pPr algn="l">
              <a:defRPr sz="1238" b="1" i="0">
                <a:solidFill>
                  <a:srgbClr val="5CC8B8"/>
                </a:solidFill>
                <a:latin typeface="Avenir Next"/>
                <a:ea typeface="Avenir Next"/>
                <a:cs typeface="Avenir Next"/>
              </a:defRPr>
            </a:pPr>
            <a:r>
              <a:rPr sz="1238" b="1" i="0">
                <a:solidFill>
                  <a:srgbClr val="5CC8B8"/>
                </a:solidFill>
                <a:latin typeface="Avenir Next"/>
                <a:ea typeface="Avenir Next"/>
                <a:cs typeface="Avenir Next"/>
              </a:rPr>
              <a:t>Does LangGraph prove arbitrary source fidelity?</a:t>
            </a:r>
          </a:p>
        </p:txBody>
      </p:sp>
      <p:sp>
        <p:nvSpPr>
          <p:cNvPr id="19" name="qa-3-a">
            <a:extLst xmlns:a="http://schemas.openxmlformats.org/drawingml/2006/main">
              <a:ext uri="{FF2B5EF4-FFF2-40B4-BE49-F238E27FC236}">
                <a16:creationId xmlns:a16="http://schemas.microsoft.com/office/drawing/2014/main" id="{2252A9FF-21C6-43CD-B3D6-B51977C42DCE}"/>
              </a:ext>
            </a:extLst>
          </p:cNvPr>
          <p:cNvSpPr>
            <a:spLocks xmlns:a="http://schemas.openxmlformats.org/drawingml/2006/main" noGrp="1"/>
          </p:cNvSpPr>
          <p:nvPr/>
        </p:nvSpPr>
        <p:spPr>
          <a:xfrm xmlns:a="http://schemas.openxmlformats.org/drawingml/2006/main">
            <a:off x="4000500" y="3648075"/>
            <a:ext cx="733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5F2EA"/>
                </a:solidFill>
                <a:latin typeface="Avenir Next"/>
                <a:ea typeface="Avenir Next"/>
                <a:cs typeface="Avenir Next"/>
              </a:defRPr>
            </a:defPPr>
          </a:lstStyle>
          <a:p xmlns:a="http://schemas.openxmlformats.org/drawingml/2006/main">
            <a:pPr algn="l">
              <a:defRPr sz="1200" b="0" i="0">
                <a:solidFill>
                  <a:srgbClr val="F5F2EA"/>
                </a:solidFill>
                <a:latin typeface="Avenir Next"/>
                <a:ea typeface="Avenir Next"/>
                <a:cs typeface="Avenir Next"/>
              </a:defRPr>
            </a:pPr>
            <a:r>
              <a:rPr sz="1200" b="0" i="0">
                <a:solidFill>
                  <a:srgbClr val="F5F2EA"/>
                </a:solidFill>
                <a:latin typeface="Avenir Next"/>
                <a:ea typeface="Avenir Next"/>
                <a:cs typeface="Avenir Next"/>
              </a:rPr>
              <a:t>No. A restricted AST subset and authored grid are tested.</a:t>
            </a:r>
          </a:p>
        </p:txBody>
      </p:sp>
      <p:sp>
        <p:nvSpPr>
          <p:cNvPr id="20" name="qa-3-rule">
            <a:extLst xmlns:a="http://schemas.openxmlformats.org/drawingml/2006/main">
              <a:ext uri="{FF2B5EF4-FFF2-40B4-BE49-F238E27FC236}">
                <a16:creationId xmlns:a16="http://schemas.microsoft.com/office/drawing/2014/main" id="{347B0068-1645-41A4-9310-DF96E430CB0B}"/>
              </a:ext>
            </a:extLst>
          </p:cNvPr>
          <p:cNvSpPr>
            <a:spLocks xmlns:a="http://schemas.openxmlformats.org/drawingml/2006/main" noGrp="1"/>
          </p:cNvSpPr>
          <p:nvPr/>
        </p:nvSpPr>
        <p:spPr>
          <a:xfrm xmlns:a="http://schemas.openxmlformats.org/drawingml/2006/main">
            <a:off x="742950" y="400050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1" name="qa-4-q">
            <a:extLst xmlns:a="http://schemas.openxmlformats.org/drawingml/2006/main">
              <a:ext uri="{FF2B5EF4-FFF2-40B4-BE49-F238E27FC236}">
                <a16:creationId xmlns:a16="http://schemas.microsoft.com/office/drawing/2014/main" id="{FBFB9632-129F-4A58-A54B-66962927A96C}"/>
              </a:ext>
            </a:extLst>
          </p:cNvPr>
          <p:cNvSpPr>
            <a:spLocks xmlns:a="http://schemas.openxmlformats.org/drawingml/2006/main" noGrp="1"/>
          </p:cNvSpPr>
          <p:nvPr/>
        </p:nvSpPr>
        <p:spPr>
          <a:xfrm xmlns:a="http://schemas.openxmlformats.org/drawingml/2006/main">
            <a:off x="742950" y="40767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FF8A5C"/>
                </a:solidFill>
                <a:latin typeface="Avenir Next"/>
                <a:ea typeface="Avenir Next"/>
                <a:cs typeface="Avenir Next"/>
              </a:defRPr>
            </a:defPPr>
          </a:lstStyle>
          <a:p xmlns:a="http://schemas.openxmlformats.org/drawingml/2006/main">
            <a:pPr algn="l">
              <a:defRPr sz="1238" b="1" i="0">
                <a:solidFill>
                  <a:srgbClr val="FF8A5C"/>
                </a:solidFill>
                <a:latin typeface="Avenir Next"/>
                <a:ea typeface="Avenir Next"/>
                <a:cs typeface="Avenir Next"/>
              </a:defRPr>
            </a:pPr>
            <a:r>
              <a:rPr sz="1238" b="1" i="0">
                <a:solidFill>
                  <a:srgbClr val="FF8A5C"/>
                </a:solidFill>
                <a:latin typeface="Avenir Next"/>
                <a:ea typeface="Avenir Next"/>
                <a:cs typeface="Avenir Next"/>
              </a:rPr>
              <a:t>What does certificate replay verify?</a:t>
            </a:r>
          </a:p>
        </p:txBody>
      </p:sp>
      <p:sp>
        <p:nvSpPr>
          <p:cNvPr id="22" name="qa-4-a">
            <a:extLst xmlns:a="http://schemas.openxmlformats.org/drawingml/2006/main">
              <a:ext uri="{FF2B5EF4-FFF2-40B4-BE49-F238E27FC236}">
                <a16:creationId xmlns:a16="http://schemas.microsoft.com/office/drawing/2014/main" id="{4EB1EA31-D4B1-4BC8-8E28-DDAA2F14B1A3}"/>
              </a:ext>
            </a:extLst>
          </p:cNvPr>
          <p:cNvSpPr>
            <a:spLocks xmlns:a="http://schemas.openxmlformats.org/drawingml/2006/main" noGrp="1"/>
          </p:cNvSpPr>
          <p:nvPr/>
        </p:nvSpPr>
        <p:spPr>
          <a:xfrm xmlns:a="http://schemas.openxmlformats.org/drawingml/2006/main">
            <a:off x="4000500" y="4076700"/>
            <a:ext cx="733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5F2EA"/>
                </a:solidFill>
                <a:latin typeface="Avenir Next"/>
                <a:ea typeface="Avenir Next"/>
                <a:cs typeface="Avenir Next"/>
              </a:defRPr>
            </a:defPPr>
          </a:lstStyle>
          <a:p xmlns:a="http://schemas.openxmlformats.org/drawingml/2006/main">
            <a:pPr algn="l">
              <a:defRPr sz="1200" b="0" i="0">
                <a:solidFill>
                  <a:srgbClr val="F5F2EA"/>
                </a:solidFill>
                <a:latin typeface="Avenir Next"/>
                <a:ea typeface="Avenir Next"/>
                <a:cs typeface="Avenir Next"/>
              </a:defRPr>
            </a:pPr>
            <a:r>
              <a:rPr sz="1200" b="0" i="0">
                <a:solidFill>
                  <a:srgbClr val="F5F2EA"/>
                </a:solidFill>
                <a:latin typeface="Avenir Next"/>
                <a:ea typeface="Avenir Next"/>
                <a:cs typeface="Avenir Next"/>
              </a:rPr>
              <a:t>Reconstructed finite semantics and exact span under versioned rules.</a:t>
            </a:r>
          </a:p>
        </p:txBody>
      </p:sp>
      <p:sp>
        <p:nvSpPr>
          <p:cNvPr id="23" name="qa-4-rule">
            <a:extLst xmlns:a="http://schemas.openxmlformats.org/drawingml/2006/main">
              <a:ext uri="{FF2B5EF4-FFF2-40B4-BE49-F238E27FC236}">
                <a16:creationId xmlns:a16="http://schemas.microsoft.com/office/drawing/2014/main" id="{74E5DD4F-1327-4779-905E-8BD3152DD1EC}"/>
              </a:ext>
            </a:extLst>
          </p:cNvPr>
          <p:cNvSpPr>
            <a:spLocks xmlns:a="http://schemas.openxmlformats.org/drawingml/2006/main" noGrp="1"/>
          </p:cNvSpPr>
          <p:nvPr/>
        </p:nvSpPr>
        <p:spPr>
          <a:xfrm xmlns:a="http://schemas.openxmlformats.org/drawingml/2006/main">
            <a:off x="742950" y="4429125"/>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4" name="qa-5-q">
            <a:extLst xmlns:a="http://schemas.openxmlformats.org/drawingml/2006/main">
              <a:ext uri="{FF2B5EF4-FFF2-40B4-BE49-F238E27FC236}">
                <a16:creationId xmlns:a16="http://schemas.microsoft.com/office/drawing/2014/main" id="{B36520DF-83E6-40C7-94C1-EE2C8BE7DE0C}"/>
              </a:ext>
            </a:extLst>
          </p:cNvPr>
          <p:cNvSpPr>
            <a:spLocks xmlns:a="http://schemas.openxmlformats.org/drawingml/2006/main" noGrp="1"/>
          </p:cNvSpPr>
          <p:nvPr/>
        </p:nvSpPr>
        <p:spPr>
          <a:xfrm xmlns:a="http://schemas.openxmlformats.org/drawingml/2006/main">
            <a:off x="742950" y="45053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5CC8B8"/>
                </a:solidFill>
                <a:latin typeface="Avenir Next"/>
                <a:ea typeface="Avenir Next"/>
                <a:cs typeface="Avenir Next"/>
              </a:defRPr>
            </a:defPPr>
          </a:lstStyle>
          <a:p xmlns:a="http://schemas.openxmlformats.org/drawingml/2006/main">
            <a:pPr algn="l">
              <a:defRPr sz="1238" b="1" i="0">
                <a:solidFill>
                  <a:srgbClr val="5CC8B8"/>
                </a:solidFill>
                <a:latin typeface="Avenir Next"/>
                <a:ea typeface="Avenir Next"/>
                <a:cs typeface="Avenir Next"/>
              </a:defRPr>
            </a:pPr>
            <a:r>
              <a:rPr sz="1238" b="1" i="0">
                <a:solidFill>
                  <a:srgbClr val="5CC8B8"/>
                </a:solidFill>
                <a:latin typeface="Avenir Next"/>
                <a:ea typeface="Avenir Next"/>
                <a:cs typeface="Avenir Next"/>
              </a:rPr>
              <a:t>Why compare two observers?</a:t>
            </a:r>
          </a:p>
        </p:txBody>
      </p:sp>
      <p:sp>
        <p:nvSpPr>
          <p:cNvPr id="25" name="qa-5-a">
            <a:extLst xmlns:a="http://schemas.openxmlformats.org/drawingml/2006/main">
              <a:ext uri="{FF2B5EF4-FFF2-40B4-BE49-F238E27FC236}">
                <a16:creationId xmlns:a16="http://schemas.microsoft.com/office/drawing/2014/main" id="{DE0DF8C5-6347-43E3-B1BF-6CA64C2FC750}"/>
              </a:ext>
            </a:extLst>
          </p:cNvPr>
          <p:cNvSpPr>
            <a:spLocks xmlns:a="http://schemas.openxmlformats.org/drawingml/2006/main" noGrp="1"/>
          </p:cNvSpPr>
          <p:nvPr/>
        </p:nvSpPr>
        <p:spPr>
          <a:xfrm xmlns:a="http://schemas.openxmlformats.org/drawingml/2006/main">
            <a:off x="4000500" y="4505325"/>
            <a:ext cx="733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5F2EA"/>
                </a:solidFill>
                <a:latin typeface="Avenir Next"/>
                <a:ea typeface="Avenir Next"/>
                <a:cs typeface="Avenir Next"/>
              </a:defRPr>
            </a:defPPr>
          </a:lstStyle>
          <a:p xmlns:a="http://schemas.openxmlformats.org/drawingml/2006/main">
            <a:pPr algn="l">
              <a:defRPr sz="1200" b="0" i="0">
                <a:solidFill>
                  <a:srgbClr val="F5F2EA"/>
                </a:solidFill>
                <a:latin typeface="Avenir Next"/>
                <a:ea typeface="Avenir Next"/>
                <a:cs typeface="Avenir Next"/>
              </a:defRPr>
            </a:pPr>
            <a:r>
              <a:rPr sz="1200" b="0" i="0">
                <a:solidFill>
                  <a:srgbClr val="F5F2EA"/>
                </a:solidFill>
                <a:latin typeface="Avenir Next"/>
                <a:ea typeface="Avenir Next"/>
                <a:cs typeface="Avenir Next"/>
              </a:rPr>
              <a:t>Aggregation can erase call order that the trace observer retains.</a:t>
            </a:r>
          </a:p>
        </p:txBody>
      </p:sp>
      <p:sp>
        <p:nvSpPr>
          <p:cNvPr id="26" name="qa-5-rule">
            <a:extLst xmlns:a="http://schemas.openxmlformats.org/drawingml/2006/main">
              <a:ext uri="{FF2B5EF4-FFF2-40B4-BE49-F238E27FC236}">
                <a16:creationId xmlns:a16="http://schemas.microsoft.com/office/drawing/2014/main" id="{D74B5A8F-C765-40C0-96A2-05DE8FC0D24A}"/>
              </a:ext>
            </a:extLst>
          </p:cNvPr>
          <p:cNvSpPr>
            <a:spLocks xmlns:a="http://schemas.openxmlformats.org/drawingml/2006/main" noGrp="1"/>
          </p:cNvSpPr>
          <p:nvPr/>
        </p:nvSpPr>
        <p:spPr>
          <a:xfrm xmlns:a="http://schemas.openxmlformats.org/drawingml/2006/main">
            <a:off x="742950" y="4857750"/>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27" name="qa-6-q">
            <a:extLst xmlns:a="http://schemas.openxmlformats.org/drawingml/2006/main">
              <a:ext uri="{FF2B5EF4-FFF2-40B4-BE49-F238E27FC236}">
                <a16:creationId xmlns:a16="http://schemas.microsoft.com/office/drawing/2014/main" id="{3004240D-6216-42B5-BE93-587511C52309}"/>
              </a:ext>
            </a:extLst>
          </p:cNvPr>
          <p:cNvSpPr>
            <a:spLocks xmlns:a="http://schemas.openxmlformats.org/drawingml/2006/main" noGrp="1"/>
          </p:cNvSpPr>
          <p:nvPr/>
        </p:nvSpPr>
        <p:spPr>
          <a:xfrm xmlns:a="http://schemas.openxmlformats.org/drawingml/2006/main">
            <a:off x="742950" y="49339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FF8A5C"/>
                </a:solidFill>
                <a:latin typeface="Avenir Next"/>
                <a:ea typeface="Avenir Next"/>
                <a:cs typeface="Avenir Next"/>
              </a:defRPr>
            </a:defPPr>
          </a:lstStyle>
          <a:p xmlns:a="http://schemas.openxmlformats.org/drawingml/2006/main">
            <a:pPr algn="l">
              <a:defRPr sz="1238" b="1" i="0">
                <a:solidFill>
                  <a:srgbClr val="FF8A5C"/>
                </a:solidFill>
                <a:latin typeface="Avenir Next"/>
                <a:ea typeface="Avenir Next"/>
                <a:cs typeface="Avenir Next"/>
              </a:defRPr>
            </a:pPr>
            <a:r>
              <a:rPr sz="1238" b="1" i="0">
                <a:solidFill>
                  <a:srgbClr val="FF8A5C"/>
                </a:solidFill>
                <a:latin typeface="Avenir Next"/>
                <a:ea typeface="Avenir Next"/>
                <a:cs typeface="Avenir Next"/>
              </a:rPr>
              <a:t>What does a split partition mean?</a:t>
            </a:r>
          </a:p>
        </p:txBody>
      </p:sp>
      <p:sp>
        <p:nvSpPr>
          <p:cNvPr id="28" name="qa-6-a">
            <a:extLst xmlns:a="http://schemas.openxmlformats.org/drawingml/2006/main">
              <a:ext uri="{FF2B5EF4-FFF2-40B4-BE49-F238E27FC236}">
                <a16:creationId xmlns:a16="http://schemas.microsoft.com/office/drawing/2014/main" id="{8D12DABA-1961-4F38-9DF9-A9B1EEFF866F}"/>
              </a:ext>
            </a:extLst>
          </p:cNvPr>
          <p:cNvSpPr>
            <a:spLocks xmlns:a="http://schemas.openxmlformats.org/drawingml/2006/main" noGrp="1"/>
          </p:cNvSpPr>
          <p:nvPr/>
        </p:nvSpPr>
        <p:spPr>
          <a:xfrm xmlns:a="http://schemas.openxmlformats.org/drawingml/2006/main">
            <a:off x="4000500" y="4933950"/>
            <a:ext cx="733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5F2EA"/>
                </a:solidFill>
                <a:latin typeface="Avenir Next"/>
                <a:ea typeface="Avenir Next"/>
                <a:cs typeface="Avenir Next"/>
              </a:defRPr>
            </a:defPPr>
          </a:lstStyle>
          <a:p xmlns:a="http://schemas.openxmlformats.org/drawingml/2006/main">
            <a:pPr algn="l">
              <a:defRPr sz="1200" b="0" i="0">
                <a:solidFill>
                  <a:srgbClr val="F5F2EA"/>
                </a:solidFill>
                <a:latin typeface="Avenir Next"/>
                <a:ea typeface="Avenir Next"/>
                <a:cs typeface="Avenir Next"/>
              </a:defRPr>
            </a:pPr>
            <a:r>
              <a:rPr sz="1200" b="0" i="0">
                <a:solidFill>
                  <a:srgbClr val="F5F2EA"/>
                </a:solidFill>
                <a:latin typeface="Avenir Next"/>
                <a:ea typeface="Avenir Next"/>
                <a:cs typeface="Avenir Next"/>
              </a:rPr>
              <a:t>Inconclusive. Exact trace equivalence can resolve some splits.</a:t>
            </a:r>
          </a:p>
        </p:txBody>
      </p:sp>
      <p:sp>
        <p:nvSpPr>
          <p:cNvPr id="29" name="qa-6-rule">
            <a:extLst xmlns:a="http://schemas.openxmlformats.org/drawingml/2006/main">
              <a:ext uri="{FF2B5EF4-FFF2-40B4-BE49-F238E27FC236}">
                <a16:creationId xmlns:a16="http://schemas.microsoft.com/office/drawing/2014/main" id="{7CC1875C-F21E-4D76-8B41-65C38DDB9289}"/>
              </a:ext>
            </a:extLst>
          </p:cNvPr>
          <p:cNvSpPr>
            <a:spLocks xmlns:a="http://schemas.openxmlformats.org/drawingml/2006/main" noGrp="1"/>
          </p:cNvSpPr>
          <p:nvPr/>
        </p:nvSpPr>
        <p:spPr>
          <a:xfrm xmlns:a="http://schemas.openxmlformats.org/drawingml/2006/main">
            <a:off x="742950" y="5286375"/>
            <a:ext cx="1061085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30" name="qa-7-q">
            <a:extLst xmlns:a="http://schemas.openxmlformats.org/drawingml/2006/main">
              <a:ext uri="{FF2B5EF4-FFF2-40B4-BE49-F238E27FC236}">
                <a16:creationId xmlns:a16="http://schemas.microsoft.com/office/drawing/2014/main" id="{15D30B14-0048-44DB-9548-E6A61E4187D9}"/>
              </a:ext>
            </a:extLst>
          </p:cNvPr>
          <p:cNvSpPr>
            <a:spLocks xmlns:a="http://schemas.openxmlformats.org/drawingml/2006/main" noGrp="1"/>
          </p:cNvSpPr>
          <p:nvPr/>
        </p:nvSpPr>
        <p:spPr>
          <a:xfrm xmlns:a="http://schemas.openxmlformats.org/drawingml/2006/main">
            <a:off x="742950" y="536257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38" b="1" i="0">
                <a:solidFill>
                  <a:srgbClr val="5CC8B8"/>
                </a:solidFill>
                <a:latin typeface="Avenir Next"/>
                <a:ea typeface="Avenir Next"/>
                <a:cs typeface="Avenir Next"/>
              </a:defRPr>
            </a:defPPr>
          </a:lstStyle>
          <a:p xmlns:a="http://schemas.openxmlformats.org/drawingml/2006/main">
            <a:pPr algn="l">
              <a:defRPr sz="1238" b="1" i="0">
                <a:solidFill>
                  <a:srgbClr val="5CC8B8"/>
                </a:solidFill>
                <a:latin typeface="Avenir Next"/>
                <a:ea typeface="Avenir Next"/>
                <a:cs typeface="Avenir Next"/>
              </a:defRPr>
            </a:pPr>
            <a:r>
              <a:rPr sz="1238" b="1" i="0">
                <a:solidFill>
                  <a:srgbClr val="5CC8B8"/>
                </a:solidFill>
                <a:latin typeface="Avenir Next"/>
                <a:ea typeface="Avenir Next"/>
                <a:cs typeface="Avenir Next"/>
              </a:rPr>
              <a:t>Is the row-span method new theory?</a:t>
            </a:r>
          </a:p>
        </p:txBody>
      </p:sp>
      <p:sp>
        <p:nvSpPr>
          <p:cNvPr id="31" name="qa-7-a">
            <a:extLst xmlns:a="http://schemas.openxmlformats.org/drawingml/2006/main">
              <a:ext uri="{FF2B5EF4-FFF2-40B4-BE49-F238E27FC236}">
                <a16:creationId xmlns:a16="http://schemas.microsoft.com/office/drawing/2014/main" id="{D14C9FA7-FB6A-4775-97B8-BC106846B482}"/>
              </a:ext>
            </a:extLst>
          </p:cNvPr>
          <p:cNvSpPr>
            <a:spLocks xmlns:a="http://schemas.openxmlformats.org/drawingml/2006/main" noGrp="1"/>
          </p:cNvSpPr>
          <p:nvPr/>
        </p:nvSpPr>
        <p:spPr>
          <a:xfrm xmlns:a="http://schemas.openxmlformats.org/drawingml/2006/main">
            <a:off x="4000500" y="5362575"/>
            <a:ext cx="733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i="0">
                <a:solidFill>
                  <a:srgbClr val="F5F2EA"/>
                </a:solidFill>
                <a:latin typeface="Avenir Next"/>
                <a:ea typeface="Avenir Next"/>
                <a:cs typeface="Avenir Next"/>
              </a:defRPr>
            </a:defPPr>
          </a:lstStyle>
          <a:p xmlns:a="http://schemas.openxmlformats.org/drawingml/2006/main">
            <a:pPr algn="l">
              <a:defRPr sz="1200" b="0" i="0">
                <a:solidFill>
                  <a:srgbClr val="F5F2EA"/>
                </a:solidFill>
                <a:latin typeface="Avenir Next"/>
                <a:ea typeface="Avenir Next"/>
                <a:cs typeface="Avenir Next"/>
              </a:defRPr>
            </a:pPr>
            <a:r>
              <a:rPr sz="1200" b="0" i="0">
                <a:solidFill>
                  <a:srgbClr val="F5F2EA"/>
                </a:solidFill>
                <a:latin typeface="Avenir Next"/>
                <a:ea typeface="Avenir Next"/>
                <a:cs typeface="Avenir Next"/>
              </a:rPr>
              <a:t>No. It applies established weighted-automata equivalence to this usage model.</a:t>
            </a:r>
          </a:p>
        </p:txBody>
      </p:sp>
    </p:spTree>
    <p:extLst>
      <p:ext uri="{BB962C8B-B14F-4D97-AF65-F5344CB8AC3E}">
        <p14:creationId xmlns:p14="http://schemas.microsoft.com/office/powerpoint/2010/main" val="2062928720"/>
      </p:ext>
    </p:extLst>
  </p:cSld>
</p:sld>
</file>

<file path=ppt/slides/slide3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s31-brand">
            <a:extLst xmlns:a="http://schemas.openxmlformats.org/drawingml/2006/main">
              <a:ext uri="{FF2B5EF4-FFF2-40B4-BE49-F238E27FC236}">
                <a16:creationId xmlns:a16="http://schemas.microsoft.com/office/drawing/2014/main" id="{88779AF3-A8DB-4496-86BC-978D2BF40A35}"/>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646B7A"/>
                </a:solidFill>
                <a:latin typeface="Avenir Next"/>
                <a:ea typeface="Avenir Next"/>
                <a:cs typeface="Avenir Next"/>
              </a:defRPr>
            </a:defPPr>
          </a:lstStyle>
          <a:p xmlns:a="http://schemas.openxmlformats.org/drawingml/2006/main">
            <a:pPr algn="l">
              <a:defRPr sz="1050" b="1" i="0">
                <a:solidFill>
                  <a:srgbClr val="646B7A"/>
                </a:solidFill>
                <a:latin typeface="Avenir Next"/>
                <a:ea typeface="Avenir Next"/>
                <a:cs typeface="Avenir Next"/>
              </a:defRPr>
            </a:pPr>
            <a:r>
              <a:rPr sz="1050" b="1" i="0">
                <a:solidFill>
                  <a:srgbClr val="646B7A"/>
                </a:solidFill>
                <a:latin typeface="Avenir Next"/>
                <a:ea typeface="Avenir Next"/>
                <a:cs typeface="Avenir Next"/>
              </a:rPr>
              <a:t>ORCHLANG  /  COMPILER DESIGN REVIEW</a:t>
            </a:r>
          </a:p>
        </p:txBody>
      </p:sp>
      <p:sp>
        <p:nvSpPr>
          <p:cNvPr id="2" name="s31-section">
            <a:extLst xmlns:a="http://schemas.openxmlformats.org/drawingml/2006/main">
              <a:ext uri="{FF2B5EF4-FFF2-40B4-BE49-F238E27FC236}">
                <a16:creationId xmlns:a16="http://schemas.microsoft.com/office/drawing/2014/main" id="{42EDEADE-FE2B-4852-B469-D357C5B5C07C}"/>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APPENDIX A6</a:t>
            </a:r>
          </a:p>
        </p:txBody>
      </p:sp>
      <p:sp>
        <p:nvSpPr>
          <p:cNvPr id="3" name="s31-title">
            <a:extLst xmlns:a="http://schemas.openxmlformats.org/drawingml/2006/main">
              <a:ext uri="{FF2B5EF4-FFF2-40B4-BE49-F238E27FC236}">
                <a16:creationId xmlns:a16="http://schemas.microsoft.com/office/drawing/2014/main" id="{3053DFC3-492D-4F72-BF69-BEC6D984092F}"/>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141B2B"/>
                </a:solidFill>
                <a:latin typeface="Avenir Next"/>
                <a:ea typeface="Avenir Next"/>
                <a:cs typeface="Avenir Next"/>
              </a:defRPr>
            </a:defPPr>
          </a:lstStyle>
          <a:p xmlns:a="http://schemas.openxmlformats.org/drawingml/2006/main">
            <a:pPr algn="l">
              <a:defRPr sz="3150" b="1" i="0">
                <a:solidFill>
                  <a:srgbClr val="141B2B"/>
                </a:solidFill>
                <a:latin typeface="Avenir Next"/>
                <a:ea typeface="Avenir Next"/>
                <a:cs typeface="Avenir Next"/>
              </a:defRPr>
            </a:pPr>
            <a:r>
              <a:rPr sz="3150" b="1" i="0">
                <a:solidFill>
                  <a:srgbClr val="141B2B"/>
                </a:solidFill>
                <a:latin typeface="Avenir Next"/>
                <a:ea typeface="Avenir Next"/>
                <a:cs typeface="Avenir Next"/>
              </a:rPr>
              <a:t>Selected foundations and adjacent systems</a:t>
            </a:r>
          </a:p>
        </p:txBody>
      </p:sp>
      <p:sp>
        <p:nvSpPr>
          <p:cNvPr id="4" name="s31-source-rule">
            <a:extLst xmlns:a="http://schemas.openxmlformats.org/drawingml/2006/main">
              <a:ext uri="{FF2B5EF4-FFF2-40B4-BE49-F238E27FC236}">
                <a16:creationId xmlns:a16="http://schemas.microsoft.com/office/drawing/2014/main" id="{DD6AD15B-87A9-40BF-A6FE-DE186BB74E6E}"/>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5" name="s31-sources">
            <a:extLst xmlns:a="http://schemas.openxmlformats.org/drawingml/2006/main">
              <a:ext uri="{FF2B5EF4-FFF2-40B4-BE49-F238E27FC236}">
                <a16:creationId xmlns:a16="http://schemas.microsoft.com/office/drawing/2014/main" id="{ECE297A6-4550-4A52-8306-144D73FA5576}"/>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646B7A"/>
                </a:solidFill>
                <a:latin typeface="Avenir Next"/>
                <a:ea typeface="Avenir Next"/>
                <a:cs typeface="Avenir Next"/>
              </a:defRPr>
            </a:defPPr>
          </a:lstStyle>
          <a:p xmlns:a="http://schemas.openxmlformats.org/drawingml/2006/main">
            <a:pPr algn="l">
              <a:defRPr sz="1013" b="0" i="0">
                <a:solidFill>
                  <a:srgbClr val="646B7A"/>
                </a:solidFill>
                <a:latin typeface="Avenir Next"/>
                <a:ea typeface="Avenir Next"/>
                <a:cs typeface="Avenir Next"/>
              </a:defRPr>
            </a:pPr>
            <a:r>
              <a:rPr sz="1013" b="0" i="0">
                <a:solidFill>
                  <a:srgbClr val="646B7A"/>
                </a:solidFill>
                <a:latin typeface="Avenir Next"/>
                <a:ea typeface="Avenir Next"/>
                <a:cs typeface="Avenir Next"/>
              </a:rPr>
              <a:t>SOURCE  submission/research/current_review_sources.md · docs/PRIOR_ART_MATRIX.md</a:t>
            </a:r>
          </a:p>
        </p:txBody>
      </p:sp>
      <p:sp>
        <p:nvSpPr>
          <p:cNvPr id="6" name="s31-footer-rule">
            <a:extLst xmlns:a="http://schemas.openxmlformats.org/drawingml/2006/main">
              <a:ext uri="{FF2B5EF4-FFF2-40B4-BE49-F238E27FC236}">
                <a16:creationId xmlns:a16="http://schemas.microsoft.com/office/drawing/2014/main" id="{4E7DA737-E517-487C-BCD3-F80E5DA2F223}"/>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7" name="s31-footer">
            <a:extLst xmlns:a="http://schemas.openxmlformats.org/drawingml/2006/main">
              <a:ext uri="{FF2B5EF4-FFF2-40B4-BE49-F238E27FC236}">
                <a16:creationId xmlns:a16="http://schemas.microsoft.com/office/drawing/2014/main" id="{4E5CEBE1-6452-460A-BA10-892B0C25B3E0}"/>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646B7A"/>
                </a:solidFill>
                <a:latin typeface="Avenir Next"/>
                <a:ea typeface="Avenir Next"/>
                <a:cs typeface="Avenir Next"/>
              </a:defRPr>
            </a:defPPr>
          </a:lstStyle>
          <a:p xmlns:a="http://schemas.openxmlformats.org/drawingml/2006/main">
            <a:pPr algn="l">
              <a:defRPr sz="1013" b="1" i="0">
                <a:solidFill>
                  <a:srgbClr val="646B7A"/>
                </a:solidFill>
                <a:latin typeface="Avenir Next"/>
                <a:ea typeface="Avenir Next"/>
                <a:cs typeface="Avenir Next"/>
              </a:defRPr>
            </a:pPr>
            <a:r>
              <a:rPr sz="1013" b="1" i="0">
                <a:solidFill>
                  <a:srgbClr val="646B7A"/>
                </a:solidFill>
                <a:latin typeface="Avenir Next"/>
                <a:ea typeface="Avenir Next"/>
                <a:cs typeface="Avenir Next"/>
              </a:rPr>
              <a:t>ORCHLANG  ·  VIT  ·  COMPILER DESIGN LAB</a:t>
            </a:r>
          </a:p>
        </p:txBody>
      </p:sp>
      <p:sp>
        <p:nvSpPr>
          <p:cNvPr id="8" name="s31-page">
            <a:extLst xmlns:a="http://schemas.openxmlformats.org/drawingml/2006/main">
              <a:ext uri="{FF2B5EF4-FFF2-40B4-BE49-F238E27FC236}">
                <a16:creationId xmlns:a16="http://schemas.microsoft.com/office/drawing/2014/main" id="{E0C7CA92-E0BD-4C1A-8E31-D5BC22B71637}"/>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1F6F66"/>
                </a:solidFill>
                <a:latin typeface="Avenir Next"/>
                <a:ea typeface="Avenir Next"/>
                <a:cs typeface="Avenir Next"/>
              </a:defRPr>
            </a:defPPr>
          </a:lstStyle>
          <a:p xmlns:a="http://schemas.openxmlformats.org/drawingml/2006/main">
            <a:pPr algn="r">
              <a:defRPr sz="1050" b="1" i="0">
                <a:solidFill>
                  <a:srgbClr val="1F6F66"/>
                </a:solidFill>
                <a:latin typeface="Avenir Next"/>
                <a:ea typeface="Avenir Next"/>
                <a:cs typeface="Avenir Next"/>
              </a:defRPr>
            </a:pPr>
            <a:r>
              <a:rPr sz="1050" b="1" i="0">
                <a:solidFill>
                  <a:srgbClr val="1F6F66"/>
                </a:solidFill>
                <a:latin typeface="Avenir Next"/>
                <a:ea typeface="Avenir Next"/>
                <a:cs typeface="Avenir Next"/>
              </a:rPr>
              <a:t>A6</a:t>
            </a:r>
          </a:p>
        </p:txBody>
      </p:sp>
      <p:sp>
        <p:nvSpPr>
          <p:cNvPr id="9" name="refs-current-0">
            <a:extLst xmlns:a="http://schemas.openxmlformats.org/drawingml/2006/main">
              <a:ext uri="{FF2B5EF4-FFF2-40B4-BE49-F238E27FC236}">
                <a16:creationId xmlns:a16="http://schemas.microsoft.com/office/drawing/2014/main" id="{17B6AE71-E602-46CE-96F4-5DEBDF640385}"/>
              </a:ext>
            </a:extLst>
          </p:cNvPr>
          <p:cNvSpPr>
            <a:spLocks xmlns:a="http://schemas.openxmlformats.org/drawingml/2006/main" noGrp="1"/>
          </p:cNvSpPr>
          <p:nvPr/>
        </p:nvSpPr>
        <p:spPr>
          <a:xfrm xmlns:a="http://schemas.openxmlformats.org/drawingml/2006/main">
            <a:off x="781050" y="23050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[1]  Ngo et al. · resource-aware IFC · IEEE S&amp;P 2017 · DOI 10.1109/SP.2017.53</a:t>
            </a:r>
          </a:p>
        </p:txBody>
      </p:sp>
      <p:sp>
        <p:nvSpPr>
          <p:cNvPr id="10" name="refs-current-rule-0">
            <a:extLst xmlns:a="http://schemas.openxmlformats.org/drawingml/2006/main">
              <a:ext uri="{FF2B5EF4-FFF2-40B4-BE49-F238E27FC236}">
                <a16:creationId xmlns:a16="http://schemas.microsoft.com/office/drawing/2014/main" id="{6139250B-28B7-4EF7-AE2C-5B8116AA5407}"/>
              </a:ext>
            </a:extLst>
          </p:cNvPr>
          <p:cNvSpPr>
            <a:spLocks xmlns:a="http://schemas.openxmlformats.org/drawingml/2006/main" noGrp="1"/>
          </p:cNvSpPr>
          <p:nvPr/>
        </p:nvSpPr>
        <p:spPr>
          <a:xfrm xmlns:a="http://schemas.openxmlformats.org/drawingml/2006/main">
            <a:off x="781050" y="26003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1" name="refs-current-1">
            <a:extLst xmlns:a="http://schemas.openxmlformats.org/drawingml/2006/main">
              <a:ext uri="{FF2B5EF4-FFF2-40B4-BE49-F238E27FC236}">
                <a16:creationId xmlns:a16="http://schemas.microsoft.com/office/drawing/2014/main" id="{48999CFC-0BB8-4DA8-AEF2-5F46765AA946}"/>
              </a:ext>
            </a:extLst>
          </p:cNvPr>
          <p:cNvSpPr>
            <a:spLocks xmlns:a="http://schemas.openxmlformats.org/drawingml/2006/main" noGrp="1"/>
          </p:cNvSpPr>
          <p:nvPr/>
        </p:nvSpPr>
        <p:spPr>
          <a:xfrm xmlns:a="http://schemas.openxmlformats.org/drawingml/2006/main">
            <a:off x="781050" y="26479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[2]  Çiçek et al. · Relational Cost Analysis · POPL 2017 · DOI 10.1145/3009837.3009858</a:t>
            </a:r>
          </a:p>
        </p:txBody>
      </p:sp>
      <p:sp>
        <p:nvSpPr>
          <p:cNvPr id="12" name="refs-current-rule-1">
            <a:extLst xmlns:a="http://schemas.openxmlformats.org/drawingml/2006/main">
              <a:ext uri="{FF2B5EF4-FFF2-40B4-BE49-F238E27FC236}">
                <a16:creationId xmlns:a16="http://schemas.microsoft.com/office/drawing/2014/main" id="{BCC6D7A1-A458-4D0A-998A-92C456AB4B44}"/>
              </a:ext>
            </a:extLst>
          </p:cNvPr>
          <p:cNvSpPr>
            <a:spLocks xmlns:a="http://schemas.openxmlformats.org/drawingml/2006/main" noGrp="1"/>
          </p:cNvSpPr>
          <p:nvPr/>
        </p:nvSpPr>
        <p:spPr>
          <a:xfrm xmlns:a="http://schemas.openxmlformats.org/drawingml/2006/main">
            <a:off x="781050" y="29432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3" name="refs-current-2">
            <a:extLst xmlns:a="http://schemas.openxmlformats.org/drawingml/2006/main">
              <a:ext uri="{FF2B5EF4-FFF2-40B4-BE49-F238E27FC236}">
                <a16:creationId xmlns:a16="http://schemas.microsoft.com/office/drawing/2014/main" id="{E31B0DD1-F600-4122-9C74-477513DD819F}"/>
              </a:ext>
            </a:extLst>
          </p:cNvPr>
          <p:cNvSpPr>
            <a:spLocks xmlns:a="http://schemas.openxmlformats.org/drawingml/2006/main" noGrp="1"/>
          </p:cNvSpPr>
          <p:nvPr/>
        </p:nvSpPr>
        <p:spPr>
          <a:xfrm xmlns:a="http://schemas.openxmlformats.org/drawingml/2006/main">
            <a:off x="781050" y="29908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[3]  Ngo et al. · probabilistic resources · PLDI 2018 · Mandel et al. · PPDL · ICML 2026</a:t>
            </a:r>
          </a:p>
        </p:txBody>
      </p:sp>
      <p:sp>
        <p:nvSpPr>
          <p:cNvPr id="14" name="refs-current-rule-2">
            <a:extLst xmlns:a="http://schemas.openxmlformats.org/drawingml/2006/main">
              <a:ext uri="{FF2B5EF4-FFF2-40B4-BE49-F238E27FC236}">
                <a16:creationId xmlns:a16="http://schemas.microsoft.com/office/drawing/2014/main" id="{EEDBCC0B-6657-4A1A-9171-82708DB31D7E}"/>
              </a:ext>
            </a:extLst>
          </p:cNvPr>
          <p:cNvSpPr>
            <a:spLocks xmlns:a="http://schemas.openxmlformats.org/drawingml/2006/main" noGrp="1"/>
          </p:cNvSpPr>
          <p:nvPr/>
        </p:nvSpPr>
        <p:spPr>
          <a:xfrm xmlns:a="http://schemas.openxmlformats.org/drawingml/2006/main">
            <a:off x="781050" y="32861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5" name="refs-current-3">
            <a:extLst xmlns:a="http://schemas.openxmlformats.org/drawingml/2006/main">
              <a:ext uri="{FF2B5EF4-FFF2-40B4-BE49-F238E27FC236}">
                <a16:creationId xmlns:a16="http://schemas.microsoft.com/office/drawing/2014/main" id="{00FD3BB8-E25B-4AB7-AA88-684AA9983502}"/>
              </a:ext>
            </a:extLst>
          </p:cNvPr>
          <p:cNvSpPr>
            <a:spLocks xmlns:a="http://schemas.openxmlformats.org/drawingml/2006/main" noGrp="1"/>
          </p:cNvSpPr>
          <p:nvPr/>
        </p:nvSpPr>
        <p:spPr>
          <a:xfrm xmlns:a="http://schemas.openxmlformats.org/drawingml/2006/main">
            <a:off x="781050" y="33337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[4]  Smith · QIF foundations · FOSSACS 2009 · Basin &amp; Köpf · adaptive side channels · CCS 2007</a:t>
            </a:r>
          </a:p>
        </p:txBody>
      </p:sp>
      <p:sp>
        <p:nvSpPr>
          <p:cNvPr id="16" name="refs-current-rule-3">
            <a:extLst xmlns:a="http://schemas.openxmlformats.org/drawingml/2006/main">
              <a:ext uri="{FF2B5EF4-FFF2-40B4-BE49-F238E27FC236}">
                <a16:creationId xmlns:a16="http://schemas.microsoft.com/office/drawing/2014/main" id="{27B22238-C03B-4EF3-98CE-CDBF52A45B75}"/>
              </a:ext>
            </a:extLst>
          </p:cNvPr>
          <p:cNvSpPr>
            <a:spLocks xmlns:a="http://schemas.openxmlformats.org/drawingml/2006/main" noGrp="1"/>
          </p:cNvSpPr>
          <p:nvPr/>
        </p:nvSpPr>
        <p:spPr>
          <a:xfrm xmlns:a="http://schemas.openxmlformats.org/drawingml/2006/main">
            <a:off x="781050" y="36290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7" name="refs-current-4">
            <a:extLst xmlns:a="http://schemas.openxmlformats.org/drawingml/2006/main">
              <a:ext uri="{FF2B5EF4-FFF2-40B4-BE49-F238E27FC236}">
                <a16:creationId xmlns:a16="http://schemas.microsoft.com/office/drawing/2014/main" id="{C3D4A5D3-365B-4162-8676-5B7D8C8C3681}"/>
              </a:ext>
            </a:extLst>
          </p:cNvPr>
          <p:cNvSpPr>
            <a:spLocks xmlns:a="http://schemas.openxmlformats.org/drawingml/2006/main" noGrp="1"/>
          </p:cNvSpPr>
          <p:nvPr/>
        </p:nvSpPr>
        <p:spPr>
          <a:xfrm xmlns:a="http://schemas.openxmlformats.org/drawingml/2006/main">
            <a:off x="781050" y="36766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[5]  Tzeng · probabilistic automata equivalence · SIAM J. Comput. 1992 · DOI 10.1137/0221017</a:t>
            </a:r>
          </a:p>
        </p:txBody>
      </p:sp>
      <p:sp>
        <p:nvSpPr>
          <p:cNvPr id="18" name="refs-current-rule-4">
            <a:extLst xmlns:a="http://schemas.openxmlformats.org/drawingml/2006/main">
              <a:ext uri="{FF2B5EF4-FFF2-40B4-BE49-F238E27FC236}">
                <a16:creationId xmlns:a16="http://schemas.microsoft.com/office/drawing/2014/main" id="{9818D298-A1B0-4F23-AB7D-A82162728DB0}"/>
              </a:ext>
            </a:extLst>
          </p:cNvPr>
          <p:cNvSpPr>
            <a:spLocks xmlns:a="http://schemas.openxmlformats.org/drawingml/2006/main" noGrp="1"/>
          </p:cNvSpPr>
          <p:nvPr/>
        </p:nvSpPr>
        <p:spPr>
          <a:xfrm xmlns:a="http://schemas.openxmlformats.org/drawingml/2006/main">
            <a:off x="781050" y="39719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19" name="refs-current-5">
            <a:extLst xmlns:a="http://schemas.openxmlformats.org/drawingml/2006/main">
              <a:ext uri="{FF2B5EF4-FFF2-40B4-BE49-F238E27FC236}">
                <a16:creationId xmlns:a16="http://schemas.microsoft.com/office/drawing/2014/main" id="{E17C30FE-160B-4489-B3BF-0115AF3BC2E9}"/>
              </a:ext>
            </a:extLst>
          </p:cNvPr>
          <p:cNvSpPr>
            <a:spLocks xmlns:a="http://schemas.openxmlformats.org/drawingml/2006/main" noGrp="1"/>
          </p:cNvSpPr>
          <p:nvPr/>
        </p:nvSpPr>
        <p:spPr>
          <a:xfrm xmlns:a="http://schemas.openxmlformats.org/drawingml/2006/main">
            <a:off x="781050" y="40195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[6]  Kiefer et al. · probabilistic automata equivalence · CAV 2011 · APEX · CAV 2012</a:t>
            </a:r>
          </a:p>
        </p:txBody>
      </p:sp>
      <p:sp>
        <p:nvSpPr>
          <p:cNvPr id="20" name="refs-current-rule-5">
            <a:extLst xmlns:a="http://schemas.openxmlformats.org/drawingml/2006/main">
              <a:ext uri="{FF2B5EF4-FFF2-40B4-BE49-F238E27FC236}">
                <a16:creationId xmlns:a16="http://schemas.microsoft.com/office/drawing/2014/main" id="{E07C1337-8884-4AD1-94BA-68E6D3835B24}"/>
              </a:ext>
            </a:extLst>
          </p:cNvPr>
          <p:cNvSpPr>
            <a:spLocks xmlns:a="http://schemas.openxmlformats.org/drawingml/2006/main" noGrp="1"/>
          </p:cNvSpPr>
          <p:nvPr/>
        </p:nvSpPr>
        <p:spPr>
          <a:xfrm xmlns:a="http://schemas.openxmlformats.org/drawingml/2006/main">
            <a:off x="781050" y="43148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1" name="refs-current-6">
            <a:extLst xmlns:a="http://schemas.openxmlformats.org/drawingml/2006/main">
              <a:ext uri="{FF2B5EF4-FFF2-40B4-BE49-F238E27FC236}">
                <a16:creationId xmlns:a16="http://schemas.microsoft.com/office/drawing/2014/main" id="{53310AE1-82DD-4EBA-B44B-0628AEB5AD78}"/>
              </a:ext>
            </a:extLst>
          </p:cNvPr>
          <p:cNvSpPr>
            <a:spLocks xmlns:a="http://schemas.openxmlformats.org/drawingml/2006/main" noGrp="1"/>
          </p:cNvSpPr>
          <p:nvPr/>
        </p:nvSpPr>
        <p:spPr>
          <a:xfrm xmlns:a="http://schemas.openxmlformats.org/drawingml/2006/main">
            <a:off x="781050" y="43624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[7]  Kiefer et al. · rational weighted automata · LMCS 2013 · Fijalkow et al. · trace laws · LMCS 2020</a:t>
            </a:r>
          </a:p>
        </p:txBody>
      </p:sp>
      <p:sp>
        <p:nvSpPr>
          <p:cNvPr id="22" name="refs-current-rule-6">
            <a:extLst xmlns:a="http://schemas.openxmlformats.org/drawingml/2006/main">
              <a:ext uri="{FF2B5EF4-FFF2-40B4-BE49-F238E27FC236}">
                <a16:creationId xmlns:a16="http://schemas.microsoft.com/office/drawing/2014/main" id="{FF8FA025-0557-4FFE-A0EA-D8C4CC9489FA}"/>
              </a:ext>
            </a:extLst>
          </p:cNvPr>
          <p:cNvSpPr>
            <a:spLocks xmlns:a="http://schemas.openxmlformats.org/drawingml/2006/main" noGrp="1"/>
          </p:cNvSpPr>
          <p:nvPr/>
        </p:nvSpPr>
        <p:spPr>
          <a:xfrm xmlns:a="http://schemas.openxmlformats.org/drawingml/2006/main">
            <a:off x="781050" y="46577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3" name="refs-current-7">
            <a:extLst xmlns:a="http://schemas.openxmlformats.org/drawingml/2006/main">
              <a:ext uri="{FF2B5EF4-FFF2-40B4-BE49-F238E27FC236}">
                <a16:creationId xmlns:a16="http://schemas.microsoft.com/office/drawing/2014/main" id="{A2E374B9-548D-4E15-88EE-1E16085FBB8D}"/>
              </a:ext>
            </a:extLst>
          </p:cNvPr>
          <p:cNvSpPr>
            <a:spLocks xmlns:a="http://schemas.openxmlformats.org/drawingml/2006/main" noGrp="1"/>
          </p:cNvSpPr>
          <p:nvPr/>
        </p:nvSpPr>
        <p:spPr>
          <a:xfrm xmlns:a="http://schemas.openxmlformats.org/drawingml/2006/main">
            <a:off x="781050" y="47053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[8]  Larsen &amp; Skou · probabilistic bisimulation · I&amp;C 1991 · Kamaleson et al. · finite-horizon refinement · SPIN 2016</a:t>
            </a:r>
          </a:p>
        </p:txBody>
      </p:sp>
      <p:sp>
        <p:nvSpPr>
          <p:cNvPr id="24" name="refs-current-rule-7">
            <a:extLst xmlns:a="http://schemas.openxmlformats.org/drawingml/2006/main">
              <a:ext uri="{FF2B5EF4-FFF2-40B4-BE49-F238E27FC236}">
                <a16:creationId xmlns:a16="http://schemas.microsoft.com/office/drawing/2014/main" id="{D9F6B1FE-2776-4801-BD3E-7204316C781D}"/>
              </a:ext>
            </a:extLst>
          </p:cNvPr>
          <p:cNvSpPr>
            <a:spLocks xmlns:a="http://schemas.openxmlformats.org/drawingml/2006/main" noGrp="1"/>
          </p:cNvSpPr>
          <p:nvPr/>
        </p:nvSpPr>
        <p:spPr>
          <a:xfrm xmlns:a="http://schemas.openxmlformats.org/drawingml/2006/main">
            <a:off x="781050" y="50006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5" name="refs-current-8">
            <a:extLst xmlns:a="http://schemas.openxmlformats.org/drawingml/2006/main">
              <a:ext uri="{FF2B5EF4-FFF2-40B4-BE49-F238E27FC236}">
                <a16:creationId xmlns:a16="http://schemas.microsoft.com/office/drawing/2014/main" id="{28E8941D-659B-41BD-B0ED-D855DB7E91E6}"/>
              </a:ext>
            </a:extLst>
          </p:cNvPr>
          <p:cNvSpPr>
            <a:spLocks xmlns:a="http://schemas.openxmlformats.org/drawingml/2006/main" noGrp="1"/>
          </p:cNvSpPr>
          <p:nvPr/>
        </p:nvSpPr>
        <p:spPr>
          <a:xfrm xmlns:a="http://schemas.openxmlformats.org/drawingml/2006/main">
            <a:off x="781050" y="50482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[9]  Weiss et al. · USENIX Security 2024 · Agentproof / AgentFlow · 2026 preprints</a:t>
            </a:r>
          </a:p>
        </p:txBody>
      </p:sp>
      <p:sp>
        <p:nvSpPr>
          <p:cNvPr id="26" name="refs-current-rule-8">
            <a:extLst xmlns:a="http://schemas.openxmlformats.org/drawingml/2006/main">
              <a:ext uri="{FF2B5EF4-FFF2-40B4-BE49-F238E27FC236}">
                <a16:creationId xmlns:a16="http://schemas.microsoft.com/office/drawing/2014/main" id="{639D7412-D875-4581-9BD4-6D888D36E847}"/>
              </a:ext>
            </a:extLst>
          </p:cNvPr>
          <p:cNvSpPr>
            <a:spLocks xmlns:a="http://schemas.openxmlformats.org/drawingml/2006/main" noGrp="1"/>
          </p:cNvSpPr>
          <p:nvPr/>
        </p:nvSpPr>
        <p:spPr>
          <a:xfrm xmlns:a="http://schemas.openxmlformats.org/drawingml/2006/main">
            <a:off x="781050" y="5343525"/>
            <a:ext cx="10572750" cy="9525"/>
          </a:xfrm>
          <a:prstGeom xmlns:a="http://schemas.openxmlformats.org/drawingml/2006/main" prst="rect">
            <a:avLst/>
          </a:prstGeom>
          <a:solidFill xmlns:a="http://schemas.openxmlformats.org/drawingml/2006/main">
            <a:srgbClr val="D7D0C4"/>
          </a:solidFill>
          <a:ln xmlns:a="http://schemas.openxmlformats.org/drawingml/2006/main" w="0">
            <a:noFill/>
            <a:prstDash val="solid"/>
          </a:ln>
        </p:spPr>
      </p:sp>
      <p:sp>
        <p:nvSpPr>
          <p:cNvPr id="27" name="refs-current-9">
            <a:extLst xmlns:a="http://schemas.openxmlformats.org/drawingml/2006/main">
              <a:ext uri="{FF2B5EF4-FFF2-40B4-BE49-F238E27FC236}">
                <a16:creationId xmlns:a16="http://schemas.microsoft.com/office/drawing/2014/main" id="{08321810-714F-48E9-AD20-14EF9192444E}"/>
              </a:ext>
            </a:extLst>
          </p:cNvPr>
          <p:cNvSpPr>
            <a:spLocks xmlns:a="http://schemas.openxmlformats.org/drawingml/2006/main" noGrp="1"/>
          </p:cNvSpPr>
          <p:nvPr/>
        </p:nvSpPr>
        <p:spPr>
          <a:xfrm xmlns:a="http://schemas.openxmlformats.org/drawingml/2006/main">
            <a:off x="781050" y="5391150"/>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98" b="0" i="0">
                <a:solidFill>
                  <a:srgbClr val="141B2B"/>
                </a:solidFill>
                <a:latin typeface="Avenir Next"/>
                <a:ea typeface="Avenir Next"/>
                <a:cs typeface="Avenir Next"/>
              </a:defRPr>
            </a:defPPr>
          </a:lstStyle>
          <a:p xmlns:a="http://schemas.openxmlformats.org/drawingml/2006/main">
            <a:pPr algn="l">
              <a:defRPr sz="998" b="0" i="0">
                <a:solidFill>
                  <a:srgbClr val="141B2B"/>
                </a:solidFill>
                <a:latin typeface="Avenir Next"/>
                <a:ea typeface="Avenir Next"/>
                <a:cs typeface="Avenir Next"/>
              </a:defRPr>
            </a:pPr>
            <a:r>
              <a:rPr sz="998" b="0" i="0">
                <a:solidFill>
                  <a:srgbClr val="141B2B"/>
                </a:solidFill>
                <a:latin typeface="Avenir Next"/>
                <a:ea typeface="Avenir Next"/>
                <a:cs typeface="Avenir Next"/>
              </a:rPr>
              <a:t>[10]  Dickerson · LLM workflow Petri-net cost note · May 2026 · author-reported, unrefereed</a:t>
            </a:r>
          </a:p>
        </p:txBody>
      </p:sp>
      <p:sp>
        <p:nvSpPr>
          <p:cNvPr id="28" name="refs-links">
            <a:extLst xmlns:a="http://schemas.openxmlformats.org/drawingml/2006/main">
              <a:ext uri="{FF2B5EF4-FFF2-40B4-BE49-F238E27FC236}">
                <a16:creationId xmlns:a16="http://schemas.microsoft.com/office/drawing/2014/main" id="{028D8FAC-0CA0-485C-9CCA-B9ACFF1B8A09}"/>
              </a:ext>
            </a:extLst>
          </p:cNvPr>
          <p:cNvSpPr>
            <a:spLocks xmlns:a="http://schemas.openxmlformats.org/drawingml/2006/main" noGrp="1"/>
          </p:cNvSpPr>
          <p:nvPr/>
        </p:nvSpPr>
        <p:spPr>
          <a:xfrm xmlns:a="http://schemas.openxmlformats.org/drawingml/2006/main">
            <a:off x="819150" y="5791200"/>
            <a:ext cx="1047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1F6F66"/>
                </a:solidFill>
                <a:latin typeface="Avenir Next"/>
                <a:ea typeface="Avenir Next"/>
                <a:cs typeface="Avenir Next"/>
              </a:defRPr>
            </a:defPPr>
          </a:lstStyle>
          <a:p xmlns:a="http://schemas.openxmlformats.org/drawingml/2006/main">
            <a:pPr algn="l">
              <a:defRPr sz="1013" b="1" i="0">
                <a:solidFill>
                  <a:srgbClr val="1F6F66"/>
                </a:solidFill>
                <a:latin typeface="Avenir Next"/>
                <a:ea typeface="Avenir Next"/>
                <a:cs typeface="Avenir Next"/>
              </a:defRPr>
            </a:pPr>
            <a:r>
              <a:rPr sz="1013" b="1" i="0">
                <a:solidFill>
                  <a:srgbClr val="1F6F66"/>
                </a:solidFill>
                <a:latin typeface="Avenir Next"/>
                <a:ea typeface="Avenir Next"/>
                <a:cs typeface="Avenir Next"/>
              </a:rPr>
              <a:t>Full citations, stable links and prior-art boundaries: submission/research/current_review_sources.md</a:t>
            </a:r>
          </a:p>
        </p:txBody>
      </p:sp>
    </p:spTree>
    <p:extLst>
      <p:ext uri="{BB962C8B-B14F-4D97-AF65-F5344CB8AC3E}">
        <p14:creationId xmlns:p14="http://schemas.microsoft.com/office/powerpoint/2010/main" val="659169410"/>
      </p:ext>
    </p:extLst>
  </p:cSld>
</p:sld>
</file>

<file path=ppt/slides/slide32.xml><?xml version="1.0" encoding="utf-8"?>
<p:sld xmlns:p="http://schemas.openxmlformats.org/presentationml/2006/main">
  <p:cSld>
    <p:bg>
      <p:bgPr>
        <a:solidFill xmlns:a="http://schemas.openxmlformats.org/drawingml/2006/main">
          <a:srgbClr val="131A29"/>
        </a:solidFill>
      </p:bgPr>
    </p:bg>
    <p:spTree>
      <p:nvGrpSpPr>
        <p:cNvPr id="1" name=""/>
        <p:cNvGrpSpPr/>
        <p:nvPr/>
      </p:nvGrpSpPr>
      <p:grpSpPr>
        <a:xfrm xmlns:a="http://schemas.openxmlformats.org/drawingml/2006/main"/>
      </p:grpSpPr>
      <p:sp>
        <p:nvSpPr>
          <p:cNvPr id="22" name="s32-brand">
            <a:extLst xmlns:a="http://schemas.openxmlformats.org/drawingml/2006/main">
              <a:ext uri="{FF2B5EF4-FFF2-40B4-BE49-F238E27FC236}">
                <a16:creationId xmlns:a16="http://schemas.microsoft.com/office/drawing/2014/main" id="{494D1B2E-1129-4F5B-93B8-26B31A858DC4}"/>
              </a:ext>
            </a:extLst>
          </p:cNvPr>
          <p:cNvSpPr>
            <a:spLocks xmlns:a="http://schemas.openxmlformats.org/drawingml/2006/main" noGrp="1"/>
          </p:cNvSpPr>
          <p:nvPr/>
        </p:nvSpPr>
        <p:spPr>
          <a:xfrm xmlns:a="http://schemas.openxmlformats.org/drawingml/2006/main">
            <a:off x="666750" y="36195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B8C1D1"/>
                </a:solidFill>
                <a:latin typeface="Avenir Next"/>
                <a:ea typeface="Avenir Next"/>
                <a:cs typeface="Avenir Next"/>
              </a:defRPr>
            </a:defPPr>
          </a:lstStyle>
          <a:p xmlns:a="http://schemas.openxmlformats.org/drawingml/2006/main">
            <a:pPr algn="l">
              <a:defRPr sz="1050" b="1" i="0">
                <a:solidFill>
                  <a:srgbClr val="B8C1D1"/>
                </a:solidFill>
                <a:latin typeface="Avenir Next"/>
                <a:ea typeface="Avenir Next"/>
                <a:cs typeface="Avenir Next"/>
              </a:defRPr>
            </a:pPr>
            <a:r>
              <a:rPr sz="1050" b="1" i="0">
                <a:solidFill>
                  <a:srgbClr val="B8C1D1"/>
                </a:solidFill>
                <a:latin typeface="Avenir Next"/>
                <a:ea typeface="Avenir Next"/>
                <a:cs typeface="Avenir Next"/>
              </a:rPr>
              <a:t>ORCHLANG  /  COMPILER DESIGN REVIEW</a:t>
            </a:r>
          </a:p>
        </p:txBody>
      </p:sp>
      <p:sp>
        <p:nvSpPr>
          <p:cNvPr id="2" name="s32-section">
            <a:extLst xmlns:a="http://schemas.openxmlformats.org/drawingml/2006/main">
              <a:ext uri="{FF2B5EF4-FFF2-40B4-BE49-F238E27FC236}">
                <a16:creationId xmlns:a16="http://schemas.microsoft.com/office/drawing/2014/main" id="{F6AAD7F6-B6C9-4F13-A664-37734B295E60}"/>
              </a:ext>
            </a:extLst>
          </p:cNvPr>
          <p:cNvSpPr>
            <a:spLocks xmlns:a="http://schemas.openxmlformats.org/drawingml/2006/main" noGrp="1"/>
          </p:cNvSpPr>
          <p:nvPr/>
        </p:nvSpPr>
        <p:spPr>
          <a:xfrm xmlns:a="http://schemas.openxmlformats.org/drawingml/2006/main">
            <a:off x="7905750" y="3619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LIVE DEMO</a:t>
            </a:r>
          </a:p>
        </p:txBody>
      </p:sp>
      <p:sp>
        <p:nvSpPr>
          <p:cNvPr id="3" name="s32-title">
            <a:extLst xmlns:a="http://schemas.openxmlformats.org/drawingml/2006/main">
              <a:ext uri="{FF2B5EF4-FFF2-40B4-BE49-F238E27FC236}">
                <a16:creationId xmlns:a16="http://schemas.microsoft.com/office/drawing/2014/main" id="{F172DDF4-5F5E-43C2-94A6-DCBADC58D27D}"/>
              </a:ext>
            </a:extLst>
          </p:cNvPr>
          <p:cNvSpPr>
            <a:spLocks xmlns:a="http://schemas.openxmlformats.org/drawingml/2006/main" noGrp="1"/>
          </p:cNvSpPr>
          <p:nvPr/>
        </p:nvSpPr>
        <p:spPr>
          <a:xfrm xmlns:a="http://schemas.openxmlformats.org/drawingml/2006/main">
            <a:off x="666750" y="781050"/>
            <a:ext cx="10858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i="0">
                <a:solidFill>
                  <a:srgbClr val="F5F2EA"/>
                </a:solidFill>
                <a:latin typeface="Avenir Next"/>
                <a:ea typeface="Avenir Next"/>
                <a:cs typeface="Avenir Next"/>
              </a:defRPr>
            </a:defPPr>
          </a:lstStyle>
          <a:p xmlns:a="http://schemas.openxmlformats.org/drawingml/2006/main">
            <a:pPr algn="l">
              <a:defRPr sz="3150" b="1" i="0">
                <a:solidFill>
                  <a:srgbClr val="F5F2EA"/>
                </a:solidFill>
                <a:latin typeface="Avenir Next"/>
                <a:ea typeface="Avenir Next"/>
                <a:cs typeface="Avenir Next"/>
              </a:defRPr>
            </a:pPr>
            <a:r>
              <a:rPr sz="3150" b="1" i="0">
                <a:solidFill>
                  <a:srgbClr val="F5F2EA"/>
                </a:solidFill>
                <a:latin typeface="Avenir Next"/>
                <a:ea typeface="Avenir Next"/>
                <a:cs typeface="Avenir Next"/>
              </a:rPr>
              <a:t>Explore finite usage laws and replay</a:t>
            </a:r>
          </a:p>
        </p:txBody>
      </p:sp>
      <p:sp>
        <p:nvSpPr>
          <p:cNvPr id="4" name="s32-subtitle">
            <a:extLst xmlns:a="http://schemas.openxmlformats.org/drawingml/2006/main">
              <a:ext uri="{FF2B5EF4-FFF2-40B4-BE49-F238E27FC236}">
                <a16:creationId xmlns:a16="http://schemas.microsoft.com/office/drawing/2014/main" id="{4B86EC45-37D2-4BD5-9731-52885B2B8D09}"/>
              </a:ext>
            </a:extLst>
          </p:cNvPr>
          <p:cNvSpPr>
            <a:spLocks xmlns:a="http://schemas.openxmlformats.org/drawingml/2006/main" noGrp="1"/>
          </p:cNvSpPr>
          <p:nvPr/>
        </p:nvSpPr>
        <p:spPr>
          <a:xfrm xmlns:a="http://schemas.openxmlformats.org/drawingml/2006/main">
            <a:off x="685800" y="16764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i="0">
                <a:solidFill>
                  <a:srgbClr val="B8C1D1"/>
                </a:solidFill>
                <a:latin typeface="Avenir Next"/>
                <a:ea typeface="Avenir Next"/>
                <a:cs typeface="Avenir Next"/>
              </a:defRPr>
            </a:defPPr>
          </a:lstStyle>
          <a:p xmlns:a="http://schemas.openxmlformats.org/drawingml/2006/main">
            <a:pPr algn="l">
              <a:defRPr sz="1575" b="0" i="0">
                <a:solidFill>
                  <a:srgbClr val="B8C1D1"/>
                </a:solidFill>
                <a:latin typeface="Avenir Next"/>
                <a:ea typeface="Avenir Next"/>
                <a:cs typeface="Avenir Next"/>
              </a:defRPr>
            </a:pPr>
            <a:r>
              <a:rPr sz="1575" b="0" i="0">
                <a:solidFill>
                  <a:srgbClr val="B8C1D1"/>
                </a:solidFill>
                <a:latin typeface="Avenir Next"/>
                <a:ea typeface="Avenir Next"/>
                <a:cs typeface="Avenir Next"/>
              </a:rPr>
              <a:t>The final slide opens the local HTML demo and its authored offline kernels.</a:t>
            </a:r>
          </a:p>
        </p:txBody>
      </p:sp>
      <p:sp>
        <p:nvSpPr>
          <p:cNvPr id="5" name="s32-source-rule">
            <a:extLst xmlns:a="http://schemas.openxmlformats.org/drawingml/2006/main">
              <a:ext uri="{FF2B5EF4-FFF2-40B4-BE49-F238E27FC236}">
                <a16:creationId xmlns:a16="http://schemas.microsoft.com/office/drawing/2014/main" id="{6BEE550D-6C7E-4BC9-8E5B-32A48A99CA39}"/>
              </a:ext>
            </a:extLst>
          </p:cNvPr>
          <p:cNvSpPr>
            <a:spLocks xmlns:a="http://schemas.openxmlformats.org/drawingml/2006/main" noGrp="1"/>
          </p:cNvSpPr>
          <p:nvPr/>
        </p:nvSpPr>
        <p:spPr>
          <a:xfrm xmlns:a="http://schemas.openxmlformats.org/drawingml/2006/main">
            <a:off x="666750" y="611505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6" name="s32-sources">
            <a:extLst xmlns:a="http://schemas.openxmlformats.org/drawingml/2006/main">
              <a:ext uri="{FF2B5EF4-FFF2-40B4-BE49-F238E27FC236}">
                <a16:creationId xmlns:a16="http://schemas.microsoft.com/office/drawing/2014/main" id="{39252C3E-5219-49CC-A095-63D1F93690F5}"/>
              </a:ext>
            </a:extLst>
          </p:cNvPr>
          <p:cNvSpPr>
            <a:spLocks xmlns:a="http://schemas.openxmlformats.org/drawingml/2006/main" noGrp="1"/>
          </p:cNvSpPr>
          <p:nvPr/>
        </p:nvSpPr>
        <p:spPr>
          <a:xfrm xmlns:a="http://schemas.openxmlformats.org/drawingml/2006/main">
            <a:off x="685800" y="6181725"/>
            <a:ext cx="102870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0" i="0">
                <a:solidFill>
                  <a:srgbClr val="B8C1D1"/>
                </a:solidFill>
                <a:latin typeface="Avenir Next"/>
                <a:ea typeface="Avenir Next"/>
                <a:cs typeface="Avenir Next"/>
              </a:defRPr>
            </a:defPPr>
          </a:lstStyle>
          <a:p xmlns:a="http://schemas.openxmlformats.org/drawingml/2006/main">
            <a:pPr algn="l">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SOURCE  demo/README.md</a:t>
            </a:r>
          </a:p>
        </p:txBody>
      </p:sp>
      <p:sp>
        <p:nvSpPr>
          <p:cNvPr id="7" name="s32-footer-rule">
            <a:extLst xmlns:a="http://schemas.openxmlformats.org/drawingml/2006/main">
              <a:ext uri="{FF2B5EF4-FFF2-40B4-BE49-F238E27FC236}">
                <a16:creationId xmlns:a16="http://schemas.microsoft.com/office/drawing/2014/main" id="{7C972183-776E-4188-BB6A-0A5125777248}"/>
              </a:ext>
            </a:extLst>
          </p:cNvPr>
          <p:cNvSpPr>
            <a:spLocks xmlns:a="http://schemas.openxmlformats.org/drawingml/2006/main" noGrp="1"/>
          </p:cNvSpPr>
          <p:nvPr/>
        </p:nvSpPr>
        <p:spPr>
          <a:xfrm xmlns:a="http://schemas.openxmlformats.org/drawingml/2006/main">
            <a:off x="666750" y="6438900"/>
            <a:ext cx="10858500"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8" name="s32-footer">
            <a:extLst xmlns:a="http://schemas.openxmlformats.org/drawingml/2006/main">
              <a:ext uri="{FF2B5EF4-FFF2-40B4-BE49-F238E27FC236}">
                <a16:creationId xmlns:a16="http://schemas.microsoft.com/office/drawing/2014/main" id="{D5EEFA75-78BB-4037-881A-C8A62C30F8CF}"/>
              </a:ext>
            </a:extLst>
          </p:cNvPr>
          <p:cNvSpPr>
            <a:spLocks xmlns:a="http://schemas.openxmlformats.org/drawingml/2006/main" noGrp="1"/>
          </p:cNvSpPr>
          <p:nvPr/>
        </p:nvSpPr>
        <p:spPr>
          <a:xfrm xmlns:a="http://schemas.openxmlformats.org/drawingml/2006/main">
            <a:off x="685800" y="6534150"/>
            <a:ext cx="571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ORCHLANG  ·  VIT  ·  COMPILER DESIGN LAB</a:t>
            </a:r>
          </a:p>
        </p:txBody>
      </p:sp>
      <p:sp>
        <p:nvSpPr>
          <p:cNvPr id="9" name="s32-page">
            <a:extLst xmlns:a="http://schemas.openxmlformats.org/drawingml/2006/main">
              <a:ext uri="{FF2B5EF4-FFF2-40B4-BE49-F238E27FC236}">
                <a16:creationId xmlns:a16="http://schemas.microsoft.com/office/drawing/2014/main" id="{9EEDEBF7-9E0C-4183-BEE8-ACE9F7CA0FC1}"/>
              </a:ext>
            </a:extLst>
          </p:cNvPr>
          <p:cNvSpPr>
            <a:spLocks xmlns:a="http://schemas.openxmlformats.org/drawingml/2006/main" noGrp="1"/>
          </p:cNvSpPr>
          <p:nvPr/>
        </p:nvSpPr>
        <p:spPr>
          <a:xfrm xmlns:a="http://schemas.openxmlformats.org/drawingml/2006/main">
            <a:off x="10858500" y="65341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050" b="1" i="0">
                <a:solidFill>
                  <a:srgbClr val="5CC8B8"/>
                </a:solidFill>
                <a:latin typeface="Avenir Next"/>
                <a:ea typeface="Avenir Next"/>
                <a:cs typeface="Avenir Next"/>
              </a:defRPr>
            </a:defPPr>
          </a:lstStyle>
          <a:p xmlns:a="http://schemas.openxmlformats.org/drawingml/2006/main">
            <a:pPr algn="r">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32</a:t>
            </a:r>
          </a:p>
        </p:txBody>
      </p:sp>
      <p:sp>
        <p:nvSpPr>
          <p:cNvPr id="10" name="demo-eyebrow">
            <a:extLst xmlns:a="http://schemas.openxmlformats.org/drawingml/2006/main">
              <a:ext uri="{FF2B5EF4-FFF2-40B4-BE49-F238E27FC236}">
                <a16:creationId xmlns:a16="http://schemas.microsoft.com/office/drawing/2014/main" id="{7BADBF8A-1BE7-4D8E-837E-637EED5E8E35}"/>
              </a:ext>
            </a:extLst>
          </p:cNvPr>
          <p:cNvSpPr>
            <a:spLocks xmlns:a="http://schemas.openxmlformats.org/drawingml/2006/main" noGrp="1"/>
          </p:cNvSpPr>
          <p:nvPr/>
        </p:nvSpPr>
        <p:spPr>
          <a:xfrm xmlns:a="http://schemas.openxmlformats.org/drawingml/2006/main">
            <a:off x="876300" y="2400300"/>
            <a:ext cx="5048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i="0">
                <a:solidFill>
                  <a:srgbClr val="5CC8B8"/>
                </a:solidFill>
                <a:latin typeface="Avenir Next"/>
                <a:ea typeface="Avenir Next"/>
                <a:cs typeface="Avenir Next"/>
              </a:defRPr>
            </a:defPPr>
          </a:lstStyle>
          <a:p xmlns:a="http://schemas.openxmlformats.org/drawingml/2006/main">
            <a:pPr algn="l">
              <a:defRPr sz="1050" b="1" i="0">
                <a:solidFill>
                  <a:srgbClr val="5CC8B8"/>
                </a:solidFill>
                <a:latin typeface="Avenir Next"/>
                <a:ea typeface="Avenir Next"/>
                <a:cs typeface="Avenir Next"/>
              </a:defRPr>
            </a:pPr>
            <a:r>
              <a:rPr sz="1050" b="1" i="0">
                <a:solidFill>
                  <a:srgbClr val="5CC8B8"/>
                </a:solidFill>
                <a:latin typeface="Avenir Next"/>
                <a:ea typeface="Avenir Next"/>
                <a:cs typeface="Avenir Next"/>
              </a:rPr>
              <a:t>FINAL SLIDE  ·  LOOPBACK ONLY</a:t>
            </a:r>
          </a:p>
        </p:txBody>
      </p:sp>
      <p:sp>
        <p:nvSpPr>
          <p:cNvPr id="11" name="demo-url">
            <a:extLst xmlns:a="http://schemas.openxmlformats.org/drawingml/2006/main">
              <a:ext uri="{FF2B5EF4-FFF2-40B4-BE49-F238E27FC236}">
                <a16:creationId xmlns:a16="http://schemas.microsoft.com/office/drawing/2014/main" id="{400C0AE7-E512-45EF-883B-B859972E8C86}"/>
              </a:ext>
            </a:extLst>
          </p:cNvPr>
          <p:cNvSpPr>
            <a:spLocks xmlns:a="http://schemas.openxmlformats.org/drawingml/2006/main" noGrp="1"/>
          </p:cNvSpPr>
          <p:nvPr/>
        </p:nvSpPr>
        <p:spPr>
          <a:xfrm xmlns:a="http://schemas.openxmlformats.org/drawingml/2006/main">
            <a:off x="857250" y="2781300"/>
            <a:ext cx="1038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i="0">
                <a:solidFill>
                  <a:srgbClr val="FF8A5C"/>
                </a:solidFill>
                <a:latin typeface="Menlo"/>
                <a:ea typeface="Menlo"/>
                <a:cs typeface="Menlo"/>
              </a:defRPr>
            </a:defPPr>
          </a:lstStyle>
          <a:p xmlns:a="http://schemas.openxmlformats.org/drawingml/2006/main">
            <a:pPr algn="l">
              <a:defRPr sz="2850" b="1" i="0">
                <a:solidFill>
                  <a:srgbClr val="FF8A5C"/>
                </a:solidFill>
                <a:latin typeface="Menlo"/>
                <a:ea typeface="Menlo"/>
                <a:cs typeface="Menlo"/>
              </a:defRPr>
            </a:pPr>
            <a:r>
              <a:rPr sz="2850" b="1" i="0">
                <a:solidFill>
                  <a:srgbClr val="FF8A5C"/>
                </a:solidFill>
                <a:latin typeface="Menlo"/>
                <a:ea typeface="Menlo"/>
                <a:cs typeface="Menlo"/>
                <a:hlinkClick xmlns:r="http://schemas.openxmlformats.org/officeDocument/2006/relationships" r:id="Rd97bc83471bc4625"/>
              </a:rPr>
              <a:t>http://127.0.0.1:8765/</a:t>
            </a:r>
          </a:p>
        </p:txBody>
      </p:sp>
      <p:sp>
        <p:nvSpPr>
          <p:cNvPr id="12" name="demo-command-rule">
            <a:extLst xmlns:a="http://schemas.openxmlformats.org/drawingml/2006/main">
              <a:ext uri="{FF2B5EF4-FFF2-40B4-BE49-F238E27FC236}">
                <a16:creationId xmlns:a16="http://schemas.microsoft.com/office/drawing/2014/main" id="{71603785-42E3-4083-AF40-9230C1AF8B08}"/>
              </a:ext>
            </a:extLst>
          </p:cNvPr>
          <p:cNvSpPr>
            <a:spLocks xmlns:a="http://schemas.openxmlformats.org/drawingml/2006/main" noGrp="1"/>
          </p:cNvSpPr>
          <p:nvPr/>
        </p:nvSpPr>
        <p:spPr>
          <a:xfrm xmlns:a="http://schemas.openxmlformats.org/drawingml/2006/main">
            <a:off x="876300" y="3657600"/>
            <a:ext cx="10429875" cy="9525"/>
          </a:xfrm>
          <a:prstGeom xmlns:a="http://schemas.openxmlformats.org/drawingml/2006/main" prst="rect">
            <a:avLst/>
          </a:prstGeom>
          <a:solidFill xmlns:a="http://schemas.openxmlformats.org/drawingml/2006/main">
            <a:srgbClr val="343D50"/>
          </a:solidFill>
          <a:ln xmlns:a="http://schemas.openxmlformats.org/drawingml/2006/main" w="0">
            <a:noFill/>
            <a:prstDash val="solid"/>
          </a:ln>
        </p:spPr>
      </p:sp>
      <p:sp>
        <p:nvSpPr>
          <p:cNvPr id="13" name="demo-launch-label">
            <a:extLst xmlns:a="http://schemas.openxmlformats.org/drawingml/2006/main">
              <a:ext uri="{FF2B5EF4-FFF2-40B4-BE49-F238E27FC236}">
                <a16:creationId xmlns:a16="http://schemas.microsoft.com/office/drawing/2014/main" id="{40BBDFEE-F058-4E66-8854-4F0931FDBD60}"/>
              </a:ext>
            </a:extLst>
          </p:cNvPr>
          <p:cNvSpPr>
            <a:spLocks xmlns:a="http://schemas.openxmlformats.org/drawingml/2006/main" noGrp="1"/>
          </p:cNvSpPr>
          <p:nvPr/>
        </p:nvSpPr>
        <p:spPr>
          <a:xfrm xmlns:a="http://schemas.openxmlformats.org/drawingml/2006/main">
            <a:off x="895350" y="39052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13" b="1" i="0">
                <a:solidFill>
                  <a:srgbClr val="B8C1D1"/>
                </a:solidFill>
                <a:latin typeface="Avenir Next"/>
                <a:ea typeface="Avenir Next"/>
                <a:cs typeface="Avenir Next"/>
              </a:defRPr>
            </a:defPPr>
          </a:lstStyle>
          <a:p xmlns:a="http://schemas.openxmlformats.org/drawingml/2006/main">
            <a:pPr algn="l">
              <a:defRPr sz="1013" b="1" i="0">
                <a:solidFill>
                  <a:srgbClr val="B8C1D1"/>
                </a:solidFill>
                <a:latin typeface="Avenir Next"/>
                <a:ea typeface="Avenir Next"/>
                <a:cs typeface="Avenir Next"/>
              </a:defRPr>
            </a:pPr>
            <a:r>
              <a:rPr sz="1013" b="1" i="0">
                <a:solidFill>
                  <a:srgbClr val="B8C1D1"/>
                </a:solidFill>
                <a:latin typeface="Avenir Next"/>
                <a:ea typeface="Avenir Next"/>
                <a:cs typeface="Avenir Next"/>
              </a:rPr>
              <a:t>FROM REPOSITORY ROOT</a:t>
            </a:r>
          </a:p>
        </p:txBody>
      </p:sp>
      <p:sp>
        <p:nvSpPr>
          <p:cNvPr id="14" name="demo-launch">
            <a:extLst xmlns:a="http://schemas.openxmlformats.org/drawingml/2006/main">
              <a:ext uri="{FF2B5EF4-FFF2-40B4-BE49-F238E27FC236}">
                <a16:creationId xmlns:a16="http://schemas.microsoft.com/office/drawing/2014/main" id="{7B971069-E07A-448A-8926-DFB08F0DE870}"/>
              </a:ext>
            </a:extLst>
          </p:cNvPr>
          <p:cNvSpPr>
            <a:spLocks xmlns:a="http://schemas.openxmlformats.org/drawingml/2006/main" noGrp="1"/>
          </p:cNvSpPr>
          <p:nvPr/>
        </p:nvSpPr>
        <p:spPr>
          <a:xfrm xmlns:a="http://schemas.openxmlformats.org/drawingml/2006/main">
            <a:off x="895350" y="4181475"/>
            <a:ext cx="619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i="0">
                <a:solidFill>
                  <a:srgbClr val="F5F2EA"/>
                </a:solidFill>
                <a:latin typeface="Menlo"/>
                <a:ea typeface="Menlo"/>
                <a:cs typeface="Menlo"/>
              </a:defRPr>
            </a:defPPr>
          </a:lstStyle>
          <a:p xmlns:a="http://schemas.openxmlformats.org/drawingml/2006/main">
            <a:pPr algn="l">
              <a:defRPr sz="1500" b="1" i="0">
                <a:solidFill>
                  <a:srgbClr val="F5F2EA"/>
                </a:solidFill>
                <a:latin typeface="Menlo"/>
                <a:ea typeface="Menlo"/>
                <a:cs typeface="Menlo"/>
              </a:defRPr>
            </a:pPr>
            <a:r>
              <a:rPr sz="1500" b="1" i="0">
                <a:solidFill>
                  <a:srgbClr val="F5F2EA"/>
                </a:solidFill>
                <a:latin typeface="Menlo"/>
                <a:ea typeface="Menlo"/>
                <a:cs typeface="Menlo"/>
              </a:rPr>
              <a:t>python3 demo/server.py</a:t>
            </a:r>
          </a:p>
        </p:txBody>
      </p:sp>
      <p:sp>
        <p:nvSpPr>
          <p:cNvPr id="15" name="demo-step-0-number">
            <a:extLst xmlns:a="http://schemas.openxmlformats.org/drawingml/2006/main">
              <a:ext uri="{FF2B5EF4-FFF2-40B4-BE49-F238E27FC236}">
                <a16:creationId xmlns:a16="http://schemas.microsoft.com/office/drawing/2014/main" id="{E1711E9E-6DB8-409E-B6D7-05428F3DAB77}"/>
              </a:ext>
            </a:extLst>
          </p:cNvPr>
          <p:cNvSpPr>
            <a:spLocks xmlns:a="http://schemas.openxmlformats.org/drawingml/2006/main" noGrp="1"/>
          </p:cNvSpPr>
          <p:nvPr/>
        </p:nvSpPr>
        <p:spPr>
          <a:xfrm xmlns:a="http://schemas.openxmlformats.org/drawingml/2006/main">
            <a:off x="904875" y="48958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CC8B8"/>
                </a:solidFill>
                <a:latin typeface="Menlo"/>
                <a:ea typeface="Menlo"/>
                <a:cs typeface="Menlo"/>
              </a:defRPr>
            </a:defPPr>
          </a:lstStyle>
          <a:p xmlns:a="http://schemas.openxmlformats.org/drawingml/2006/main">
            <a:pPr algn="l">
              <a:defRPr sz="1125" b="1" i="0">
                <a:solidFill>
                  <a:srgbClr val="5CC8B8"/>
                </a:solidFill>
                <a:latin typeface="Menlo"/>
                <a:ea typeface="Menlo"/>
                <a:cs typeface="Menlo"/>
              </a:defRPr>
            </a:pPr>
            <a:r>
              <a:rPr sz="1125" b="1" i="0">
                <a:solidFill>
                  <a:srgbClr val="5CC8B8"/>
                </a:solidFill>
                <a:latin typeface="Menlo"/>
                <a:ea typeface="Menlo"/>
                <a:cs typeface="Menlo"/>
              </a:rPr>
              <a:t>01</a:t>
            </a:r>
          </a:p>
        </p:txBody>
      </p:sp>
      <p:sp>
        <p:nvSpPr>
          <p:cNvPr id="16" name="demo-step-0-text">
            <a:extLst xmlns:a="http://schemas.openxmlformats.org/drawingml/2006/main">
              <a:ext uri="{FF2B5EF4-FFF2-40B4-BE49-F238E27FC236}">
                <a16:creationId xmlns:a16="http://schemas.microsoft.com/office/drawing/2014/main" id="{59CE106E-A644-40C6-8000-A6CB955A9013}"/>
              </a:ext>
            </a:extLst>
          </p:cNvPr>
          <p:cNvSpPr>
            <a:spLocks xmlns:a="http://schemas.openxmlformats.org/drawingml/2006/main" noGrp="1"/>
          </p:cNvSpPr>
          <p:nvPr/>
        </p:nvSpPr>
        <p:spPr>
          <a:xfrm xmlns:a="http://schemas.openxmlformats.org/drawingml/2006/main">
            <a:off x="1504950" y="4895850"/>
            <a:ext cx="7715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5F2EA"/>
                </a:solidFill>
                <a:latin typeface="Avenir Next"/>
                <a:ea typeface="Avenir Next"/>
                <a:cs typeface="Avenir Next"/>
              </a:defRPr>
            </a:defPPr>
          </a:lstStyle>
          <a:p xmlns:a="http://schemas.openxmlformats.org/drawingml/2006/main">
            <a:pPr algn="l">
              <a:defRPr sz="1275" b="0" i="0">
                <a:solidFill>
                  <a:srgbClr val="F5F2EA"/>
                </a:solidFill>
                <a:latin typeface="Avenir Next"/>
                <a:ea typeface="Avenir Next"/>
                <a:cs typeface="Avenir Next"/>
              </a:defRPr>
            </a:pPr>
            <a:r>
              <a:rPr sz="1275" b="0" i="0">
                <a:solidFill>
                  <a:srgbClr val="F5F2EA"/>
                </a:solidFill>
                <a:latin typeface="Avenir Next"/>
                <a:ea typeface="Avenir Next"/>
                <a:cs typeface="Avenir Next"/>
              </a:rPr>
              <a:t>Hold public inputs fixed</a:t>
            </a:r>
          </a:p>
        </p:txBody>
      </p:sp>
      <p:sp>
        <p:nvSpPr>
          <p:cNvPr id="17" name="demo-step-1-number">
            <a:extLst xmlns:a="http://schemas.openxmlformats.org/drawingml/2006/main">
              <a:ext uri="{FF2B5EF4-FFF2-40B4-BE49-F238E27FC236}">
                <a16:creationId xmlns:a16="http://schemas.microsoft.com/office/drawing/2014/main" id="{95DFB512-82E4-4C52-B2F5-C5E9A66EBD5A}"/>
              </a:ext>
            </a:extLst>
          </p:cNvPr>
          <p:cNvSpPr>
            <a:spLocks xmlns:a="http://schemas.openxmlformats.org/drawingml/2006/main" noGrp="1"/>
          </p:cNvSpPr>
          <p:nvPr/>
        </p:nvSpPr>
        <p:spPr>
          <a:xfrm xmlns:a="http://schemas.openxmlformats.org/drawingml/2006/main">
            <a:off x="904875" y="525780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FF8A5C"/>
                </a:solidFill>
                <a:latin typeface="Menlo"/>
                <a:ea typeface="Menlo"/>
                <a:cs typeface="Menlo"/>
              </a:defRPr>
            </a:defPPr>
          </a:lstStyle>
          <a:p xmlns:a="http://schemas.openxmlformats.org/drawingml/2006/main">
            <a:pPr algn="l">
              <a:defRPr sz="1125" b="1" i="0">
                <a:solidFill>
                  <a:srgbClr val="FF8A5C"/>
                </a:solidFill>
                <a:latin typeface="Menlo"/>
                <a:ea typeface="Menlo"/>
                <a:cs typeface="Menlo"/>
              </a:defRPr>
            </a:pPr>
            <a:r>
              <a:rPr sz="1125" b="1" i="0">
                <a:solidFill>
                  <a:srgbClr val="FF8A5C"/>
                </a:solidFill>
                <a:latin typeface="Menlo"/>
                <a:ea typeface="Menlo"/>
                <a:cs typeface="Menlo"/>
              </a:rPr>
              <a:t>02</a:t>
            </a:r>
          </a:p>
        </p:txBody>
      </p:sp>
      <p:sp>
        <p:nvSpPr>
          <p:cNvPr id="18" name="demo-step-1-text">
            <a:extLst xmlns:a="http://schemas.openxmlformats.org/drawingml/2006/main">
              <a:ext uri="{FF2B5EF4-FFF2-40B4-BE49-F238E27FC236}">
                <a16:creationId xmlns:a16="http://schemas.microsoft.com/office/drawing/2014/main" id="{75C544C9-CE02-4B77-A3BF-9758EC0303F1}"/>
              </a:ext>
            </a:extLst>
          </p:cNvPr>
          <p:cNvSpPr>
            <a:spLocks xmlns:a="http://schemas.openxmlformats.org/drawingml/2006/main" noGrp="1"/>
          </p:cNvSpPr>
          <p:nvPr/>
        </p:nvSpPr>
        <p:spPr>
          <a:xfrm xmlns:a="http://schemas.openxmlformats.org/drawingml/2006/main">
            <a:off x="1504950" y="5257800"/>
            <a:ext cx="7715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5F2EA"/>
                </a:solidFill>
                <a:latin typeface="Avenir Next"/>
                <a:ea typeface="Avenir Next"/>
                <a:cs typeface="Avenir Next"/>
              </a:defRPr>
            </a:defPPr>
          </a:lstStyle>
          <a:p xmlns:a="http://schemas.openxmlformats.org/drawingml/2006/main">
            <a:pPr algn="l">
              <a:defRPr sz="1275" b="0" i="0">
                <a:solidFill>
                  <a:srgbClr val="F5F2EA"/>
                </a:solidFill>
                <a:latin typeface="Avenir Next"/>
                <a:ea typeface="Avenir Next"/>
                <a:cs typeface="Avenir Next"/>
              </a:defRPr>
            </a:pPr>
            <a:r>
              <a:rPr sz="1275" b="0" i="0">
                <a:solidFill>
                  <a:srgbClr val="F5F2EA"/>
                </a:solidFill>
                <a:latin typeface="Avenir Next"/>
                <a:ea typeface="Avenir Next"/>
                <a:cs typeface="Avenir Next"/>
              </a:rPr>
              <a:t>Compare aggregate and ordered usage</a:t>
            </a:r>
          </a:p>
        </p:txBody>
      </p:sp>
      <p:sp>
        <p:nvSpPr>
          <p:cNvPr id="19" name="demo-step-2-number">
            <a:extLst xmlns:a="http://schemas.openxmlformats.org/drawingml/2006/main">
              <a:ext uri="{FF2B5EF4-FFF2-40B4-BE49-F238E27FC236}">
                <a16:creationId xmlns:a16="http://schemas.microsoft.com/office/drawing/2014/main" id="{110D66A2-F058-4483-B68F-FFCB5AFE511A}"/>
              </a:ext>
            </a:extLst>
          </p:cNvPr>
          <p:cNvSpPr>
            <a:spLocks xmlns:a="http://schemas.openxmlformats.org/drawingml/2006/main" noGrp="1"/>
          </p:cNvSpPr>
          <p:nvPr/>
        </p:nvSpPr>
        <p:spPr>
          <a:xfrm xmlns:a="http://schemas.openxmlformats.org/drawingml/2006/main">
            <a:off x="904875" y="5619750"/>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i="0">
                <a:solidFill>
                  <a:srgbClr val="5CC8B8"/>
                </a:solidFill>
                <a:latin typeface="Menlo"/>
                <a:ea typeface="Menlo"/>
                <a:cs typeface="Menlo"/>
              </a:defRPr>
            </a:defPPr>
          </a:lstStyle>
          <a:p xmlns:a="http://schemas.openxmlformats.org/drawingml/2006/main">
            <a:pPr algn="l">
              <a:defRPr sz="1125" b="1" i="0">
                <a:solidFill>
                  <a:srgbClr val="5CC8B8"/>
                </a:solidFill>
                <a:latin typeface="Menlo"/>
                <a:ea typeface="Menlo"/>
                <a:cs typeface="Menlo"/>
              </a:defRPr>
            </a:pPr>
            <a:r>
              <a:rPr sz="1125" b="1" i="0">
                <a:solidFill>
                  <a:srgbClr val="5CC8B8"/>
                </a:solidFill>
                <a:latin typeface="Menlo"/>
                <a:ea typeface="Menlo"/>
                <a:cs typeface="Menlo"/>
              </a:rPr>
              <a:t>03</a:t>
            </a:r>
          </a:p>
        </p:txBody>
      </p:sp>
      <p:sp>
        <p:nvSpPr>
          <p:cNvPr id="20" name="demo-step-2-text">
            <a:extLst xmlns:a="http://schemas.openxmlformats.org/drawingml/2006/main">
              <a:ext uri="{FF2B5EF4-FFF2-40B4-BE49-F238E27FC236}">
                <a16:creationId xmlns:a16="http://schemas.microsoft.com/office/drawing/2014/main" id="{0627EE45-384B-44C2-9CF9-A2C5651082C1}"/>
              </a:ext>
            </a:extLst>
          </p:cNvPr>
          <p:cNvSpPr>
            <a:spLocks xmlns:a="http://schemas.openxmlformats.org/drawingml/2006/main" noGrp="1"/>
          </p:cNvSpPr>
          <p:nvPr/>
        </p:nvSpPr>
        <p:spPr>
          <a:xfrm xmlns:a="http://schemas.openxmlformats.org/drawingml/2006/main">
            <a:off x="1504950" y="5619750"/>
            <a:ext cx="7715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i="0">
                <a:solidFill>
                  <a:srgbClr val="F5F2EA"/>
                </a:solidFill>
                <a:latin typeface="Avenir Next"/>
                <a:ea typeface="Avenir Next"/>
                <a:cs typeface="Avenir Next"/>
              </a:defRPr>
            </a:defPPr>
          </a:lstStyle>
          <a:p xmlns:a="http://schemas.openxmlformats.org/drawingml/2006/main">
            <a:pPr algn="l">
              <a:defRPr sz="1275" b="0" i="0">
                <a:solidFill>
                  <a:srgbClr val="F5F2EA"/>
                </a:solidFill>
                <a:latin typeface="Avenir Next"/>
                <a:ea typeface="Avenir Next"/>
                <a:cs typeface="Avenir Next"/>
              </a:defRPr>
            </a:pPr>
            <a:r>
              <a:rPr sz="1275" b="0" i="0">
                <a:solidFill>
                  <a:srgbClr val="F5F2EA"/>
                </a:solidFill>
                <a:latin typeface="Avenir Next"/>
                <a:ea typeface="Avenir Next"/>
                <a:cs typeface="Avenir Next"/>
              </a:rPr>
              <a:t>Open the hidden-state trace-law story</a:t>
            </a:r>
          </a:p>
        </p:txBody>
      </p:sp>
      <p:sp>
        <p:nvSpPr>
          <p:cNvPr id="21" name="demo-footnote">
            <a:extLst xmlns:a="http://schemas.openxmlformats.org/drawingml/2006/main">
              <a:ext uri="{FF2B5EF4-FFF2-40B4-BE49-F238E27FC236}">
                <a16:creationId xmlns:a16="http://schemas.microsoft.com/office/drawing/2014/main" id="{C7180D27-D33C-4FE9-80A1-09C6A3EB47BF}"/>
              </a:ext>
            </a:extLst>
          </p:cNvPr>
          <p:cNvSpPr>
            <a:spLocks xmlns:a="http://schemas.openxmlformats.org/drawingml/2006/main" noGrp="1"/>
          </p:cNvSpPr>
          <p:nvPr/>
        </p:nvSpPr>
        <p:spPr>
          <a:xfrm xmlns:a="http://schemas.openxmlformats.org/drawingml/2006/main">
            <a:off x="914400" y="5915025"/>
            <a:ext cx="10382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013" b="0" i="0">
                <a:solidFill>
                  <a:srgbClr val="B8C1D1"/>
                </a:solidFill>
                <a:latin typeface="Avenir Next"/>
                <a:ea typeface="Avenir Next"/>
                <a:cs typeface="Avenir Next"/>
              </a:defRPr>
            </a:defPPr>
          </a:lstStyle>
          <a:p xmlns:a="http://schemas.openxmlformats.org/drawingml/2006/main">
            <a:pPr algn="ctr">
              <a:defRPr sz="1013" b="0" i="0">
                <a:solidFill>
                  <a:srgbClr val="B8C1D1"/>
                </a:solidFill>
                <a:latin typeface="Avenir Next"/>
                <a:ea typeface="Avenir Next"/>
                <a:cs typeface="Avenir Next"/>
              </a:defRPr>
            </a:pPr>
            <a:r>
              <a:rPr sz="1013" b="0" i="0">
                <a:solidFill>
                  <a:srgbClr val="B8C1D1"/>
                </a:solidFill>
                <a:latin typeface="Avenir Next"/>
                <a:ea typeface="Avenir Next"/>
                <a:cs typeface="Avenir Next"/>
              </a:rPr>
              <a:t>Offline authored kernels · no provider calls · URL works while the local server is running</a:t>
            </a:r>
          </a:p>
        </p:txBody>
      </p:sp>
    </p:spTree>
    <p:extLst>
      <p:ext uri="{BB962C8B-B14F-4D97-AF65-F5344CB8AC3E}">
        <p14:creationId xmlns:p14="http://schemas.microsoft.com/office/powerpoint/2010/main" val="16678583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2026-10-09T00:53:31.9090000Z</dcterms:created>
  <dcterms:modified xsi:type="dcterms:W3CDTF">2026-10-09T00:53:31.9090000Z</dcterms:modified>
</coreProperties>
</file>