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9552b9e44741fa" /><Relationship Type="http://schemas.openxmlformats.org/officeDocument/2006/relationships/extended-properties" Target="/docProps/app.xml" Id="Rea81f12fa0a748f0" /><Relationship Type="http://schemas.openxmlformats.org/officeDocument/2006/relationships/officeDocument" Target="/ppt/presentation.xml" Id="Ra9e653596836438b" /></Relationships>
</file>

<file path=ppt/presentation.xml><?xml version="1.0" encoding="utf-8"?>
<p:presentation xmlns:p="http://schemas.openxmlformats.org/presentationml/2006/main">
  <p:sldMasterIdLst>
    <p:sldMasterId xmlns:r="http://schemas.openxmlformats.org/officeDocument/2006/relationships" id="2147483648" r:id="Rb70a1343de1a4afe"/>
  </p:sldMasterIdLst>
  <p:notesMasterIdLst>
    <p:notesMasterId xmlns:r="http://schemas.openxmlformats.org/officeDocument/2006/relationships" r:id="R8355cd5d131e4aea"/>
  </p:notesMasterIdLst>
  <p:sldIdLst>
    <p:sldId xmlns:r="http://schemas.openxmlformats.org/officeDocument/2006/relationships" id="256" r:id="R92070d2454a14013"/>
    <p:sldId xmlns:r="http://schemas.openxmlformats.org/officeDocument/2006/relationships" id="257" r:id="Rf5b7654dcb674c01"/>
    <p:sldId xmlns:r="http://schemas.openxmlformats.org/officeDocument/2006/relationships" id="258" r:id="R9d0fd808b92a45a2"/>
    <p:sldId xmlns:r="http://schemas.openxmlformats.org/officeDocument/2006/relationships" id="259" r:id="R221d67e5b6bc4bc4"/>
    <p:sldId xmlns:r="http://schemas.openxmlformats.org/officeDocument/2006/relationships" id="260" r:id="R66313bce2abe4ba2"/>
    <p:sldId xmlns:r="http://schemas.openxmlformats.org/officeDocument/2006/relationships" id="261" r:id="Rf84206edd9414d1f"/>
    <p:sldId xmlns:r="http://schemas.openxmlformats.org/officeDocument/2006/relationships" id="262" r:id="Rd586d2fbcf2b4739"/>
    <p:sldId xmlns:r="http://schemas.openxmlformats.org/officeDocument/2006/relationships" id="263" r:id="R8c501e90ca93470f"/>
    <p:sldId xmlns:r="http://schemas.openxmlformats.org/officeDocument/2006/relationships" id="264" r:id="Rfca846cbe24d4807"/>
    <p:sldId xmlns:r="http://schemas.openxmlformats.org/officeDocument/2006/relationships" id="265" r:id="R04d4d3cc1016484f"/>
    <p:sldId xmlns:r="http://schemas.openxmlformats.org/officeDocument/2006/relationships" id="266" r:id="Rab08ee086e5c4e8c"/>
    <p:sldId xmlns:r="http://schemas.openxmlformats.org/officeDocument/2006/relationships" id="267" r:id="Rb5a64fca74a147f4"/>
    <p:sldId xmlns:r="http://schemas.openxmlformats.org/officeDocument/2006/relationships" id="268" r:id="Re78c252099764c13"/>
    <p:sldId xmlns:r="http://schemas.openxmlformats.org/officeDocument/2006/relationships" id="269" r:id="R79699af1ac174245"/>
    <p:sldId xmlns:r="http://schemas.openxmlformats.org/officeDocument/2006/relationships" id="270" r:id="Rbffe55bd3ee142d7"/>
    <p:sldId xmlns:r="http://schemas.openxmlformats.org/officeDocument/2006/relationships" id="271" r:id="Ref2c71223cf04505"/>
    <p:sldId xmlns:r="http://schemas.openxmlformats.org/officeDocument/2006/relationships" id="272" r:id="R35c0cfd99bd941a3"/>
    <p:sldId xmlns:r="http://schemas.openxmlformats.org/officeDocument/2006/relationships" id="273" r:id="R192e9aff1268483a"/>
    <p:sldId xmlns:r="http://schemas.openxmlformats.org/officeDocument/2006/relationships" id="274" r:id="R927886f6c2e24a9f"/>
    <p:sldId xmlns:r="http://schemas.openxmlformats.org/officeDocument/2006/relationships" id="275" r:id="Ra7309fb57d9c4475"/>
    <p:sldId xmlns:r="http://schemas.openxmlformats.org/officeDocument/2006/relationships" id="276" r:id="Reba958b7e1774970"/>
    <p:sldId xmlns:r="http://schemas.openxmlformats.org/officeDocument/2006/relationships" id="277" r:id="R1856d168625940bc"/>
    <p:sldId xmlns:r="http://schemas.openxmlformats.org/officeDocument/2006/relationships" id="278" r:id="Rd23e01ead1914ab9"/>
    <p:sldId xmlns:r="http://schemas.openxmlformats.org/officeDocument/2006/relationships" id="279" r:id="Rde734a2782364840"/>
    <p:sldId xmlns:r="http://schemas.openxmlformats.org/officeDocument/2006/relationships" id="280" r:id="Reb948c6eb31b4a7a"/>
    <p:sldId xmlns:r="http://schemas.openxmlformats.org/officeDocument/2006/relationships" id="281" r:id="R4041272c654043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489ad773da4da5" /><Relationship Type="http://schemas.openxmlformats.org/officeDocument/2006/relationships/slideMaster" Target="/ppt/slideMasters/slideMaster1.xml" Id="Rb70a1343de1a4afe" /><Relationship Type="http://schemas.openxmlformats.org/officeDocument/2006/relationships/notesMaster" Target="/ppt/notesMasters/notesMaster1.xml" Id="R8355cd5d131e4aea" /><Relationship Type="http://schemas.openxmlformats.org/officeDocument/2006/relationships/presProps" Target="/ppt/presProps.xml" Id="Ra228da53bacc4b6c" /><Relationship Type="http://schemas.openxmlformats.org/officeDocument/2006/relationships/tableStyles" Target="/ppt/tableStyles.xml" Id="Ra85a82bc75164a2b" /><Relationship Type="http://schemas.openxmlformats.org/officeDocument/2006/relationships/slide" Target="/ppt/slides/slide1.xml" Id="R92070d2454a14013" /><Relationship Type="http://schemas.openxmlformats.org/officeDocument/2006/relationships/slide" Target="/ppt/slides/slide2.xml" Id="Rf5b7654dcb674c01" /><Relationship Type="http://schemas.openxmlformats.org/officeDocument/2006/relationships/slide" Target="/ppt/slides/slide3.xml" Id="R9d0fd808b92a45a2" /><Relationship Type="http://schemas.openxmlformats.org/officeDocument/2006/relationships/slide" Target="/ppt/slides/slide4.xml" Id="R221d67e5b6bc4bc4" /><Relationship Type="http://schemas.openxmlformats.org/officeDocument/2006/relationships/slide" Target="/ppt/slides/slide5.xml" Id="R66313bce2abe4ba2" /><Relationship Type="http://schemas.openxmlformats.org/officeDocument/2006/relationships/slide" Target="/ppt/slides/slide6.xml" Id="Rf84206edd9414d1f" /><Relationship Type="http://schemas.openxmlformats.org/officeDocument/2006/relationships/slide" Target="/ppt/slides/slide7.xml" Id="Rd586d2fbcf2b4739" /><Relationship Type="http://schemas.openxmlformats.org/officeDocument/2006/relationships/slide" Target="/ppt/slides/slide8.xml" Id="R8c501e90ca93470f" /><Relationship Type="http://schemas.openxmlformats.org/officeDocument/2006/relationships/slide" Target="/ppt/slides/slide9.xml" Id="Rfca846cbe24d4807" /><Relationship Type="http://schemas.openxmlformats.org/officeDocument/2006/relationships/slide" Target="/ppt/slides/slide10.xml" Id="R04d4d3cc1016484f" /><Relationship Type="http://schemas.openxmlformats.org/officeDocument/2006/relationships/slide" Target="/ppt/slides/slide11.xml" Id="Rab08ee086e5c4e8c" /><Relationship Type="http://schemas.openxmlformats.org/officeDocument/2006/relationships/slide" Target="/ppt/slides/slide12.xml" Id="Rb5a64fca74a147f4" /><Relationship Type="http://schemas.openxmlformats.org/officeDocument/2006/relationships/slide" Target="/ppt/slides/slide13.xml" Id="Re78c252099764c13" /><Relationship Type="http://schemas.openxmlformats.org/officeDocument/2006/relationships/slide" Target="/ppt/slides/slide14.xml" Id="R79699af1ac174245" /><Relationship Type="http://schemas.openxmlformats.org/officeDocument/2006/relationships/slide" Target="/ppt/slides/slide15.xml" Id="Rbffe55bd3ee142d7" /><Relationship Type="http://schemas.openxmlformats.org/officeDocument/2006/relationships/slide" Target="/ppt/slides/slide16.xml" Id="Ref2c71223cf04505" /><Relationship Type="http://schemas.openxmlformats.org/officeDocument/2006/relationships/slide" Target="/ppt/slides/slide17.xml" Id="R35c0cfd99bd941a3" /><Relationship Type="http://schemas.openxmlformats.org/officeDocument/2006/relationships/slide" Target="/ppt/slides/slide18.xml" Id="R192e9aff1268483a" /><Relationship Type="http://schemas.openxmlformats.org/officeDocument/2006/relationships/slide" Target="/ppt/slides/slide19.xml" Id="R927886f6c2e24a9f" /><Relationship Type="http://schemas.openxmlformats.org/officeDocument/2006/relationships/slide" Target="/ppt/slides/slide20.xml" Id="Ra7309fb57d9c4475" /><Relationship Type="http://schemas.openxmlformats.org/officeDocument/2006/relationships/slide" Target="/ppt/slides/slide21.xml" Id="Reba958b7e1774970" /><Relationship Type="http://schemas.openxmlformats.org/officeDocument/2006/relationships/slide" Target="/ppt/slides/slide22.xml" Id="R1856d168625940bc" /><Relationship Type="http://schemas.openxmlformats.org/officeDocument/2006/relationships/slide" Target="/ppt/slides/slide23.xml" Id="Rd23e01ead1914ab9" /><Relationship Type="http://schemas.openxmlformats.org/officeDocument/2006/relationships/slide" Target="/ppt/slides/slide24.xml" Id="Rde734a2782364840" /><Relationship Type="http://schemas.openxmlformats.org/officeDocument/2006/relationships/slide" Target="/ppt/slides/slide25.xml" Id="Reb948c6eb31b4a7a" /><Relationship Type="http://schemas.openxmlformats.org/officeDocument/2006/relationships/slide" Target="/ppt/slides/slide26.xml" Id="R4041272c654043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e9dea383a044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5ecfb6c038472c" /><Relationship Type="http://schemas.openxmlformats.org/officeDocument/2006/relationships/notesMaster" Target="/ppt/notesMasters/notesMaster1.xml" Id="R388d85bf859a4d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9ee0b7118545fb" /><Relationship Type="http://schemas.openxmlformats.org/officeDocument/2006/relationships/notesMaster" Target="/ppt/notesMasters/notesMaster1.xml" Id="R25a870b42ed549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d6b7e7749d4e13" /><Relationship Type="http://schemas.openxmlformats.org/officeDocument/2006/relationships/notesMaster" Target="/ppt/notesMasters/notesMaster1.xml" Id="Rc0bd564862794c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1dda755fdc4308" /><Relationship Type="http://schemas.openxmlformats.org/officeDocument/2006/relationships/notesMaster" Target="/ppt/notesMasters/notesMaster1.xml" Id="R55993ef8e4dd4c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25cd5a81294679" /><Relationship Type="http://schemas.openxmlformats.org/officeDocument/2006/relationships/notesMaster" Target="/ppt/notesMasters/notesMaster1.xml" Id="R10d14430def64a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9c7793f41b4352" /><Relationship Type="http://schemas.openxmlformats.org/officeDocument/2006/relationships/notesMaster" Target="/ppt/notesMasters/notesMaster1.xml" Id="R5893d65bf0ac40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913be2e3374e51" /><Relationship Type="http://schemas.openxmlformats.org/officeDocument/2006/relationships/notesMaster" Target="/ppt/notesMasters/notesMaster1.xml" Id="R55466e1d2bd545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e4d1e6f28b4b9c" /><Relationship Type="http://schemas.openxmlformats.org/officeDocument/2006/relationships/notesMaster" Target="/ppt/notesMasters/notesMaster1.xml" Id="Re81c0041fc3040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76d12affd246bd" /><Relationship Type="http://schemas.openxmlformats.org/officeDocument/2006/relationships/notesMaster" Target="/ppt/notesMasters/notesMaster1.xml" Id="R83237f3ff53b48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c0ce5ac65349aa" /><Relationship Type="http://schemas.openxmlformats.org/officeDocument/2006/relationships/notesMaster" Target="/ppt/notesMasters/notesMaster1.xml" Id="R4e3973708a944f0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1b5b71fe04472e" /><Relationship Type="http://schemas.openxmlformats.org/officeDocument/2006/relationships/notesMaster" Target="/ppt/notesMasters/notesMaster1.xml" Id="R760008bc55164a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9c50812b0e4f95" /><Relationship Type="http://schemas.openxmlformats.org/officeDocument/2006/relationships/notesMaster" Target="/ppt/notesMasters/notesMaster1.xml" Id="Rce74eb4b81c844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2bbaaeb87541fa" /><Relationship Type="http://schemas.openxmlformats.org/officeDocument/2006/relationships/notesMaster" Target="/ppt/notesMasters/notesMaster1.xml" Id="R1f5f72c9a63c44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40783b95af4fc4" /><Relationship Type="http://schemas.openxmlformats.org/officeDocument/2006/relationships/notesMaster" Target="/ppt/notesMasters/notesMaster1.xml" Id="Rf47e9928f4cb46c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c876e4b375f45ee" /><Relationship Type="http://schemas.openxmlformats.org/officeDocument/2006/relationships/notesMaster" Target="/ppt/notesMasters/notesMaster1.xml" Id="R41756a83ff7c4d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7082f744fd4b16" /><Relationship Type="http://schemas.openxmlformats.org/officeDocument/2006/relationships/notesMaster" Target="/ppt/notesMasters/notesMaster1.xml" Id="Rd127d133663c40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53bd7ade0364ecf" /><Relationship Type="http://schemas.openxmlformats.org/officeDocument/2006/relationships/notesMaster" Target="/ppt/notesMasters/notesMaster1.xml" Id="R56aaa9c838db48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6165a2ae534e43" /><Relationship Type="http://schemas.openxmlformats.org/officeDocument/2006/relationships/notesMaster" Target="/ppt/notesMasters/notesMaster1.xml" Id="R0f032c15e20340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31924efc3a406c" /><Relationship Type="http://schemas.openxmlformats.org/officeDocument/2006/relationships/notesMaster" Target="/ppt/notesMasters/notesMaster1.xml" Id="R57337a744e79462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8851a65d97b44ef" /><Relationship Type="http://schemas.openxmlformats.org/officeDocument/2006/relationships/notesMaster" Target="/ppt/notesMasters/notesMaster1.xml" Id="Ra830d542c72d47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06f1cf4d7fc4ff1" /><Relationship Type="http://schemas.openxmlformats.org/officeDocument/2006/relationships/notesMaster" Target="/ppt/notesMasters/notesMaster1.xml" Id="R33fe4abc49a54e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590c78f7c764d68" /><Relationship Type="http://schemas.openxmlformats.org/officeDocument/2006/relationships/notesMaster" Target="/ppt/notesMasters/notesMaster1.xml" Id="R950180f70e4049a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7511c49a91a4f93" /><Relationship Type="http://schemas.openxmlformats.org/officeDocument/2006/relationships/notesMaster" Target="/ppt/notesMasters/notesMaster1.xml" Id="R28c7c93e80924b1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f70191c41c04655" /><Relationship Type="http://schemas.openxmlformats.org/officeDocument/2006/relationships/notesMaster" Target="/ppt/notesMasters/notesMaster1.xml" Id="Rbc918ff0760d49c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02e791f0f984d09" /><Relationship Type="http://schemas.openxmlformats.org/officeDocument/2006/relationships/notesMaster" Target="/ppt/notesMasters/notesMaster1.xml" Id="R7cd8632fcaaa4e9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074bb26d36d4b96" /><Relationship Type="http://schemas.openxmlformats.org/officeDocument/2006/relationships/notesMaster" Target="/ppt/notesMasters/notesMaster1.xml" Id="R6e1553c40a6541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observer and the limitation. If a service exposes itemized model usage, secret-controlled calls or loop exits can alter that trace even when the secret never enters a prompt. This presentation studies a precise model of that property. The cyclic JSON checker is an experimental graph front end, distinct from the frozen OrchLang C++ compiler. Neither artifact is a source-to-provider proof.</a:t>
            </a:r>
          </a:p>
          <a:p xmlns:a="http://schemas.openxmlformats.org/drawingml/2006/main">
            <a:r>
              <a:t/>
            </a:r>
          </a:p>
          <a:p xmlns:a="http://schemas.openxmlformats.org/drawingml/2006/main">
            <a:r>
              <a:t>Sources: docs/CYCLIC_METHOD_REVIEW.md; docs/PAPER.md; audit/orchgraph.py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authored rejected graph `private_termination_count`. Hold the public query fixed to the empty string and take seed 1. With `route=false`, one call is followed by stop; with `route=true`, a second call occurs before the public guard stops. The first trace difference is event 1, call versus stop. This is one finite mock witness, not a provider billing result or a total-cost bound. The graph itself has a possible back-edge.</a:t>
            </a:r>
          </a:p>
          <a:p xmlns:a="http://schemas.openxmlformats.org/drawingml/2006/main">
            <a:r>
              <a:t/>
            </a:r>
          </a:p>
          <a:p xmlns:a="http://schemas.openxmlformats.org/drawingml/2006/main">
            <a:r>
              <a:t>Sources: examples/graphs/rejected/private_termination_count.json; bench/results/graphs.json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merge the two input models. The C++ compiler still accepts OrchLang source and analyzes its finite AST, including literal bounded retries. The experimental Python graph checker parses versioned `orchlang-request-graph` JSON with call, public-guard, secret-guard, goto, and stop states. It emits a product-closure certificate checked by a separate replayer. The graph is a user-supplied model; no framework-to-graph translation is proved.</a:t>
            </a:r>
          </a:p>
          <a:p xmlns:a="http://schemas.openxmlformats.org/drawingml/2006/main">
            <a:r>
              <a:t/>
            </a:r>
          </a:p>
          <a:p xmlns:a="http://schemas.openxmlformats.org/drawingml/2006/main">
            <a:r>
              <a:t>Sources: src/main.cpp; docs/LANGUAGE_SPEC.md; audit/orchgraph.py; audit/replay_graph_certificate.py; docs/CYCLIC_METHOD_REVIEW.md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theorem is pathwise and conditional. Its visible event is the resolved model contract plus input and output usage, in order. The relation starts by pairing each public input with itself; secrets need not agree. Matched calls use the same resolved contract, per-contract ordinal, and exact DSL request under shared Ω, which supplies equal abstract outcomes. The conclusion for productive cycles is equality of every finite usage-event prefix. It does not promise a terminating run or a finite total-token, price, or call-count bound.</a:t>
            </a:r>
          </a:p>
          <a:p xmlns:a="http://schemas.openxmlformats.org/drawingml/2006/main">
            <a:r>
              <a:t/>
            </a:r>
          </a:p>
          <a:p xmlns:a="http://schemas.openxmlformats.org/drawingml/2006/main">
            <a:r>
              <a:t>Sources: docs/CYCLIC_METHOD_REVIEW.md; audit/orchgraph.py; docs/FORMAL_CONTRACT.md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`(pcL, pcR, R)`. The two program counters range over graph states. R relates only left/right registers whose abstract values are justified equal. Initially, only same-identity public inputs are paired. A call can extend R after the full resolved contract, exact template, and ordered atoms match, because Ω aligns the returned abstract value and usage. Overwritten result registers lose their old pair before the new pair is added.</a:t>
            </a:r>
          </a:p>
          <a:p xmlns:a="http://schemas.openxmlformats.org/drawingml/2006/main">
            <a:r>
              <a:t/>
            </a:r>
          </a:p>
          <a:p xmlns:a="http://schemas.openxmlformats.org/drawingml/2006/main">
            <a:r>
              <a:t>Sources: docs/CYCLIC_METHOD_REVIEW.md; audit/orchgraph.py; audit/test_orchgraph.py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local rules. Silent goto steps align control. Secret guards universally explore every successor combination. Public guards must have the same normalized predicate on R-related values and take the same arm. Calls must match resolved contract, exact template bytes, and ordered literal/public/register arguments; then their result pair updates R. Stop aligns only with stop. Call-free cycles are invalid. Product-state cap exhaustion returns unknown or fails closed, never accepted.</a:t>
            </a:r>
          </a:p>
          <a:p xmlns:a="http://schemas.openxmlformats.org/drawingml/2006/main">
            <a:r>
              <a:t/>
            </a:r>
          </a:p>
          <a:p xmlns:a="http://schemas.openxmlformats.org/drawingml/2006/main">
            <a:r>
              <a:t>Sources: audit/orchgraph.py; audit/test_orchgraph.py; docs/CYCLIC_METHOD_REVIEW.md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accepted `unbounded_productive_cycle` graph. Each side calls once on the public query, again on its related prior result, then returns to `choose`. The finite product closure revisits a state with the same control and register relation, so the certificate can justify arbitrarily long finite prefixes. The finite reference probe is capped at 120 calls and includes truncated runs; it is an implementation check, not the coinductive argument. Acceptance gives no finite aggregate budget, price, termination, or run-length bound.</a:t>
            </a:r>
          </a:p>
          <a:p xmlns:a="http://schemas.openxmlformats.org/drawingml/2006/main">
            <a:r>
              <a:t/>
            </a:r>
          </a:p>
          <a:p xmlns:a="http://schemas.openxmlformats.org/drawingml/2006/main">
            <a:r>
              <a:t>Sources: examples/graphs/accepted/unbounded_productive_cycle.json; bench/results/graphs.json; docs/CYCLIC_METHOD_REVIEW.md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producer emits an accepted product-graph certificate. The Python replayer strict-parses and normalizes the source graph, binds the raw graph hash, reconstructs reachable graph states and cost summaries, checks the root public-input relation, and rebuilds each product node, local rule, relation update, successor identifier, and closure. Its attestation copies the producer hash but marks it unverified. It does not mechanize the metatheory, validate a framework-to-graph translation, or verify provider billing behavior. The independent graph-replay suite has 33 tamper and semantic tests.</a:t>
            </a:r>
          </a:p>
          <a:p xmlns:a="http://schemas.openxmlformats.org/drawingml/2006/main">
            <a:r>
              <a:t/>
            </a:r>
          </a:p>
          <a:p xmlns:a="http://schemas.openxmlformats.org/drawingml/2006/main">
            <a:r>
              <a:t>Sources: audit/replay_graph_certificate.py; audit/test_graph_replay.py; docs/CYCLIC_METHOD_REVIEW.md; audit/final/manifest.json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authored `overwritten_result_relation` graph. Both sides first call on `query`; the left writes result `a`, the right writes `x`. Both call on `query` again, but the left overwrites `a` while the right writes `y`. After this step, the justified relation is `a↔y`; it is not `a↔x`. The third requests using `a` and `x` therefore cannot be matched. One finite probe (seed 1, empty public query) first differs at event 2 and reports input usage 10 versus 15. This particular grid point is a concrete usage witness; do not extrapolate the witness to all rejected fixtures or to a provider invoice.</a:t>
            </a:r>
          </a:p>
          <a:p xmlns:a="http://schemas.openxmlformats.org/drawingml/2006/main">
            <a:r>
              <a:t/>
            </a:r>
          </a:p>
          <a:p xmlns:a="http://schemas.openxmlformats.org/drawingml/2006/main">
            <a:r>
              <a:t>Sources: examples/graphs/rejected/overwritten_result_relation.json; bench/results/graphs.json; audit/test_orchgraph.py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analyses. The C++ compiler's unary analyzer bounds admitted finite OrchLang programs under provider-cap and input-estimate assumptions. The graph checker compares paired usage-event prefixes under Ω. It does not prove a finite budget on unbounded call cycles. A same-cap counterexample shows why a one-run ceiling alone cannot establish a two-run trace property.</a:t>
            </a:r>
          </a:p>
          <a:p xmlns:a="http://schemas.openxmlformats.org/drawingml/2006/main">
            <a:r>
              <a:t/>
            </a:r>
          </a:p>
          <a:p xmlns:a="http://schemas.openxmlformats.org/drawingml/2006/main">
            <a:r>
              <a:t>Sources: src/cost_analyzer.cpp; src/relational.cpp; docs/CYCLIC_METHOD_REVIEW.md; docs/PAPER.md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C++ baseline example. Inputs x and y both have the same declared maximum; the secret chooses which public value is sent. The unary envelope matches, yet concrete request lengths can differ. This bounded AST example motivates a relational property; it is separate from the graph cycle checker and is not its source language.</a:t>
            </a:r>
          </a:p>
          <a:p xmlns:a="http://schemas.openxmlformats.org/drawingml/2006/main">
            <a:r>
              <a:t/>
            </a:r>
          </a:p>
          <a:p xmlns:a="http://schemas.openxmlformats.org/drawingml/2006/main">
            <a:r>
              <a:t>Sources: examples/research/rejected/equal_bounds_different_inputs.orch; docs/PAPER.md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distinguish implementation ownership. The C++ core is not being rewritten into a graph compiler. It lexes/parses OrchLang, resolves names and model contracts, runs information-flow, unary-cost, and relational analyses, and writes certificates/diagnostics. Its runtime is an offline mock. The cyclic JSON product checker is a separate research artifact in audit/.</a:t>
            </a:r>
          </a:p>
          <a:p xmlns:a="http://schemas.openxmlformats.org/drawingml/2006/main">
            <a:r>
              <a:t/>
            </a:r>
          </a:p>
          <a:p xmlns:a="http://schemas.openxmlformats.org/drawingml/2006/main">
            <a:r>
              <a:t>Sources: src/main.cpp; src/semantic_analyzer.cpp; src/cost_analyzer.cpp; src/relational.cpp; src/certificate.cpp; audit/orchgraph.py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 compiler accepted all 144 generated balanced programs and rejected all 120 controlled mutations. The independent Python reference performed 24,192 runs, 13,824 accepted secret-assignment comparisons, and 66,240 call-accounting checks. It observed zero accepted request- or usage-trace mismatches. Of the 120 rejected mutations, 117 had request-and-usage witnesses; three retry-bound mutations had no witness in the finite probe and remain unknown. The generated interpreter consumes the AST directly; this is not exhaustive language coverage, a proof, or provider testing.</a:t>
            </a:r>
          </a:p>
          <a:p xmlns:a="http://schemas.openxmlformats.org/drawingml/2006/main">
            <a:r>
              <a:t/>
            </a:r>
          </a:p>
          <a:p xmlns:a="http://schemas.openxmlformats.org/drawingml/2006/main">
            <a:r>
              <a:t>Sources: docs/RELATIONAL_STRESS.md; bench/results/relational_stress.json; audit/relational_stress.py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the graph study exactly: 17 authored graph fixtures; 6 accepted, 8 rejected, and 3 invalid. All six accepted certificates were independently replayed. The finite accepted reference probe ran 1,400 executions and 800 secret-assignment comparisons, with zero request, billing-vector, or complete-trace differences, plus 28,580 per-call accounting checks. All eight rejected fixtures have billing-vector witnesses in the finite grid. A witness covers the complete run when both sides stop; otherwise comparison is limited to the 120-call horizon. These are model fixtures, not external framework ports or a mechanized theorem.</a:t>
            </a:r>
          </a:p>
          <a:p xmlns:a="http://schemas.openxmlformats.org/drawingml/2006/main">
            <a:r>
              <a:t/>
            </a:r>
          </a:p>
          <a:p xmlns:a="http://schemas.openxmlformats.org/drawingml/2006/main">
            <a:r>
              <a:t>Sources: bench/results/graphs.json; examples/graphs/manifest.json; audit/evaluate_graphs.py; audit/replay_graph_certificate.py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Place the contribution near related work. Self-composition and product programs are established methods. Resource-aware noninterference and RelCost address resource observations and paired costs. Kevin Dickerson's author-reported, unrefereed May 2026 work uses a restricted Petri-net method for unary cumulative resource/token-cost bounds on LLM-agent workflows. Agentproof and AgentFlow are adjacent preprints with static workflow checks. The distinct property here is matching ordered model-call request/event traces across secret alternatives under Ω, with a register relation and a replayable product closure. Do not call this a new general theory or claim those papers lack static graph analysis.</a:t>
            </a:r>
          </a:p>
          <a:p xmlns:a="http://schemas.openxmlformats.org/drawingml/2006/main">
            <a:r>
              <a:t/>
            </a:r>
          </a:p>
          <a:p xmlns:a="http://schemas.openxmlformats.org/drawingml/2006/main">
            <a:r>
              <a:t>Sources: docs/CYCLIC_METHOD_REVIEW.md; docs/PRIOR_ART_MATRIX.md; graph_candidate_sources.md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seeded generator produced 3,000 small graphs. Among the 1,462 accepted, the probe compared 11,696 ordered equal-public stores, including 5,848 pairs with distinct secret stores, over prefixes capped at 20 calls; it found zero differences in requests, input/output usage, response bytes, or stop/truncation status. Crucially, generator and reference use the producer's own module. This is supplementary adversarial property coverage, not an independent interpreter or proof. Keep it separate from the fixture study and the C++ full-text stress report.</a:t>
            </a:r>
          </a:p>
          <a:p xmlns:a="http://schemas.openxmlformats.org/drawingml/2006/main">
            <a:r>
              <a:t/>
            </a:r>
          </a:p>
          <a:p xmlns:a="http://schemas.openxmlformats.org/drawingml/2006/main">
            <a:r>
              <a:t>Sources: audit/graph_adversarial.py; bench/results/graph_adversarial.json; docs/CYCLIC_METHOD_REVIEW.md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boundaries plainly. The graph specifies a finite versioned control model and exact DSL-level request descriptors. The graph checker proves no fidelity from an OrchLang program, framework, or running agent into that model. Shared Ω and complete-request input accounting are premises. Call-free cycles fail closed; productive call cycles establish prefix equality only. Provider serialization, prices, real tokenizer behavior, timing, tools, termination, and finite total cost are outside the claim. Certificate replay confirms closure under the modeled rules, not correctness of the model or metatheory.</a:t>
            </a:r>
          </a:p>
          <a:p xmlns:a="http://schemas.openxmlformats.org/drawingml/2006/main">
            <a:r>
              <a:t/>
            </a:r>
          </a:p>
          <a:p xmlns:a="http://schemas.openxmlformats.org/drawingml/2006/main">
            <a:r>
              <a:t>Sources: docs/CYCLIC_METHOD_REVIEW.md; docs/FORMAL_CONTRACT.md; audit/replay_graph_certificate.py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three sentences. A finite product graph can represent cyclic control that the current bounded OrchLang AST cannot express. Under equal public inputs, the shared Ω contract, and a faithful graph model, matched call events support equality of every finite usage-trace prefix, with a separate replayer checking the reported closure. This does not prove termination, a finite cumulative budget, or fidelity to a deployed workflow. A publication assessment should follow the independent literature and venue review, not a target score.</a:t>
            </a:r>
          </a:p>
          <a:p xmlns:a="http://schemas.openxmlformats.org/drawingml/2006/main">
            <a:r>
              <a:t/>
            </a:r>
          </a:p>
          <a:p xmlns:a="http://schemas.openxmlformats.org/drawingml/2006/main">
            <a:r>
              <a:t>Sources: docs/CYCLIC_METHOD_REVIEW.md; docs/PUBLICATION_READINESS.md; graph_candidate_sources.md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JSON version-1 schema is a finite-control graph. It has typed public and secret inputs, resolved model contracts, result registers, call lists, and one next action per state: goto, public guard, secret guard, or stop. Calls preserve exact decoded template bytes and ordered argument atoms. The graph language has no arbitrary expression evaluation, concurrency, dynamic graph discovery, or implicit runtime retries unless separately represented.</a:t>
            </a:r>
          </a:p>
          <a:p xmlns:a="http://schemas.openxmlformats.org/drawingml/2006/main">
            <a:r>
              <a:t/>
            </a:r>
          </a:p>
          <a:p xmlns:a="http://schemas.openxmlformats.org/drawingml/2006/main">
            <a:r>
              <a:t>Sources: audit/orchgraph.py; docs/CYCLIC_METHOD_REVIEW.md; examples/graphs/accepted/matched_cyclic_chain.json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search explores all secret choices, not sampled paths. Public predicates synchronize only when normalized operators/limits and related operands agree. Calls match by complete resolved contract, exact decoded template, and ordered atoms. The call's output relation is justified by Ω; overwritten result pairs are removed before replacement. A state-cap limit is an engineering guard and must fail closed. A productive product cycle proves arbitrary finite prefixes only; no total-cost invariant is produced.</a:t>
            </a:r>
          </a:p>
          <a:p xmlns:a="http://schemas.openxmlformats.org/drawingml/2006/main">
            <a:r>
              <a:t/>
            </a:r>
          </a:p>
          <a:p xmlns:a="http://schemas.openxmlformats.org/drawingml/2006/main">
            <a:r>
              <a:t>Sources: audit/orchgraph.py; audit/test_orchgraph.py; docs/CYCLIC_METHOD_REVIEW.md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verifier is implemented separately from the producer. It reparses and normalizes the graph, then checks the certificate contains the complete reachable closure: no omitted successor and no unreachable extra node. It binds source and certificate hashes in a JSON attestation. The independent graph-replay suite has 33 tamper and semantic tests. The producer's hash is carried but explicitly not verified. This is certificate checking for the current graph rules, not a proof assistant result.</a:t>
            </a:r>
          </a:p>
          <a:p xmlns:a="http://schemas.openxmlformats.org/drawingml/2006/main">
            <a:r>
              <a:t/>
            </a:r>
          </a:p>
          <a:p xmlns:a="http://schemas.openxmlformats.org/drawingml/2006/main">
            <a:r>
              <a:t>Sources: audit/replay_graph_certificate.py; audit/test_graph_replay.py; audit/reproduce_final.py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Python interpreter runs generated AST cases and substitutes complete concrete argument text into decoded templates. Input usage counts UTF-8 bytes with `--chars-per-token 1`; Ω uses the resolved contract, per-contract ordinal, and full rendered request to choose a capped ASCII response. It is independent of the C++ runtime and analysis facts but shares the generated AST. Three retry mutations lack a witness in the finite grid and remain unknown.</a:t>
            </a:r>
          </a:p>
          <a:p xmlns:a="http://schemas.openxmlformats.org/drawingml/2006/main">
            <a:r>
              <a:t/>
            </a:r>
          </a:p>
          <a:p xmlns:a="http://schemas.openxmlformats.org/drawingml/2006/main">
            <a:r>
              <a:t>Sources: docs/RELATIONAL_STRESS.md; audit/relational_stress.py; bench/results/relational_stress.json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3,000 generated graph probe checks 11,696 paired stores in a small Boolean/literal domain. It caps executions at 20 calls and shares the producer's `reference_run`. It supplements authored cases; it cannot independently validate graph semantics.</a:t>
            </a:r>
          </a:p>
          <a:p xmlns:a="http://schemas.openxmlformats.org/drawingml/2006/main">
            <a:r>
              <a:t/>
            </a:r>
          </a:p>
          <a:p xmlns:a="http://schemas.openxmlformats.org/drawingml/2006/main">
            <a:r>
              <a:t>Sources: audit/graph_adversarial.py; bench/results/graph_adversarial.json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the original bounded DSL results as separate baseline evidence. These are source-derived partial projections, not full framework ports, and the ordinal/request-sensitive reports repeat the same cases. Do not add their counts to the graph study or the independent generated C++ stress study.</a:t>
            </a:r>
          </a:p>
          <a:p xmlns:a="http://schemas.openxmlformats.org/drawingml/2006/main">
            <a:r>
              <a:t/>
            </a:r>
          </a:p>
          <a:p xmlns:a="http://schemas.openxmlformats.org/drawingml/2006/main">
            <a:r>
              <a:t>Sources: bench/results/sourced.json; bench/results/sourced_request_sensitive.json; bench/sourced/manifest.json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from the graph contract, and separate checker facts from the relational theorem. The graph certificate validates structural closure, while the theorem depends on complete request accounting and the shared oracle. Explain that unsupported programs, state-cap exhaustion, malformed input, and call-free cycles fail closed or return unknown.</a:t>
            </a:r>
          </a:p>
          <a:p xmlns:a="http://schemas.openxmlformats.org/drawingml/2006/main">
            <a:r>
              <a:t/>
            </a:r>
          </a:p>
          <a:p xmlns:a="http://schemas.openxmlformats.org/drawingml/2006/main">
            <a:r>
              <a:t>Sources: docs/CYCLIC_METHOD_REVIEW.md; docs/PRIOR_ART_MATRIX.md; audit/replay_graph_certificate.py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Petri-net cost paper is author-reported and has no peer-reviewed venue located; label it as such. Agentproof and AgentFlow are preprints as of the review date. Bibliographic links and the remaining related work are in graph_candidate_sources.md. Keep a numerical score off this candidate until the research assessment is frozen.</a:t>
            </a:r>
          </a:p>
          <a:p xmlns:a="http://schemas.openxmlformats.org/drawingml/2006/main">
            <a:r>
              <a:t/>
            </a:r>
          </a:p>
          <a:p xmlns:a="http://schemas.openxmlformats.org/drawingml/2006/main">
            <a:r>
              <a:t>Sources: graph_candidate_sources.md; docs/CYCLIC_METHOD_REVIEW.md; docs/PRIOR_ART_MATRIX.md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001b282ec54e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130974396e41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efaa98d83034c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8e211150d34a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591f80a64a54a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b96191e6d042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DC0028-B766-4D74-B0D3-4AF600179B3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FAE0AB5-AC3C-445F-B8EC-426427F6362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9BB8AAB-B6DD-433E-BAB7-FEB1467C088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CE8D60-C017-4622-894B-414517DC1B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BD0254-7E76-45DE-BDB6-82953728FF0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CAB1A7-EBD2-45A0-A57C-DBFCBD0B03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643AAC-5363-431A-8A01-AC07353CB0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677B81-72F0-489E-95DD-E4DE747EED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DE247E-E4E6-4BCB-A2F2-058D396A81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237FA3-349F-4ED3-B5A2-36B7E9637B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8f6f3caabb4da6" /><Relationship Type="http://schemas.openxmlformats.org/officeDocument/2006/relationships/slideLayout" Target="/ppt/slideLayouts/slideLayout1.xml" Id="R536fe0c487c84d4a" /><Relationship Type="http://schemas.openxmlformats.org/officeDocument/2006/relationships/slideLayout" Target="/ppt/slideLayouts/slideLayout2.xml" Id="R59b0a5eaa5d447dc" /><Relationship Type="http://schemas.openxmlformats.org/officeDocument/2006/relationships/slideLayout" Target="/ppt/slideLayouts/slideLayout3.xml" Id="R8aabffd7f883417a" /><Relationship Type="http://schemas.openxmlformats.org/officeDocument/2006/relationships/slideLayout" Target="/ppt/slideLayouts/slideLayout4.xml" Id="Rd896146654f24f79" /><Relationship Type="http://schemas.openxmlformats.org/officeDocument/2006/relationships/slideLayout" Target="/ppt/slideLayouts/slideLayout5.xml" Id="R433a89d3a43a4328" /><Relationship Type="http://schemas.openxmlformats.org/officeDocument/2006/relationships/slideLayout" Target="/ppt/slideLayouts/slideLayout6.xml" Id="R17022d0e1c6a42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6fe0c487c84d4a"/>
    <p:sldLayoutId xmlns:r="http://schemas.openxmlformats.org/officeDocument/2006/relationships" id="2147483650" r:id="R59b0a5eaa5d447dc"/>
    <p:sldLayoutId xmlns:r="http://schemas.openxmlformats.org/officeDocument/2006/relationships" id="2147483651" r:id="R8aabffd7f883417a"/>
    <p:sldLayoutId xmlns:r="http://schemas.openxmlformats.org/officeDocument/2006/relationships" id="2147483652" r:id="Rd896146654f24f79"/>
    <p:sldLayoutId xmlns:r="http://schemas.openxmlformats.org/officeDocument/2006/relationships" id="2147483653" r:id="R433a89d3a43a4328"/>
    <p:sldLayoutId xmlns:r="http://schemas.openxmlformats.org/officeDocument/2006/relationships" id="2147483654" r:id="R17022d0e1c6a42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5e76194e38419d" /><Relationship Type="http://schemas.openxmlformats.org/officeDocument/2006/relationships/notesSlide" Target="/ppt/notesSlides/notesSlide1.xml" Id="R1999bb77323d4f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7694631d9e4ee8" /><Relationship Type="http://schemas.openxmlformats.org/officeDocument/2006/relationships/notesSlide" Target="/ppt/notesSlides/notesSlide2.xml" Id="R86b39d830b9646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74a77963fb44d2" /><Relationship Type="http://schemas.openxmlformats.org/officeDocument/2006/relationships/notesSlide" Target="/ppt/notesSlides/notesSlide3.xml" Id="Rf858b7749bf04c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e1339061304dee" /><Relationship Type="http://schemas.openxmlformats.org/officeDocument/2006/relationships/notesSlide" Target="/ppt/notesSlides/notesSlide4.xml" Id="R93b7458901bb4a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5d273740f084d8e" /><Relationship Type="http://schemas.openxmlformats.org/officeDocument/2006/relationships/notesSlide" Target="/ppt/notesSlides/notesSlide5.xml" Id="Re8ee7b71e4d04b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4395db0c5b43a8" /><Relationship Type="http://schemas.openxmlformats.org/officeDocument/2006/relationships/notesSlide" Target="/ppt/notesSlides/notesSlide6.xml" Id="R0097797103cd44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5a5b5eb7cb481e" /><Relationship Type="http://schemas.openxmlformats.org/officeDocument/2006/relationships/notesSlide" Target="/ppt/notesSlides/notesSlide7.xml" Id="R1b95c944b54f4f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6d3f4374ed4a44" /><Relationship Type="http://schemas.openxmlformats.org/officeDocument/2006/relationships/notesSlide" Target="/ppt/notesSlides/notesSlide8.xml" Id="R60042f4fcd7641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7fee3fa80b74391" /><Relationship Type="http://schemas.openxmlformats.org/officeDocument/2006/relationships/notesSlide" Target="/ppt/notesSlides/notesSlide9.xml" Id="R36e1f7caf16d4d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2ac5f22ffbd4489" /><Relationship Type="http://schemas.openxmlformats.org/officeDocument/2006/relationships/notesSlide" Target="/ppt/notesSlides/notesSlide10.xml" Id="R94c0718f5bc744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6e90197549c4234" /><Relationship Type="http://schemas.openxmlformats.org/officeDocument/2006/relationships/notesSlide" Target="/ppt/notesSlides/notesSlide11.xml" Id="R4dec39f71bfd42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3cbf108f9f94e59" /><Relationship Type="http://schemas.openxmlformats.org/officeDocument/2006/relationships/notesSlide" Target="/ppt/notesSlides/notesSlide12.xml" Id="R23c57b5eb7c64b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a612fed73e463f" /><Relationship Type="http://schemas.openxmlformats.org/officeDocument/2006/relationships/notesSlide" Target="/ppt/notesSlides/notesSlide13.xml" Id="Re6142454d1884f0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31a562709894897" /><Relationship Type="http://schemas.openxmlformats.org/officeDocument/2006/relationships/notesSlide" Target="/ppt/notesSlides/notesSlide14.xml" Id="Rf904756b4c3243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da53efb0e5040cc" /><Relationship Type="http://schemas.openxmlformats.org/officeDocument/2006/relationships/notesSlide" Target="/ppt/notesSlides/notesSlide15.xml" Id="R636ac762bd894d6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374742189184547" /><Relationship Type="http://schemas.openxmlformats.org/officeDocument/2006/relationships/notesSlide" Target="/ppt/notesSlides/notesSlide16.xml" Id="Rd6f2d1ccb8934f9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a422a2f086d4469" /><Relationship Type="http://schemas.openxmlformats.org/officeDocument/2006/relationships/notesSlide" Target="/ppt/notesSlides/notesSlide17.xml" Id="R20dc88afb3994b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c9d351b209b42a0" /><Relationship Type="http://schemas.openxmlformats.org/officeDocument/2006/relationships/notesSlide" Target="/ppt/notesSlides/notesSlide18.xml" Id="Ree4b4dba8e364b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6e05521fada42f7" /><Relationship Type="http://schemas.openxmlformats.org/officeDocument/2006/relationships/notesSlide" Target="/ppt/notesSlides/notesSlide19.xml" Id="Rc1909ee5b5b6469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7e8a212653f4098" /><Relationship Type="http://schemas.openxmlformats.org/officeDocument/2006/relationships/notesSlide" Target="/ppt/notesSlides/notesSlide20.xml" Id="R11b3251d4f9543f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abfe3167f874e78" /><Relationship Type="http://schemas.openxmlformats.org/officeDocument/2006/relationships/notesSlide" Target="/ppt/notesSlides/notesSlide21.xml" Id="R3fa51d3834ff432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6719848841b4126" /><Relationship Type="http://schemas.openxmlformats.org/officeDocument/2006/relationships/notesSlide" Target="/ppt/notesSlides/notesSlide22.xml" Id="R84e7967f6a24421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cee329e606e4b25" /><Relationship Type="http://schemas.openxmlformats.org/officeDocument/2006/relationships/notesSlide" Target="/ppt/notesSlides/notesSlide23.xml" Id="Rd04b926671e7473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01bb51bfac04a5c" /><Relationship Type="http://schemas.openxmlformats.org/officeDocument/2006/relationships/notesSlide" Target="/ppt/notesSlides/notesSlide24.xml" Id="R01dc540af73e42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9ea9ed32e4b4372" /><Relationship Type="http://schemas.openxmlformats.org/officeDocument/2006/relationships/notesSlide" Target="/ppt/notesSlides/notesSlide25.xml" Id="R636a403e7840436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949883fc73e4834" /><Relationship Type="http://schemas.openxmlformats.org/officeDocument/2006/relationships/notesSlide" Target="/ppt/notesSlides/notesSlide26.xml" Id="R9e60bd2b823d4fbe" /></Relationships>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7" name="cover-coral-rail">
            <a:extLst xmlns:a="http://schemas.openxmlformats.org/drawingml/2006/main">
              <a:ext uri="{FF2B5EF4-FFF2-40B4-BE49-F238E27FC236}">
                <a16:creationId xmlns:a16="http://schemas.microsoft.com/office/drawing/2014/main" id="{32D948DE-FE8A-4B64-9550-A81A8750690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12722E6E-480F-4FAB-BC93-2E63AC63915A}"/>
              </a:ext>
            </a:extLst>
          </p:cNvPr>
          <p:cNvSpPr>
            <a:spLocks xmlns:a="http://schemas.openxmlformats.org/drawingml/2006/main" noGrp="1"/>
          </p:cNvSpPr>
          <p:nvPr/>
        </p:nvSpPr>
        <p:spPr>
          <a:xfrm xmlns:a="http://schemas.openxmlformats.org/drawingml/2006/main">
            <a:off x="723900" y="6096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646B7A"/>
                </a:solidFill>
                <a:latin typeface="Avenir Next"/>
                <a:ea typeface="Avenir Next"/>
                <a:cs typeface="Avenir Next"/>
              </a:defRPr>
            </a:defPPr>
          </a:lstStyle>
          <a:p xmlns:a="http://schemas.openxmlformats.org/drawingml/2006/main">
            <a:pPr algn="l">
              <a:defRPr sz="1125" b="1" i="0">
                <a:solidFill>
                  <a:srgbClr val="646B7A"/>
                </a:solidFill>
                <a:latin typeface="Avenir Next"/>
                <a:ea typeface="Avenir Next"/>
                <a:cs typeface="Avenir Next"/>
              </a:defRPr>
            </a:pPr>
            <a:r>
              <a:rPr sz="1125" b="1" i="0">
                <a:solidFill>
                  <a:srgbClr val="646B7A"/>
                </a:solidFill>
                <a:latin typeface="Avenir Next"/>
                <a:ea typeface="Avenir Next"/>
                <a:cs typeface="Avenir Next"/>
              </a:rPr>
              <a:t>ORCHLANG  /  COMPILER DESIGN REVIEW</a:t>
            </a:r>
          </a:p>
        </p:txBody>
      </p:sp>
      <p:sp>
        <p:nvSpPr>
          <p:cNvPr id="3" name="cover-title">
            <a:extLst xmlns:a="http://schemas.openxmlformats.org/drawingml/2006/main">
              <a:ext uri="{FF2B5EF4-FFF2-40B4-BE49-F238E27FC236}">
                <a16:creationId xmlns:a16="http://schemas.microsoft.com/office/drawing/2014/main" id="{9C386BEC-27C3-4F3F-922B-BC08509C6419}"/>
              </a:ext>
            </a:extLst>
          </p:cNvPr>
          <p:cNvSpPr>
            <a:spLocks xmlns:a="http://schemas.openxmlformats.org/drawingml/2006/main" noGrp="1"/>
          </p:cNvSpPr>
          <p:nvPr/>
        </p:nvSpPr>
        <p:spPr>
          <a:xfrm xmlns:a="http://schemas.openxmlformats.org/drawingml/2006/main">
            <a:off x="704850" y="133350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00" b="1" i="0">
                <a:solidFill>
                  <a:srgbClr val="141B2B"/>
                </a:solidFill>
                <a:latin typeface="Avenir Next"/>
                <a:ea typeface="Avenir Next"/>
                <a:cs typeface="Avenir Next"/>
              </a:defRPr>
            </a:defPPr>
          </a:lstStyle>
          <a:p xmlns:a="http://schemas.openxmlformats.org/drawingml/2006/main">
            <a:pPr algn="l">
              <a:defRPr sz="5100" b="1" i="0">
                <a:solidFill>
                  <a:srgbClr val="141B2B"/>
                </a:solidFill>
                <a:latin typeface="Avenir Next"/>
                <a:ea typeface="Avenir Next"/>
                <a:cs typeface="Avenir Next"/>
              </a:defRPr>
            </a:pPr>
            <a:r>
              <a:rPr sz="5100" b="1" i="0">
                <a:solidFill>
                  <a:srgbClr val="141B2B"/>
                </a:solidFill>
                <a:latin typeface="Avenir Next"/>
                <a:ea typeface="Avenir Next"/>
                <a:cs typeface="Avenir Next"/>
              </a:rPr>
              <a:t>OrchLang</a:t>
            </a:r>
          </a:p>
        </p:txBody>
      </p:sp>
      <p:sp>
        <p:nvSpPr>
          <p:cNvPr id="4" name="cover-subtitle">
            <a:extLst xmlns:a="http://schemas.openxmlformats.org/drawingml/2006/main">
              <a:ext uri="{FF2B5EF4-FFF2-40B4-BE49-F238E27FC236}">
                <a16:creationId xmlns:a16="http://schemas.microsoft.com/office/drawing/2014/main" id="{DD767BEF-293F-4B5A-A466-B7CB423A6841}"/>
              </a:ext>
            </a:extLst>
          </p:cNvPr>
          <p:cNvSpPr>
            <a:spLocks xmlns:a="http://schemas.openxmlformats.org/drawingml/2006/main" noGrp="1"/>
          </p:cNvSpPr>
          <p:nvPr/>
        </p:nvSpPr>
        <p:spPr>
          <a:xfrm xmlns:a="http://schemas.openxmlformats.org/drawingml/2006/main">
            <a:off x="742950" y="3600450"/>
            <a:ext cx="590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i="0">
                <a:solidFill>
                  <a:srgbClr val="646B7A"/>
                </a:solidFill>
                <a:latin typeface="Avenir Next"/>
                <a:ea typeface="Avenir Next"/>
                <a:cs typeface="Avenir Next"/>
              </a:defRPr>
            </a:defPPr>
          </a:lstStyle>
          <a:p xmlns:a="http://schemas.openxmlformats.org/drawingml/2006/main">
            <a:pPr algn="l">
              <a:defRPr sz="1950" b="0" i="0">
                <a:solidFill>
                  <a:srgbClr val="646B7A"/>
                </a:solidFill>
                <a:latin typeface="Avenir Next"/>
                <a:ea typeface="Avenir Next"/>
                <a:cs typeface="Avenir Next"/>
              </a:defRPr>
            </a:pPr>
            <a:r>
              <a:rPr sz="1950" b="0" i="0">
                <a:solidFill>
                  <a:srgbClr val="646B7A"/>
                </a:solidFill>
                <a:latin typeface="Avenir Next"/>
                <a:ea typeface="Avenir Next"/>
                <a:cs typeface="Avenir Next"/>
              </a:rPr>
              <a:t>Replayable Contracts for Token Usage and Request-Equivalent LLM Workflows</a:t>
            </a:r>
          </a:p>
        </p:txBody>
      </p:sp>
      <p:sp>
        <p:nvSpPr>
          <p:cNvPr id="5" name="cover-byline">
            <a:extLst xmlns:a="http://schemas.openxmlformats.org/drawingml/2006/main">
              <a:ext uri="{FF2B5EF4-FFF2-40B4-BE49-F238E27FC236}">
                <a16:creationId xmlns:a16="http://schemas.microsoft.com/office/drawing/2014/main" id="{29E04239-4572-473D-B649-444FE1295BA6}"/>
              </a:ext>
            </a:extLst>
          </p:cNvPr>
          <p:cNvSpPr>
            <a:spLocks xmlns:a="http://schemas.openxmlformats.org/drawingml/2006/main" noGrp="1"/>
          </p:cNvSpPr>
          <p:nvPr/>
        </p:nvSpPr>
        <p:spPr>
          <a:xfrm xmlns:a="http://schemas.openxmlformats.org/drawingml/2006/main">
            <a:off x="742950" y="55054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141B2B"/>
                </a:solidFill>
                <a:latin typeface="Avenir Next"/>
                <a:ea typeface="Avenir Next"/>
                <a:cs typeface="Avenir Next"/>
              </a:defRPr>
            </a:defPPr>
          </a:lstStyle>
          <a:p xmlns:a="http://schemas.openxmlformats.org/drawingml/2006/main">
            <a:pPr algn="l">
              <a:defRPr sz="1200" b="1" i="0">
                <a:solidFill>
                  <a:srgbClr val="141B2B"/>
                </a:solidFill>
                <a:latin typeface="Avenir Next"/>
                <a:ea typeface="Avenir Next"/>
                <a:cs typeface="Avenir Next"/>
              </a:defRPr>
            </a:pPr>
            <a:r>
              <a:rPr sz="1200" b="1" i="0">
                <a:solidFill>
                  <a:srgbClr val="141B2B"/>
                </a:solidFill>
                <a:latin typeface="Avenir Next"/>
                <a:ea typeface="Avenir Next"/>
                <a:cs typeface="Avenir Next"/>
              </a:rPr>
              <a:t>Nambi Rajan M · 24BAI0072 · Vellore Institute of Technology</a:t>
            </a:r>
          </a:p>
        </p:txBody>
      </p:sp>
      <p:sp>
        <p:nvSpPr>
          <p:cNvPr id="6" name="cover-evidence-panel">
            <a:extLst xmlns:a="http://schemas.openxmlformats.org/drawingml/2006/main">
              <a:ext uri="{FF2B5EF4-FFF2-40B4-BE49-F238E27FC236}">
                <a16:creationId xmlns:a16="http://schemas.microsoft.com/office/drawing/2014/main" id="{E17296EC-5F72-438E-9D25-B4ECE483F5BB}"/>
              </a:ext>
            </a:extLst>
          </p:cNvPr>
          <p:cNvSpPr>
            <a:spLocks xmlns:a="http://schemas.openxmlformats.org/drawingml/2006/main" noGrp="1"/>
          </p:cNvSpPr>
          <p:nvPr/>
        </p:nvSpPr>
        <p:spPr>
          <a:xfrm xmlns:a="http://schemas.openxmlformats.org/drawingml/2006/main">
            <a:off x="7696200" y="666750"/>
            <a:ext cx="3848100" cy="5476875"/>
          </a:xfrm>
          <a:prstGeom xmlns:a="http://schemas.openxmlformats.org/drawingml/2006/main" prst="roundRect">
            <a:avLst>
              <a:gd name="adj" fmla="val 2970"/>
            </a:avLst>
          </a:prstGeom>
          <a:solidFill xmlns:a="http://schemas.openxmlformats.org/drawingml/2006/main">
            <a:srgbClr val="131A29"/>
          </a:solidFill>
          <a:ln xmlns:a="http://schemas.openxmlformats.org/drawingml/2006/main" w="0">
            <a:noFill/>
            <a:prstDash val="solid"/>
          </a:ln>
        </p:spPr>
      </p:sp>
      <p:sp>
        <p:nvSpPr>
          <p:cNvPr id="7" name="cover-relation-pill">
            <a:extLst xmlns:a="http://schemas.openxmlformats.org/drawingml/2006/main">
              <a:ext uri="{FF2B5EF4-FFF2-40B4-BE49-F238E27FC236}">
                <a16:creationId xmlns:a16="http://schemas.microsoft.com/office/drawing/2014/main" id="{5029B3EA-BD02-4E90-8303-5A3D5E423554}"/>
              </a:ext>
            </a:extLst>
          </p:cNvPr>
          <p:cNvSpPr>
            <a:spLocks xmlns:a="http://schemas.openxmlformats.org/drawingml/2006/main" noGrp="1"/>
          </p:cNvSpPr>
          <p:nvPr/>
        </p:nvSpPr>
        <p:spPr>
          <a:xfrm xmlns:a="http://schemas.openxmlformats.org/drawingml/2006/main">
            <a:off x="8058150" y="952500"/>
            <a:ext cx="1809750" cy="266700"/>
          </a:xfrm>
          <a:prstGeom xmlns:a="http://schemas.openxmlformats.org/drawingml/2006/main" prst="roundRect">
            <a:avLst>
              <a:gd name="adj" fmla="val 35714"/>
            </a:avLst>
          </a:prstGeom>
          <a:solidFill xmlns:a="http://schemas.openxmlformats.org/drawingml/2006/main">
            <a:srgbClr val="343D50"/>
          </a:solidFill>
          <a:ln xmlns:a="http://schemas.openxmlformats.org/drawingml/2006/main" w="0">
            <a:noFill/>
            <a:prstDash val="solid"/>
          </a:ln>
        </p:spPr>
      </p:sp>
      <p:sp>
        <p:nvSpPr>
          <p:cNvPr id="8" name="cover-relation-text">
            <a:extLst xmlns:a="http://schemas.openxmlformats.org/drawingml/2006/main">
              <a:ext uri="{FF2B5EF4-FFF2-40B4-BE49-F238E27FC236}">
                <a16:creationId xmlns:a16="http://schemas.microsoft.com/office/drawing/2014/main" id="{1BFADF83-D81B-46BB-9431-E0D5CCFC1A7D}"/>
              </a:ext>
            </a:extLst>
          </p:cNvPr>
          <p:cNvSpPr>
            <a:spLocks xmlns:a="http://schemas.openxmlformats.org/drawingml/2006/main" noGrp="1"/>
          </p:cNvSpPr>
          <p:nvPr/>
        </p:nvSpPr>
        <p:spPr>
          <a:xfrm xmlns:a="http://schemas.openxmlformats.org/drawingml/2006/main">
            <a:off x="8153400" y="10001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B8C1D1"/>
                </a:solidFill>
                <a:latin typeface="Avenir Next"/>
                <a:ea typeface="Avenir Next"/>
                <a:cs typeface="Avenir Next"/>
              </a:defRPr>
            </a:defPPr>
          </a:lstStyle>
          <a:p xmlns:a="http://schemas.openxmlformats.org/drawingml/2006/main">
            <a:pPr algn="ctr">
              <a:defRPr sz="975" b="1" i="0">
                <a:solidFill>
                  <a:srgbClr val="B8C1D1"/>
                </a:solidFill>
                <a:latin typeface="Avenir Next"/>
                <a:ea typeface="Avenir Next"/>
                <a:cs typeface="Avenir Next"/>
              </a:defRPr>
            </a:pPr>
            <a:r>
              <a:rPr sz="975" b="1" i="0">
                <a:solidFill>
                  <a:srgbClr val="B8C1D1"/>
                </a:solidFill>
                <a:latin typeface="Avenir Next"/>
                <a:ea typeface="Avenir Next"/>
                <a:cs typeface="Avenir Next"/>
              </a:rPr>
              <a:t>MODELED COMPARISON</a:t>
            </a:r>
          </a:p>
        </p:txBody>
      </p:sp>
      <p:sp>
        <p:nvSpPr>
          <p:cNvPr id="9" name="cover-cond-0-head">
            <a:extLst xmlns:a="http://schemas.openxmlformats.org/drawingml/2006/main">
              <a:ext uri="{FF2B5EF4-FFF2-40B4-BE49-F238E27FC236}">
                <a16:creationId xmlns:a16="http://schemas.microsoft.com/office/drawing/2014/main" id="{3BE63C9A-CEE0-4D95-AB63-014B87DD7402}"/>
              </a:ext>
            </a:extLst>
          </p:cNvPr>
          <p:cNvSpPr>
            <a:spLocks xmlns:a="http://schemas.openxmlformats.org/drawingml/2006/main" noGrp="1"/>
          </p:cNvSpPr>
          <p:nvPr/>
        </p:nvSpPr>
        <p:spPr>
          <a:xfrm xmlns:a="http://schemas.openxmlformats.org/drawingml/2006/main">
            <a:off x="8058150" y="14573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OBSERVER</a:t>
            </a:r>
          </a:p>
        </p:txBody>
      </p:sp>
      <p:sp>
        <p:nvSpPr>
          <p:cNvPr id="10" name="cover-cond-0-value">
            <a:extLst xmlns:a="http://schemas.openxmlformats.org/drawingml/2006/main">
              <a:ext uri="{FF2B5EF4-FFF2-40B4-BE49-F238E27FC236}">
                <a16:creationId xmlns:a16="http://schemas.microsoft.com/office/drawing/2014/main" id="{D3CF4728-7E66-47A0-AA9B-6285AAD025B5}"/>
              </a:ext>
            </a:extLst>
          </p:cNvPr>
          <p:cNvSpPr>
            <a:spLocks xmlns:a="http://schemas.openxmlformats.org/drawingml/2006/main" noGrp="1"/>
          </p:cNvSpPr>
          <p:nvPr/>
        </p:nvSpPr>
        <p:spPr>
          <a:xfrm xmlns:a="http://schemas.openxmlformats.org/drawingml/2006/main">
            <a:off x="9763125" y="14478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72"/>
          </a:bodyPr>
          <a:lstStyle xmlns:a="http://schemas.openxmlformats.org/drawingml/2006/main">
            <a:defPPr algn="r">
              <a:defRPr sz="1200" b="1" i="0">
                <a:solidFill>
                  <a:srgbClr val="D9CBB6"/>
                </a:solidFill>
                <a:latin typeface="Avenir Next"/>
                <a:ea typeface="Avenir Next"/>
                <a:cs typeface="Avenir Next"/>
              </a:defRPr>
            </a:defPPr>
          </a:lstStyle>
          <a:p xmlns:a="http://schemas.openxmlformats.org/drawingml/2006/main">
            <a:pPr algn="r">
              <a:defRPr sz="1200" b="1" i="0">
                <a:solidFill>
                  <a:srgbClr val="D9CBB6"/>
                </a:solidFill>
                <a:latin typeface="Avenir Next"/>
                <a:ea typeface="Avenir Next"/>
                <a:cs typeface="Avenir Next"/>
              </a:defRPr>
            </a:pPr>
            <a:r>
              <a:rPr sz="1200" b="1" i="0">
                <a:solidFill>
                  <a:srgbClr val="D9CBB6"/>
                </a:solidFill>
                <a:latin typeface="Avenir Next"/>
                <a:ea typeface="Avenir Next"/>
                <a:cs typeface="Avenir Next"/>
              </a:rPr>
              <a:t>itemized model usage</a:t>
            </a:r>
          </a:p>
        </p:txBody>
      </p:sp>
      <p:sp>
        <p:nvSpPr>
          <p:cNvPr id="11" name="cover-cond-0-rule">
            <a:extLst xmlns:a="http://schemas.openxmlformats.org/drawingml/2006/main">
              <a:ext uri="{FF2B5EF4-FFF2-40B4-BE49-F238E27FC236}">
                <a16:creationId xmlns:a16="http://schemas.microsoft.com/office/drawing/2014/main" id="{4B220BF9-1B01-4148-AE11-57EB0385B955}"/>
              </a:ext>
            </a:extLst>
          </p:cNvPr>
          <p:cNvSpPr>
            <a:spLocks xmlns:a="http://schemas.openxmlformats.org/drawingml/2006/main" noGrp="1"/>
          </p:cNvSpPr>
          <p:nvPr/>
        </p:nvSpPr>
        <p:spPr>
          <a:xfrm xmlns:a="http://schemas.openxmlformats.org/drawingml/2006/main">
            <a:off x="8058150" y="1752600"/>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2" name="cover-cond-1-head">
            <a:extLst xmlns:a="http://schemas.openxmlformats.org/drawingml/2006/main">
              <a:ext uri="{FF2B5EF4-FFF2-40B4-BE49-F238E27FC236}">
                <a16:creationId xmlns:a16="http://schemas.microsoft.com/office/drawing/2014/main" id="{FF003704-DD7B-44FF-B318-AC620A796849}"/>
              </a:ext>
            </a:extLst>
          </p:cNvPr>
          <p:cNvSpPr>
            <a:spLocks xmlns:a="http://schemas.openxmlformats.org/drawingml/2006/main" noGrp="1"/>
          </p:cNvSpPr>
          <p:nvPr/>
        </p:nvSpPr>
        <p:spPr>
          <a:xfrm xmlns:a="http://schemas.openxmlformats.org/drawingml/2006/main">
            <a:off x="8058150" y="1924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PUBLIC INPUTS</a:t>
            </a:r>
          </a:p>
        </p:txBody>
      </p:sp>
      <p:sp>
        <p:nvSpPr>
          <p:cNvPr id="13" name="cover-cond-1-value">
            <a:extLst xmlns:a="http://schemas.openxmlformats.org/drawingml/2006/main">
              <a:ext uri="{FF2B5EF4-FFF2-40B4-BE49-F238E27FC236}">
                <a16:creationId xmlns:a16="http://schemas.microsoft.com/office/drawing/2014/main" id="{41F38392-74EF-4E1B-B059-348F5C3283D5}"/>
              </a:ext>
            </a:extLst>
          </p:cNvPr>
          <p:cNvSpPr>
            <a:spLocks xmlns:a="http://schemas.openxmlformats.org/drawingml/2006/main" noGrp="1"/>
          </p:cNvSpPr>
          <p:nvPr/>
        </p:nvSpPr>
        <p:spPr>
          <a:xfrm xmlns:a="http://schemas.openxmlformats.org/drawingml/2006/main">
            <a:off x="9763125" y="191452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5CC8B8"/>
                </a:solidFill>
                <a:latin typeface="Avenir Next"/>
                <a:ea typeface="Avenir Next"/>
                <a:cs typeface="Avenir Next"/>
              </a:defRPr>
            </a:defPPr>
          </a:lstStyle>
          <a:p xmlns:a="http://schemas.openxmlformats.org/drawingml/2006/main">
            <a:pPr algn="r">
              <a:defRPr sz="1200" b="1" i="0">
                <a:solidFill>
                  <a:srgbClr val="5CC8B8"/>
                </a:solidFill>
                <a:latin typeface="Avenir Next"/>
                <a:ea typeface="Avenir Next"/>
                <a:cs typeface="Avenir Next"/>
              </a:defRPr>
            </a:pPr>
            <a:r>
              <a:rPr sz="1200" b="1" i="0">
                <a:solidFill>
                  <a:srgbClr val="5CC8B8"/>
                </a:solidFill>
                <a:latin typeface="Avenir Next"/>
                <a:ea typeface="Avenir Next"/>
                <a:cs typeface="Avenir Next"/>
              </a:rPr>
              <a:t>held equal</a:t>
            </a:r>
          </a:p>
        </p:txBody>
      </p:sp>
      <p:sp>
        <p:nvSpPr>
          <p:cNvPr id="14" name="cover-cond-1-rule">
            <a:extLst xmlns:a="http://schemas.openxmlformats.org/drawingml/2006/main">
              <a:ext uri="{FF2B5EF4-FFF2-40B4-BE49-F238E27FC236}">
                <a16:creationId xmlns:a16="http://schemas.microsoft.com/office/drawing/2014/main" id="{C6E0D2E1-6293-49AA-A251-FD73B801F88C}"/>
              </a:ext>
            </a:extLst>
          </p:cNvPr>
          <p:cNvSpPr>
            <a:spLocks xmlns:a="http://schemas.openxmlformats.org/drawingml/2006/main" noGrp="1"/>
          </p:cNvSpPr>
          <p:nvPr/>
        </p:nvSpPr>
        <p:spPr>
          <a:xfrm xmlns:a="http://schemas.openxmlformats.org/drawingml/2006/main">
            <a:off x="8058150" y="2219325"/>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5" name="cover-cond-2-head">
            <a:extLst xmlns:a="http://schemas.openxmlformats.org/drawingml/2006/main">
              <a:ext uri="{FF2B5EF4-FFF2-40B4-BE49-F238E27FC236}">
                <a16:creationId xmlns:a16="http://schemas.microsoft.com/office/drawing/2014/main" id="{EB20AD89-AF40-47F8-A550-41625DEE806D}"/>
              </a:ext>
            </a:extLst>
          </p:cNvPr>
          <p:cNvSpPr>
            <a:spLocks xmlns:a="http://schemas.openxmlformats.org/drawingml/2006/main" noGrp="1"/>
          </p:cNvSpPr>
          <p:nvPr/>
        </p:nvSpPr>
        <p:spPr>
          <a:xfrm xmlns:a="http://schemas.openxmlformats.org/drawingml/2006/main">
            <a:off x="8058150" y="23907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MODEL BEHAVIOR</a:t>
            </a:r>
          </a:p>
        </p:txBody>
      </p:sp>
      <p:sp>
        <p:nvSpPr>
          <p:cNvPr id="16" name="cover-cond-2-value">
            <a:extLst xmlns:a="http://schemas.openxmlformats.org/drawingml/2006/main">
              <a:ext uri="{FF2B5EF4-FFF2-40B4-BE49-F238E27FC236}">
                <a16:creationId xmlns:a16="http://schemas.microsoft.com/office/drawing/2014/main" id="{D455C346-9438-4B06-91C6-AD70E9D91060}"/>
              </a:ext>
            </a:extLst>
          </p:cNvPr>
          <p:cNvSpPr>
            <a:spLocks xmlns:a="http://schemas.openxmlformats.org/drawingml/2006/main" noGrp="1"/>
          </p:cNvSpPr>
          <p:nvPr/>
        </p:nvSpPr>
        <p:spPr>
          <a:xfrm xmlns:a="http://schemas.openxmlformats.org/drawingml/2006/main">
            <a:off x="9763125" y="23812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5CC8B8"/>
                </a:solidFill>
                <a:latin typeface="Avenir Next"/>
                <a:ea typeface="Avenir Next"/>
                <a:cs typeface="Avenir Next"/>
              </a:defRPr>
            </a:defPPr>
          </a:lstStyle>
          <a:p xmlns:a="http://schemas.openxmlformats.org/drawingml/2006/main">
            <a:pPr algn="r">
              <a:defRPr sz="1200" b="1" i="0">
                <a:solidFill>
                  <a:srgbClr val="5CC8B8"/>
                </a:solidFill>
                <a:latin typeface="Avenir Next"/>
                <a:ea typeface="Avenir Next"/>
                <a:cs typeface="Avenir Next"/>
              </a:defRPr>
            </a:pPr>
            <a:r>
              <a:rPr sz="1200" b="1" i="0">
                <a:solidFill>
                  <a:srgbClr val="5CC8B8"/>
                </a:solidFill>
                <a:latin typeface="Avenir Next"/>
                <a:ea typeface="Avenir Next"/>
                <a:cs typeface="Avenir Next"/>
              </a:rPr>
              <a:t>aligned by relation</a:t>
            </a:r>
          </a:p>
        </p:txBody>
      </p:sp>
      <p:sp>
        <p:nvSpPr>
          <p:cNvPr id="17" name="cover-cond-2-rule">
            <a:extLst xmlns:a="http://schemas.openxmlformats.org/drawingml/2006/main">
              <a:ext uri="{FF2B5EF4-FFF2-40B4-BE49-F238E27FC236}">
                <a16:creationId xmlns:a16="http://schemas.microsoft.com/office/drawing/2014/main" id="{7441FDEC-FFC9-4529-9901-2AF23F8A0635}"/>
              </a:ext>
            </a:extLst>
          </p:cNvPr>
          <p:cNvSpPr>
            <a:spLocks xmlns:a="http://schemas.openxmlformats.org/drawingml/2006/main" noGrp="1"/>
          </p:cNvSpPr>
          <p:nvPr/>
        </p:nvSpPr>
        <p:spPr>
          <a:xfrm xmlns:a="http://schemas.openxmlformats.org/drawingml/2006/main">
            <a:off x="8058150" y="2686050"/>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8" name="cover-cond-3-head">
            <a:extLst xmlns:a="http://schemas.openxmlformats.org/drawingml/2006/main">
              <a:ext uri="{FF2B5EF4-FFF2-40B4-BE49-F238E27FC236}">
                <a16:creationId xmlns:a16="http://schemas.microsoft.com/office/drawing/2014/main" id="{071A9AAC-1920-407F-9877-4060CCBADDAD}"/>
              </a:ext>
            </a:extLst>
          </p:cNvPr>
          <p:cNvSpPr>
            <a:spLocks xmlns:a="http://schemas.openxmlformats.org/drawingml/2006/main" noGrp="1"/>
          </p:cNvSpPr>
          <p:nvPr/>
        </p:nvSpPr>
        <p:spPr>
          <a:xfrm xmlns:a="http://schemas.openxmlformats.org/drawingml/2006/main">
            <a:off x="8058150" y="28575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SECRET</a:t>
            </a:r>
          </a:p>
        </p:txBody>
      </p:sp>
      <p:sp>
        <p:nvSpPr>
          <p:cNvPr id="19" name="cover-cond-3-value">
            <a:extLst xmlns:a="http://schemas.openxmlformats.org/drawingml/2006/main">
              <a:ext uri="{FF2B5EF4-FFF2-40B4-BE49-F238E27FC236}">
                <a16:creationId xmlns:a16="http://schemas.microsoft.com/office/drawing/2014/main" id="{85881BA6-C4A1-4B9D-AAF1-7A65B0DF5244}"/>
              </a:ext>
            </a:extLst>
          </p:cNvPr>
          <p:cNvSpPr>
            <a:spLocks xmlns:a="http://schemas.openxmlformats.org/drawingml/2006/main" noGrp="1"/>
          </p:cNvSpPr>
          <p:nvPr/>
        </p:nvSpPr>
        <p:spPr>
          <a:xfrm xmlns:a="http://schemas.openxmlformats.org/drawingml/2006/main">
            <a:off x="9763125" y="284797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FF8A5C"/>
                </a:solidFill>
                <a:latin typeface="Avenir Next"/>
                <a:ea typeface="Avenir Next"/>
                <a:cs typeface="Avenir Next"/>
              </a:defRPr>
            </a:defPPr>
          </a:lstStyle>
          <a:p xmlns:a="http://schemas.openxmlformats.org/drawingml/2006/main">
            <a:pPr algn="r">
              <a:defRPr sz="1200" b="1" i="0">
                <a:solidFill>
                  <a:srgbClr val="FF8A5C"/>
                </a:solidFill>
                <a:latin typeface="Avenir Next"/>
                <a:ea typeface="Avenir Next"/>
                <a:cs typeface="Avenir Next"/>
              </a:defRPr>
            </a:pPr>
            <a:r>
              <a:rPr sz="1200" b="1" i="0">
                <a:solidFill>
                  <a:srgbClr val="FF8A5C"/>
                </a:solidFill>
                <a:latin typeface="Avenir Next"/>
                <a:ea typeface="Avenir Next"/>
                <a:cs typeface="Avenir Next"/>
              </a:rPr>
              <a:t>varies</a:t>
            </a:r>
          </a:p>
        </p:txBody>
      </p:sp>
      <p:sp>
        <p:nvSpPr>
          <p:cNvPr id="20" name="cover-cond-3-rule">
            <a:extLst xmlns:a="http://schemas.openxmlformats.org/drawingml/2006/main">
              <a:ext uri="{FF2B5EF4-FFF2-40B4-BE49-F238E27FC236}">
                <a16:creationId xmlns:a16="http://schemas.microsoft.com/office/drawing/2014/main" id="{0A271EEA-46A1-43AD-95B1-EDFA68A8FEAA}"/>
              </a:ext>
            </a:extLst>
          </p:cNvPr>
          <p:cNvSpPr>
            <a:spLocks xmlns:a="http://schemas.openxmlformats.org/drawingml/2006/main" noGrp="1"/>
          </p:cNvSpPr>
          <p:nvPr/>
        </p:nvSpPr>
        <p:spPr>
          <a:xfrm xmlns:a="http://schemas.openxmlformats.org/drawingml/2006/main">
            <a:off x="8058150" y="3152775"/>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1" name="cover-invoice-title">
            <a:extLst xmlns:a="http://schemas.openxmlformats.org/drawingml/2006/main">
              <a:ext uri="{FF2B5EF4-FFF2-40B4-BE49-F238E27FC236}">
                <a16:creationId xmlns:a16="http://schemas.microsoft.com/office/drawing/2014/main" id="{BD555581-7849-45DE-8EBA-394790B18BF4}"/>
              </a:ext>
            </a:extLst>
          </p:cNvPr>
          <p:cNvSpPr>
            <a:spLocks xmlns:a="http://schemas.openxmlformats.org/drawingml/2006/main" noGrp="1"/>
          </p:cNvSpPr>
          <p:nvPr/>
        </p:nvSpPr>
        <p:spPr>
          <a:xfrm xmlns:a="http://schemas.openxmlformats.org/drawingml/2006/main">
            <a:off x="8058150" y="3486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MODEL USAGE TRACE</a:t>
            </a:r>
          </a:p>
        </p:txBody>
      </p:sp>
      <p:sp>
        <p:nvSpPr>
          <p:cNvPr id="22" name="cover-invoice-head">
            <a:extLst xmlns:a="http://schemas.openxmlformats.org/drawingml/2006/main">
              <a:ext uri="{FF2B5EF4-FFF2-40B4-BE49-F238E27FC236}">
                <a16:creationId xmlns:a16="http://schemas.microsoft.com/office/drawing/2014/main" id="{1AE23EE5-0151-481F-84D7-2C6A012C4E59}"/>
              </a:ext>
            </a:extLst>
          </p:cNvPr>
          <p:cNvSpPr>
            <a:spLocks xmlns:a="http://schemas.openxmlformats.org/drawingml/2006/main" noGrp="1"/>
          </p:cNvSpPr>
          <p:nvPr/>
        </p:nvSpPr>
        <p:spPr>
          <a:xfrm xmlns:a="http://schemas.openxmlformats.org/drawingml/2006/main">
            <a:off x="8058150" y="3838575"/>
            <a:ext cx="3219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Menlo"/>
                <a:ea typeface="Menlo"/>
                <a:cs typeface="Menlo"/>
              </a:defRPr>
            </a:defPPr>
          </a:lstStyle>
          <a:p xmlns:a="http://schemas.openxmlformats.org/drawingml/2006/main">
            <a:pPr algn="l">
              <a:defRPr sz="1050" b="1" i="0">
                <a:solidFill>
                  <a:srgbClr val="B8C1D1"/>
                </a:solidFill>
                <a:latin typeface="Menlo"/>
                <a:ea typeface="Menlo"/>
                <a:cs typeface="Menlo"/>
              </a:defRPr>
            </a:pPr>
            <a:r>
              <a:rPr sz="1050" b="1" i="0">
                <a:solidFill>
                  <a:srgbClr val="B8C1D1"/>
                </a:solidFill>
                <a:latin typeface="Menlo"/>
                <a:ea typeface="Menlo"/>
                <a:cs typeface="Menlo"/>
              </a:rPr>
              <a:t>MODEL        INVOICE ROW</a:t>
            </a:r>
          </a:p>
        </p:txBody>
      </p:sp>
      <p:sp>
        <p:nvSpPr>
          <p:cNvPr id="23" name="cover-invoice-row-a">
            <a:extLst xmlns:a="http://schemas.openxmlformats.org/drawingml/2006/main">
              <a:ext uri="{FF2B5EF4-FFF2-40B4-BE49-F238E27FC236}">
                <a16:creationId xmlns:a16="http://schemas.microsoft.com/office/drawing/2014/main" id="{5D0CD960-40F4-4A4C-A06C-7501F6387BF6}"/>
              </a:ext>
            </a:extLst>
          </p:cNvPr>
          <p:cNvSpPr>
            <a:spLocks xmlns:a="http://schemas.openxmlformats.org/drawingml/2006/main" noGrp="1"/>
          </p:cNvSpPr>
          <p:nvPr/>
        </p:nvSpPr>
        <p:spPr>
          <a:xfrm xmlns:a="http://schemas.openxmlformats.org/drawingml/2006/main">
            <a:off x="8058150" y="421957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5F2EA"/>
                </a:solidFill>
                <a:latin typeface="Menlo"/>
                <a:ea typeface="Menlo"/>
                <a:cs typeface="Menlo"/>
              </a:defRPr>
            </a:defPPr>
          </a:lstStyle>
          <a:p xmlns:a="http://schemas.openxmlformats.org/drawingml/2006/main">
            <a:pPr algn="l">
              <a:defRPr sz="1350" b="0" i="0">
                <a:solidFill>
                  <a:srgbClr val="F5F2EA"/>
                </a:solidFill>
                <a:latin typeface="Menlo"/>
                <a:ea typeface="Menlo"/>
                <a:cs typeface="Menlo"/>
              </a:defRPr>
            </a:pPr>
            <a:r>
              <a:rPr sz="1350" b="0" i="0">
                <a:solidFill>
                  <a:srgbClr val="F5F2EA"/>
                </a:solidFill>
                <a:latin typeface="Menlo"/>
                <a:ea typeface="Menlo"/>
                <a:cs typeface="Menlo"/>
              </a:rPr>
              <a:t>fast         branch A</a:t>
            </a:r>
          </a:p>
        </p:txBody>
      </p:sp>
      <p:sp>
        <p:nvSpPr>
          <p:cNvPr id="24" name="cover-invoice-row-b">
            <a:extLst xmlns:a="http://schemas.openxmlformats.org/drawingml/2006/main">
              <a:ext uri="{FF2B5EF4-FFF2-40B4-BE49-F238E27FC236}">
                <a16:creationId xmlns:a16="http://schemas.microsoft.com/office/drawing/2014/main" id="{F67F5D77-D816-4420-80DD-22E9486C1976}"/>
              </a:ext>
            </a:extLst>
          </p:cNvPr>
          <p:cNvSpPr>
            <a:spLocks xmlns:a="http://schemas.openxmlformats.org/drawingml/2006/main" noGrp="1"/>
          </p:cNvSpPr>
          <p:nvPr/>
        </p:nvSpPr>
        <p:spPr>
          <a:xfrm xmlns:a="http://schemas.openxmlformats.org/drawingml/2006/main">
            <a:off x="8058150" y="461962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F8A5C"/>
                </a:solidFill>
                <a:latin typeface="Menlo"/>
                <a:ea typeface="Menlo"/>
                <a:cs typeface="Menlo"/>
              </a:defRPr>
            </a:defPPr>
          </a:lstStyle>
          <a:p xmlns:a="http://schemas.openxmlformats.org/drawingml/2006/main">
            <a:pPr algn="l">
              <a:defRPr sz="1350" b="0" i="0">
                <a:solidFill>
                  <a:srgbClr val="FF8A5C"/>
                </a:solidFill>
                <a:latin typeface="Menlo"/>
                <a:ea typeface="Menlo"/>
                <a:cs typeface="Menlo"/>
              </a:defRPr>
            </a:pPr>
            <a:r>
              <a:rPr sz="1350" b="0" i="0">
                <a:solidFill>
                  <a:srgbClr val="FF8A5C"/>
                </a:solidFill>
                <a:latin typeface="Menlo"/>
                <a:ea typeface="Menlo"/>
                <a:cs typeface="Menlo"/>
              </a:rPr>
              <a:t>large        branch B</a:t>
            </a:r>
          </a:p>
        </p:txBody>
      </p:sp>
      <p:sp>
        <p:nvSpPr>
          <p:cNvPr id="25" name="cover-invoice-rule">
            <a:extLst xmlns:a="http://schemas.openxmlformats.org/drawingml/2006/main">
              <a:ext uri="{FF2B5EF4-FFF2-40B4-BE49-F238E27FC236}">
                <a16:creationId xmlns:a16="http://schemas.microsoft.com/office/drawing/2014/main" id="{4CAE21F3-7AC3-4589-8291-04B0469FB343}"/>
              </a:ext>
            </a:extLst>
          </p:cNvPr>
          <p:cNvSpPr>
            <a:spLocks xmlns:a="http://schemas.openxmlformats.org/drawingml/2006/main" noGrp="1"/>
          </p:cNvSpPr>
          <p:nvPr/>
        </p:nvSpPr>
        <p:spPr>
          <a:xfrm xmlns:a="http://schemas.openxmlformats.org/drawingml/2006/main">
            <a:off x="8058150" y="5010150"/>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6" name="cover-conclusion">
            <a:extLst xmlns:a="http://schemas.openxmlformats.org/drawingml/2006/main">
              <a:ext uri="{FF2B5EF4-FFF2-40B4-BE49-F238E27FC236}">
                <a16:creationId xmlns:a16="http://schemas.microsoft.com/office/drawing/2014/main" id="{7E5A60A1-32CF-4326-A41E-F19B57DB1CCB}"/>
              </a:ext>
            </a:extLst>
          </p:cNvPr>
          <p:cNvSpPr>
            <a:spLocks xmlns:a="http://schemas.openxmlformats.org/drawingml/2006/main" noGrp="1"/>
          </p:cNvSpPr>
          <p:nvPr/>
        </p:nvSpPr>
        <p:spPr>
          <a:xfrm xmlns:a="http://schemas.openxmlformats.org/drawingml/2006/main">
            <a:off x="8058150" y="5229225"/>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5CC8B8"/>
                </a:solidFill>
                <a:latin typeface="Avenir Next"/>
                <a:ea typeface="Avenir Next"/>
                <a:cs typeface="Avenir Next"/>
              </a:defRPr>
            </a:defPPr>
          </a:lstStyle>
          <a:p xmlns:a="http://schemas.openxmlformats.org/drawingml/2006/main">
            <a:pPr algn="l">
              <a:defRPr sz="1350" b="1" i="0">
                <a:solidFill>
                  <a:srgbClr val="5CC8B8"/>
                </a:solidFill>
                <a:latin typeface="Avenir Next"/>
                <a:ea typeface="Avenir Next"/>
                <a:cs typeface="Avenir Next"/>
              </a:defRPr>
            </a:pPr>
            <a:r>
              <a:rPr sz="1350" b="1" i="0">
                <a:solidFill>
                  <a:srgbClr val="5CC8B8"/>
                </a:solidFill>
                <a:latin typeface="Avenir Next"/>
                <a:ea typeface="Avenir Next"/>
                <a:cs typeface="Avenir Next"/>
              </a:rPr>
              <a:t>If usage is itemized, the selected path is visible.</a:t>
            </a:r>
          </a:p>
        </p:txBody>
      </p:sp>
    </p:spTree>
    <p:extLst>
      <p:ext uri="{BB962C8B-B14F-4D97-AF65-F5344CB8AC3E}">
        <p14:creationId xmlns:p14="http://schemas.microsoft.com/office/powerpoint/2010/main" val="298982073"/>
      </p:ext>
    </p:extLst>
  </p:cSld>
</p:sld>
</file>

<file path=ppt/slides/slide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E4265BAC-8DC6-4F0A-9BB3-2A9FAA388A23}"/>
              </a:ext>
            </a:extLst>
          </p:cNvPr>
          <p:cNvCxnSpPr>
            <a:stCxn xmlns:a="http://schemas.openxmlformats.org/drawingml/2006/main" id="15" idx="1"/>
            <a:endCxn xmlns:a="http://schemas.openxmlformats.org/drawingml/2006/main" id="11" idx="3"/>
          </p:cNvCxnSpPr>
          <p:nvPr/>
        </p:nvCxnSpPr>
        <p:spPr>
          <a:xfrm xmlns:a="http://schemas.openxmlformats.org/drawingml/2006/main" flipH="1">
            <a:off x="5686425" y="3857625"/>
            <a:ext cx="809625" cy="0"/>
          </a:xfrm>
          <a:prstGeom xmlns:a="http://schemas.openxmlformats.org/drawingml/2006/main" prst="straightConnector1">
            <a:avLst/>
          </a:prstGeom>
          <a:ln xmlns:a="http://schemas.openxmlformats.org/drawingml/2006/main" w="19050">
            <a:solidFill>
              <a:srgbClr val="D9CBB6"/>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CC1D1009-8CC5-400C-B2F0-A33933FFF963}"/>
              </a:ext>
            </a:extLst>
          </p:cNvPr>
          <p:cNvCxnSpPr>
            <a:stCxn xmlns:a="http://schemas.openxmlformats.org/drawingml/2006/main" id="11" idx="3"/>
            <a:endCxn xmlns:a="http://schemas.openxmlformats.org/drawingml/2006/main" id="15" idx="1"/>
          </p:cNvCxnSpPr>
          <p:nvPr/>
        </p:nvCxnSpPr>
        <p:spPr>
          <a:xfrm xmlns:a="http://schemas.openxmlformats.org/drawingml/2006/main">
            <a:off x="5686425" y="3857625"/>
            <a:ext cx="809625" cy="0"/>
          </a:xfrm>
          <a:prstGeom xmlns:a="http://schemas.openxmlformats.org/drawingml/2006/main" prst="straightConnector1">
            <a:avLst/>
          </a:prstGeom>
          <a:ln xmlns:a="http://schemas.openxmlformats.org/drawingml/2006/main" w="19050">
            <a:solidFill>
              <a:srgbClr val="D9CBB6"/>
            </a:solidFill>
            <a:prstDash val="solid"/>
            <a:tailEnd type="triangle" w="sm" len="sm"/>
          </a:ln>
        </p:spPr>
      </p:cxnSp>
      <p:sp>
        <p:nvSpPr>
          <p:cNvPr id="23" name="s2-brand">
            <a:extLst xmlns:a="http://schemas.openxmlformats.org/drawingml/2006/main">
              <a:ext uri="{FF2B5EF4-FFF2-40B4-BE49-F238E27FC236}">
                <a16:creationId xmlns:a16="http://schemas.microsoft.com/office/drawing/2014/main" id="{B8CB094A-E87B-41CB-889C-0D4F25AE68A5}"/>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section">
            <a:extLst xmlns:a="http://schemas.openxmlformats.org/drawingml/2006/main">
              <a:ext uri="{FF2B5EF4-FFF2-40B4-BE49-F238E27FC236}">
                <a16:creationId xmlns:a16="http://schemas.microsoft.com/office/drawing/2014/main" id="{CB71875F-8663-4287-A560-1E115254F4DE}"/>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HOOK · CYCLIC CONTROL</a:t>
            </a:r>
          </a:p>
        </p:txBody>
      </p:sp>
      <p:sp>
        <p:nvSpPr>
          <p:cNvPr id="3" name="s2-title">
            <a:extLst xmlns:a="http://schemas.openxmlformats.org/drawingml/2006/main">
              <a:ext uri="{FF2B5EF4-FFF2-40B4-BE49-F238E27FC236}">
                <a16:creationId xmlns:a16="http://schemas.microsoft.com/office/drawing/2014/main" id="{D2B029A2-DAA1-4E7E-9E4A-69E566F724F9}"/>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 secret can change when a call loop stops</a:t>
            </a:r>
          </a:p>
        </p:txBody>
      </p:sp>
      <p:sp>
        <p:nvSpPr>
          <p:cNvPr id="4" name="s2-subtitle">
            <a:extLst xmlns:a="http://schemas.openxmlformats.org/drawingml/2006/main">
              <a:ext uri="{FF2B5EF4-FFF2-40B4-BE49-F238E27FC236}">
                <a16:creationId xmlns:a16="http://schemas.microsoft.com/office/drawing/2014/main" id="{15206CD3-4D32-4FB9-ACBF-8679B0622B3E}"/>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One finite witness shares the first call, then reaches stop on one side and a call on the other.</a:t>
            </a:r>
          </a:p>
        </p:txBody>
      </p:sp>
      <p:sp>
        <p:nvSpPr>
          <p:cNvPr id="5" name="s2-source-rule">
            <a:extLst xmlns:a="http://schemas.openxmlformats.org/drawingml/2006/main">
              <a:ext uri="{FF2B5EF4-FFF2-40B4-BE49-F238E27FC236}">
                <a16:creationId xmlns:a16="http://schemas.microsoft.com/office/drawing/2014/main" id="{0C7ED15D-8FCE-4C2A-8B19-88A4C8866B21}"/>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2-sources">
            <a:extLst xmlns:a="http://schemas.openxmlformats.org/drawingml/2006/main">
              <a:ext uri="{FF2B5EF4-FFF2-40B4-BE49-F238E27FC236}">
                <a16:creationId xmlns:a16="http://schemas.microsoft.com/office/drawing/2014/main" id="{EB7A9AB4-4C6D-4A29-9B87-CA2C9BB6F24C}"/>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examples/graphs/rejected/private_termination_count.json; bench/results/graphs.json</a:t>
            </a:r>
          </a:p>
        </p:txBody>
      </p:sp>
      <p:sp>
        <p:nvSpPr>
          <p:cNvPr id="7" name="s2-footer-rule">
            <a:extLst xmlns:a="http://schemas.openxmlformats.org/drawingml/2006/main">
              <a:ext uri="{FF2B5EF4-FFF2-40B4-BE49-F238E27FC236}">
                <a16:creationId xmlns:a16="http://schemas.microsoft.com/office/drawing/2014/main" id="{2E31D8E7-A350-41F5-B010-6947D0361808}"/>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2-footer">
            <a:extLst xmlns:a="http://schemas.openxmlformats.org/drawingml/2006/main">
              <a:ext uri="{FF2B5EF4-FFF2-40B4-BE49-F238E27FC236}">
                <a16:creationId xmlns:a16="http://schemas.microsoft.com/office/drawing/2014/main" id="{5B12DDC2-C6CE-48EA-9733-8C1ECF6B5C5A}"/>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2-page">
            <a:extLst xmlns:a="http://schemas.openxmlformats.org/drawingml/2006/main">
              <a:ext uri="{FF2B5EF4-FFF2-40B4-BE49-F238E27FC236}">
                <a16:creationId xmlns:a16="http://schemas.microsoft.com/office/drawing/2014/main" id="{EF68A8A9-306D-40F9-BD00-F67BC2237559}"/>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2</a:t>
            </a:r>
          </a:p>
        </p:txBody>
      </p:sp>
      <p:sp>
        <p:nvSpPr>
          <p:cNvPr id="10" name="graph-loop-fixed">
            <a:extLst xmlns:a="http://schemas.openxmlformats.org/drawingml/2006/main">
              <a:ext uri="{FF2B5EF4-FFF2-40B4-BE49-F238E27FC236}">
                <a16:creationId xmlns:a16="http://schemas.microsoft.com/office/drawing/2014/main" id="{4C9B4C98-45D5-4F6A-B9CD-E8B82A714DE5}"/>
              </a:ext>
            </a:extLst>
          </p:cNvPr>
          <p:cNvSpPr>
            <a:spLocks xmlns:a="http://schemas.openxmlformats.org/drawingml/2006/main" noGrp="1"/>
          </p:cNvSpPr>
          <p:nvPr/>
        </p:nvSpPr>
        <p:spPr>
          <a:xfrm xmlns:a="http://schemas.openxmlformats.org/drawingml/2006/main">
            <a:off x="914400" y="2343150"/>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0">
                <a:solidFill>
                  <a:srgbClr val="B8C1D1"/>
                </a:solidFill>
                <a:latin typeface="Menlo"/>
                <a:ea typeface="Menlo"/>
                <a:cs typeface="Menlo"/>
              </a:defRPr>
            </a:defPPr>
          </a:lstStyle>
          <a:p xmlns:a="http://schemas.openxmlformats.org/drawingml/2006/main">
            <a:pPr algn="ctr">
              <a:defRPr sz="1125" b="1" i="0">
                <a:solidFill>
                  <a:srgbClr val="B8C1D1"/>
                </a:solidFill>
                <a:latin typeface="Menlo"/>
                <a:ea typeface="Menlo"/>
                <a:cs typeface="Menlo"/>
              </a:defRPr>
            </a:pPr>
            <a:r>
              <a:rPr sz="1125" b="1" i="0">
                <a:solidFill>
                  <a:srgbClr val="B8C1D1"/>
                </a:solidFill>
                <a:latin typeface="Menlo"/>
                <a:ea typeface="Menlo"/>
                <a:cs typeface="Menlo"/>
              </a:rPr>
              <a:t>FIXED PUBLIC QUERY  ·  seed 1  ·  first finite witness</a:t>
            </a:r>
          </a:p>
        </p:txBody>
      </p:sp>
      <p:sp>
        <p:nvSpPr>
          <p:cNvPr id="11" name="graph-loop-false-panel">
            <a:extLst xmlns:a="http://schemas.openxmlformats.org/drawingml/2006/main">
              <a:ext uri="{FF2B5EF4-FFF2-40B4-BE49-F238E27FC236}">
                <a16:creationId xmlns:a16="http://schemas.microsoft.com/office/drawing/2014/main" id="{8300F300-936B-4A3C-B8DF-6AD7B4830FD0}"/>
              </a:ext>
            </a:extLst>
          </p:cNvPr>
          <p:cNvSpPr>
            <a:spLocks xmlns:a="http://schemas.openxmlformats.org/drawingml/2006/main" noGrp="1"/>
          </p:cNvSpPr>
          <p:nvPr/>
        </p:nvSpPr>
        <p:spPr>
          <a:xfrm xmlns:a="http://schemas.openxmlformats.org/drawingml/2006/main">
            <a:off x="781050" y="2819400"/>
            <a:ext cx="4905375" cy="2076450"/>
          </a:xfrm>
          <a:prstGeom xmlns:a="http://schemas.openxmlformats.org/drawingml/2006/main" prst="roundRect">
            <a:avLst>
              <a:gd name="adj" fmla="val 3670"/>
            </a:avLst>
          </a:prstGeom>
          <a:solidFill xmlns:a="http://schemas.openxmlformats.org/drawingml/2006/main">
            <a:srgbClr val="1C2638"/>
          </a:solidFill>
          <a:ln xmlns:a="http://schemas.openxmlformats.org/drawingml/2006/main" w="9525">
            <a:solidFill>
              <a:srgbClr val="343D50"/>
            </a:solidFill>
            <a:prstDash val="solid"/>
          </a:ln>
        </p:spPr>
      </p:sp>
      <p:sp>
        <p:nvSpPr>
          <p:cNvPr id="12" name="graph-loop-false-accent">
            <a:extLst xmlns:a="http://schemas.openxmlformats.org/drawingml/2006/main">
              <a:ext uri="{FF2B5EF4-FFF2-40B4-BE49-F238E27FC236}">
                <a16:creationId xmlns:a16="http://schemas.microsoft.com/office/drawing/2014/main" id="{A62F282C-58DD-4FCE-89D7-E9A0340C36DC}"/>
              </a:ext>
            </a:extLst>
          </p:cNvPr>
          <p:cNvSpPr>
            <a:spLocks xmlns:a="http://schemas.openxmlformats.org/drawingml/2006/main" noGrp="1"/>
          </p:cNvSpPr>
          <p:nvPr/>
        </p:nvSpPr>
        <p:spPr>
          <a:xfrm xmlns:a="http://schemas.openxmlformats.org/drawingml/2006/main">
            <a:off x="781050" y="2819400"/>
            <a:ext cx="57150" cy="20764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3" name="graph-loop-false-title">
            <a:extLst xmlns:a="http://schemas.openxmlformats.org/drawingml/2006/main">
              <a:ext uri="{FF2B5EF4-FFF2-40B4-BE49-F238E27FC236}">
                <a16:creationId xmlns:a16="http://schemas.microsoft.com/office/drawing/2014/main" id="{4DD59E70-A09D-43A7-BE37-0E618C099815}"/>
              </a:ext>
            </a:extLst>
          </p:cNvPr>
          <p:cNvSpPr>
            <a:spLocks xmlns:a="http://schemas.openxmlformats.org/drawingml/2006/main" noGrp="1"/>
          </p:cNvSpPr>
          <p:nvPr/>
        </p:nvSpPr>
        <p:spPr>
          <a:xfrm xmlns:a="http://schemas.openxmlformats.org/drawingml/2006/main">
            <a:off x="990600" y="2990850"/>
            <a:ext cx="4486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5F2EA"/>
                </a:solidFill>
                <a:latin typeface="Avenir Next"/>
                <a:ea typeface="Avenir Next"/>
                <a:cs typeface="Avenir Next"/>
              </a:defRPr>
            </a:defPPr>
          </a:lstStyle>
          <a:p xmlns:a="http://schemas.openxmlformats.org/drawingml/2006/main">
            <a:pPr algn="l">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route = false</a:t>
            </a:r>
          </a:p>
        </p:txBody>
      </p:sp>
      <p:sp>
        <p:nvSpPr>
          <p:cNvPr id="14" name="graph-loop-false-body">
            <a:extLst xmlns:a="http://schemas.openxmlformats.org/drawingml/2006/main">
              <a:ext uri="{FF2B5EF4-FFF2-40B4-BE49-F238E27FC236}">
                <a16:creationId xmlns:a16="http://schemas.microsoft.com/office/drawing/2014/main" id="{3C2C97F4-2D9D-4134-9866-CD50CCC47EA2}"/>
              </a:ext>
            </a:extLst>
          </p:cNvPr>
          <p:cNvSpPr>
            <a:spLocks xmlns:a="http://schemas.openxmlformats.org/drawingml/2006/main" noGrp="1"/>
          </p:cNvSpPr>
          <p:nvPr/>
        </p:nvSpPr>
        <p:spPr>
          <a:xfrm xmlns:a="http://schemas.openxmlformats.org/drawingml/2006/main">
            <a:off x="990600" y="3505200"/>
            <a:ext cx="4486275"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B8C1D1"/>
                </a:solidFill>
                <a:latin typeface="Menlo"/>
                <a:ea typeface="Menlo"/>
                <a:cs typeface="Menlo"/>
              </a:defRPr>
            </a:defPPr>
          </a:lstStyle>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call #0  Process(query)</a:t>
            </a:r>
          </a:p>
          <a:p xmlns:a="http://schemas.openxmlformats.org/drawingml/2006/main">
            <a:r>
              <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then STOP</a:t>
            </a:r>
          </a:p>
        </p:txBody>
      </p:sp>
      <p:sp>
        <p:nvSpPr>
          <p:cNvPr id="15" name="graph-loop-true-panel">
            <a:extLst xmlns:a="http://schemas.openxmlformats.org/drawingml/2006/main">
              <a:ext uri="{FF2B5EF4-FFF2-40B4-BE49-F238E27FC236}">
                <a16:creationId xmlns:a16="http://schemas.microsoft.com/office/drawing/2014/main" id="{1CD8503B-4091-41B0-96B5-69C15B3C1765}"/>
              </a:ext>
            </a:extLst>
          </p:cNvPr>
          <p:cNvSpPr>
            <a:spLocks xmlns:a="http://schemas.openxmlformats.org/drawingml/2006/main" noGrp="1"/>
          </p:cNvSpPr>
          <p:nvPr/>
        </p:nvSpPr>
        <p:spPr>
          <a:xfrm xmlns:a="http://schemas.openxmlformats.org/drawingml/2006/main">
            <a:off x="6496050" y="2819400"/>
            <a:ext cx="4905375" cy="2076450"/>
          </a:xfrm>
          <a:prstGeom xmlns:a="http://schemas.openxmlformats.org/drawingml/2006/main" prst="roundRect">
            <a:avLst>
              <a:gd name="adj" fmla="val 3670"/>
            </a:avLst>
          </a:prstGeom>
          <a:solidFill xmlns:a="http://schemas.openxmlformats.org/drawingml/2006/main">
            <a:srgbClr val="1C2638"/>
          </a:solidFill>
          <a:ln xmlns:a="http://schemas.openxmlformats.org/drawingml/2006/main" w="9525">
            <a:solidFill>
              <a:srgbClr val="343D50"/>
            </a:solidFill>
            <a:prstDash val="solid"/>
          </a:ln>
        </p:spPr>
      </p:sp>
      <p:sp>
        <p:nvSpPr>
          <p:cNvPr id="16" name="graph-loop-true-accent">
            <a:extLst xmlns:a="http://schemas.openxmlformats.org/drawingml/2006/main">
              <a:ext uri="{FF2B5EF4-FFF2-40B4-BE49-F238E27FC236}">
                <a16:creationId xmlns:a16="http://schemas.microsoft.com/office/drawing/2014/main" id="{D2B68012-4844-45C5-A368-599BCF7A23E2}"/>
              </a:ext>
            </a:extLst>
          </p:cNvPr>
          <p:cNvSpPr>
            <a:spLocks xmlns:a="http://schemas.openxmlformats.org/drawingml/2006/main" noGrp="1"/>
          </p:cNvSpPr>
          <p:nvPr/>
        </p:nvSpPr>
        <p:spPr>
          <a:xfrm xmlns:a="http://schemas.openxmlformats.org/drawingml/2006/main">
            <a:off x="6496050" y="2819400"/>
            <a:ext cx="57150" cy="20764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graph-loop-true-title">
            <a:extLst xmlns:a="http://schemas.openxmlformats.org/drawingml/2006/main">
              <a:ext uri="{FF2B5EF4-FFF2-40B4-BE49-F238E27FC236}">
                <a16:creationId xmlns:a16="http://schemas.microsoft.com/office/drawing/2014/main" id="{A0F73EEF-AFF7-475F-8C37-B802B695C313}"/>
              </a:ext>
            </a:extLst>
          </p:cNvPr>
          <p:cNvSpPr>
            <a:spLocks xmlns:a="http://schemas.openxmlformats.org/drawingml/2006/main" noGrp="1"/>
          </p:cNvSpPr>
          <p:nvPr/>
        </p:nvSpPr>
        <p:spPr>
          <a:xfrm xmlns:a="http://schemas.openxmlformats.org/drawingml/2006/main">
            <a:off x="6705600" y="2990850"/>
            <a:ext cx="4486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5F2EA"/>
                </a:solidFill>
                <a:latin typeface="Avenir Next"/>
                <a:ea typeface="Avenir Next"/>
                <a:cs typeface="Avenir Next"/>
              </a:defRPr>
            </a:defPPr>
          </a:lstStyle>
          <a:p xmlns:a="http://schemas.openxmlformats.org/drawingml/2006/main">
            <a:pPr algn="l">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route = true</a:t>
            </a:r>
          </a:p>
        </p:txBody>
      </p:sp>
      <p:sp>
        <p:nvSpPr>
          <p:cNvPr id="18" name="graph-loop-true-body">
            <a:extLst xmlns:a="http://schemas.openxmlformats.org/drawingml/2006/main">
              <a:ext uri="{FF2B5EF4-FFF2-40B4-BE49-F238E27FC236}">
                <a16:creationId xmlns:a16="http://schemas.microsoft.com/office/drawing/2014/main" id="{0464CF79-268F-4538-BBE7-13CBA2CF65C8}"/>
              </a:ext>
            </a:extLst>
          </p:cNvPr>
          <p:cNvSpPr>
            <a:spLocks xmlns:a="http://schemas.openxmlformats.org/drawingml/2006/main" noGrp="1"/>
          </p:cNvSpPr>
          <p:nvPr/>
        </p:nvSpPr>
        <p:spPr>
          <a:xfrm xmlns:a="http://schemas.openxmlformats.org/drawingml/2006/main">
            <a:off x="6705600" y="3467100"/>
            <a:ext cx="44862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88" b="0" i="0">
                <a:solidFill>
                  <a:srgbClr val="B8C1D1"/>
                </a:solidFill>
                <a:latin typeface="Menlo"/>
                <a:ea typeface="Menlo"/>
                <a:cs typeface="Menlo"/>
              </a:defRPr>
            </a:defPPr>
          </a:lstStyle>
          <a:p xmlns:a="http://schemas.openxmlformats.org/drawingml/2006/main">
            <a:pPr algn="l">
              <a:defRPr sz="1388" b="0" i="0">
                <a:solidFill>
                  <a:srgbClr val="B8C1D1"/>
                </a:solidFill>
                <a:latin typeface="Menlo"/>
                <a:ea typeface="Menlo"/>
                <a:cs typeface="Menlo"/>
              </a:defRPr>
            </a:pPr>
            <a:r>
              <a:rPr sz="1388" b="0" i="0">
                <a:solidFill>
                  <a:srgbClr val="B8C1D1"/>
                </a:solidFill>
                <a:latin typeface="Menlo"/>
                <a:ea typeface="Menlo"/>
                <a:cs typeface="Menlo"/>
              </a:rPr>
              <a:t>call #0  Process(query)</a:t>
            </a:r>
          </a:p>
          <a:p xmlns:a="http://schemas.openxmlformats.org/drawingml/2006/main">
            <a:pPr algn="l">
              <a:defRPr sz="1388" b="0" i="0">
                <a:solidFill>
                  <a:srgbClr val="B8C1D1"/>
                </a:solidFill>
                <a:latin typeface="Menlo"/>
                <a:ea typeface="Menlo"/>
                <a:cs typeface="Menlo"/>
              </a:defRPr>
            </a:pPr>
            <a:r>
              <a:rPr sz="1388" b="0" i="0">
                <a:solidFill>
                  <a:srgbClr val="B8C1D1"/>
                </a:solidFill>
                <a:latin typeface="Menlo"/>
                <a:ea typeface="Menlo"/>
                <a:cs typeface="Menlo"/>
              </a:rPr>
              <a:t>call #1  Process(result)</a:t>
            </a:r>
          </a:p>
          <a:p xmlns:a="http://schemas.openxmlformats.org/drawingml/2006/main">
            <a:pPr algn="l">
              <a:defRPr sz="1388" b="0" i="0">
                <a:solidFill>
                  <a:srgbClr val="B8C1D1"/>
                </a:solidFill>
                <a:latin typeface="Menlo"/>
                <a:ea typeface="Menlo"/>
                <a:cs typeface="Menlo"/>
              </a:defRPr>
            </a:pPr>
            <a:r>
              <a:rPr sz="1388" b="0" i="0">
                <a:solidFill>
                  <a:srgbClr val="B8C1D1"/>
                </a:solidFill>
                <a:latin typeface="Menlo"/>
                <a:ea typeface="Menlo"/>
                <a:cs typeface="Menlo"/>
              </a:rPr>
              <a:t>public result guard → loop or stop</a:t>
            </a:r>
          </a:p>
        </p:txBody>
      </p:sp>
      <p:sp>
        <p:nvSpPr>
          <p:cNvPr id="21" name="graph-loop-shared">
            <a:extLst xmlns:a="http://schemas.openxmlformats.org/drawingml/2006/main">
              <a:ext uri="{FF2B5EF4-FFF2-40B4-BE49-F238E27FC236}">
                <a16:creationId xmlns:a16="http://schemas.microsoft.com/office/drawing/2014/main" id="{F0EC4CD5-E4BC-47DD-A0B9-9B3AE1942C1D}"/>
              </a:ext>
            </a:extLst>
          </p:cNvPr>
          <p:cNvSpPr>
            <a:spLocks xmlns:a="http://schemas.openxmlformats.org/drawingml/2006/main" noGrp="1"/>
          </p:cNvSpPr>
          <p:nvPr/>
        </p:nvSpPr>
        <p:spPr>
          <a:xfrm xmlns:a="http://schemas.openxmlformats.org/drawingml/2006/main">
            <a:off x="4905375" y="31051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0">
                <a:solidFill>
                  <a:srgbClr val="5CC8B8"/>
                </a:solidFill>
                <a:latin typeface="Avenir Next"/>
                <a:ea typeface="Avenir Next"/>
                <a:cs typeface="Avenir Next"/>
              </a:defRPr>
            </a:defPPr>
          </a:lstStyle>
          <a:p xmlns:a="http://schemas.openxmlformats.org/drawingml/2006/main">
            <a:pPr algn="ctr">
              <a:defRPr sz="1125" b="1" i="0">
                <a:solidFill>
                  <a:srgbClr val="5CC8B8"/>
                </a:solidFill>
                <a:latin typeface="Avenir Next"/>
                <a:ea typeface="Avenir Next"/>
                <a:cs typeface="Avenir Next"/>
              </a:defRPr>
            </a:pPr>
            <a:r>
              <a:rPr sz="1125" b="1" i="0">
                <a:solidFill>
                  <a:srgbClr val="5CC8B8"/>
                </a:solidFill>
                <a:latin typeface="Avenir Next"/>
                <a:ea typeface="Avenir Next"/>
                <a:cs typeface="Avenir Next"/>
              </a:rPr>
              <a:t>event 0 matches</a:t>
            </a:r>
          </a:p>
        </p:txBody>
      </p:sp>
      <p:sp>
        <p:nvSpPr>
          <p:cNvPr id="22" name="graph-loop-diff">
            <a:extLst xmlns:a="http://schemas.openxmlformats.org/drawingml/2006/main">
              <a:ext uri="{FF2B5EF4-FFF2-40B4-BE49-F238E27FC236}">
                <a16:creationId xmlns:a16="http://schemas.microsoft.com/office/drawing/2014/main" id="{CC34D8DE-7EFA-4C61-9FB7-94D529AEE89B}"/>
              </a:ext>
            </a:extLst>
          </p:cNvPr>
          <p:cNvSpPr>
            <a:spLocks xmlns:a="http://schemas.openxmlformats.org/drawingml/2006/main" noGrp="1"/>
          </p:cNvSpPr>
          <p:nvPr/>
        </p:nvSpPr>
        <p:spPr>
          <a:xfrm xmlns:a="http://schemas.openxmlformats.org/drawingml/2006/main">
            <a:off x="2867025" y="5219700"/>
            <a:ext cx="645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i="0">
                <a:solidFill>
                  <a:srgbClr val="FF8A5C"/>
                </a:solidFill>
                <a:latin typeface="Menlo"/>
                <a:ea typeface="Menlo"/>
                <a:cs typeface="Menlo"/>
              </a:defRPr>
            </a:defPPr>
          </a:lstStyle>
          <a:p xmlns:a="http://schemas.openxmlformats.org/drawingml/2006/main">
            <a:pPr algn="ctr">
              <a:defRPr sz="1500" b="1" i="0">
                <a:solidFill>
                  <a:srgbClr val="FF8A5C"/>
                </a:solidFill>
                <a:latin typeface="Menlo"/>
                <a:ea typeface="Menlo"/>
                <a:cs typeface="Menlo"/>
              </a:defRPr>
            </a:pPr>
            <a:r>
              <a:rPr sz="1500" b="1" i="0">
                <a:solidFill>
                  <a:srgbClr val="FF8A5C"/>
                </a:solidFill>
                <a:latin typeface="Menlo"/>
                <a:ea typeface="Menlo"/>
                <a:cs typeface="Menlo"/>
              </a:rPr>
              <a:t>event 1:  stop  vs  call   →   reject</a:t>
            </a:r>
          </a:p>
        </p:txBody>
      </p:sp>
    </p:spTree>
    <p:extLst>
      <p:ext uri="{BB962C8B-B14F-4D97-AF65-F5344CB8AC3E}">
        <p14:creationId xmlns:p14="http://schemas.microsoft.com/office/powerpoint/2010/main" val="873175578"/>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0" name="s3-brand">
            <a:extLst xmlns:a="http://schemas.openxmlformats.org/drawingml/2006/main">
              <a:ext uri="{FF2B5EF4-FFF2-40B4-BE49-F238E27FC236}">
                <a16:creationId xmlns:a16="http://schemas.microsoft.com/office/drawing/2014/main" id="{27C7C9B8-4EBA-4BD5-80E3-55DB191F7C64}"/>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3-section">
            <a:extLst xmlns:a="http://schemas.openxmlformats.org/drawingml/2006/main">
              <a:ext uri="{FF2B5EF4-FFF2-40B4-BE49-F238E27FC236}">
                <a16:creationId xmlns:a16="http://schemas.microsoft.com/office/drawing/2014/main" id="{CB74E193-1F3D-43EA-947F-31EA6E933973}"/>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TWO ANALYSIS INPUTS</a:t>
            </a:r>
          </a:p>
        </p:txBody>
      </p:sp>
      <p:sp>
        <p:nvSpPr>
          <p:cNvPr id="3" name="s3-title">
            <a:extLst xmlns:a="http://schemas.openxmlformats.org/drawingml/2006/main">
              <a:ext uri="{FF2B5EF4-FFF2-40B4-BE49-F238E27FC236}">
                <a16:creationId xmlns:a16="http://schemas.microsoft.com/office/drawing/2014/main" id="{5C1A9094-2DC4-4B68-8670-52294627C3A7}"/>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cyclic checker is a separate JSON graph front end</a:t>
            </a:r>
          </a:p>
        </p:txBody>
      </p:sp>
      <p:sp>
        <p:nvSpPr>
          <p:cNvPr id="4" name="s3-subtitle">
            <a:extLst xmlns:a="http://schemas.openxmlformats.org/drawingml/2006/main">
              <a:ext uri="{FF2B5EF4-FFF2-40B4-BE49-F238E27FC236}">
                <a16:creationId xmlns:a16="http://schemas.microsoft.com/office/drawing/2014/main" id="{B8C9D484-558C-4598-900C-23DD4C6276E7}"/>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The frozen OrchLang compiler stays a bounded-AST analysis.</a:t>
            </a:r>
          </a:p>
        </p:txBody>
      </p:sp>
      <p:sp>
        <p:nvSpPr>
          <p:cNvPr id="5" name="s3-source-rule">
            <a:extLst xmlns:a="http://schemas.openxmlformats.org/drawingml/2006/main">
              <a:ext uri="{FF2B5EF4-FFF2-40B4-BE49-F238E27FC236}">
                <a16:creationId xmlns:a16="http://schemas.microsoft.com/office/drawing/2014/main" id="{9CD14B46-DB05-43EE-8853-481983171C23}"/>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3-sources">
            <a:extLst xmlns:a="http://schemas.openxmlformats.org/drawingml/2006/main">
              <a:ext uri="{FF2B5EF4-FFF2-40B4-BE49-F238E27FC236}">
                <a16:creationId xmlns:a16="http://schemas.microsoft.com/office/drawing/2014/main" id="{B88BC3EE-0E43-458D-9FEC-FC4B1ACA161A}"/>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src/main.cpp; docs/LANGUAGE_SPEC.md; audit/orchgraph.py; audit/replay_graph_certificate.py; docs/CYCLIC_METHOD_REVIEW.md</a:t>
            </a:r>
          </a:p>
        </p:txBody>
      </p:sp>
      <p:sp>
        <p:nvSpPr>
          <p:cNvPr id="7" name="s3-footer-rule">
            <a:extLst xmlns:a="http://schemas.openxmlformats.org/drawingml/2006/main">
              <a:ext uri="{FF2B5EF4-FFF2-40B4-BE49-F238E27FC236}">
                <a16:creationId xmlns:a16="http://schemas.microsoft.com/office/drawing/2014/main" id="{E2024098-A2D3-4547-9DF6-CBDEF2596FBA}"/>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3-footer">
            <a:extLst xmlns:a="http://schemas.openxmlformats.org/drawingml/2006/main">
              <a:ext uri="{FF2B5EF4-FFF2-40B4-BE49-F238E27FC236}">
                <a16:creationId xmlns:a16="http://schemas.microsoft.com/office/drawing/2014/main" id="{4DB30FF7-3269-4D43-BF02-6689F3B8C9EA}"/>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3-page">
            <a:extLst xmlns:a="http://schemas.openxmlformats.org/drawingml/2006/main">
              <a:ext uri="{FF2B5EF4-FFF2-40B4-BE49-F238E27FC236}">
                <a16:creationId xmlns:a16="http://schemas.microsoft.com/office/drawing/2014/main" id="{AEBE1AE0-DE0B-459E-A012-F54A3B09CDAF}"/>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3</a:t>
            </a:r>
          </a:p>
        </p:txBody>
      </p:sp>
      <p:sp>
        <p:nvSpPr>
          <p:cNvPr id="10" name="graph-arch-dsl-panel">
            <a:extLst xmlns:a="http://schemas.openxmlformats.org/drawingml/2006/main">
              <a:ext uri="{FF2B5EF4-FFF2-40B4-BE49-F238E27FC236}">
                <a16:creationId xmlns:a16="http://schemas.microsoft.com/office/drawing/2014/main" id="{A4641E61-BE00-4892-8AF9-8AF17CEAF6CD}"/>
              </a:ext>
            </a:extLst>
          </p:cNvPr>
          <p:cNvSpPr>
            <a:spLocks xmlns:a="http://schemas.openxmlformats.org/drawingml/2006/main" noGrp="1"/>
          </p:cNvSpPr>
          <p:nvPr/>
        </p:nvSpPr>
        <p:spPr>
          <a:xfrm xmlns:a="http://schemas.openxmlformats.org/drawingml/2006/main">
            <a:off x="742950" y="2428875"/>
            <a:ext cx="4953000" cy="2819400"/>
          </a:xfrm>
          <a:prstGeom xmlns:a="http://schemas.openxmlformats.org/drawingml/2006/main" prst="roundRect">
            <a:avLst>
              <a:gd name="adj" fmla="val 2703"/>
            </a:avLst>
          </a:prstGeom>
          <a:solidFill xmlns:a="http://schemas.openxmlformats.org/drawingml/2006/main">
            <a:srgbClr val="1C2638"/>
          </a:solidFill>
          <a:ln xmlns:a="http://schemas.openxmlformats.org/drawingml/2006/main" w="9525">
            <a:solidFill>
              <a:srgbClr val="343D50"/>
            </a:solidFill>
            <a:prstDash val="solid"/>
          </a:ln>
        </p:spPr>
      </p:sp>
      <p:sp>
        <p:nvSpPr>
          <p:cNvPr id="11" name="graph-arch-dsl-accent">
            <a:extLst xmlns:a="http://schemas.openxmlformats.org/drawingml/2006/main">
              <a:ext uri="{FF2B5EF4-FFF2-40B4-BE49-F238E27FC236}">
                <a16:creationId xmlns:a16="http://schemas.microsoft.com/office/drawing/2014/main" id="{11C69E85-A2BA-4EA9-A62E-F7CA23AF7BF8}"/>
              </a:ext>
            </a:extLst>
          </p:cNvPr>
          <p:cNvSpPr>
            <a:spLocks xmlns:a="http://schemas.openxmlformats.org/drawingml/2006/main" noGrp="1"/>
          </p:cNvSpPr>
          <p:nvPr/>
        </p:nvSpPr>
        <p:spPr>
          <a:xfrm xmlns:a="http://schemas.openxmlformats.org/drawingml/2006/main">
            <a:off x="742950" y="2428875"/>
            <a:ext cx="57150" cy="281940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2" name="graph-arch-dsl-title">
            <a:extLst xmlns:a="http://schemas.openxmlformats.org/drawingml/2006/main">
              <a:ext uri="{FF2B5EF4-FFF2-40B4-BE49-F238E27FC236}">
                <a16:creationId xmlns:a16="http://schemas.microsoft.com/office/drawing/2014/main" id="{3BB06ED2-37C5-497C-8138-3A736C5EB46A}"/>
              </a:ext>
            </a:extLst>
          </p:cNvPr>
          <p:cNvSpPr>
            <a:spLocks xmlns:a="http://schemas.openxmlformats.org/drawingml/2006/main" noGrp="1"/>
          </p:cNvSpPr>
          <p:nvPr/>
        </p:nvSpPr>
        <p:spPr>
          <a:xfrm xmlns:a="http://schemas.openxmlformats.org/drawingml/2006/main">
            <a:off x="952500" y="260032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FROZEN C++ FRONT END</a:t>
            </a:r>
          </a:p>
        </p:txBody>
      </p:sp>
      <p:sp>
        <p:nvSpPr>
          <p:cNvPr id="13" name="graph-arch-dsl-body">
            <a:extLst xmlns:a="http://schemas.openxmlformats.org/drawingml/2006/main">
              <a:ext uri="{FF2B5EF4-FFF2-40B4-BE49-F238E27FC236}">
                <a16:creationId xmlns:a16="http://schemas.microsoft.com/office/drawing/2014/main" id="{87D2A023-AA30-4744-B9F1-EA954278BD8F}"/>
              </a:ext>
            </a:extLst>
          </p:cNvPr>
          <p:cNvSpPr>
            <a:spLocks xmlns:a="http://schemas.openxmlformats.org/drawingml/2006/main" noGrp="1"/>
          </p:cNvSpPr>
          <p:nvPr/>
        </p:nvSpPr>
        <p:spPr>
          <a:xfrm xmlns:a="http://schemas.openxmlformats.org/drawingml/2006/main">
            <a:off x="952500" y="3133725"/>
            <a:ext cx="45339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OrchLang source</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 finite AST</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 flow, unary bounds, relational gate</a:t>
            </a:r>
          </a:p>
          <a:p xmlns:a="http://schemas.openxmlformats.org/drawingml/2006/main">
            <a:r>
              <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Literal bounded retries; no general cyclic syntax.</a:t>
            </a:r>
          </a:p>
        </p:txBody>
      </p:sp>
      <p:sp>
        <p:nvSpPr>
          <p:cNvPr id="14" name="graph-arch-json-panel">
            <a:extLst xmlns:a="http://schemas.openxmlformats.org/drawingml/2006/main">
              <a:ext uri="{FF2B5EF4-FFF2-40B4-BE49-F238E27FC236}">
                <a16:creationId xmlns:a16="http://schemas.microsoft.com/office/drawing/2014/main" id="{55A7C94D-D642-43B3-BF58-226BE4DE0ED3}"/>
              </a:ext>
            </a:extLst>
          </p:cNvPr>
          <p:cNvSpPr>
            <a:spLocks xmlns:a="http://schemas.openxmlformats.org/drawingml/2006/main" noGrp="1"/>
          </p:cNvSpPr>
          <p:nvPr/>
        </p:nvSpPr>
        <p:spPr>
          <a:xfrm xmlns:a="http://schemas.openxmlformats.org/drawingml/2006/main">
            <a:off x="6496050" y="2428875"/>
            <a:ext cx="4953000" cy="2819400"/>
          </a:xfrm>
          <a:prstGeom xmlns:a="http://schemas.openxmlformats.org/drawingml/2006/main" prst="roundRect">
            <a:avLst>
              <a:gd name="adj" fmla="val 2703"/>
            </a:avLst>
          </a:prstGeom>
          <a:solidFill xmlns:a="http://schemas.openxmlformats.org/drawingml/2006/main">
            <a:srgbClr val="1C2638"/>
          </a:solidFill>
          <a:ln xmlns:a="http://schemas.openxmlformats.org/drawingml/2006/main" w="9525">
            <a:solidFill>
              <a:srgbClr val="343D50"/>
            </a:solidFill>
            <a:prstDash val="solid"/>
          </a:ln>
        </p:spPr>
      </p:sp>
      <p:sp>
        <p:nvSpPr>
          <p:cNvPr id="15" name="graph-arch-json-accent">
            <a:extLst xmlns:a="http://schemas.openxmlformats.org/drawingml/2006/main">
              <a:ext uri="{FF2B5EF4-FFF2-40B4-BE49-F238E27FC236}">
                <a16:creationId xmlns:a16="http://schemas.microsoft.com/office/drawing/2014/main" id="{5ACB213B-2D9D-42FA-B0D2-27A6BCE6AA43}"/>
              </a:ext>
            </a:extLst>
          </p:cNvPr>
          <p:cNvSpPr>
            <a:spLocks xmlns:a="http://schemas.openxmlformats.org/drawingml/2006/main" noGrp="1"/>
          </p:cNvSpPr>
          <p:nvPr/>
        </p:nvSpPr>
        <p:spPr>
          <a:xfrm xmlns:a="http://schemas.openxmlformats.org/drawingml/2006/main">
            <a:off x="6496050" y="2428875"/>
            <a:ext cx="57150" cy="28194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graph-arch-json-title">
            <a:extLst xmlns:a="http://schemas.openxmlformats.org/drawingml/2006/main">
              <a:ext uri="{FF2B5EF4-FFF2-40B4-BE49-F238E27FC236}">
                <a16:creationId xmlns:a16="http://schemas.microsoft.com/office/drawing/2014/main" id="{208B817E-78DF-4E0A-9EAA-4412BCB410BC}"/>
              </a:ext>
            </a:extLst>
          </p:cNvPr>
          <p:cNvSpPr>
            <a:spLocks xmlns:a="http://schemas.openxmlformats.org/drawingml/2006/main" noGrp="1"/>
          </p:cNvSpPr>
          <p:nvPr/>
        </p:nvSpPr>
        <p:spPr>
          <a:xfrm xmlns:a="http://schemas.openxmlformats.org/drawingml/2006/main">
            <a:off x="6705600" y="260032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5F2EA"/>
                </a:solidFill>
                <a:latin typeface="Avenir Next"/>
                <a:ea typeface="Avenir Next"/>
                <a:cs typeface="Avenir Next"/>
              </a:defRPr>
            </a:defPPr>
          </a:lstStyle>
          <a:p xmlns:a="http://schemas.openxmlformats.org/drawingml/2006/main">
            <a:pPr algn="l">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EXPERIMENTAL JSON FRONT END</a:t>
            </a:r>
          </a:p>
        </p:txBody>
      </p:sp>
      <p:sp>
        <p:nvSpPr>
          <p:cNvPr id="17" name="graph-arch-json-body">
            <a:extLst xmlns:a="http://schemas.openxmlformats.org/drawingml/2006/main">
              <a:ext uri="{FF2B5EF4-FFF2-40B4-BE49-F238E27FC236}">
                <a16:creationId xmlns:a16="http://schemas.microsoft.com/office/drawing/2014/main" id="{6D0749C8-2C7F-4CF8-B4EC-5F23A5FBF876}"/>
              </a:ext>
            </a:extLst>
          </p:cNvPr>
          <p:cNvSpPr>
            <a:spLocks xmlns:a="http://schemas.openxmlformats.org/drawingml/2006/main" noGrp="1"/>
          </p:cNvSpPr>
          <p:nvPr/>
        </p:nvSpPr>
        <p:spPr>
          <a:xfrm xmlns:a="http://schemas.openxmlformats.org/drawingml/2006/main">
            <a:off x="6705600" y="3133725"/>
            <a:ext cx="45339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orchlang-request-graph v1</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 finite control states with back-edges</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 relational product worklist</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 certificate + separate replayer</a:t>
            </a:r>
          </a:p>
        </p:txBody>
      </p:sp>
      <p:sp>
        <p:nvSpPr>
          <p:cNvPr id="18" name="graph-arch-separate">
            <a:extLst xmlns:a="http://schemas.openxmlformats.org/drawingml/2006/main">
              <a:ext uri="{FF2B5EF4-FFF2-40B4-BE49-F238E27FC236}">
                <a16:creationId xmlns:a16="http://schemas.microsoft.com/office/drawing/2014/main" id="{D6F21138-45EC-44F0-AA0A-2AA52392AFFB}"/>
              </a:ext>
            </a:extLst>
          </p:cNvPr>
          <p:cNvSpPr>
            <a:spLocks xmlns:a="http://schemas.openxmlformats.org/drawingml/2006/main" noGrp="1"/>
          </p:cNvSpPr>
          <p:nvPr/>
        </p:nvSpPr>
        <p:spPr>
          <a:xfrm xmlns:a="http://schemas.openxmlformats.org/drawingml/2006/main">
            <a:off x="4810125" y="3028950"/>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F8A5C"/>
                </a:solidFill>
                <a:latin typeface="Avenir Next"/>
                <a:ea typeface="Avenir Next"/>
                <a:cs typeface="Avenir Next"/>
              </a:defRPr>
            </a:defPPr>
          </a:lstStyle>
          <a:p xmlns:a="http://schemas.openxmlformats.org/drawingml/2006/main">
            <a:pPr algn="ctr">
              <a:defRPr sz="1050" b="1" i="0">
                <a:solidFill>
                  <a:srgbClr val="FF8A5C"/>
                </a:solidFill>
                <a:latin typeface="Avenir Next"/>
                <a:ea typeface="Avenir Next"/>
                <a:cs typeface="Avenir Next"/>
              </a:defRPr>
            </a:pPr>
            <a:r>
              <a:rPr sz="1050" b="1" i="0">
                <a:solidFill>
                  <a:srgbClr val="FF8A5C"/>
                </a:solidFill>
                <a:latin typeface="Avenir Next"/>
                <a:ea typeface="Avenir Next"/>
                <a:cs typeface="Avenir Next"/>
              </a:rPr>
              <a:t>SEPARATE INPUT MODEL</a:t>
            </a:r>
          </a:p>
        </p:txBody>
      </p:sp>
      <p:sp>
        <p:nvSpPr>
          <p:cNvPr id="19" name="graph-arch-caveat">
            <a:extLst xmlns:a="http://schemas.openxmlformats.org/drawingml/2006/main">
              <a:ext uri="{FF2B5EF4-FFF2-40B4-BE49-F238E27FC236}">
                <a16:creationId xmlns:a16="http://schemas.microsoft.com/office/drawing/2014/main" id="{8B2558B5-E46A-4009-B5E0-302D87691673}"/>
              </a:ext>
            </a:extLst>
          </p:cNvPr>
          <p:cNvSpPr>
            <a:spLocks xmlns:a="http://schemas.openxmlformats.org/drawingml/2006/main" noGrp="1"/>
          </p:cNvSpPr>
          <p:nvPr/>
        </p:nvSpPr>
        <p:spPr>
          <a:xfrm xmlns:a="http://schemas.openxmlformats.org/drawingml/2006/main">
            <a:off x="1028700" y="5534025"/>
            <a:ext cx="10144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B8C1D1"/>
                </a:solidFill>
                <a:latin typeface="Avenir Next"/>
                <a:ea typeface="Avenir Next"/>
                <a:cs typeface="Avenir Next"/>
              </a:defRPr>
            </a:defPPr>
          </a:lstStyle>
          <a:p xmlns:a="http://schemas.openxmlformats.org/drawingml/2006/main">
            <a:pPr algn="ctr">
              <a:defRPr sz="1350" b="1" i="0">
                <a:solidFill>
                  <a:srgbClr val="B8C1D1"/>
                </a:solidFill>
                <a:latin typeface="Avenir Next"/>
                <a:ea typeface="Avenir Next"/>
                <a:cs typeface="Avenir Next"/>
              </a:defRPr>
            </a:pPr>
            <a:r>
              <a:rPr sz="1350" b="1" i="0">
                <a:solidFill>
                  <a:srgbClr val="B8C1D1"/>
                </a:solidFill>
                <a:latin typeface="Avenir Next"/>
                <a:ea typeface="Avenir Next"/>
                <a:cs typeface="Avenir Next"/>
              </a:rPr>
              <a:t>The JSON graph is an explicit model. No source-to-graph or framework-to-graph fidelity is established.</a:t>
            </a:r>
          </a:p>
        </p:txBody>
      </p:sp>
    </p:spTree>
    <p:extLst>
      <p:ext uri="{BB962C8B-B14F-4D97-AF65-F5344CB8AC3E}">
        <p14:creationId xmlns:p14="http://schemas.microsoft.com/office/powerpoint/2010/main" val="77990466"/>
      </p:ext>
    </p:extLst>
  </p:cSld>
</p:sld>
</file>

<file path=ppt/slides/slide4.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3" name="s4-brand">
            <a:extLst xmlns:a="http://schemas.openxmlformats.org/drawingml/2006/main">
              <a:ext uri="{FF2B5EF4-FFF2-40B4-BE49-F238E27FC236}">
                <a16:creationId xmlns:a16="http://schemas.microsoft.com/office/drawing/2014/main" id="{F7C4106C-9209-431C-9153-D2C1109D9107}"/>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4-section">
            <a:extLst xmlns:a="http://schemas.openxmlformats.org/drawingml/2006/main">
              <a:ext uri="{FF2B5EF4-FFF2-40B4-BE49-F238E27FC236}">
                <a16:creationId xmlns:a16="http://schemas.microsoft.com/office/drawing/2014/main" id="{E0A37DB9-AC90-4B3F-B290-E12BE8750168}"/>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OBSERVATION</a:t>
            </a:r>
          </a:p>
        </p:txBody>
      </p:sp>
      <p:sp>
        <p:nvSpPr>
          <p:cNvPr id="3" name="s4-title">
            <a:extLst xmlns:a="http://schemas.openxmlformats.org/drawingml/2006/main">
              <a:ext uri="{FF2B5EF4-FFF2-40B4-BE49-F238E27FC236}">
                <a16:creationId xmlns:a16="http://schemas.microsoft.com/office/drawing/2014/main" id="{4A15A864-8629-4D03-9CA7-46C2ED77A2B9}"/>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Compare usage-event prefixes under a shared oracle</a:t>
            </a:r>
          </a:p>
        </p:txBody>
      </p:sp>
      <p:sp>
        <p:nvSpPr>
          <p:cNvPr id="4" name="s4-subtitle">
            <a:extLst xmlns:a="http://schemas.openxmlformats.org/drawingml/2006/main">
              <a:ext uri="{FF2B5EF4-FFF2-40B4-BE49-F238E27FC236}">
                <a16:creationId xmlns:a16="http://schemas.microsoft.com/office/drawing/2014/main" id="{5EEAEFB6-7E2F-46FA-BC18-1FE5C9E14B5E}"/>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Equal public identities; arbitrary secret choices; one declared model/request relation.</a:t>
            </a:r>
          </a:p>
        </p:txBody>
      </p:sp>
      <p:sp>
        <p:nvSpPr>
          <p:cNvPr id="5" name="s4-source-rule">
            <a:extLst xmlns:a="http://schemas.openxmlformats.org/drawingml/2006/main">
              <a:ext uri="{FF2B5EF4-FFF2-40B4-BE49-F238E27FC236}">
                <a16:creationId xmlns:a16="http://schemas.microsoft.com/office/drawing/2014/main" id="{CF6DEFFF-5BEE-4548-8E09-0B513FA540A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4-sources">
            <a:extLst xmlns:a="http://schemas.openxmlformats.org/drawingml/2006/main">
              <a:ext uri="{FF2B5EF4-FFF2-40B4-BE49-F238E27FC236}">
                <a16:creationId xmlns:a16="http://schemas.microsoft.com/office/drawing/2014/main" id="{F1C63640-2F6D-4322-80D6-538FF7F71169}"/>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docs/CYCLIC_METHOD_REVIEW.md; audit/orchgraph.py; docs/FORMAL_CONTRACT.md</a:t>
            </a:r>
          </a:p>
        </p:txBody>
      </p:sp>
      <p:sp>
        <p:nvSpPr>
          <p:cNvPr id="7" name="s4-footer-rule">
            <a:extLst xmlns:a="http://schemas.openxmlformats.org/drawingml/2006/main">
              <a:ext uri="{FF2B5EF4-FFF2-40B4-BE49-F238E27FC236}">
                <a16:creationId xmlns:a16="http://schemas.microsoft.com/office/drawing/2014/main" id="{69D0DFD1-8F8D-4CF0-8800-9B59D67E06D2}"/>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4-footer">
            <a:extLst xmlns:a="http://schemas.openxmlformats.org/drawingml/2006/main">
              <a:ext uri="{FF2B5EF4-FFF2-40B4-BE49-F238E27FC236}">
                <a16:creationId xmlns:a16="http://schemas.microsoft.com/office/drawing/2014/main" id="{7DDDB37A-C192-4841-946D-FC096DB1F6A7}"/>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4-page">
            <a:extLst xmlns:a="http://schemas.openxmlformats.org/drawingml/2006/main">
              <a:ext uri="{FF2B5EF4-FFF2-40B4-BE49-F238E27FC236}">
                <a16:creationId xmlns:a16="http://schemas.microsoft.com/office/drawing/2014/main" id="{E0CD713D-DC0D-49BA-9DF8-E6CEDB71D79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4</a:t>
            </a:r>
          </a:p>
        </p:txBody>
      </p:sp>
      <p:sp>
        <p:nvSpPr>
          <p:cNvPr id="10" name="graph-observe-premise-panel">
            <a:extLst xmlns:a="http://schemas.openxmlformats.org/drawingml/2006/main">
              <a:ext uri="{FF2B5EF4-FFF2-40B4-BE49-F238E27FC236}">
                <a16:creationId xmlns:a16="http://schemas.microsoft.com/office/drawing/2014/main" id="{C3FA371F-D7E7-4DD6-B3E6-4B94457E270B}"/>
              </a:ext>
            </a:extLst>
          </p:cNvPr>
          <p:cNvSpPr>
            <a:spLocks xmlns:a="http://schemas.openxmlformats.org/drawingml/2006/main" noGrp="1"/>
          </p:cNvSpPr>
          <p:nvPr/>
        </p:nvSpPr>
        <p:spPr>
          <a:xfrm xmlns:a="http://schemas.openxmlformats.org/drawingml/2006/main">
            <a:off x="781050" y="2514600"/>
            <a:ext cx="10334625"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11" name="graph-observe-premise-accent">
            <a:extLst xmlns:a="http://schemas.openxmlformats.org/drawingml/2006/main">
              <a:ext uri="{FF2B5EF4-FFF2-40B4-BE49-F238E27FC236}">
                <a16:creationId xmlns:a16="http://schemas.microsoft.com/office/drawing/2014/main" id="{2145D28F-699D-4312-B76F-9FDFE2C35223}"/>
              </a:ext>
            </a:extLst>
          </p:cNvPr>
          <p:cNvSpPr>
            <a:spLocks xmlns:a="http://schemas.openxmlformats.org/drawingml/2006/main" noGrp="1"/>
          </p:cNvSpPr>
          <p:nvPr/>
        </p:nvSpPr>
        <p:spPr>
          <a:xfrm xmlns:a="http://schemas.openxmlformats.org/drawingml/2006/main">
            <a:off x="781050" y="2514600"/>
            <a:ext cx="57150" cy="8763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graph-observe-premise-title">
            <a:extLst xmlns:a="http://schemas.openxmlformats.org/drawingml/2006/main">
              <a:ext uri="{FF2B5EF4-FFF2-40B4-BE49-F238E27FC236}">
                <a16:creationId xmlns:a16="http://schemas.microsoft.com/office/drawing/2014/main" id="{731AA4C5-3ABC-4A34-962D-5783DE16C48C}"/>
              </a:ext>
            </a:extLst>
          </p:cNvPr>
          <p:cNvSpPr>
            <a:spLocks xmlns:a="http://schemas.openxmlformats.org/drawingml/2006/main" noGrp="1"/>
          </p:cNvSpPr>
          <p:nvPr/>
        </p:nvSpPr>
        <p:spPr>
          <a:xfrm xmlns:a="http://schemas.openxmlformats.org/drawingml/2006/main">
            <a:off x="990600" y="2686050"/>
            <a:ext cx="99155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Avenir Next"/>
                <a:ea typeface="Avenir Next"/>
                <a:cs typeface="Avenir Next"/>
              </a:defRPr>
            </a:defPPr>
          </a:lstStyle>
          <a:p xmlns:a="http://schemas.openxmlformats.org/drawingml/2006/main">
            <a:pPr algn="l">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PAIRED RUNS</a:t>
            </a:r>
          </a:p>
        </p:txBody>
      </p:sp>
      <p:sp>
        <p:nvSpPr>
          <p:cNvPr id="13" name="graph-observe-premise-body">
            <a:extLst xmlns:a="http://schemas.openxmlformats.org/drawingml/2006/main">
              <a:ext uri="{FF2B5EF4-FFF2-40B4-BE49-F238E27FC236}">
                <a16:creationId xmlns:a16="http://schemas.microsoft.com/office/drawing/2014/main" id="{699E2D26-716E-4B6B-BD8C-5A09F117BB1F}"/>
              </a:ext>
            </a:extLst>
          </p:cNvPr>
          <p:cNvSpPr>
            <a:spLocks xmlns:a="http://schemas.openxmlformats.org/drawingml/2006/main" noGrp="1"/>
          </p:cNvSpPr>
          <p:nvPr/>
        </p:nvSpPr>
        <p:spPr>
          <a:xfrm xmlns:a="http://schemas.openxmlformats.org/drawingml/2006/main">
            <a:off x="990600" y="2962275"/>
            <a:ext cx="99155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646B7A"/>
                </a:solidFill>
                <a:latin typeface="Menlo"/>
                <a:ea typeface="Menlo"/>
                <a:cs typeface="Menlo"/>
              </a:defRPr>
            </a:defPPr>
          </a:lstStyle>
          <a:p xmlns:a="http://schemas.openxmlformats.org/drawingml/2006/main">
            <a:pPr algn="l">
              <a:defRPr sz="1425" b="0" i="0">
                <a:solidFill>
                  <a:srgbClr val="646B7A"/>
                </a:solidFill>
                <a:latin typeface="Menlo"/>
                <a:ea typeface="Menlo"/>
                <a:cs typeface="Menlo"/>
              </a:defRPr>
            </a:pPr>
            <a:r>
              <a:rPr sz="1425" b="0" i="0">
                <a:solidFill>
                  <a:srgbClr val="646B7A"/>
                </a:solidFill>
                <a:latin typeface="Menlo"/>
                <a:ea typeface="Menlo"/>
                <a:cs typeface="Menlo"/>
              </a:rPr>
              <a:t>same graph · equal public-input identities · secrets may differ</a:t>
            </a:r>
          </a:p>
        </p:txBody>
      </p:sp>
      <p:sp>
        <p:nvSpPr>
          <p:cNvPr id="14" name="graph-observe-event-panel">
            <a:extLst xmlns:a="http://schemas.openxmlformats.org/drawingml/2006/main">
              <a:ext uri="{FF2B5EF4-FFF2-40B4-BE49-F238E27FC236}">
                <a16:creationId xmlns:a16="http://schemas.microsoft.com/office/drawing/2014/main" id="{DF7A11C1-3D35-42DC-BC4A-A4BEC6CB38FE}"/>
              </a:ext>
            </a:extLst>
          </p:cNvPr>
          <p:cNvSpPr>
            <a:spLocks xmlns:a="http://schemas.openxmlformats.org/drawingml/2006/main" noGrp="1"/>
          </p:cNvSpPr>
          <p:nvPr/>
        </p:nvSpPr>
        <p:spPr>
          <a:xfrm xmlns:a="http://schemas.openxmlformats.org/drawingml/2006/main">
            <a:off x="781050" y="3609975"/>
            <a:ext cx="5000625" cy="1238250"/>
          </a:xfrm>
          <a:prstGeom xmlns:a="http://schemas.openxmlformats.org/drawingml/2006/main" prst="roundRect">
            <a:avLst>
              <a:gd name="adj" fmla="val 6154"/>
            </a:avLst>
          </a:prstGeom>
          <a:solidFill xmlns:a="http://schemas.openxmlformats.org/drawingml/2006/main">
            <a:srgbClr val="FFFDF8"/>
          </a:solidFill>
          <a:ln xmlns:a="http://schemas.openxmlformats.org/drawingml/2006/main" w="9525">
            <a:solidFill>
              <a:srgbClr val="D7D0C4"/>
            </a:solidFill>
            <a:prstDash val="solid"/>
          </a:ln>
        </p:spPr>
      </p:sp>
      <p:sp>
        <p:nvSpPr>
          <p:cNvPr id="15" name="graph-observe-event-accent">
            <a:extLst xmlns:a="http://schemas.openxmlformats.org/drawingml/2006/main">
              <a:ext uri="{FF2B5EF4-FFF2-40B4-BE49-F238E27FC236}">
                <a16:creationId xmlns:a16="http://schemas.microsoft.com/office/drawing/2014/main" id="{390BE040-4934-4B2C-B030-7281F9759355}"/>
              </a:ext>
            </a:extLst>
          </p:cNvPr>
          <p:cNvSpPr>
            <a:spLocks xmlns:a="http://schemas.openxmlformats.org/drawingml/2006/main" noGrp="1"/>
          </p:cNvSpPr>
          <p:nvPr/>
        </p:nvSpPr>
        <p:spPr>
          <a:xfrm xmlns:a="http://schemas.openxmlformats.org/drawingml/2006/main">
            <a:off x="781050" y="3609975"/>
            <a:ext cx="57150" cy="12382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graph-observe-event-title">
            <a:extLst xmlns:a="http://schemas.openxmlformats.org/drawingml/2006/main">
              <a:ext uri="{FF2B5EF4-FFF2-40B4-BE49-F238E27FC236}">
                <a16:creationId xmlns:a16="http://schemas.microsoft.com/office/drawing/2014/main" id="{4C104449-15F3-465F-97E2-7A9A78A76E1F}"/>
              </a:ext>
            </a:extLst>
          </p:cNvPr>
          <p:cNvSpPr>
            <a:spLocks xmlns:a="http://schemas.openxmlformats.org/drawingml/2006/main" noGrp="1"/>
          </p:cNvSpPr>
          <p:nvPr/>
        </p:nvSpPr>
        <p:spPr>
          <a:xfrm xmlns:a="http://schemas.openxmlformats.org/drawingml/2006/main">
            <a:off x="990600" y="3781425"/>
            <a:ext cx="4581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Avenir Next"/>
                <a:ea typeface="Avenir Next"/>
                <a:cs typeface="Avenir Next"/>
              </a:defRPr>
            </a:defPPr>
          </a:lstStyle>
          <a:p xmlns:a="http://schemas.openxmlformats.org/drawingml/2006/main">
            <a:pPr algn="l">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VISIBLE EVENT</a:t>
            </a:r>
          </a:p>
        </p:txBody>
      </p:sp>
      <p:sp>
        <p:nvSpPr>
          <p:cNvPr id="17" name="graph-observe-event-body">
            <a:extLst xmlns:a="http://schemas.openxmlformats.org/drawingml/2006/main">
              <a:ext uri="{FF2B5EF4-FFF2-40B4-BE49-F238E27FC236}">
                <a16:creationId xmlns:a16="http://schemas.microsoft.com/office/drawing/2014/main" id="{FD1A1784-5747-41B4-BF8C-0A6CE9274232}"/>
              </a:ext>
            </a:extLst>
          </p:cNvPr>
          <p:cNvSpPr>
            <a:spLocks xmlns:a="http://schemas.openxmlformats.org/drawingml/2006/main" noGrp="1"/>
          </p:cNvSpPr>
          <p:nvPr/>
        </p:nvSpPr>
        <p:spPr>
          <a:xfrm xmlns:a="http://schemas.openxmlformats.org/drawingml/2006/main">
            <a:off x="990600" y="4200525"/>
            <a:ext cx="45815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646B7A"/>
                </a:solidFill>
                <a:latin typeface="Menlo"/>
                <a:ea typeface="Menlo"/>
                <a:cs typeface="Menlo"/>
              </a:defRPr>
            </a:defPPr>
          </a:lstStyle>
          <a:p xmlns:a="http://schemas.openxmlformats.org/drawingml/2006/main">
            <a:pPr algn="l">
              <a:defRPr sz="1425" b="0" i="0">
                <a:solidFill>
                  <a:srgbClr val="646B7A"/>
                </a:solidFill>
                <a:latin typeface="Menlo"/>
                <a:ea typeface="Menlo"/>
                <a:cs typeface="Menlo"/>
              </a:defRPr>
            </a:pPr>
            <a:r>
              <a:rPr sz="1425" b="0" i="0">
                <a:solidFill>
                  <a:srgbClr val="646B7A"/>
                </a:solidFill>
                <a:latin typeface="Menlo"/>
                <a:ea typeface="Menlo"/>
                <a:cs typeface="Menlo"/>
              </a:rPr>
              <a:t>(resolved contract, input usage, output usage)</a:t>
            </a:r>
          </a:p>
        </p:txBody>
      </p:sp>
      <p:sp>
        <p:nvSpPr>
          <p:cNvPr id="18" name="graph-observe-coupling-panel">
            <a:extLst xmlns:a="http://schemas.openxmlformats.org/drawingml/2006/main">
              <a:ext uri="{FF2B5EF4-FFF2-40B4-BE49-F238E27FC236}">
                <a16:creationId xmlns:a16="http://schemas.microsoft.com/office/drawing/2014/main" id="{8E272A69-888A-4218-A6AA-D4F5012A216C}"/>
              </a:ext>
            </a:extLst>
          </p:cNvPr>
          <p:cNvSpPr>
            <a:spLocks xmlns:a="http://schemas.openxmlformats.org/drawingml/2006/main" noGrp="1"/>
          </p:cNvSpPr>
          <p:nvPr/>
        </p:nvSpPr>
        <p:spPr>
          <a:xfrm xmlns:a="http://schemas.openxmlformats.org/drawingml/2006/main">
            <a:off x="6115050" y="3609975"/>
            <a:ext cx="5000625" cy="1238250"/>
          </a:xfrm>
          <a:prstGeom xmlns:a="http://schemas.openxmlformats.org/drawingml/2006/main" prst="roundRect">
            <a:avLst>
              <a:gd name="adj" fmla="val 6154"/>
            </a:avLst>
          </a:prstGeom>
          <a:solidFill xmlns:a="http://schemas.openxmlformats.org/drawingml/2006/main">
            <a:srgbClr val="FFFDF8"/>
          </a:solidFill>
          <a:ln xmlns:a="http://schemas.openxmlformats.org/drawingml/2006/main" w="9525">
            <a:solidFill>
              <a:srgbClr val="D7D0C4"/>
            </a:solidFill>
            <a:prstDash val="solid"/>
          </a:ln>
        </p:spPr>
      </p:sp>
      <p:sp>
        <p:nvSpPr>
          <p:cNvPr id="19" name="graph-observe-coupling-accent">
            <a:extLst xmlns:a="http://schemas.openxmlformats.org/drawingml/2006/main">
              <a:ext uri="{FF2B5EF4-FFF2-40B4-BE49-F238E27FC236}">
                <a16:creationId xmlns:a16="http://schemas.microsoft.com/office/drawing/2014/main" id="{BB81F7BF-B6DE-4667-BCD4-E738652A20AF}"/>
              </a:ext>
            </a:extLst>
          </p:cNvPr>
          <p:cNvSpPr>
            <a:spLocks xmlns:a="http://schemas.openxmlformats.org/drawingml/2006/main" noGrp="1"/>
          </p:cNvSpPr>
          <p:nvPr/>
        </p:nvSpPr>
        <p:spPr>
          <a:xfrm xmlns:a="http://schemas.openxmlformats.org/drawingml/2006/main">
            <a:off x="6115050" y="3609975"/>
            <a:ext cx="57150" cy="12382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0" name="graph-observe-coupling-title">
            <a:extLst xmlns:a="http://schemas.openxmlformats.org/drawingml/2006/main">
              <a:ext uri="{FF2B5EF4-FFF2-40B4-BE49-F238E27FC236}">
                <a16:creationId xmlns:a16="http://schemas.microsoft.com/office/drawing/2014/main" id="{E38BD7F1-0A52-402E-86D7-322CEEB0B025}"/>
              </a:ext>
            </a:extLst>
          </p:cNvPr>
          <p:cNvSpPr>
            <a:spLocks xmlns:a="http://schemas.openxmlformats.org/drawingml/2006/main" noGrp="1"/>
          </p:cNvSpPr>
          <p:nvPr/>
        </p:nvSpPr>
        <p:spPr>
          <a:xfrm xmlns:a="http://schemas.openxmlformats.org/drawingml/2006/main">
            <a:off x="6324600" y="3781425"/>
            <a:ext cx="4581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Avenir Next"/>
                <a:ea typeface="Avenir Next"/>
                <a:cs typeface="Avenir Next"/>
              </a:defRPr>
            </a:defPPr>
          </a:lstStyle>
          <a:p xmlns:a="http://schemas.openxmlformats.org/drawingml/2006/main">
            <a:pPr algn="l">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COUPLING</a:t>
            </a:r>
          </a:p>
        </p:txBody>
      </p:sp>
      <p:sp>
        <p:nvSpPr>
          <p:cNvPr id="21" name="graph-observe-coupling-body">
            <a:extLst xmlns:a="http://schemas.openxmlformats.org/drawingml/2006/main">
              <a:ext uri="{FF2B5EF4-FFF2-40B4-BE49-F238E27FC236}">
                <a16:creationId xmlns:a16="http://schemas.microsoft.com/office/drawing/2014/main" id="{A0550C79-2360-4902-91B1-92F28AEA5FF3}"/>
              </a:ext>
            </a:extLst>
          </p:cNvPr>
          <p:cNvSpPr>
            <a:spLocks xmlns:a="http://schemas.openxmlformats.org/drawingml/2006/main" noGrp="1"/>
          </p:cNvSpPr>
          <p:nvPr/>
        </p:nvSpPr>
        <p:spPr>
          <a:xfrm xmlns:a="http://schemas.openxmlformats.org/drawingml/2006/main">
            <a:off x="6324600" y="4200525"/>
            <a:ext cx="45815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88" b="0" i="0">
                <a:solidFill>
                  <a:srgbClr val="646B7A"/>
                </a:solidFill>
                <a:latin typeface="Menlo"/>
                <a:ea typeface="Menlo"/>
                <a:cs typeface="Menlo"/>
              </a:defRPr>
            </a:defPPr>
          </a:lstStyle>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Ω(contract, per-contract index, exact DSL request)</a:t>
            </a:r>
          </a:p>
        </p:txBody>
      </p:sp>
      <p:sp>
        <p:nvSpPr>
          <p:cNvPr id="22" name="graph-observe-claim">
            <a:extLst xmlns:a="http://schemas.openxmlformats.org/drawingml/2006/main">
              <a:ext uri="{FF2B5EF4-FFF2-40B4-BE49-F238E27FC236}">
                <a16:creationId xmlns:a16="http://schemas.microsoft.com/office/drawing/2014/main" id="{6E2951CF-02E2-4C01-86FC-9EAD937C61DD}"/>
              </a:ext>
            </a:extLst>
          </p:cNvPr>
          <p:cNvSpPr>
            <a:spLocks xmlns:a="http://schemas.openxmlformats.org/drawingml/2006/main" noGrp="1"/>
          </p:cNvSpPr>
          <p:nvPr/>
        </p:nvSpPr>
        <p:spPr>
          <a:xfrm xmlns:a="http://schemas.openxmlformats.org/drawingml/2006/main">
            <a:off x="952500" y="5276850"/>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141B2B"/>
                </a:solidFill>
                <a:latin typeface="Avenir Next"/>
                <a:ea typeface="Avenir Next"/>
                <a:cs typeface="Avenir Next"/>
              </a:defRPr>
            </a:defPPr>
          </a:lstStyle>
          <a:p xmlns:a="http://schemas.openxmlformats.org/drawingml/2006/main">
            <a:pPr algn="ctr">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Claim: every finite modeled usage-event prefix agrees; termination and total-cost bounds are separate.</a:t>
            </a:r>
          </a:p>
        </p:txBody>
      </p:sp>
    </p:spTree>
    <p:extLst>
      <p:ext uri="{BB962C8B-B14F-4D97-AF65-F5344CB8AC3E}">
        <p14:creationId xmlns:p14="http://schemas.microsoft.com/office/powerpoint/2010/main" val="1852676540"/>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0D66A88-8D7A-4BC8-B4E7-7FFB6F31B0C9}"/>
              </a:ext>
            </a:extLst>
          </p:cNvPr>
          <p:cNvCxnSpPr>
            <a:stCxn xmlns:a="http://schemas.openxmlformats.org/drawingml/2006/main" id="14" idx="1"/>
            <a:endCxn xmlns:a="http://schemas.openxmlformats.org/drawingml/2006/main" id="18" idx="3"/>
          </p:cNvCxnSpPr>
          <p:nvPr/>
        </p:nvCxnSpPr>
        <p:spPr>
          <a:xfrm xmlns:a="http://schemas.openxmlformats.org/drawingml/2006/main" flipH="1">
            <a:off x="7677150" y="3705225"/>
            <a:ext cx="609600" cy="0"/>
          </a:xfrm>
          <a:prstGeom xmlns:a="http://schemas.openxmlformats.org/drawingml/2006/main" prst="straightConnector1">
            <a:avLst/>
          </a:prstGeom>
          <a:ln xmlns:a="http://schemas.openxmlformats.org/drawingml/2006/main" w="19050">
            <a:solidFill>
              <a:srgbClr val="5CC8B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5A4DDFA8-3B7F-4F27-B282-68153B616BD1}"/>
              </a:ext>
            </a:extLst>
          </p:cNvPr>
          <p:cNvCxnSpPr>
            <a:stCxn xmlns:a="http://schemas.openxmlformats.org/drawingml/2006/main" id="10" idx="3"/>
            <a:endCxn xmlns:a="http://schemas.openxmlformats.org/drawingml/2006/main" id="18" idx="1"/>
          </p:cNvCxnSpPr>
          <p:nvPr/>
        </p:nvCxnSpPr>
        <p:spPr>
          <a:xfrm xmlns:a="http://schemas.openxmlformats.org/drawingml/2006/main">
            <a:off x="3905250" y="3705225"/>
            <a:ext cx="609600" cy="0"/>
          </a:xfrm>
          <a:prstGeom xmlns:a="http://schemas.openxmlformats.org/drawingml/2006/main" prst="straightConnector1">
            <a:avLst/>
          </a:prstGeom>
          <a:ln xmlns:a="http://schemas.openxmlformats.org/drawingml/2006/main" w="19050">
            <a:solidFill>
              <a:srgbClr val="FF8A5C"/>
            </a:solidFill>
            <a:prstDash val="solid"/>
            <a:tailEnd type="triangle" w="sm" len="sm"/>
          </a:ln>
        </p:spPr>
      </p:cxnSp>
      <p:sp>
        <p:nvSpPr>
          <p:cNvPr id="25" name="s5-brand">
            <a:extLst xmlns:a="http://schemas.openxmlformats.org/drawingml/2006/main">
              <a:ext uri="{FF2B5EF4-FFF2-40B4-BE49-F238E27FC236}">
                <a16:creationId xmlns:a16="http://schemas.microsoft.com/office/drawing/2014/main" id="{B2765DB5-1EC8-4355-8B45-43180871D845}"/>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5-section">
            <a:extLst xmlns:a="http://schemas.openxmlformats.org/drawingml/2006/main">
              <a:ext uri="{FF2B5EF4-FFF2-40B4-BE49-F238E27FC236}">
                <a16:creationId xmlns:a16="http://schemas.microsoft.com/office/drawing/2014/main" id="{CFC27DE7-2A5E-4FB0-833C-96F2673B6689}"/>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PRODUCT CONSTRUCTION</a:t>
            </a:r>
          </a:p>
        </p:txBody>
      </p:sp>
      <p:sp>
        <p:nvSpPr>
          <p:cNvPr id="3" name="s5-title">
            <a:extLst xmlns:a="http://schemas.openxmlformats.org/drawingml/2006/main">
              <a:ext uri="{FF2B5EF4-FFF2-40B4-BE49-F238E27FC236}">
                <a16:creationId xmlns:a16="http://schemas.microsoft.com/office/drawing/2014/main" id="{3389DB52-9157-4186-AC94-CEEB4D39A02A}"/>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product state pairs control and related registers</a:t>
            </a:r>
          </a:p>
        </p:txBody>
      </p:sp>
      <p:sp>
        <p:nvSpPr>
          <p:cNvPr id="4" name="s5-subtitle">
            <a:extLst xmlns:a="http://schemas.openxmlformats.org/drawingml/2006/main">
              <a:ext uri="{FF2B5EF4-FFF2-40B4-BE49-F238E27FC236}">
                <a16:creationId xmlns:a16="http://schemas.microsoft.com/office/drawing/2014/main" id="{CBE65D39-F808-4EC7-8505-F2BE114C39B4}"/>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A call result enters the relation only after a matched request under Ω.</a:t>
            </a:r>
          </a:p>
        </p:txBody>
      </p:sp>
      <p:sp>
        <p:nvSpPr>
          <p:cNvPr id="5" name="s5-source-rule">
            <a:extLst xmlns:a="http://schemas.openxmlformats.org/drawingml/2006/main">
              <a:ext uri="{FF2B5EF4-FFF2-40B4-BE49-F238E27FC236}">
                <a16:creationId xmlns:a16="http://schemas.microsoft.com/office/drawing/2014/main" id="{1FC0305D-BF86-48A8-9824-CA587FCAD804}"/>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5-sources">
            <a:extLst xmlns:a="http://schemas.openxmlformats.org/drawingml/2006/main">
              <a:ext uri="{FF2B5EF4-FFF2-40B4-BE49-F238E27FC236}">
                <a16:creationId xmlns:a16="http://schemas.microsoft.com/office/drawing/2014/main" id="{5FFCD6C1-3D32-4389-8D7C-54B93AA44125}"/>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docs/CYCLIC_METHOD_REVIEW.md; audit/orchgraph.py; audit/test_orchgraph.py</a:t>
            </a:r>
          </a:p>
        </p:txBody>
      </p:sp>
      <p:sp>
        <p:nvSpPr>
          <p:cNvPr id="7" name="s5-footer-rule">
            <a:extLst xmlns:a="http://schemas.openxmlformats.org/drawingml/2006/main">
              <a:ext uri="{FF2B5EF4-FFF2-40B4-BE49-F238E27FC236}">
                <a16:creationId xmlns:a16="http://schemas.microsoft.com/office/drawing/2014/main" id="{528C96C2-A9E1-4FA1-BD17-9962FE17537F}"/>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5-footer">
            <a:extLst xmlns:a="http://schemas.openxmlformats.org/drawingml/2006/main">
              <a:ext uri="{FF2B5EF4-FFF2-40B4-BE49-F238E27FC236}">
                <a16:creationId xmlns:a16="http://schemas.microsoft.com/office/drawing/2014/main" id="{1A466CA4-4EB9-40A8-A3E9-2AB76513F0FF}"/>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5-page">
            <a:extLst xmlns:a="http://schemas.openxmlformats.org/drawingml/2006/main">
              <a:ext uri="{FF2B5EF4-FFF2-40B4-BE49-F238E27FC236}">
                <a16:creationId xmlns:a16="http://schemas.microsoft.com/office/drawing/2014/main" id="{838E5B62-36E4-426E-8FFC-139577011A7F}"/>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5</a:t>
            </a:r>
          </a:p>
        </p:txBody>
      </p:sp>
      <p:sp>
        <p:nvSpPr>
          <p:cNvPr id="10" name="product-left-panel">
            <a:extLst xmlns:a="http://schemas.openxmlformats.org/drawingml/2006/main">
              <a:ext uri="{FF2B5EF4-FFF2-40B4-BE49-F238E27FC236}">
                <a16:creationId xmlns:a16="http://schemas.microsoft.com/office/drawing/2014/main" id="{E2D99C54-5689-4ED6-B52A-C4A0BE8D11AB}"/>
              </a:ext>
            </a:extLst>
          </p:cNvPr>
          <p:cNvSpPr>
            <a:spLocks xmlns:a="http://schemas.openxmlformats.org/drawingml/2006/main" noGrp="1"/>
          </p:cNvSpPr>
          <p:nvPr/>
        </p:nvSpPr>
        <p:spPr>
          <a:xfrm xmlns:a="http://schemas.openxmlformats.org/drawingml/2006/main">
            <a:off x="762000" y="2619375"/>
            <a:ext cx="3143250" cy="2171700"/>
          </a:xfrm>
          <a:prstGeom xmlns:a="http://schemas.openxmlformats.org/drawingml/2006/main" prst="roundRect">
            <a:avLst>
              <a:gd name="adj" fmla="val 3509"/>
            </a:avLst>
          </a:prstGeom>
          <a:solidFill xmlns:a="http://schemas.openxmlformats.org/drawingml/2006/main">
            <a:srgbClr val="1C2638"/>
          </a:solidFill>
          <a:ln xmlns:a="http://schemas.openxmlformats.org/drawingml/2006/main" w="9525">
            <a:solidFill>
              <a:srgbClr val="343D50"/>
            </a:solidFill>
            <a:prstDash val="solid"/>
          </a:ln>
        </p:spPr>
      </p:sp>
      <p:sp>
        <p:nvSpPr>
          <p:cNvPr id="11" name="product-left-accent">
            <a:extLst xmlns:a="http://schemas.openxmlformats.org/drawingml/2006/main">
              <a:ext uri="{FF2B5EF4-FFF2-40B4-BE49-F238E27FC236}">
                <a16:creationId xmlns:a16="http://schemas.microsoft.com/office/drawing/2014/main" id="{25481FBA-E176-4593-B2DF-A5B2C154FCAE}"/>
              </a:ext>
            </a:extLst>
          </p:cNvPr>
          <p:cNvSpPr>
            <a:spLocks xmlns:a="http://schemas.openxmlformats.org/drawingml/2006/main" noGrp="1"/>
          </p:cNvSpPr>
          <p:nvPr/>
        </p:nvSpPr>
        <p:spPr>
          <a:xfrm xmlns:a="http://schemas.openxmlformats.org/drawingml/2006/main">
            <a:off x="762000" y="2619375"/>
            <a:ext cx="57150" cy="21717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2" name="product-left-title">
            <a:extLst xmlns:a="http://schemas.openxmlformats.org/drawingml/2006/main">
              <a:ext uri="{FF2B5EF4-FFF2-40B4-BE49-F238E27FC236}">
                <a16:creationId xmlns:a16="http://schemas.microsoft.com/office/drawing/2014/main" id="{74AE2A26-DDF6-40A2-8010-316FD9165A93}"/>
              </a:ext>
            </a:extLst>
          </p:cNvPr>
          <p:cNvSpPr>
            <a:spLocks xmlns:a="http://schemas.openxmlformats.org/drawingml/2006/main" noGrp="1"/>
          </p:cNvSpPr>
          <p:nvPr/>
        </p:nvSpPr>
        <p:spPr>
          <a:xfrm xmlns:a="http://schemas.openxmlformats.org/drawingml/2006/main">
            <a:off x="971550" y="2790825"/>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LEFT RUN</a:t>
            </a:r>
          </a:p>
        </p:txBody>
      </p:sp>
      <p:sp>
        <p:nvSpPr>
          <p:cNvPr id="13" name="product-left-body">
            <a:extLst xmlns:a="http://schemas.openxmlformats.org/drawingml/2006/main">
              <a:ext uri="{FF2B5EF4-FFF2-40B4-BE49-F238E27FC236}">
                <a16:creationId xmlns:a16="http://schemas.microsoft.com/office/drawing/2014/main" id="{C405A0E0-F11D-4DA4-979F-84DDF7596D43}"/>
              </a:ext>
            </a:extLst>
          </p:cNvPr>
          <p:cNvSpPr>
            <a:spLocks xmlns:a="http://schemas.openxmlformats.org/drawingml/2006/main" noGrp="1"/>
          </p:cNvSpPr>
          <p:nvPr/>
        </p:nvSpPr>
        <p:spPr>
          <a:xfrm xmlns:a="http://schemas.openxmlformats.org/drawingml/2006/main">
            <a:off x="971550" y="3324225"/>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pcL = state 12</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registers: a, b</a:t>
            </a:r>
          </a:p>
        </p:txBody>
      </p:sp>
      <p:sp>
        <p:nvSpPr>
          <p:cNvPr id="14" name="product-right-panel">
            <a:extLst xmlns:a="http://schemas.openxmlformats.org/drawingml/2006/main">
              <a:ext uri="{FF2B5EF4-FFF2-40B4-BE49-F238E27FC236}">
                <a16:creationId xmlns:a16="http://schemas.microsoft.com/office/drawing/2014/main" id="{1D767EAB-3766-4B52-80B9-B88FAE3FA871}"/>
              </a:ext>
            </a:extLst>
          </p:cNvPr>
          <p:cNvSpPr>
            <a:spLocks xmlns:a="http://schemas.openxmlformats.org/drawingml/2006/main" noGrp="1"/>
          </p:cNvSpPr>
          <p:nvPr/>
        </p:nvSpPr>
        <p:spPr>
          <a:xfrm xmlns:a="http://schemas.openxmlformats.org/drawingml/2006/main">
            <a:off x="8286750" y="2619375"/>
            <a:ext cx="3143250" cy="2171700"/>
          </a:xfrm>
          <a:prstGeom xmlns:a="http://schemas.openxmlformats.org/drawingml/2006/main" prst="roundRect">
            <a:avLst>
              <a:gd name="adj" fmla="val 3509"/>
            </a:avLst>
          </a:prstGeom>
          <a:solidFill xmlns:a="http://schemas.openxmlformats.org/drawingml/2006/main">
            <a:srgbClr val="1C2638"/>
          </a:solidFill>
          <a:ln xmlns:a="http://schemas.openxmlformats.org/drawingml/2006/main" w="9525">
            <a:solidFill>
              <a:srgbClr val="343D50"/>
            </a:solidFill>
            <a:prstDash val="solid"/>
          </a:ln>
        </p:spPr>
      </p:sp>
      <p:sp>
        <p:nvSpPr>
          <p:cNvPr id="15" name="product-right-accent">
            <a:extLst xmlns:a="http://schemas.openxmlformats.org/drawingml/2006/main">
              <a:ext uri="{FF2B5EF4-FFF2-40B4-BE49-F238E27FC236}">
                <a16:creationId xmlns:a16="http://schemas.microsoft.com/office/drawing/2014/main" id="{57DD7E81-531A-408B-87BB-FB637C6828F9}"/>
              </a:ext>
            </a:extLst>
          </p:cNvPr>
          <p:cNvSpPr>
            <a:spLocks xmlns:a="http://schemas.openxmlformats.org/drawingml/2006/main" noGrp="1"/>
          </p:cNvSpPr>
          <p:nvPr/>
        </p:nvSpPr>
        <p:spPr>
          <a:xfrm xmlns:a="http://schemas.openxmlformats.org/drawingml/2006/main">
            <a:off x="8286750" y="2619375"/>
            <a:ext cx="57150" cy="21717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product-right-title">
            <a:extLst xmlns:a="http://schemas.openxmlformats.org/drawingml/2006/main">
              <a:ext uri="{FF2B5EF4-FFF2-40B4-BE49-F238E27FC236}">
                <a16:creationId xmlns:a16="http://schemas.microsoft.com/office/drawing/2014/main" id="{277EF9C5-2E66-47B8-9A25-4A94C59F230F}"/>
              </a:ext>
            </a:extLst>
          </p:cNvPr>
          <p:cNvSpPr>
            <a:spLocks xmlns:a="http://schemas.openxmlformats.org/drawingml/2006/main" noGrp="1"/>
          </p:cNvSpPr>
          <p:nvPr/>
        </p:nvSpPr>
        <p:spPr>
          <a:xfrm xmlns:a="http://schemas.openxmlformats.org/drawingml/2006/main">
            <a:off x="8496300" y="2790825"/>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RIGHT RUN</a:t>
            </a:r>
          </a:p>
        </p:txBody>
      </p:sp>
      <p:sp>
        <p:nvSpPr>
          <p:cNvPr id="17" name="product-right-body">
            <a:extLst xmlns:a="http://schemas.openxmlformats.org/drawingml/2006/main">
              <a:ext uri="{FF2B5EF4-FFF2-40B4-BE49-F238E27FC236}">
                <a16:creationId xmlns:a16="http://schemas.microsoft.com/office/drawing/2014/main" id="{8E3C5918-8981-4DE3-AED1-E7536E19BB27}"/>
              </a:ext>
            </a:extLst>
          </p:cNvPr>
          <p:cNvSpPr>
            <a:spLocks xmlns:a="http://schemas.openxmlformats.org/drawingml/2006/main" noGrp="1"/>
          </p:cNvSpPr>
          <p:nvPr/>
        </p:nvSpPr>
        <p:spPr>
          <a:xfrm xmlns:a="http://schemas.openxmlformats.org/drawingml/2006/main">
            <a:off x="8496300" y="3324225"/>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pcR = state 27</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registers: x, y</a:t>
            </a:r>
          </a:p>
        </p:txBody>
      </p:sp>
      <p:sp>
        <p:nvSpPr>
          <p:cNvPr id="18" name="product-node-panel">
            <a:extLst xmlns:a="http://schemas.openxmlformats.org/drawingml/2006/main">
              <a:ext uri="{FF2B5EF4-FFF2-40B4-BE49-F238E27FC236}">
                <a16:creationId xmlns:a16="http://schemas.microsoft.com/office/drawing/2014/main" id="{FB0370DF-B9F1-41DB-AC2F-C1ED35C342C5}"/>
              </a:ext>
            </a:extLst>
          </p:cNvPr>
          <p:cNvSpPr>
            <a:spLocks xmlns:a="http://schemas.openxmlformats.org/drawingml/2006/main" noGrp="1"/>
          </p:cNvSpPr>
          <p:nvPr/>
        </p:nvSpPr>
        <p:spPr>
          <a:xfrm xmlns:a="http://schemas.openxmlformats.org/drawingml/2006/main">
            <a:off x="4514850" y="2476500"/>
            <a:ext cx="3162300" cy="2457450"/>
          </a:xfrm>
          <a:prstGeom xmlns:a="http://schemas.openxmlformats.org/drawingml/2006/main" prst="roundRect">
            <a:avLst>
              <a:gd name="adj" fmla="val 3101"/>
            </a:avLst>
          </a:prstGeom>
          <a:solidFill xmlns:a="http://schemas.openxmlformats.org/drawingml/2006/main">
            <a:srgbClr val="1C2638"/>
          </a:solidFill>
          <a:ln xmlns:a="http://schemas.openxmlformats.org/drawingml/2006/main" w="9525">
            <a:solidFill>
              <a:srgbClr val="343D50"/>
            </a:solidFill>
            <a:prstDash val="solid"/>
          </a:ln>
        </p:spPr>
      </p:sp>
      <p:sp>
        <p:nvSpPr>
          <p:cNvPr id="19" name="product-node-accent">
            <a:extLst xmlns:a="http://schemas.openxmlformats.org/drawingml/2006/main">
              <a:ext uri="{FF2B5EF4-FFF2-40B4-BE49-F238E27FC236}">
                <a16:creationId xmlns:a16="http://schemas.microsoft.com/office/drawing/2014/main" id="{199E8FB2-6B49-463B-84DA-3FBDF2187082}"/>
              </a:ext>
            </a:extLst>
          </p:cNvPr>
          <p:cNvSpPr>
            <a:spLocks xmlns:a="http://schemas.openxmlformats.org/drawingml/2006/main" noGrp="1"/>
          </p:cNvSpPr>
          <p:nvPr/>
        </p:nvSpPr>
        <p:spPr>
          <a:xfrm xmlns:a="http://schemas.openxmlformats.org/drawingml/2006/main">
            <a:off x="4514850" y="2476500"/>
            <a:ext cx="57150" cy="24574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20" name="product-node-title">
            <a:extLst xmlns:a="http://schemas.openxmlformats.org/drawingml/2006/main">
              <a:ext uri="{FF2B5EF4-FFF2-40B4-BE49-F238E27FC236}">
                <a16:creationId xmlns:a16="http://schemas.microsoft.com/office/drawing/2014/main" id="{D81C8E63-AF9B-462F-9F3C-699B1658A897}"/>
              </a:ext>
            </a:extLst>
          </p:cNvPr>
          <p:cNvSpPr>
            <a:spLocks xmlns:a="http://schemas.openxmlformats.org/drawingml/2006/main" noGrp="1"/>
          </p:cNvSpPr>
          <p:nvPr/>
        </p:nvSpPr>
        <p:spPr>
          <a:xfrm xmlns:a="http://schemas.openxmlformats.org/drawingml/2006/main">
            <a:off x="4724400" y="2647950"/>
            <a:ext cx="274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PRODUCT WORK ITEM</a:t>
            </a:r>
          </a:p>
        </p:txBody>
      </p:sp>
      <p:sp>
        <p:nvSpPr>
          <p:cNvPr id="21" name="product-node-body">
            <a:extLst xmlns:a="http://schemas.openxmlformats.org/drawingml/2006/main">
              <a:ext uri="{FF2B5EF4-FFF2-40B4-BE49-F238E27FC236}">
                <a16:creationId xmlns:a16="http://schemas.microsoft.com/office/drawing/2014/main" id="{CDFF3D9B-B8EC-41FE-8B85-902F9BFD4FE4}"/>
              </a:ext>
            </a:extLst>
          </p:cNvPr>
          <p:cNvSpPr>
            <a:spLocks xmlns:a="http://schemas.openxmlformats.org/drawingml/2006/main" noGrp="1"/>
          </p:cNvSpPr>
          <p:nvPr/>
        </p:nvSpPr>
        <p:spPr>
          <a:xfrm xmlns:a="http://schemas.openxmlformats.org/drawingml/2006/main">
            <a:off x="4724400" y="3124200"/>
            <a:ext cx="27432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Menlo"/>
                <a:ea typeface="Menlo"/>
                <a:cs typeface="Menlo"/>
              </a:defRPr>
            </a:defPPr>
          </a:lstStyle>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(pcL, pcR, R)</a:t>
            </a:r>
          </a:p>
          <a:p xmlns:a="http://schemas.openxmlformats.org/drawingml/2006/main">
            <a:r>
              <a:t/>
            </a:r>
          </a:p>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R = justified equal-register pairs</a:t>
            </a:r>
          </a:p>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 a ↔ x, b ↔ y }</a:t>
            </a:r>
          </a:p>
        </p:txBody>
      </p:sp>
      <p:sp>
        <p:nvSpPr>
          <p:cNvPr id="24" name="product-invariant">
            <a:extLst xmlns:a="http://schemas.openxmlformats.org/drawingml/2006/main">
              <a:ext uri="{FF2B5EF4-FFF2-40B4-BE49-F238E27FC236}">
                <a16:creationId xmlns:a16="http://schemas.microsoft.com/office/drawing/2014/main" id="{3CD96BB9-6724-4768-8C2B-0C725F163FAA}"/>
              </a:ext>
            </a:extLst>
          </p:cNvPr>
          <p:cNvSpPr>
            <a:spLocks xmlns:a="http://schemas.openxmlformats.org/drawingml/2006/main" noGrp="1"/>
          </p:cNvSpPr>
          <p:nvPr/>
        </p:nvSpPr>
        <p:spPr>
          <a:xfrm xmlns:a="http://schemas.openxmlformats.org/drawingml/2006/main">
            <a:off x="1143000" y="5362575"/>
            <a:ext cx="9906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141B2B"/>
                </a:solidFill>
                <a:latin typeface="Avenir Next"/>
                <a:ea typeface="Avenir Next"/>
                <a:cs typeface="Avenir Next"/>
              </a:defRPr>
            </a:defPPr>
          </a:lstStyle>
          <a:p xmlns:a="http://schemas.openxmlformats.org/drawingml/2006/main">
            <a:pPr algn="ctr">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The relation is updated only when a matched call and shared Ω justify equal results.</a:t>
            </a:r>
          </a:p>
        </p:txBody>
      </p:sp>
    </p:spTree>
    <p:extLst>
      <p:ext uri="{BB962C8B-B14F-4D97-AF65-F5344CB8AC3E}">
        <p14:creationId xmlns:p14="http://schemas.microsoft.com/office/powerpoint/2010/main" val="1337097290"/>
      </p:ext>
    </p:extLst>
  </p:cSld>
</p:sld>
</file>

<file path=ppt/slides/slide6.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7" name="s6-brand">
            <a:extLst xmlns:a="http://schemas.openxmlformats.org/drawingml/2006/main">
              <a:ext uri="{FF2B5EF4-FFF2-40B4-BE49-F238E27FC236}">
                <a16:creationId xmlns:a16="http://schemas.microsoft.com/office/drawing/2014/main" id="{F163BC18-5A55-4CA8-9365-CBF8D087B37A}"/>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6-section">
            <a:extLst xmlns:a="http://schemas.openxmlformats.org/drawingml/2006/main">
              <a:ext uri="{FF2B5EF4-FFF2-40B4-BE49-F238E27FC236}">
                <a16:creationId xmlns:a16="http://schemas.microsoft.com/office/drawing/2014/main" id="{280CE18A-7FFA-4D56-AF49-8DD9AA267A68}"/>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TRANSITION RULES</a:t>
            </a:r>
          </a:p>
        </p:txBody>
      </p:sp>
      <p:sp>
        <p:nvSpPr>
          <p:cNvPr id="3" name="s6-title">
            <a:extLst xmlns:a="http://schemas.openxmlformats.org/drawingml/2006/main">
              <a:ext uri="{FF2B5EF4-FFF2-40B4-BE49-F238E27FC236}">
                <a16:creationId xmlns:a16="http://schemas.microsoft.com/office/drawing/2014/main" id="{F946099E-6E00-4388-9275-7A4DBEA78F25}"/>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Every secret successor pair must be checked</a:t>
            </a:r>
          </a:p>
        </p:txBody>
      </p:sp>
      <p:sp>
        <p:nvSpPr>
          <p:cNvPr id="4" name="s6-subtitle">
            <a:extLst xmlns:a="http://schemas.openxmlformats.org/drawingml/2006/main">
              <a:ext uri="{FF2B5EF4-FFF2-40B4-BE49-F238E27FC236}">
                <a16:creationId xmlns:a16="http://schemas.microsoft.com/office/drawing/2014/main" id="{3D95634B-AEAD-4521-A6B7-CE2E31FA7D03}"/>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Public decisions synchronize only when their tested values are related.</a:t>
            </a:r>
          </a:p>
        </p:txBody>
      </p:sp>
      <p:sp>
        <p:nvSpPr>
          <p:cNvPr id="5" name="s6-source-rule">
            <a:extLst xmlns:a="http://schemas.openxmlformats.org/drawingml/2006/main">
              <a:ext uri="{FF2B5EF4-FFF2-40B4-BE49-F238E27FC236}">
                <a16:creationId xmlns:a16="http://schemas.microsoft.com/office/drawing/2014/main" id="{FC45CE05-3021-4BC8-85F5-BA674812C7FF}"/>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6-sources">
            <a:extLst xmlns:a="http://schemas.openxmlformats.org/drawingml/2006/main">
              <a:ext uri="{FF2B5EF4-FFF2-40B4-BE49-F238E27FC236}">
                <a16:creationId xmlns:a16="http://schemas.microsoft.com/office/drawing/2014/main" id="{607F5AF0-6B49-4560-9995-3A50EB439BED}"/>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audit/orchgraph.py; audit/test_orchgraph.py; docs/CYCLIC_METHOD_REVIEW.md</a:t>
            </a:r>
          </a:p>
        </p:txBody>
      </p:sp>
      <p:sp>
        <p:nvSpPr>
          <p:cNvPr id="7" name="s6-footer-rule">
            <a:extLst xmlns:a="http://schemas.openxmlformats.org/drawingml/2006/main">
              <a:ext uri="{FF2B5EF4-FFF2-40B4-BE49-F238E27FC236}">
                <a16:creationId xmlns:a16="http://schemas.microsoft.com/office/drawing/2014/main" id="{96C285F8-4070-41A2-86BD-D8FBDBA7AF81}"/>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6-footer">
            <a:extLst xmlns:a="http://schemas.openxmlformats.org/drawingml/2006/main">
              <a:ext uri="{FF2B5EF4-FFF2-40B4-BE49-F238E27FC236}">
                <a16:creationId xmlns:a16="http://schemas.microsoft.com/office/drawing/2014/main" id="{85E9072C-B93A-4349-AA1E-626732EF4F28}"/>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6-page">
            <a:extLst xmlns:a="http://schemas.openxmlformats.org/drawingml/2006/main">
              <a:ext uri="{FF2B5EF4-FFF2-40B4-BE49-F238E27FC236}">
                <a16:creationId xmlns:a16="http://schemas.microsoft.com/office/drawing/2014/main" id="{E3BBDC73-88B7-4FF7-87B6-D9FE9DE242F1}"/>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6</a:t>
            </a:r>
          </a:p>
        </p:txBody>
      </p:sp>
      <p:sp>
        <p:nvSpPr>
          <p:cNvPr id="10" name="graph-rule-0-panel">
            <a:extLst xmlns:a="http://schemas.openxmlformats.org/drawingml/2006/main">
              <a:ext uri="{FF2B5EF4-FFF2-40B4-BE49-F238E27FC236}">
                <a16:creationId xmlns:a16="http://schemas.microsoft.com/office/drawing/2014/main" id="{0DA2E466-39FF-44E2-B0A8-3E21CFED2F62}"/>
              </a:ext>
            </a:extLst>
          </p:cNvPr>
          <p:cNvSpPr>
            <a:spLocks xmlns:a="http://schemas.openxmlformats.org/drawingml/2006/main" noGrp="1"/>
          </p:cNvSpPr>
          <p:nvPr/>
        </p:nvSpPr>
        <p:spPr>
          <a:xfrm xmlns:a="http://schemas.openxmlformats.org/drawingml/2006/main">
            <a:off x="781050" y="2571750"/>
            <a:ext cx="50006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9525">
            <a:solidFill>
              <a:srgbClr val="D7D0C4"/>
            </a:solidFill>
            <a:prstDash val="solid"/>
          </a:ln>
        </p:spPr>
      </p:sp>
      <p:sp>
        <p:nvSpPr>
          <p:cNvPr id="11" name="graph-rule-0-accent">
            <a:extLst xmlns:a="http://schemas.openxmlformats.org/drawingml/2006/main">
              <a:ext uri="{FF2B5EF4-FFF2-40B4-BE49-F238E27FC236}">
                <a16:creationId xmlns:a16="http://schemas.microsoft.com/office/drawing/2014/main" id="{E7E17C06-2EBB-4397-BF5D-3ACDFD2BDA06}"/>
              </a:ext>
            </a:extLst>
          </p:cNvPr>
          <p:cNvSpPr>
            <a:spLocks xmlns:a="http://schemas.openxmlformats.org/drawingml/2006/main" noGrp="1"/>
          </p:cNvSpPr>
          <p:nvPr/>
        </p:nvSpPr>
        <p:spPr>
          <a:xfrm xmlns:a="http://schemas.openxmlformats.org/drawingml/2006/main">
            <a:off x="781050" y="2571750"/>
            <a:ext cx="57150" cy="10668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2" name="graph-rule-0-title">
            <a:extLst xmlns:a="http://schemas.openxmlformats.org/drawingml/2006/main">
              <a:ext uri="{FF2B5EF4-FFF2-40B4-BE49-F238E27FC236}">
                <a16:creationId xmlns:a16="http://schemas.microsoft.com/office/drawing/2014/main" id="{3A3685FA-71F5-4995-8690-ADD7895D7830}"/>
              </a:ext>
            </a:extLst>
          </p:cNvPr>
          <p:cNvSpPr>
            <a:spLocks xmlns:a="http://schemas.openxmlformats.org/drawingml/2006/main" noGrp="1"/>
          </p:cNvSpPr>
          <p:nvPr/>
        </p:nvSpPr>
        <p:spPr>
          <a:xfrm xmlns:a="http://schemas.openxmlformats.org/drawingml/2006/main">
            <a:off x="990600" y="2743200"/>
            <a:ext cx="4581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SECRET GUARD</a:t>
            </a:r>
          </a:p>
        </p:txBody>
      </p:sp>
      <p:sp>
        <p:nvSpPr>
          <p:cNvPr id="13" name="graph-rule-0-body">
            <a:extLst xmlns:a="http://schemas.openxmlformats.org/drawingml/2006/main">
              <a:ext uri="{FF2B5EF4-FFF2-40B4-BE49-F238E27FC236}">
                <a16:creationId xmlns:a16="http://schemas.microsoft.com/office/drawing/2014/main" id="{F4437167-A30F-4BA3-9A44-CCD3D4F431C7}"/>
              </a:ext>
            </a:extLst>
          </p:cNvPr>
          <p:cNvSpPr>
            <a:spLocks xmlns:a="http://schemas.openxmlformats.org/drawingml/2006/main" noGrp="1"/>
          </p:cNvSpPr>
          <p:nvPr/>
        </p:nvSpPr>
        <p:spPr>
          <a:xfrm xmlns:a="http://schemas.openxmlformats.org/drawingml/2006/main">
            <a:off x="990600" y="3086100"/>
            <a:ext cx="45815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Explore every left/right successor pair.</a:t>
            </a:r>
          </a:p>
        </p:txBody>
      </p:sp>
      <p:sp>
        <p:nvSpPr>
          <p:cNvPr id="14" name="graph-rule-1-panel">
            <a:extLst xmlns:a="http://schemas.openxmlformats.org/drawingml/2006/main">
              <a:ext uri="{FF2B5EF4-FFF2-40B4-BE49-F238E27FC236}">
                <a16:creationId xmlns:a16="http://schemas.microsoft.com/office/drawing/2014/main" id="{246212C0-E9AC-4E3C-AFDC-7C2EE76AF454}"/>
              </a:ext>
            </a:extLst>
          </p:cNvPr>
          <p:cNvSpPr>
            <a:spLocks xmlns:a="http://schemas.openxmlformats.org/drawingml/2006/main" noGrp="1"/>
          </p:cNvSpPr>
          <p:nvPr/>
        </p:nvSpPr>
        <p:spPr>
          <a:xfrm xmlns:a="http://schemas.openxmlformats.org/drawingml/2006/main">
            <a:off x="6134100" y="2571750"/>
            <a:ext cx="5000625" cy="1066800"/>
          </a:xfrm>
          <a:prstGeom xmlns:a="http://schemas.openxmlformats.org/drawingml/2006/main" prst="roundRect">
            <a:avLst>
              <a:gd name="adj" fmla="val 7143"/>
            </a:avLst>
          </a:prstGeom>
          <a:solidFill xmlns:a="http://schemas.openxmlformats.org/drawingml/2006/main">
            <a:srgbClr val="1C2638"/>
          </a:solidFill>
          <a:ln xmlns:a="http://schemas.openxmlformats.org/drawingml/2006/main" w="9525">
            <a:solidFill>
              <a:srgbClr val="343D50"/>
            </a:solidFill>
            <a:prstDash val="solid"/>
          </a:ln>
        </p:spPr>
      </p:sp>
      <p:sp>
        <p:nvSpPr>
          <p:cNvPr id="15" name="graph-rule-1-accent">
            <a:extLst xmlns:a="http://schemas.openxmlformats.org/drawingml/2006/main">
              <a:ext uri="{FF2B5EF4-FFF2-40B4-BE49-F238E27FC236}">
                <a16:creationId xmlns:a16="http://schemas.microsoft.com/office/drawing/2014/main" id="{AAE5CC66-CECB-4B47-A111-47CA31D3F9D5}"/>
              </a:ext>
            </a:extLst>
          </p:cNvPr>
          <p:cNvSpPr>
            <a:spLocks xmlns:a="http://schemas.openxmlformats.org/drawingml/2006/main" noGrp="1"/>
          </p:cNvSpPr>
          <p:nvPr/>
        </p:nvSpPr>
        <p:spPr>
          <a:xfrm xmlns:a="http://schemas.openxmlformats.org/drawingml/2006/main">
            <a:off x="6134100" y="2571750"/>
            <a:ext cx="57150" cy="10668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graph-rule-1-title">
            <a:extLst xmlns:a="http://schemas.openxmlformats.org/drawingml/2006/main">
              <a:ext uri="{FF2B5EF4-FFF2-40B4-BE49-F238E27FC236}">
                <a16:creationId xmlns:a16="http://schemas.microsoft.com/office/drawing/2014/main" id="{960090C4-16CD-4FF2-9899-A6F04677B4F3}"/>
              </a:ext>
            </a:extLst>
          </p:cNvPr>
          <p:cNvSpPr>
            <a:spLocks xmlns:a="http://schemas.openxmlformats.org/drawingml/2006/main" noGrp="1"/>
          </p:cNvSpPr>
          <p:nvPr/>
        </p:nvSpPr>
        <p:spPr>
          <a:xfrm xmlns:a="http://schemas.openxmlformats.org/drawingml/2006/main">
            <a:off x="6343650" y="2743200"/>
            <a:ext cx="4581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PUBLIC GUARD</a:t>
            </a:r>
          </a:p>
        </p:txBody>
      </p:sp>
      <p:sp>
        <p:nvSpPr>
          <p:cNvPr id="17" name="graph-rule-1-body">
            <a:extLst xmlns:a="http://schemas.openxmlformats.org/drawingml/2006/main">
              <a:ext uri="{FF2B5EF4-FFF2-40B4-BE49-F238E27FC236}">
                <a16:creationId xmlns:a16="http://schemas.microsoft.com/office/drawing/2014/main" id="{8EAA8ABD-363D-4E8C-82B3-3B9099E97CE0}"/>
              </a:ext>
            </a:extLst>
          </p:cNvPr>
          <p:cNvSpPr>
            <a:spLocks xmlns:a="http://schemas.openxmlformats.org/drawingml/2006/main" noGrp="1"/>
          </p:cNvSpPr>
          <p:nvPr/>
        </p:nvSpPr>
        <p:spPr>
          <a:xfrm xmlns:a="http://schemas.openxmlformats.org/drawingml/2006/main">
            <a:off x="6343650" y="3086100"/>
            <a:ext cx="45815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B8C1D1"/>
                </a:solidFill>
                <a:latin typeface="Avenir Next"/>
                <a:ea typeface="Avenir Next"/>
                <a:cs typeface="Avenir Next"/>
              </a:defRPr>
            </a:defPPr>
          </a:lstStyle>
          <a:p xmlns:a="http://schemas.openxmlformats.org/drawingml/2006/main">
            <a:pPr algn="l">
              <a:defRPr sz="1313" b="0" i="0">
                <a:solidFill>
                  <a:srgbClr val="B8C1D1"/>
                </a:solidFill>
                <a:latin typeface="Avenir Next"/>
                <a:ea typeface="Avenir Next"/>
                <a:cs typeface="Avenir Next"/>
              </a:defRPr>
            </a:pPr>
            <a:r>
              <a:rPr sz="1313" b="0" i="0">
                <a:solidFill>
                  <a:srgbClr val="B8C1D1"/>
                </a:solidFill>
                <a:latin typeface="Avenir Next"/>
                <a:ea typeface="Avenir Next"/>
                <a:cs typeface="Avenir Next"/>
              </a:rPr>
              <a:t>Same normalized test on R-related values; take the same arm.</a:t>
            </a:r>
          </a:p>
        </p:txBody>
      </p:sp>
      <p:sp>
        <p:nvSpPr>
          <p:cNvPr id="18" name="graph-rule-2-panel">
            <a:extLst xmlns:a="http://schemas.openxmlformats.org/drawingml/2006/main">
              <a:ext uri="{FF2B5EF4-FFF2-40B4-BE49-F238E27FC236}">
                <a16:creationId xmlns:a16="http://schemas.microsoft.com/office/drawing/2014/main" id="{C8576965-1F98-4FEA-AEC8-4E826F5694F2}"/>
              </a:ext>
            </a:extLst>
          </p:cNvPr>
          <p:cNvSpPr>
            <a:spLocks xmlns:a="http://schemas.openxmlformats.org/drawingml/2006/main" noGrp="1"/>
          </p:cNvSpPr>
          <p:nvPr/>
        </p:nvSpPr>
        <p:spPr>
          <a:xfrm xmlns:a="http://schemas.openxmlformats.org/drawingml/2006/main">
            <a:off x="781050" y="3905250"/>
            <a:ext cx="50006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9525">
            <a:solidFill>
              <a:srgbClr val="D7D0C4"/>
            </a:solidFill>
            <a:prstDash val="solid"/>
          </a:ln>
        </p:spPr>
      </p:sp>
      <p:sp>
        <p:nvSpPr>
          <p:cNvPr id="19" name="graph-rule-2-accent">
            <a:extLst xmlns:a="http://schemas.openxmlformats.org/drawingml/2006/main">
              <a:ext uri="{FF2B5EF4-FFF2-40B4-BE49-F238E27FC236}">
                <a16:creationId xmlns:a16="http://schemas.microsoft.com/office/drawing/2014/main" id="{6C020FAF-7A52-41B7-BCC8-4CFAA1F45A00}"/>
              </a:ext>
            </a:extLst>
          </p:cNvPr>
          <p:cNvSpPr>
            <a:spLocks xmlns:a="http://schemas.openxmlformats.org/drawingml/2006/main" noGrp="1"/>
          </p:cNvSpPr>
          <p:nvPr/>
        </p:nvSpPr>
        <p:spPr>
          <a:xfrm xmlns:a="http://schemas.openxmlformats.org/drawingml/2006/main">
            <a:off x="781050" y="3905250"/>
            <a:ext cx="57150" cy="10668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0" name="graph-rule-2-title">
            <a:extLst xmlns:a="http://schemas.openxmlformats.org/drawingml/2006/main">
              <a:ext uri="{FF2B5EF4-FFF2-40B4-BE49-F238E27FC236}">
                <a16:creationId xmlns:a16="http://schemas.microsoft.com/office/drawing/2014/main" id="{9CFA2284-EE3C-4BA1-953E-D1FD7D8B9FF7}"/>
              </a:ext>
            </a:extLst>
          </p:cNvPr>
          <p:cNvSpPr>
            <a:spLocks xmlns:a="http://schemas.openxmlformats.org/drawingml/2006/main" noGrp="1"/>
          </p:cNvSpPr>
          <p:nvPr/>
        </p:nvSpPr>
        <p:spPr>
          <a:xfrm xmlns:a="http://schemas.openxmlformats.org/drawingml/2006/main">
            <a:off x="990600" y="4076700"/>
            <a:ext cx="4581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CALL / CALL</a:t>
            </a:r>
          </a:p>
        </p:txBody>
      </p:sp>
      <p:sp>
        <p:nvSpPr>
          <p:cNvPr id="21" name="graph-rule-2-body">
            <a:extLst xmlns:a="http://schemas.openxmlformats.org/drawingml/2006/main">
              <a:ext uri="{FF2B5EF4-FFF2-40B4-BE49-F238E27FC236}">
                <a16:creationId xmlns:a16="http://schemas.microsoft.com/office/drawing/2014/main" id="{6C700F52-4845-4AB2-AEB8-FFCCDE9C93CA}"/>
              </a:ext>
            </a:extLst>
          </p:cNvPr>
          <p:cNvSpPr>
            <a:spLocks xmlns:a="http://schemas.openxmlformats.org/drawingml/2006/main" noGrp="1"/>
          </p:cNvSpPr>
          <p:nvPr/>
        </p:nvSpPr>
        <p:spPr>
          <a:xfrm xmlns:a="http://schemas.openxmlformats.org/drawingml/2006/main">
            <a:off x="990600" y="4419600"/>
            <a:ext cx="45815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Match full contract, template, ordered atoms; update R after Ω.</a:t>
            </a:r>
          </a:p>
        </p:txBody>
      </p:sp>
      <p:sp>
        <p:nvSpPr>
          <p:cNvPr id="22" name="graph-rule-3-panel">
            <a:extLst xmlns:a="http://schemas.openxmlformats.org/drawingml/2006/main">
              <a:ext uri="{FF2B5EF4-FFF2-40B4-BE49-F238E27FC236}">
                <a16:creationId xmlns:a16="http://schemas.microsoft.com/office/drawing/2014/main" id="{7961A290-8076-42A1-A2F8-AFB5A655AC3D}"/>
              </a:ext>
            </a:extLst>
          </p:cNvPr>
          <p:cNvSpPr>
            <a:spLocks xmlns:a="http://schemas.openxmlformats.org/drawingml/2006/main" noGrp="1"/>
          </p:cNvSpPr>
          <p:nvPr/>
        </p:nvSpPr>
        <p:spPr>
          <a:xfrm xmlns:a="http://schemas.openxmlformats.org/drawingml/2006/main">
            <a:off x="6134100" y="3905250"/>
            <a:ext cx="5000625" cy="1066800"/>
          </a:xfrm>
          <a:prstGeom xmlns:a="http://schemas.openxmlformats.org/drawingml/2006/main" prst="roundRect">
            <a:avLst>
              <a:gd name="adj" fmla="val 7143"/>
            </a:avLst>
          </a:prstGeom>
          <a:solidFill xmlns:a="http://schemas.openxmlformats.org/drawingml/2006/main">
            <a:srgbClr val="1C2638"/>
          </a:solidFill>
          <a:ln xmlns:a="http://schemas.openxmlformats.org/drawingml/2006/main" w="9525">
            <a:solidFill>
              <a:srgbClr val="343D50"/>
            </a:solidFill>
            <a:prstDash val="solid"/>
          </a:ln>
        </p:spPr>
      </p:sp>
      <p:sp>
        <p:nvSpPr>
          <p:cNvPr id="23" name="graph-rule-3-accent">
            <a:extLst xmlns:a="http://schemas.openxmlformats.org/drawingml/2006/main">
              <a:ext uri="{FF2B5EF4-FFF2-40B4-BE49-F238E27FC236}">
                <a16:creationId xmlns:a16="http://schemas.microsoft.com/office/drawing/2014/main" id="{690C3E2F-BE5E-40DE-9416-386D81A94976}"/>
              </a:ext>
            </a:extLst>
          </p:cNvPr>
          <p:cNvSpPr>
            <a:spLocks xmlns:a="http://schemas.openxmlformats.org/drawingml/2006/main" noGrp="1"/>
          </p:cNvSpPr>
          <p:nvPr/>
        </p:nvSpPr>
        <p:spPr>
          <a:xfrm xmlns:a="http://schemas.openxmlformats.org/drawingml/2006/main">
            <a:off x="6134100" y="3905250"/>
            <a:ext cx="57150" cy="10668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4" name="graph-rule-3-title">
            <a:extLst xmlns:a="http://schemas.openxmlformats.org/drawingml/2006/main">
              <a:ext uri="{FF2B5EF4-FFF2-40B4-BE49-F238E27FC236}">
                <a16:creationId xmlns:a16="http://schemas.microsoft.com/office/drawing/2014/main" id="{21F720A9-621F-4A60-AF46-758431C9FB8F}"/>
              </a:ext>
            </a:extLst>
          </p:cNvPr>
          <p:cNvSpPr>
            <a:spLocks xmlns:a="http://schemas.openxmlformats.org/drawingml/2006/main" noGrp="1"/>
          </p:cNvSpPr>
          <p:nvPr/>
        </p:nvSpPr>
        <p:spPr>
          <a:xfrm xmlns:a="http://schemas.openxmlformats.org/drawingml/2006/main">
            <a:off x="6343650" y="4076700"/>
            <a:ext cx="4581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STOP / STOP</a:t>
            </a:r>
          </a:p>
        </p:txBody>
      </p:sp>
      <p:sp>
        <p:nvSpPr>
          <p:cNvPr id="25" name="graph-rule-3-body">
            <a:extLst xmlns:a="http://schemas.openxmlformats.org/drawingml/2006/main">
              <a:ext uri="{FF2B5EF4-FFF2-40B4-BE49-F238E27FC236}">
                <a16:creationId xmlns:a16="http://schemas.microsoft.com/office/drawing/2014/main" id="{75E78871-A453-4F8E-A3F8-122D0358AB8A}"/>
              </a:ext>
            </a:extLst>
          </p:cNvPr>
          <p:cNvSpPr>
            <a:spLocks xmlns:a="http://schemas.openxmlformats.org/drawingml/2006/main" noGrp="1"/>
          </p:cNvSpPr>
          <p:nvPr/>
        </p:nvSpPr>
        <p:spPr>
          <a:xfrm xmlns:a="http://schemas.openxmlformats.org/drawingml/2006/main">
            <a:off x="6343650" y="4419600"/>
            <a:ext cx="45815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B8C1D1"/>
                </a:solidFill>
                <a:latin typeface="Avenir Next"/>
                <a:ea typeface="Avenir Next"/>
                <a:cs typeface="Avenir Next"/>
              </a:defRPr>
            </a:defPPr>
          </a:lstStyle>
          <a:p xmlns:a="http://schemas.openxmlformats.org/drawingml/2006/main">
            <a:pPr algn="l">
              <a:defRPr sz="1313" b="0" i="0">
                <a:solidFill>
                  <a:srgbClr val="B8C1D1"/>
                </a:solidFill>
                <a:latin typeface="Avenir Next"/>
                <a:ea typeface="Avenir Next"/>
                <a:cs typeface="Avenir Next"/>
              </a:defRPr>
            </a:pPr>
            <a:r>
              <a:rPr sz="1313" b="0" i="0">
                <a:solidFill>
                  <a:srgbClr val="B8C1D1"/>
                </a:solidFill>
                <a:latin typeface="Avenir Next"/>
                <a:ea typeface="Avenir Next"/>
                <a:cs typeface="Avenir Next"/>
              </a:rPr>
              <a:t>Both stop together. A stop/call mismatch rejects.</a:t>
            </a:r>
          </a:p>
        </p:txBody>
      </p:sp>
      <p:sp>
        <p:nvSpPr>
          <p:cNvPr id="26" name="graph-rules-alg">
            <a:extLst xmlns:a="http://schemas.openxmlformats.org/drawingml/2006/main">
              <a:ext uri="{FF2B5EF4-FFF2-40B4-BE49-F238E27FC236}">
                <a16:creationId xmlns:a16="http://schemas.microsoft.com/office/drawing/2014/main" id="{EA7E7D82-4E36-4C8C-86BD-8EC7EF82A2A2}"/>
              </a:ext>
            </a:extLst>
          </p:cNvPr>
          <p:cNvSpPr>
            <a:spLocks xmlns:a="http://schemas.openxmlformats.org/drawingml/2006/main" noGrp="1"/>
          </p:cNvSpPr>
          <p:nvPr/>
        </p:nvSpPr>
        <p:spPr>
          <a:xfrm xmlns:a="http://schemas.openxmlformats.org/drawingml/2006/main">
            <a:off x="914400" y="5486400"/>
            <a:ext cx="10363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38" b="1" i="0">
                <a:solidFill>
                  <a:srgbClr val="646B7A"/>
                </a:solidFill>
                <a:latin typeface="Avenir Next"/>
                <a:ea typeface="Avenir Next"/>
                <a:cs typeface="Avenir Next"/>
              </a:defRPr>
            </a:defPPr>
          </a:lstStyle>
          <a:p xmlns:a="http://schemas.openxmlformats.org/drawingml/2006/main">
            <a:pPr algn="ctr">
              <a:defRPr sz="1238" b="1" i="0">
                <a:solidFill>
                  <a:srgbClr val="646B7A"/>
                </a:solidFill>
                <a:latin typeface="Avenir Next"/>
                <a:ea typeface="Avenir Next"/>
                <a:cs typeface="Avenir Next"/>
              </a:defRPr>
            </a:pPr>
            <a:r>
              <a:rPr sz="1238" b="1" i="0">
                <a:solidFill>
                  <a:srgbClr val="646B7A"/>
                </a:solidFill>
                <a:latin typeface="Avenir Next"/>
                <a:ea typeface="Avenir Next"/>
                <a:cs typeface="Avenir Next"/>
              </a:rPr>
              <a:t>Reachable product worklist · universal secret choices · fail closed on unsupported states or state-cap exhaustion</a:t>
            </a:r>
          </a:p>
        </p:txBody>
      </p:sp>
    </p:spTree>
    <p:extLst>
      <p:ext uri="{BB962C8B-B14F-4D97-AF65-F5344CB8AC3E}">
        <p14:creationId xmlns:p14="http://schemas.microsoft.com/office/powerpoint/2010/main" val="813544226"/>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054562BB-8A6B-4CAD-A24A-ED41580D9A67}"/>
              </a:ext>
            </a:extLst>
          </p:cNvPr>
          <p:cNvCxnSpPr>
            <a:stCxn xmlns:a="http://schemas.openxmlformats.org/drawingml/2006/main" id="14" idx="1"/>
            <a:endCxn xmlns:a="http://schemas.openxmlformats.org/drawingml/2006/main" id="10" idx="3"/>
          </p:cNvCxnSpPr>
          <p:nvPr/>
        </p:nvCxnSpPr>
        <p:spPr>
          <a:xfrm xmlns:a="http://schemas.openxmlformats.org/drawingml/2006/main" flipH="1">
            <a:off x="5495925" y="3590925"/>
            <a:ext cx="1171575" cy="0"/>
          </a:xfrm>
          <a:prstGeom xmlns:a="http://schemas.openxmlformats.org/drawingml/2006/main" prst="straightConnector1">
            <a:avLst/>
          </a:prstGeom>
          <a:ln xmlns:a="http://schemas.openxmlformats.org/drawingml/2006/main" w="19050">
            <a:solidFill>
              <a:srgbClr val="D9CBB6"/>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0A78ED9A-BCEF-4DFB-BAFF-62EC01F0D4BC}"/>
              </a:ext>
            </a:extLst>
          </p:cNvPr>
          <p:cNvCxnSpPr>
            <a:stCxn xmlns:a="http://schemas.openxmlformats.org/drawingml/2006/main" id="10" idx="3"/>
            <a:endCxn xmlns:a="http://schemas.openxmlformats.org/drawingml/2006/main" id="14" idx="1"/>
          </p:cNvCxnSpPr>
          <p:nvPr/>
        </p:nvCxnSpPr>
        <p:spPr>
          <a:xfrm xmlns:a="http://schemas.openxmlformats.org/drawingml/2006/main">
            <a:off x="5495925" y="3590925"/>
            <a:ext cx="1171575" cy="0"/>
          </a:xfrm>
          <a:prstGeom xmlns:a="http://schemas.openxmlformats.org/drawingml/2006/main" prst="straightConnector1">
            <a:avLst/>
          </a:prstGeom>
          <a:ln xmlns:a="http://schemas.openxmlformats.org/drawingml/2006/main" w="19050">
            <a:solidFill>
              <a:srgbClr val="D9CBB6"/>
            </a:solidFill>
            <a:prstDash val="solid"/>
            <a:tailEnd type="triangle" w="sm" len="sm"/>
          </a:ln>
        </p:spPr>
      </p:cxnSp>
      <p:sp>
        <p:nvSpPr>
          <p:cNvPr id="24" name="s7-brand">
            <a:extLst xmlns:a="http://schemas.openxmlformats.org/drawingml/2006/main">
              <a:ext uri="{FF2B5EF4-FFF2-40B4-BE49-F238E27FC236}">
                <a16:creationId xmlns:a16="http://schemas.microsoft.com/office/drawing/2014/main" id="{9ABFBF8F-D5CF-4185-B96D-72E154297193}"/>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7-section">
            <a:extLst xmlns:a="http://schemas.openxmlformats.org/drawingml/2006/main">
              <a:ext uri="{FF2B5EF4-FFF2-40B4-BE49-F238E27FC236}">
                <a16:creationId xmlns:a16="http://schemas.microsoft.com/office/drawing/2014/main" id="{7733E7FE-BE96-466F-9361-6409869ED098}"/>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CYCLE HANDLING</a:t>
            </a:r>
          </a:p>
        </p:txBody>
      </p:sp>
      <p:sp>
        <p:nvSpPr>
          <p:cNvPr id="3" name="s7-title">
            <a:extLst xmlns:a="http://schemas.openxmlformats.org/drawingml/2006/main">
              <a:ext uri="{FF2B5EF4-FFF2-40B4-BE49-F238E27FC236}">
                <a16:creationId xmlns:a16="http://schemas.microsoft.com/office/drawing/2014/main" id="{FC9432F6-CF9F-472B-A7BF-380C396F0530}"/>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A productive cycle can close coinductively</a:t>
            </a:r>
          </a:p>
        </p:txBody>
      </p:sp>
      <p:sp>
        <p:nvSpPr>
          <p:cNvPr id="4" name="s7-subtitle">
            <a:extLst xmlns:a="http://schemas.openxmlformats.org/drawingml/2006/main">
              <a:ext uri="{FF2B5EF4-FFF2-40B4-BE49-F238E27FC236}">
                <a16:creationId xmlns:a16="http://schemas.microsoft.com/office/drawing/2014/main" id="{04B9BAFE-9468-47EE-A28A-35004225CE7F}"/>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Matched call chains return to a reachable product state with the same register relation.</a:t>
            </a:r>
          </a:p>
        </p:txBody>
      </p:sp>
      <p:sp>
        <p:nvSpPr>
          <p:cNvPr id="5" name="s7-source-rule">
            <a:extLst xmlns:a="http://schemas.openxmlformats.org/drawingml/2006/main">
              <a:ext uri="{FF2B5EF4-FFF2-40B4-BE49-F238E27FC236}">
                <a16:creationId xmlns:a16="http://schemas.microsoft.com/office/drawing/2014/main" id="{C5F64A20-A0D7-4C1C-A8A1-860CED8638E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7-sources">
            <a:extLst xmlns:a="http://schemas.openxmlformats.org/drawingml/2006/main">
              <a:ext uri="{FF2B5EF4-FFF2-40B4-BE49-F238E27FC236}">
                <a16:creationId xmlns:a16="http://schemas.microsoft.com/office/drawing/2014/main" id="{8E1D734F-BC48-4EB9-A4B5-5F2C7975736D}"/>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examples/graphs/accepted/unbounded_productive_cycle.json; bench/results/graphs.json; docs/CYCLIC_METHOD_REVIEW.md</a:t>
            </a:r>
          </a:p>
        </p:txBody>
      </p:sp>
      <p:sp>
        <p:nvSpPr>
          <p:cNvPr id="7" name="s7-footer-rule">
            <a:extLst xmlns:a="http://schemas.openxmlformats.org/drawingml/2006/main">
              <a:ext uri="{FF2B5EF4-FFF2-40B4-BE49-F238E27FC236}">
                <a16:creationId xmlns:a16="http://schemas.microsoft.com/office/drawing/2014/main" id="{CD79E0E5-4AD1-4D59-90BE-3C05C216A36C}"/>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7-footer">
            <a:extLst xmlns:a="http://schemas.openxmlformats.org/drawingml/2006/main">
              <a:ext uri="{FF2B5EF4-FFF2-40B4-BE49-F238E27FC236}">
                <a16:creationId xmlns:a16="http://schemas.microsoft.com/office/drawing/2014/main" id="{13DEF3CC-12E8-47FD-81CC-B46E71A1DC9D}"/>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7-page">
            <a:extLst xmlns:a="http://schemas.openxmlformats.org/drawingml/2006/main">
              <a:ext uri="{FF2B5EF4-FFF2-40B4-BE49-F238E27FC236}">
                <a16:creationId xmlns:a16="http://schemas.microsoft.com/office/drawing/2014/main" id="{38F18E32-A71A-4D89-B4E3-8C0EC93438F3}"/>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7</a:t>
            </a:r>
          </a:p>
        </p:txBody>
      </p:sp>
      <p:sp>
        <p:nvSpPr>
          <p:cNvPr id="10" name="cycle-left-path-panel">
            <a:extLst xmlns:a="http://schemas.openxmlformats.org/drawingml/2006/main">
              <a:ext uri="{FF2B5EF4-FFF2-40B4-BE49-F238E27FC236}">
                <a16:creationId xmlns:a16="http://schemas.microsoft.com/office/drawing/2014/main" id="{723B809A-7054-455F-88C2-45AFB65A8EBB}"/>
              </a:ext>
            </a:extLst>
          </p:cNvPr>
          <p:cNvSpPr>
            <a:spLocks xmlns:a="http://schemas.openxmlformats.org/drawingml/2006/main" noGrp="1"/>
          </p:cNvSpPr>
          <p:nvPr/>
        </p:nvSpPr>
        <p:spPr>
          <a:xfrm xmlns:a="http://schemas.openxmlformats.org/drawingml/2006/main">
            <a:off x="781050" y="2533650"/>
            <a:ext cx="4714875"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11" name="cycle-left-path-accent">
            <a:extLst xmlns:a="http://schemas.openxmlformats.org/drawingml/2006/main">
              <a:ext uri="{FF2B5EF4-FFF2-40B4-BE49-F238E27FC236}">
                <a16:creationId xmlns:a16="http://schemas.microsoft.com/office/drawing/2014/main" id="{BDAB8616-AF30-45EB-AE03-8638F5DB2950}"/>
              </a:ext>
            </a:extLst>
          </p:cNvPr>
          <p:cNvSpPr>
            <a:spLocks xmlns:a="http://schemas.openxmlformats.org/drawingml/2006/main" noGrp="1"/>
          </p:cNvSpPr>
          <p:nvPr/>
        </p:nvSpPr>
        <p:spPr>
          <a:xfrm xmlns:a="http://schemas.openxmlformats.org/drawingml/2006/main">
            <a:off x="781050" y="2533650"/>
            <a:ext cx="57150" cy="21145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2" name="cycle-left-path-title">
            <a:extLst xmlns:a="http://schemas.openxmlformats.org/drawingml/2006/main">
              <a:ext uri="{FF2B5EF4-FFF2-40B4-BE49-F238E27FC236}">
                <a16:creationId xmlns:a16="http://schemas.microsoft.com/office/drawing/2014/main" id="{014C41E3-8043-4B17-B437-FFA3833CE073}"/>
              </a:ext>
            </a:extLst>
          </p:cNvPr>
          <p:cNvSpPr>
            <a:spLocks xmlns:a="http://schemas.openxmlformats.org/drawingml/2006/main" noGrp="1"/>
          </p:cNvSpPr>
          <p:nvPr/>
        </p:nvSpPr>
        <p:spPr>
          <a:xfrm xmlns:a="http://schemas.openxmlformats.org/drawingml/2006/main">
            <a:off x="990600" y="2705100"/>
            <a:ext cx="4295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Avenir Next"/>
                <a:ea typeface="Avenir Next"/>
                <a:cs typeface="Avenir Next"/>
              </a:defRPr>
            </a:defPPr>
          </a:lstStyle>
          <a:p xmlns:a="http://schemas.openxmlformats.org/drawingml/2006/main">
            <a:pPr algn="l">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LEFT CONTROL CYCLE</a:t>
            </a:r>
          </a:p>
        </p:txBody>
      </p:sp>
      <p:sp>
        <p:nvSpPr>
          <p:cNvPr id="13" name="cycle-left-path-body">
            <a:extLst xmlns:a="http://schemas.openxmlformats.org/drawingml/2006/main">
              <a:ext uri="{FF2B5EF4-FFF2-40B4-BE49-F238E27FC236}">
                <a16:creationId xmlns:a16="http://schemas.microsoft.com/office/drawing/2014/main" id="{D6975148-D42C-4EC0-A662-E73853740F76}"/>
              </a:ext>
            </a:extLst>
          </p:cNvPr>
          <p:cNvSpPr>
            <a:spLocks xmlns:a="http://schemas.openxmlformats.org/drawingml/2006/main" noGrp="1"/>
          </p:cNvSpPr>
          <p:nvPr/>
        </p:nvSpPr>
        <p:spPr>
          <a:xfrm xmlns:a="http://schemas.openxmlformats.org/drawingml/2006/main">
            <a:off x="990600" y="3238500"/>
            <a:ext cx="429577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88" b="0" i="0">
                <a:solidFill>
                  <a:srgbClr val="646B7A"/>
                </a:solidFill>
                <a:latin typeface="Menlo"/>
                <a:ea typeface="Menlo"/>
                <a:cs typeface="Menlo"/>
              </a:defRPr>
            </a:defPPr>
          </a:lstStyle>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call m(Process query) → a</a:t>
            </a:r>
          </a:p>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call m(Process a) → b</a:t>
            </a:r>
          </a:p>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goto choose</a:t>
            </a:r>
          </a:p>
        </p:txBody>
      </p:sp>
      <p:sp>
        <p:nvSpPr>
          <p:cNvPr id="14" name="cycle-right-path-panel">
            <a:extLst xmlns:a="http://schemas.openxmlformats.org/drawingml/2006/main">
              <a:ext uri="{FF2B5EF4-FFF2-40B4-BE49-F238E27FC236}">
                <a16:creationId xmlns:a16="http://schemas.microsoft.com/office/drawing/2014/main" id="{17B30C84-AE48-405A-B21D-DA4B36618F5D}"/>
              </a:ext>
            </a:extLst>
          </p:cNvPr>
          <p:cNvSpPr>
            <a:spLocks xmlns:a="http://schemas.openxmlformats.org/drawingml/2006/main" noGrp="1"/>
          </p:cNvSpPr>
          <p:nvPr/>
        </p:nvSpPr>
        <p:spPr>
          <a:xfrm xmlns:a="http://schemas.openxmlformats.org/drawingml/2006/main">
            <a:off x="6667500" y="2533650"/>
            <a:ext cx="4714875"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15" name="cycle-right-path-accent">
            <a:extLst xmlns:a="http://schemas.openxmlformats.org/drawingml/2006/main">
              <a:ext uri="{FF2B5EF4-FFF2-40B4-BE49-F238E27FC236}">
                <a16:creationId xmlns:a16="http://schemas.microsoft.com/office/drawing/2014/main" id="{B177354F-D872-4CB3-9567-D9165E38F415}"/>
              </a:ext>
            </a:extLst>
          </p:cNvPr>
          <p:cNvSpPr>
            <a:spLocks xmlns:a="http://schemas.openxmlformats.org/drawingml/2006/main" noGrp="1"/>
          </p:cNvSpPr>
          <p:nvPr/>
        </p:nvSpPr>
        <p:spPr>
          <a:xfrm xmlns:a="http://schemas.openxmlformats.org/drawingml/2006/main">
            <a:off x="6667500" y="2533650"/>
            <a:ext cx="57150" cy="21145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cycle-right-path-title">
            <a:extLst xmlns:a="http://schemas.openxmlformats.org/drawingml/2006/main">
              <a:ext uri="{FF2B5EF4-FFF2-40B4-BE49-F238E27FC236}">
                <a16:creationId xmlns:a16="http://schemas.microsoft.com/office/drawing/2014/main" id="{052C1789-EA34-4564-945D-418440D1EAE0}"/>
              </a:ext>
            </a:extLst>
          </p:cNvPr>
          <p:cNvSpPr>
            <a:spLocks xmlns:a="http://schemas.openxmlformats.org/drawingml/2006/main" noGrp="1"/>
          </p:cNvSpPr>
          <p:nvPr/>
        </p:nvSpPr>
        <p:spPr>
          <a:xfrm xmlns:a="http://schemas.openxmlformats.org/drawingml/2006/main">
            <a:off x="6877050" y="2705100"/>
            <a:ext cx="4295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Avenir Next"/>
                <a:ea typeface="Avenir Next"/>
                <a:cs typeface="Avenir Next"/>
              </a:defRPr>
            </a:defPPr>
          </a:lstStyle>
          <a:p xmlns:a="http://schemas.openxmlformats.org/drawingml/2006/main">
            <a:pPr algn="l">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RIGHT CONTROL CYCLE</a:t>
            </a:r>
          </a:p>
        </p:txBody>
      </p:sp>
      <p:sp>
        <p:nvSpPr>
          <p:cNvPr id="17" name="cycle-right-path-body">
            <a:extLst xmlns:a="http://schemas.openxmlformats.org/drawingml/2006/main">
              <a:ext uri="{FF2B5EF4-FFF2-40B4-BE49-F238E27FC236}">
                <a16:creationId xmlns:a16="http://schemas.microsoft.com/office/drawing/2014/main" id="{91AC4E06-42C8-46BC-8BF9-2B3313AB8C92}"/>
              </a:ext>
            </a:extLst>
          </p:cNvPr>
          <p:cNvSpPr>
            <a:spLocks xmlns:a="http://schemas.openxmlformats.org/drawingml/2006/main" noGrp="1"/>
          </p:cNvSpPr>
          <p:nvPr/>
        </p:nvSpPr>
        <p:spPr>
          <a:xfrm xmlns:a="http://schemas.openxmlformats.org/drawingml/2006/main">
            <a:off x="6877050" y="3238500"/>
            <a:ext cx="429577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88" b="0" i="0">
                <a:solidFill>
                  <a:srgbClr val="646B7A"/>
                </a:solidFill>
                <a:latin typeface="Menlo"/>
                <a:ea typeface="Menlo"/>
                <a:cs typeface="Menlo"/>
              </a:defRPr>
            </a:defPPr>
          </a:lstStyle>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call m(Process query) → x</a:t>
            </a:r>
          </a:p>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call m(Process x) → y</a:t>
            </a:r>
          </a:p>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goto choose</a:t>
            </a:r>
          </a:p>
        </p:txBody>
      </p:sp>
      <p:sp>
        <p:nvSpPr>
          <p:cNvPr id="20" name="cycle-close-pill">
            <a:extLst xmlns:a="http://schemas.openxmlformats.org/drawingml/2006/main">
              <a:ext uri="{FF2B5EF4-FFF2-40B4-BE49-F238E27FC236}">
                <a16:creationId xmlns:a16="http://schemas.microsoft.com/office/drawing/2014/main" id="{2FEEB853-5E98-481D-B5A6-080F66D494AD}"/>
              </a:ext>
            </a:extLst>
          </p:cNvPr>
          <p:cNvSpPr>
            <a:spLocks xmlns:a="http://schemas.openxmlformats.org/drawingml/2006/main" noGrp="1"/>
          </p:cNvSpPr>
          <p:nvPr/>
        </p:nvSpPr>
        <p:spPr>
          <a:xfrm xmlns:a="http://schemas.openxmlformats.org/drawingml/2006/main">
            <a:off x="3524250" y="4905375"/>
            <a:ext cx="5143500" cy="266700"/>
          </a:xfrm>
          <a:prstGeom xmlns:a="http://schemas.openxmlformats.org/drawingml/2006/main" prst="roundRect">
            <a:avLst>
              <a:gd name="adj" fmla="val 35714"/>
            </a:avLst>
          </a:prstGeom>
          <a:solidFill xmlns:a="http://schemas.openxmlformats.org/drawingml/2006/main">
            <a:srgbClr val="1F6F66"/>
          </a:solidFill>
          <a:ln xmlns:a="http://schemas.openxmlformats.org/drawingml/2006/main" w="0">
            <a:noFill/>
            <a:prstDash val="solid"/>
          </a:ln>
        </p:spPr>
      </p:sp>
      <p:sp>
        <p:nvSpPr>
          <p:cNvPr id="21" name="cycle-close-text">
            <a:extLst xmlns:a="http://schemas.openxmlformats.org/drawingml/2006/main">
              <a:ext uri="{FF2B5EF4-FFF2-40B4-BE49-F238E27FC236}">
                <a16:creationId xmlns:a16="http://schemas.microsoft.com/office/drawing/2014/main" id="{92C41D04-0533-4D01-8333-47895D6AD80A}"/>
              </a:ext>
            </a:extLst>
          </p:cNvPr>
          <p:cNvSpPr>
            <a:spLocks xmlns:a="http://schemas.openxmlformats.org/drawingml/2006/main" noGrp="1"/>
          </p:cNvSpPr>
          <p:nvPr/>
        </p:nvSpPr>
        <p:spPr>
          <a:xfrm xmlns:a="http://schemas.openxmlformats.org/drawingml/2006/main">
            <a:off x="3619500" y="4953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F5F2EA"/>
                </a:solidFill>
                <a:latin typeface="Avenir Next"/>
                <a:ea typeface="Avenir Next"/>
                <a:cs typeface="Avenir Next"/>
              </a:defRPr>
            </a:defPPr>
          </a:lstStyle>
          <a:p xmlns:a="http://schemas.openxmlformats.org/drawingml/2006/main">
            <a:pPr algn="ctr">
              <a:defRPr sz="975" b="1" i="0">
                <a:solidFill>
                  <a:srgbClr val="F5F2EA"/>
                </a:solidFill>
                <a:latin typeface="Avenir Next"/>
                <a:ea typeface="Avenir Next"/>
                <a:cs typeface="Avenir Next"/>
              </a:defRPr>
            </a:pPr>
            <a:r>
              <a:rPr sz="975" b="1" i="0">
                <a:solidFill>
                  <a:srgbClr val="F5F2EA"/>
                </a:solidFill>
                <a:latin typeface="Avenir Next"/>
                <a:ea typeface="Avenir Next"/>
                <a:cs typeface="Avenir Next"/>
              </a:rPr>
              <a:t>COINDUCTIVE PRODUCT-CYCLE CLOSURE</a:t>
            </a:r>
          </a:p>
        </p:txBody>
      </p:sp>
      <p:sp>
        <p:nvSpPr>
          <p:cNvPr id="22" name="cycle-claim">
            <a:extLst xmlns:a="http://schemas.openxmlformats.org/drawingml/2006/main">
              <a:ext uri="{FF2B5EF4-FFF2-40B4-BE49-F238E27FC236}">
                <a16:creationId xmlns:a16="http://schemas.microsoft.com/office/drawing/2014/main" id="{F362910D-930A-4E10-AFBD-23C18C20DA2B}"/>
              </a:ext>
            </a:extLst>
          </p:cNvPr>
          <p:cNvSpPr>
            <a:spLocks xmlns:a="http://schemas.openxmlformats.org/drawingml/2006/main" noGrp="1"/>
          </p:cNvSpPr>
          <p:nvPr/>
        </p:nvSpPr>
        <p:spPr>
          <a:xfrm xmlns:a="http://schemas.openxmlformats.org/drawingml/2006/main">
            <a:off x="904875" y="5362575"/>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Closes all finite usage prefixes under Ω. It does not prove termination or a finite total-token / price bound.</a:t>
            </a:r>
          </a:p>
        </p:txBody>
      </p:sp>
      <p:sp>
        <p:nvSpPr>
          <p:cNvPr id="23" name="cycle-probe">
            <a:extLst xmlns:a="http://schemas.openxmlformats.org/drawingml/2006/main">
              <a:ext uri="{FF2B5EF4-FFF2-40B4-BE49-F238E27FC236}">
                <a16:creationId xmlns:a16="http://schemas.microsoft.com/office/drawing/2014/main" id="{7CE4BF6D-3769-42C1-A4EC-2BDBDC258ED6}"/>
              </a:ext>
            </a:extLst>
          </p:cNvPr>
          <p:cNvSpPr>
            <a:spLocks xmlns:a="http://schemas.openxmlformats.org/drawingml/2006/main" noGrp="1"/>
          </p:cNvSpPr>
          <p:nvPr/>
        </p:nvSpPr>
        <p:spPr>
          <a:xfrm xmlns:a="http://schemas.openxmlformats.org/drawingml/2006/main">
            <a:off x="1428750" y="58483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646B7A"/>
                </a:solidFill>
                <a:latin typeface="Menlo"/>
                <a:ea typeface="Menlo"/>
                <a:cs typeface="Menlo"/>
              </a:defRPr>
            </a:defPPr>
          </a:lstStyle>
          <a:p xmlns:a="http://schemas.openxmlformats.org/drawingml/2006/main">
            <a:pPr algn="ctr">
              <a:defRPr sz="975" b="0" i="0">
                <a:solidFill>
                  <a:srgbClr val="646B7A"/>
                </a:solidFill>
                <a:latin typeface="Menlo"/>
                <a:ea typeface="Menlo"/>
                <a:cs typeface="Menlo"/>
              </a:defRPr>
            </a:pPr>
            <a:r>
              <a:rPr sz="975" b="0" i="0">
                <a:solidFill>
                  <a:srgbClr val="646B7A"/>
                </a:solidFill>
                <a:latin typeface="Menlo"/>
                <a:ea typeface="Menlo"/>
                <a:cs typeface="Menlo"/>
              </a:rPr>
              <a:t>24,000 calls in the finite probe · 200 runs hit the 120-call cap</a:t>
            </a:r>
          </a:p>
        </p:txBody>
      </p:sp>
    </p:spTree>
    <p:extLst>
      <p:ext uri="{BB962C8B-B14F-4D97-AF65-F5344CB8AC3E}">
        <p14:creationId xmlns:p14="http://schemas.microsoft.com/office/powerpoint/2010/main" val="925104785"/>
      </p:ext>
    </p:extLst>
  </p:cSld>
</p:sld>
</file>

<file path=ppt/slides/slide8.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549756E-A0B5-407A-AD70-FDC743C08083}"/>
              </a:ext>
            </a:extLst>
          </p:cNvPr>
          <p:cNvCxnSpPr>
            <a:stCxn xmlns:a="http://schemas.openxmlformats.org/drawingml/2006/main" id="14" idx="3"/>
            <a:endCxn xmlns:a="http://schemas.openxmlformats.org/drawingml/2006/main" id="18" idx="1"/>
          </p:cNvCxnSpPr>
          <p:nvPr/>
        </p:nvCxnSpPr>
        <p:spPr>
          <a:xfrm xmlns:a="http://schemas.openxmlformats.org/drawingml/2006/main">
            <a:off x="7905750" y="3590925"/>
            <a:ext cx="476250" cy="0"/>
          </a:xfrm>
          <a:prstGeom xmlns:a="http://schemas.openxmlformats.org/drawingml/2006/main" prst="straightConnector1">
            <a:avLst/>
          </a:prstGeom>
          <a:ln xmlns:a="http://schemas.openxmlformats.org/drawingml/2006/main" w="19050">
            <a:solidFill>
              <a:srgbClr val="B8C1D1"/>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A5B3F700-F6E9-4EFC-9472-83A793767D7C}"/>
              </a:ext>
            </a:extLst>
          </p:cNvPr>
          <p:cNvCxnSpPr>
            <a:stCxn xmlns:a="http://schemas.openxmlformats.org/drawingml/2006/main" id="10" idx="3"/>
            <a:endCxn xmlns:a="http://schemas.openxmlformats.org/drawingml/2006/main" id="14" idx="1"/>
          </p:cNvCxnSpPr>
          <p:nvPr/>
        </p:nvCxnSpPr>
        <p:spPr>
          <a:xfrm xmlns:a="http://schemas.openxmlformats.org/drawingml/2006/main">
            <a:off x="4076700" y="3590925"/>
            <a:ext cx="476250" cy="0"/>
          </a:xfrm>
          <a:prstGeom xmlns:a="http://schemas.openxmlformats.org/drawingml/2006/main" prst="straightConnector1">
            <a:avLst/>
          </a:prstGeom>
          <a:ln xmlns:a="http://schemas.openxmlformats.org/drawingml/2006/main" w="19050">
            <a:solidFill>
              <a:srgbClr val="B8C1D1"/>
            </a:solidFill>
            <a:prstDash val="solid"/>
            <a:tailEnd type="triangle" w="sm" len="sm"/>
          </a:ln>
        </p:spPr>
      </p:cxnSp>
      <p:sp>
        <p:nvSpPr>
          <p:cNvPr id="26" name="s8-brand">
            <a:extLst xmlns:a="http://schemas.openxmlformats.org/drawingml/2006/main">
              <a:ext uri="{FF2B5EF4-FFF2-40B4-BE49-F238E27FC236}">
                <a16:creationId xmlns:a16="http://schemas.microsoft.com/office/drawing/2014/main" id="{86FD03C8-FB6B-418B-8B4B-18C8066D45BA}"/>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8-section">
            <a:extLst xmlns:a="http://schemas.openxmlformats.org/drawingml/2006/main">
              <a:ext uri="{FF2B5EF4-FFF2-40B4-BE49-F238E27FC236}">
                <a16:creationId xmlns:a16="http://schemas.microsoft.com/office/drawing/2014/main" id="{A3257339-746F-41C0-ADB1-BE1867F9C14B}"/>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CERTIFICATE REPLAY</a:t>
            </a:r>
          </a:p>
        </p:txBody>
      </p:sp>
      <p:sp>
        <p:nvSpPr>
          <p:cNvPr id="3" name="s8-title">
            <a:extLst xmlns:a="http://schemas.openxmlformats.org/drawingml/2006/main">
              <a:ext uri="{FF2B5EF4-FFF2-40B4-BE49-F238E27FC236}">
                <a16:creationId xmlns:a16="http://schemas.microsoft.com/office/drawing/2014/main" id="{CEC03428-031D-4F3F-A790-BF71CE9AD3B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 separate replayer reconstructs the product closure</a:t>
            </a:r>
          </a:p>
        </p:txBody>
      </p:sp>
      <p:sp>
        <p:nvSpPr>
          <p:cNvPr id="4" name="s8-subtitle">
            <a:extLst xmlns:a="http://schemas.openxmlformats.org/drawingml/2006/main">
              <a:ext uri="{FF2B5EF4-FFF2-40B4-BE49-F238E27FC236}">
                <a16:creationId xmlns:a16="http://schemas.microsoft.com/office/drawing/2014/main" id="{6E853D35-EECB-48F9-9BA2-44316AACE649}"/>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It checks the graph and certificate against the declared version-1 rules.</a:t>
            </a:r>
          </a:p>
        </p:txBody>
      </p:sp>
      <p:sp>
        <p:nvSpPr>
          <p:cNvPr id="5" name="s8-source-rule">
            <a:extLst xmlns:a="http://schemas.openxmlformats.org/drawingml/2006/main">
              <a:ext uri="{FF2B5EF4-FFF2-40B4-BE49-F238E27FC236}">
                <a16:creationId xmlns:a16="http://schemas.microsoft.com/office/drawing/2014/main" id="{2A00595C-8FD2-47E6-81C7-32321217EFD7}"/>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8-sources">
            <a:extLst xmlns:a="http://schemas.openxmlformats.org/drawingml/2006/main">
              <a:ext uri="{FF2B5EF4-FFF2-40B4-BE49-F238E27FC236}">
                <a16:creationId xmlns:a16="http://schemas.microsoft.com/office/drawing/2014/main" id="{213583DA-FC5D-4674-9BE9-0E1F707FC9B2}"/>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audit/replay_graph_certificate.py; audit/test_graph_replay.py; docs/CYCLIC_METHOD_REVIEW.md; audit/final/manifest.json</a:t>
            </a:r>
          </a:p>
        </p:txBody>
      </p:sp>
      <p:sp>
        <p:nvSpPr>
          <p:cNvPr id="7" name="s8-footer-rule">
            <a:extLst xmlns:a="http://schemas.openxmlformats.org/drawingml/2006/main">
              <a:ext uri="{FF2B5EF4-FFF2-40B4-BE49-F238E27FC236}">
                <a16:creationId xmlns:a16="http://schemas.microsoft.com/office/drawing/2014/main" id="{3E126F96-C03C-4077-9FE2-DCDCFCC2846B}"/>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8-footer">
            <a:extLst xmlns:a="http://schemas.openxmlformats.org/drawingml/2006/main">
              <a:ext uri="{FF2B5EF4-FFF2-40B4-BE49-F238E27FC236}">
                <a16:creationId xmlns:a16="http://schemas.microsoft.com/office/drawing/2014/main" id="{EF385E78-0E06-4D80-98DB-3090A6DEB8D5}"/>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8-page">
            <a:extLst xmlns:a="http://schemas.openxmlformats.org/drawingml/2006/main">
              <a:ext uri="{FF2B5EF4-FFF2-40B4-BE49-F238E27FC236}">
                <a16:creationId xmlns:a16="http://schemas.microsoft.com/office/drawing/2014/main" id="{00D55FE5-E2F8-49C5-92C0-308E0BC31F7B}"/>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8</a:t>
            </a:r>
          </a:p>
        </p:txBody>
      </p:sp>
      <p:sp>
        <p:nvSpPr>
          <p:cNvPr id="10" name="replay-0-panel">
            <a:extLst xmlns:a="http://schemas.openxmlformats.org/drawingml/2006/main">
              <a:ext uri="{FF2B5EF4-FFF2-40B4-BE49-F238E27FC236}">
                <a16:creationId xmlns:a16="http://schemas.microsoft.com/office/drawing/2014/main" id="{70F4D5DB-BFB9-43E0-BC5F-2EF584251E60}"/>
              </a:ext>
            </a:extLst>
          </p:cNvPr>
          <p:cNvSpPr>
            <a:spLocks xmlns:a="http://schemas.openxmlformats.org/drawingml/2006/main" noGrp="1"/>
          </p:cNvSpPr>
          <p:nvPr/>
        </p:nvSpPr>
        <p:spPr>
          <a:xfrm xmlns:a="http://schemas.openxmlformats.org/drawingml/2006/main">
            <a:off x="723900" y="2686050"/>
            <a:ext cx="3352800" cy="1809750"/>
          </a:xfrm>
          <a:prstGeom xmlns:a="http://schemas.openxmlformats.org/drawingml/2006/main" prst="roundRect">
            <a:avLst>
              <a:gd name="adj" fmla="val 4211"/>
            </a:avLst>
          </a:prstGeom>
          <a:solidFill xmlns:a="http://schemas.openxmlformats.org/drawingml/2006/main">
            <a:srgbClr val="1C2638"/>
          </a:solidFill>
          <a:ln xmlns:a="http://schemas.openxmlformats.org/drawingml/2006/main" w="9525">
            <a:solidFill>
              <a:srgbClr val="343D50"/>
            </a:solidFill>
            <a:prstDash val="solid"/>
          </a:ln>
        </p:spPr>
      </p:sp>
      <p:sp>
        <p:nvSpPr>
          <p:cNvPr id="11" name="replay-0-accent">
            <a:extLst xmlns:a="http://schemas.openxmlformats.org/drawingml/2006/main">
              <a:ext uri="{FF2B5EF4-FFF2-40B4-BE49-F238E27FC236}">
                <a16:creationId xmlns:a16="http://schemas.microsoft.com/office/drawing/2014/main" id="{516CDC3A-5DD1-4971-BECD-A1B4711EDEC9}"/>
              </a:ext>
            </a:extLst>
          </p:cNvPr>
          <p:cNvSpPr>
            <a:spLocks xmlns:a="http://schemas.openxmlformats.org/drawingml/2006/main" noGrp="1"/>
          </p:cNvSpPr>
          <p:nvPr/>
        </p:nvSpPr>
        <p:spPr>
          <a:xfrm xmlns:a="http://schemas.openxmlformats.org/drawingml/2006/main">
            <a:off x="723900" y="2686050"/>
            <a:ext cx="57150" cy="18097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2" name="replay-0-title">
            <a:extLst xmlns:a="http://schemas.openxmlformats.org/drawingml/2006/main">
              <a:ext uri="{FF2B5EF4-FFF2-40B4-BE49-F238E27FC236}">
                <a16:creationId xmlns:a16="http://schemas.microsoft.com/office/drawing/2014/main" id="{BA5D29B9-01A3-4DD2-89B6-63F7C8886A8C}"/>
              </a:ext>
            </a:extLst>
          </p:cNvPr>
          <p:cNvSpPr>
            <a:spLocks xmlns:a="http://schemas.openxmlformats.org/drawingml/2006/main" noGrp="1"/>
          </p:cNvSpPr>
          <p:nvPr/>
        </p:nvSpPr>
        <p:spPr>
          <a:xfrm xmlns:a="http://schemas.openxmlformats.org/drawingml/2006/main">
            <a:off x="933450" y="285750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GRAPH INPUT</a:t>
            </a:r>
          </a:p>
        </p:txBody>
      </p:sp>
      <p:sp>
        <p:nvSpPr>
          <p:cNvPr id="13" name="replay-0-body">
            <a:extLst xmlns:a="http://schemas.openxmlformats.org/drawingml/2006/main">
              <a:ext uri="{FF2B5EF4-FFF2-40B4-BE49-F238E27FC236}">
                <a16:creationId xmlns:a16="http://schemas.microsoft.com/office/drawing/2014/main" id="{A21504CE-0FB5-4455-B60F-0FE43F44790C}"/>
              </a:ext>
            </a:extLst>
          </p:cNvPr>
          <p:cNvSpPr>
            <a:spLocks xmlns:a="http://schemas.openxmlformats.org/drawingml/2006/main" noGrp="1"/>
          </p:cNvSpPr>
          <p:nvPr/>
        </p:nvSpPr>
        <p:spPr>
          <a:xfrm xmlns:a="http://schemas.openxmlformats.org/drawingml/2006/main">
            <a:off x="933450" y="3371850"/>
            <a:ext cx="2933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raw JSON + source hash</a:t>
            </a:r>
          </a:p>
        </p:txBody>
      </p:sp>
      <p:sp>
        <p:nvSpPr>
          <p:cNvPr id="14" name="replay-1-panel">
            <a:extLst xmlns:a="http://schemas.openxmlformats.org/drawingml/2006/main">
              <a:ext uri="{FF2B5EF4-FFF2-40B4-BE49-F238E27FC236}">
                <a16:creationId xmlns:a16="http://schemas.microsoft.com/office/drawing/2014/main" id="{F3001FDD-6109-44C3-8B4A-B4D0AEA1252F}"/>
              </a:ext>
            </a:extLst>
          </p:cNvPr>
          <p:cNvSpPr>
            <a:spLocks xmlns:a="http://schemas.openxmlformats.org/drawingml/2006/main" noGrp="1"/>
          </p:cNvSpPr>
          <p:nvPr/>
        </p:nvSpPr>
        <p:spPr>
          <a:xfrm xmlns:a="http://schemas.openxmlformats.org/drawingml/2006/main">
            <a:off x="4552950" y="2686050"/>
            <a:ext cx="3352800" cy="1809750"/>
          </a:xfrm>
          <a:prstGeom xmlns:a="http://schemas.openxmlformats.org/drawingml/2006/main" prst="roundRect">
            <a:avLst>
              <a:gd name="adj" fmla="val 4211"/>
            </a:avLst>
          </a:prstGeom>
          <a:solidFill xmlns:a="http://schemas.openxmlformats.org/drawingml/2006/main">
            <a:srgbClr val="1C2638"/>
          </a:solidFill>
          <a:ln xmlns:a="http://schemas.openxmlformats.org/drawingml/2006/main" w="9525">
            <a:solidFill>
              <a:srgbClr val="343D50"/>
            </a:solidFill>
            <a:prstDash val="solid"/>
          </a:ln>
        </p:spPr>
      </p:sp>
      <p:sp>
        <p:nvSpPr>
          <p:cNvPr id="15" name="replay-1-accent">
            <a:extLst xmlns:a="http://schemas.openxmlformats.org/drawingml/2006/main">
              <a:ext uri="{FF2B5EF4-FFF2-40B4-BE49-F238E27FC236}">
                <a16:creationId xmlns:a16="http://schemas.microsoft.com/office/drawing/2014/main" id="{29EE1D75-DCBD-4503-82EC-1F3C9663F91C}"/>
              </a:ext>
            </a:extLst>
          </p:cNvPr>
          <p:cNvSpPr>
            <a:spLocks xmlns:a="http://schemas.openxmlformats.org/drawingml/2006/main" noGrp="1"/>
          </p:cNvSpPr>
          <p:nvPr/>
        </p:nvSpPr>
        <p:spPr>
          <a:xfrm xmlns:a="http://schemas.openxmlformats.org/drawingml/2006/main">
            <a:off x="4552950" y="2686050"/>
            <a:ext cx="57150" cy="18097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replay-1-title">
            <a:extLst xmlns:a="http://schemas.openxmlformats.org/drawingml/2006/main">
              <a:ext uri="{FF2B5EF4-FFF2-40B4-BE49-F238E27FC236}">
                <a16:creationId xmlns:a16="http://schemas.microsoft.com/office/drawing/2014/main" id="{A28F406D-A92B-43A7-8171-BC44B991B325}"/>
              </a:ext>
            </a:extLst>
          </p:cNvPr>
          <p:cNvSpPr>
            <a:spLocks xmlns:a="http://schemas.openxmlformats.org/drawingml/2006/main" noGrp="1"/>
          </p:cNvSpPr>
          <p:nvPr/>
        </p:nvSpPr>
        <p:spPr>
          <a:xfrm xmlns:a="http://schemas.openxmlformats.org/drawingml/2006/main">
            <a:off x="4762500" y="285750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PRODUCER</a:t>
            </a:r>
          </a:p>
        </p:txBody>
      </p:sp>
      <p:sp>
        <p:nvSpPr>
          <p:cNvPr id="17" name="replay-1-body">
            <a:extLst xmlns:a="http://schemas.openxmlformats.org/drawingml/2006/main">
              <a:ext uri="{FF2B5EF4-FFF2-40B4-BE49-F238E27FC236}">
                <a16:creationId xmlns:a16="http://schemas.microsoft.com/office/drawing/2014/main" id="{68150EF2-8C9C-42A9-9230-0857F757AC9B}"/>
              </a:ext>
            </a:extLst>
          </p:cNvPr>
          <p:cNvSpPr>
            <a:spLocks xmlns:a="http://schemas.openxmlformats.org/drawingml/2006/main" noGrp="1"/>
          </p:cNvSpPr>
          <p:nvPr/>
        </p:nvSpPr>
        <p:spPr>
          <a:xfrm xmlns:a="http://schemas.openxmlformats.org/drawingml/2006/main">
            <a:off x="4762500" y="3371850"/>
            <a:ext cx="2933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product closure + certificate</a:t>
            </a:r>
          </a:p>
        </p:txBody>
      </p:sp>
      <p:sp>
        <p:nvSpPr>
          <p:cNvPr id="18" name="replay-2-panel">
            <a:extLst xmlns:a="http://schemas.openxmlformats.org/drawingml/2006/main">
              <a:ext uri="{FF2B5EF4-FFF2-40B4-BE49-F238E27FC236}">
                <a16:creationId xmlns:a16="http://schemas.microsoft.com/office/drawing/2014/main" id="{8D1D56A2-A1D7-4299-A9D9-A503ACE84F6F}"/>
              </a:ext>
            </a:extLst>
          </p:cNvPr>
          <p:cNvSpPr>
            <a:spLocks xmlns:a="http://schemas.openxmlformats.org/drawingml/2006/main" noGrp="1"/>
          </p:cNvSpPr>
          <p:nvPr/>
        </p:nvSpPr>
        <p:spPr>
          <a:xfrm xmlns:a="http://schemas.openxmlformats.org/drawingml/2006/main">
            <a:off x="8382000" y="2686050"/>
            <a:ext cx="3352800" cy="1809750"/>
          </a:xfrm>
          <a:prstGeom xmlns:a="http://schemas.openxmlformats.org/drawingml/2006/main" prst="roundRect">
            <a:avLst>
              <a:gd name="adj" fmla="val 4211"/>
            </a:avLst>
          </a:prstGeom>
          <a:solidFill xmlns:a="http://schemas.openxmlformats.org/drawingml/2006/main">
            <a:srgbClr val="1C2638"/>
          </a:solidFill>
          <a:ln xmlns:a="http://schemas.openxmlformats.org/drawingml/2006/main" w="9525">
            <a:solidFill>
              <a:srgbClr val="343D50"/>
            </a:solidFill>
            <a:prstDash val="solid"/>
          </a:ln>
        </p:spPr>
      </p:sp>
      <p:sp>
        <p:nvSpPr>
          <p:cNvPr id="19" name="replay-2-accent">
            <a:extLst xmlns:a="http://schemas.openxmlformats.org/drawingml/2006/main">
              <a:ext uri="{FF2B5EF4-FFF2-40B4-BE49-F238E27FC236}">
                <a16:creationId xmlns:a16="http://schemas.microsoft.com/office/drawing/2014/main" id="{04E15F3A-784E-4E8E-85EA-5CAE9DE68B1C}"/>
              </a:ext>
            </a:extLst>
          </p:cNvPr>
          <p:cNvSpPr>
            <a:spLocks xmlns:a="http://schemas.openxmlformats.org/drawingml/2006/main" noGrp="1"/>
          </p:cNvSpPr>
          <p:nvPr/>
        </p:nvSpPr>
        <p:spPr>
          <a:xfrm xmlns:a="http://schemas.openxmlformats.org/drawingml/2006/main">
            <a:off x="8382000" y="2686050"/>
            <a:ext cx="57150" cy="18097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0" name="replay-2-title">
            <a:extLst xmlns:a="http://schemas.openxmlformats.org/drawingml/2006/main">
              <a:ext uri="{FF2B5EF4-FFF2-40B4-BE49-F238E27FC236}">
                <a16:creationId xmlns:a16="http://schemas.microsoft.com/office/drawing/2014/main" id="{E4817CF8-BD10-4922-8EE9-2E5D9D522E0A}"/>
              </a:ext>
            </a:extLst>
          </p:cNvPr>
          <p:cNvSpPr>
            <a:spLocks xmlns:a="http://schemas.openxmlformats.org/drawingml/2006/main" noGrp="1"/>
          </p:cNvSpPr>
          <p:nvPr/>
        </p:nvSpPr>
        <p:spPr>
          <a:xfrm xmlns:a="http://schemas.openxmlformats.org/drawingml/2006/main">
            <a:off x="8591550" y="285750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REPLAYER</a:t>
            </a:r>
          </a:p>
        </p:txBody>
      </p:sp>
      <p:sp>
        <p:nvSpPr>
          <p:cNvPr id="21" name="replay-2-body">
            <a:extLst xmlns:a="http://schemas.openxmlformats.org/drawingml/2006/main">
              <a:ext uri="{FF2B5EF4-FFF2-40B4-BE49-F238E27FC236}">
                <a16:creationId xmlns:a16="http://schemas.microsoft.com/office/drawing/2014/main" id="{38AD3B29-A52D-4CAC-BC8C-40465ED7986C}"/>
              </a:ext>
            </a:extLst>
          </p:cNvPr>
          <p:cNvSpPr>
            <a:spLocks xmlns:a="http://schemas.openxmlformats.org/drawingml/2006/main" noGrp="1"/>
          </p:cNvSpPr>
          <p:nvPr/>
        </p:nvSpPr>
        <p:spPr>
          <a:xfrm xmlns:a="http://schemas.openxmlformats.org/drawingml/2006/main">
            <a:off x="8591550" y="3371850"/>
            <a:ext cx="2933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rebuild every node, edge, rule, R</a:t>
            </a:r>
          </a:p>
        </p:txBody>
      </p:sp>
      <p:sp>
        <p:nvSpPr>
          <p:cNvPr id="24" name="replay-verdict">
            <a:extLst xmlns:a="http://schemas.openxmlformats.org/drawingml/2006/main">
              <a:ext uri="{FF2B5EF4-FFF2-40B4-BE49-F238E27FC236}">
                <a16:creationId xmlns:a16="http://schemas.microsoft.com/office/drawing/2014/main" id="{9B7B0499-8E7C-4B3B-9B65-AE885494DD52}"/>
              </a:ext>
            </a:extLst>
          </p:cNvPr>
          <p:cNvSpPr>
            <a:spLocks xmlns:a="http://schemas.openxmlformats.org/drawingml/2006/main" noGrp="1"/>
          </p:cNvSpPr>
          <p:nvPr/>
        </p:nvSpPr>
        <p:spPr>
          <a:xfrm xmlns:a="http://schemas.openxmlformats.org/drawingml/2006/main">
            <a:off x="914400" y="4838700"/>
            <a:ext cx="1036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1F6F66"/>
                </a:solidFill>
                <a:latin typeface="Avenir Next"/>
                <a:ea typeface="Avenir Next"/>
                <a:cs typeface="Avenir Next"/>
              </a:defRPr>
            </a:defPPr>
          </a:lstStyle>
          <a:p xmlns:a="http://schemas.openxmlformats.org/drawingml/2006/main">
            <a:pPr algn="ctr">
              <a:defRPr sz="1425" b="1" i="0">
                <a:solidFill>
                  <a:srgbClr val="1F6F66"/>
                </a:solidFill>
                <a:latin typeface="Avenir Next"/>
                <a:ea typeface="Avenir Next"/>
                <a:cs typeface="Avenir Next"/>
              </a:defRPr>
            </a:pPr>
            <a:r>
              <a:rPr sz="1425" b="1" i="0">
                <a:solidFill>
                  <a:srgbClr val="1F6F66"/>
                </a:solidFill>
                <a:latin typeface="Avenir Next"/>
                <a:ea typeface="Avenir Next"/>
                <a:cs typeface="Avenir Next"/>
              </a:rPr>
              <a:t>VERIFIED  ·  6/6 accepting certificates replayed</a:t>
            </a:r>
          </a:p>
        </p:txBody>
      </p:sp>
      <p:sp>
        <p:nvSpPr>
          <p:cNvPr id="25" name="replay-limit">
            <a:extLst xmlns:a="http://schemas.openxmlformats.org/drawingml/2006/main">
              <a:ext uri="{FF2B5EF4-FFF2-40B4-BE49-F238E27FC236}">
                <a16:creationId xmlns:a16="http://schemas.microsoft.com/office/drawing/2014/main" id="{84DA88B1-155B-46E3-813E-4D01C889CBA4}"/>
              </a:ext>
            </a:extLst>
          </p:cNvPr>
          <p:cNvSpPr>
            <a:spLocks xmlns:a="http://schemas.openxmlformats.org/drawingml/2006/main" noGrp="1"/>
          </p:cNvSpPr>
          <p:nvPr/>
        </p:nvSpPr>
        <p:spPr>
          <a:xfrm xmlns:a="http://schemas.openxmlformats.org/drawingml/2006/main">
            <a:off x="933450" y="5314950"/>
            <a:ext cx="10334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38" b="0" i="0">
                <a:solidFill>
                  <a:srgbClr val="646B7A"/>
                </a:solidFill>
                <a:latin typeface="Avenir Next"/>
                <a:ea typeface="Avenir Next"/>
                <a:cs typeface="Avenir Next"/>
              </a:defRPr>
            </a:defPPr>
          </a:lstStyle>
          <a:p xmlns:a="http://schemas.openxmlformats.org/drawingml/2006/main">
            <a:pPr algn="ctr">
              <a:defRPr sz="1238" b="0" i="0">
                <a:solidFill>
                  <a:srgbClr val="646B7A"/>
                </a:solidFill>
                <a:latin typeface="Avenir Next"/>
                <a:ea typeface="Avenir Next"/>
                <a:cs typeface="Avenir Next"/>
              </a:defRPr>
            </a:pPr>
            <a:r>
              <a:rPr sz="1238" b="0" i="0">
                <a:solidFill>
                  <a:srgbClr val="646B7A"/>
                </a:solidFill>
                <a:latin typeface="Avenir Next"/>
                <a:ea typeface="Avenir Next"/>
                <a:cs typeface="Avenir Next"/>
              </a:rPr>
              <a:t>Replay checks certificate closure under the graph rules; it does not verify graph-to-source fidelity or mechanize the relational theorem.</a:t>
            </a:r>
          </a:p>
        </p:txBody>
      </p:sp>
    </p:spTree>
    <p:extLst>
      <p:ext uri="{BB962C8B-B14F-4D97-AF65-F5344CB8AC3E}">
        <p14:creationId xmlns:p14="http://schemas.microsoft.com/office/powerpoint/2010/main" val="897727845"/>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40" name="s9-brand">
            <a:extLst xmlns:a="http://schemas.openxmlformats.org/drawingml/2006/main">
              <a:ext uri="{FF2B5EF4-FFF2-40B4-BE49-F238E27FC236}">
                <a16:creationId xmlns:a16="http://schemas.microsoft.com/office/drawing/2014/main" id="{ED9FE949-283C-476D-9E0F-EEB322AA6BB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9-section">
            <a:extLst xmlns:a="http://schemas.openxmlformats.org/drawingml/2006/main">
              <a:ext uri="{FF2B5EF4-FFF2-40B4-BE49-F238E27FC236}">
                <a16:creationId xmlns:a16="http://schemas.microsoft.com/office/drawing/2014/main" id="{F0EAAD69-6B4C-4BD9-85C5-3A258DECD3E5}"/>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REGISTER RELATION</a:t>
            </a:r>
          </a:p>
        </p:txBody>
      </p:sp>
      <p:sp>
        <p:nvSpPr>
          <p:cNvPr id="3" name="s9-title">
            <a:extLst xmlns:a="http://schemas.openxmlformats.org/drawingml/2006/main">
              <a:ext uri="{FF2B5EF4-FFF2-40B4-BE49-F238E27FC236}">
                <a16:creationId xmlns:a16="http://schemas.microsoft.com/office/drawing/2014/main" id="{A6E7D736-4295-42C4-AC84-7D843997C725}"/>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Overwriting a result must erase its old pairing</a:t>
            </a:r>
          </a:p>
        </p:txBody>
      </p:sp>
      <p:sp>
        <p:nvSpPr>
          <p:cNvPr id="4" name="s9-subtitle">
            <a:extLst xmlns:a="http://schemas.openxmlformats.org/drawingml/2006/main">
              <a:ext uri="{FF2B5EF4-FFF2-40B4-BE49-F238E27FC236}">
                <a16:creationId xmlns:a16="http://schemas.microsoft.com/office/drawing/2014/main" id="{B43E4994-B818-49AE-B6F9-66895FDBC5EE}"/>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The third request differs when one arm reuses the stale first result.</a:t>
            </a:r>
          </a:p>
        </p:txBody>
      </p:sp>
      <p:sp>
        <p:nvSpPr>
          <p:cNvPr id="5" name="s9-source-rule">
            <a:extLst xmlns:a="http://schemas.openxmlformats.org/drawingml/2006/main">
              <a:ext uri="{FF2B5EF4-FFF2-40B4-BE49-F238E27FC236}">
                <a16:creationId xmlns:a16="http://schemas.microsoft.com/office/drawing/2014/main" id="{50A728C5-D4D6-490A-93BB-E9D9E55F911F}"/>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9-sources">
            <a:extLst xmlns:a="http://schemas.openxmlformats.org/drawingml/2006/main">
              <a:ext uri="{FF2B5EF4-FFF2-40B4-BE49-F238E27FC236}">
                <a16:creationId xmlns:a16="http://schemas.microsoft.com/office/drawing/2014/main" id="{8AA11715-667C-49F4-B067-A602ECD4B597}"/>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examples/graphs/rejected/overwritten_result_relation.json; bench/results/graphs.json; audit/test_orchgraph.py</a:t>
            </a:r>
          </a:p>
        </p:txBody>
      </p:sp>
      <p:sp>
        <p:nvSpPr>
          <p:cNvPr id="7" name="s9-footer-rule">
            <a:extLst xmlns:a="http://schemas.openxmlformats.org/drawingml/2006/main">
              <a:ext uri="{FF2B5EF4-FFF2-40B4-BE49-F238E27FC236}">
                <a16:creationId xmlns:a16="http://schemas.microsoft.com/office/drawing/2014/main" id="{8C59DC6E-4CB4-4924-B5A0-E915C17C600A}"/>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9-footer">
            <a:extLst xmlns:a="http://schemas.openxmlformats.org/drawingml/2006/main">
              <a:ext uri="{FF2B5EF4-FFF2-40B4-BE49-F238E27FC236}">
                <a16:creationId xmlns:a16="http://schemas.microsoft.com/office/drawing/2014/main" id="{899A69FE-FD5F-4DCC-BDF9-6D564EF95D25}"/>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9-page">
            <a:extLst xmlns:a="http://schemas.openxmlformats.org/drawingml/2006/main">
              <a:ext uri="{FF2B5EF4-FFF2-40B4-BE49-F238E27FC236}">
                <a16:creationId xmlns:a16="http://schemas.microsoft.com/office/drawing/2014/main" id="{07861314-3503-4778-8547-BE558138B439}"/>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9</a:t>
            </a:r>
          </a:p>
        </p:txBody>
      </p:sp>
      <p:sp>
        <p:nvSpPr>
          <p:cNvPr id="10" name="stale-0-side-pill">
            <a:extLst xmlns:a="http://schemas.openxmlformats.org/drawingml/2006/main">
              <a:ext uri="{FF2B5EF4-FFF2-40B4-BE49-F238E27FC236}">
                <a16:creationId xmlns:a16="http://schemas.microsoft.com/office/drawing/2014/main" id="{788526E2-66E7-4BCF-9B94-1032129C61C0}"/>
              </a:ext>
            </a:extLst>
          </p:cNvPr>
          <p:cNvSpPr>
            <a:spLocks xmlns:a="http://schemas.openxmlformats.org/drawingml/2006/main" noGrp="1"/>
          </p:cNvSpPr>
          <p:nvPr/>
        </p:nvSpPr>
        <p:spPr>
          <a:xfrm xmlns:a="http://schemas.openxmlformats.org/drawingml/2006/main">
            <a:off x="742950" y="2914650"/>
            <a:ext cx="933450" cy="266700"/>
          </a:xfrm>
          <a:prstGeom xmlns:a="http://schemas.openxmlformats.org/drawingml/2006/main" prst="roundRect">
            <a:avLst>
              <a:gd name="adj" fmla="val 35714"/>
            </a:avLst>
          </a:prstGeom>
          <a:solidFill xmlns:a="http://schemas.openxmlformats.org/drawingml/2006/main">
            <a:srgbClr val="FF8A5C"/>
          </a:solidFill>
          <a:ln xmlns:a="http://schemas.openxmlformats.org/drawingml/2006/main" w="0">
            <a:noFill/>
            <a:prstDash val="solid"/>
          </a:ln>
        </p:spPr>
      </p:sp>
      <p:sp>
        <p:nvSpPr>
          <p:cNvPr id="11" name="stale-0-side-text">
            <a:extLst xmlns:a="http://schemas.openxmlformats.org/drawingml/2006/main">
              <a:ext uri="{FF2B5EF4-FFF2-40B4-BE49-F238E27FC236}">
                <a16:creationId xmlns:a16="http://schemas.microsoft.com/office/drawing/2014/main" id="{0E8B58F0-6FA8-42CD-A82E-FD7D0D59E995}"/>
              </a:ext>
            </a:extLst>
          </p:cNvPr>
          <p:cNvSpPr>
            <a:spLocks xmlns:a="http://schemas.openxmlformats.org/drawingml/2006/main" noGrp="1"/>
          </p:cNvSpPr>
          <p:nvPr/>
        </p:nvSpPr>
        <p:spPr>
          <a:xfrm xmlns:a="http://schemas.openxmlformats.org/drawingml/2006/main">
            <a:off x="838200" y="29622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141B2B"/>
                </a:solidFill>
                <a:latin typeface="Avenir Next"/>
                <a:ea typeface="Avenir Next"/>
                <a:cs typeface="Avenir Next"/>
              </a:defRPr>
            </a:defPPr>
          </a:lstStyle>
          <a:p xmlns:a="http://schemas.openxmlformats.org/drawingml/2006/main">
            <a:pPr algn="ctr">
              <a:defRPr sz="975" b="1" i="0">
                <a:solidFill>
                  <a:srgbClr val="141B2B"/>
                </a:solidFill>
                <a:latin typeface="Avenir Next"/>
                <a:ea typeface="Avenir Next"/>
                <a:cs typeface="Avenir Next"/>
              </a:defRPr>
            </a:pPr>
            <a:r>
              <a:rPr sz="975" b="1" i="0">
                <a:solidFill>
                  <a:srgbClr val="141B2B"/>
                </a:solidFill>
                <a:latin typeface="Avenir Next"/>
                <a:ea typeface="Avenir Next"/>
                <a:cs typeface="Avenir Next"/>
              </a:rPr>
              <a:t>LEFT</a:t>
            </a:r>
          </a:p>
        </p:txBody>
      </p:sp>
      <p:sp>
        <p:nvSpPr>
          <p:cNvPr id="12" name="stale-0-first-panel">
            <a:extLst xmlns:a="http://schemas.openxmlformats.org/drawingml/2006/main">
              <a:ext uri="{FF2B5EF4-FFF2-40B4-BE49-F238E27FC236}">
                <a16:creationId xmlns:a16="http://schemas.microsoft.com/office/drawing/2014/main" id="{114285CA-2DE5-4CC9-AA6B-EA97DADC9C7E}"/>
              </a:ext>
            </a:extLst>
          </p:cNvPr>
          <p:cNvSpPr>
            <a:spLocks xmlns:a="http://schemas.openxmlformats.org/drawingml/2006/main" noGrp="1"/>
          </p:cNvSpPr>
          <p:nvPr/>
        </p:nvSpPr>
        <p:spPr>
          <a:xfrm xmlns:a="http://schemas.openxmlformats.org/drawingml/2006/main">
            <a:off x="1876425" y="2628900"/>
            <a:ext cx="253365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13" name="stale-0-first-accent">
            <a:extLst xmlns:a="http://schemas.openxmlformats.org/drawingml/2006/main">
              <a:ext uri="{FF2B5EF4-FFF2-40B4-BE49-F238E27FC236}">
                <a16:creationId xmlns:a16="http://schemas.microsoft.com/office/drawing/2014/main" id="{E7DE4F18-B40C-440B-A50F-6881C26E6ABD}"/>
              </a:ext>
            </a:extLst>
          </p:cNvPr>
          <p:cNvSpPr>
            <a:spLocks xmlns:a="http://schemas.openxmlformats.org/drawingml/2006/main" noGrp="1"/>
          </p:cNvSpPr>
          <p:nvPr/>
        </p:nvSpPr>
        <p:spPr>
          <a:xfrm xmlns:a="http://schemas.openxmlformats.org/drawingml/2006/main">
            <a:off x="1876425" y="2628900"/>
            <a:ext cx="57150" cy="8763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4" name="stale-0-first-title">
            <a:extLst xmlns:a="http://schemas.openxmlformats.org/drawingml/2006/main">
              <a:ext uri="{FF2B5EF4-FFF2-40B4-BE49-F238E27FC236}">
                <a16:creationId xmlns:a16="http://schemas.microsoft.com/office/drawing/2014/main" id="{954A3A34-623F-4023-9B51-DC7384C0D820}"/>
              </a:ext>
            </a:extLst>
          </p:cNvPr>
          <p:cNvSpPr>
            <a:spLocks xmlns:a="http://schemas.openxmlformats.org/drawingml/2006/main" noGrp="1"/>
          </p:cNvSpPr>
          <p:nvPr/>
        </p:nvSpPr>
        <p:spPr>
          <a:xfrm xmlns:a="http://schemas.openxmlformats.org/drawingml/2006/main">
            <a:off x="2085975" y="28003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0</a:t>
            </a:r>
          </a:p>
        </p:txBody>
      </p:sp>
      <p:sp>
        <p:nvSpPr>
          <p:cNvPr id="15" name="stale-0-first-body">
            <a:extLst xmlns:a="http://schemas.openxmlformats.org/drawingml/2006/main">
              <a:ext uri="{FF2B5EF4-FFF2-40B4-BE49-F238E27FC236}">
                <a16:creationId xmlns:a16="http://schemas.microsoft.com/office/drawing/2014/main" id="{65EF912D-AFB0-4B27-B1A3-87089F7C05B3}"/>
              </a:ext>
            </a:extLst>
          </p:cNvPr>
          <p:cNvSpPr>
            <a:spLocks xmlns:a="http://schemas.openxmlformats.org/drawingml/2006/main" noGrp="1"/>
          </p:cNvSpPr>
          <p:nvPr/>
        </p:nvSpPr>
        <p:spPr>
          <a:xfrm xmlns:a="http://schemas.openxmlformats.org/drawingml/2006/main">
            <a:off x="2085975" y="31051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646B7A"/>
                </a:solidFill>
                <a:latin typeface="Menlo"/>
                <a:ea typeface="Menlo"/>
                <a:cs typeface="Menlo"/>
              </a:defRPr>
            </a:defPPr>
          </a:lstStyle>
          <a:p xmlns:a="http://schemas.openxmlformats.org/drawingml/2006/main">
            <a:pPr algn="l">
              <a:defRPr sz="1200" b="0" i="0">
                <a:solidFill>
                  <a:srgbClr val="646B7A"/>
                </a:solidFill>
                <a:latin typeface="Menlo"/>
                <a:ea typeface="Menlo"/>
                <a:cs typeface="Menlo"/>
              </a:defRPr>
            </a:pPr>
            <a:r>
              <a:rPr sz="1200" b="0" i="0">
                <a:solidFill>
                  <a:srgbClr val="646B7A"/>
                </a:solidFill>
                <a:latin typeface="Menlo"/>
                <a:ea typeface="Menlo"/>
                <a:cs typeface="Menlo"/>
              </a:rPr>
              <a:t>#0 query → a</a:t>
            </a:r>
          </a:p>
        </p:txBody>
      </p:sp>
      <p:sp>
        <p:nvSpPr>
          <p:cNvPr id="16" name="stale-0-second-panel">
            <a:extLst xmlns:a="http://schemas.openxmlformats.org/drawingml/2006/main">
              <a:ext uri="{FF2B5EF4-FFF2-40B4-BE49-F238E27FC236}">
                <a16:creationId xmlns:a16="http://schemas.microsoft.com/office/drawing/2014/main" id="{467C83CA-2233-4D5A-887C-A494E14AE410}"/>
              </a:ext>
            </a:extLst>
          </p:cNvPr>
          <p:cNvSpPr>
            <a:spLocks xmlns:a="http://schemas.openxmlformats.org/drawingml/2006/main" noGrp="1"/>
          </p:cNvSpPr>
          <p:nvPr/>
        </p:nvSpPr>
        <p:spPr>
          <a:xfrm xmlns:a="http://schemas.openxmlformats.org/drawingml/2006/main">
            <a:off x="4762500" y="2628900"/>
            <a:ext cx="28575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17" name="stale-0-second-accent">
            <a:extLst xmlns:a="http://schemas.openxmlformats.org/drawingml/2006/main">
              <a:ext uri="{FF2B5EF4-FFF2-40B4-BE49-F238E27FC236}">
                <a16:creationId xmlns:a16="http://schemas.microsoft.com/office/drawing/2014/main" id="{6F811039-B2B2-491A-90BD-421D0537F376}"/>
              </a:ext>
            </a:extLst>
          </p:cNvPr>
          <p:cNvSpPr>
            <a:spLocks xmlns:a="http://schemas.openxmlformats.org/drawingml/2006/main" noGrp="1"/>
          </p:cNvSpPr>
          <p:nvPr/>
        </p:nvSpPr>
        <p:spPr>
          <a:xfrm xmlns:a="http://schemas.openxmlformats.org/drawingml/2006/main">
            <a:off x="4762500" y="2628900"/>
            <a:ext cx="57150" cy="8763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8" name="stale-0-second-title">
            <a:extLst xmlns:a="http://schemas.openxmlformats.org/drawingml/2006/main">
              <a:ext uri="{FF2B5EF4-FFF2-40B4-BE49-F238E27FC236}">
                <a16:creationId xmlns:a16="http://schemas.microsoft.com/office/drawing/2014/main" id="{9284F8C1-38B8-4CD1-8AFF-C295443D3B78}"/>
              </a:ext>
            </a:extLst>
          </p:cNvPr>
          <p:cNvSpPr>
            <a:spLocks xmlns:a="http://schemas.openxmlformats.org/drawingml/2006/main" noGrp="1"/>
          </p:cNvSpPr>
          <p:nvPr/>
        </p:nvSpPr>
        <p:spPr>
          <a:xfrm xmlns:a="http://schemas.openxmlformats.org/drawingml/2006/main">
            <a:off x="4972050" y="2800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1</a:t>
            </a:r>
          </a:p>
        </p:txBody>
      </p:sp>
      <p:sp>
        <p:nvSpPr>
          <p:cNvPr id="19" name="stale-0-second-body">
            <a:extLst xmlns:a="http://schemas.openxmlformats.org/drawingml/2006/main">
              <a:ext uri="{FF2B5EF4-FFF2-40B4-BE49-F238E27FC236}">
                <a16:creationId xmlns:a16="http://schemas.microsoft.com/office/drawing/2014/main" id="{CAD7B99E-95A9-492F-8277-3FBF0696AD04}"/>
              </a:ext>
            </a:extLst>
          </p:cNvPr>
          <p:cNvSpPr>
            <a:spLocks xmlns:a="http://schemas.openxmlformats.org/drawingml/2006/main" noGrp="1"/>
          </p:cNvSpPr>
          <p:nvPr/>
        </p:nvSpPr>
        <p:spPr>
          <a:xfrm xmlns:a="http://schemas.openxmlformats.org/drawingml/2006/main">
            <a:off x="4972050" y="3105150"/>
            <a:ext cx="243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Menlo"/>
                <a:ea typeface="Menlo"/>
                <a:cs typeface="Menlo"/>
              </a:defRPr>
            </a:defPPr>
          </a:lstStyle>
          <a:p xmlns:a="http://schemas.openxmlformats.org/drawingml/2006/main">
            <a:pPr algn="l">
              <a:defRPr sz="1163" b="0" i="0">
                <a:solidFill>
                  <a:srgbClr val="646B7A"/>
                </a:solidFill>
                <a:latin typeface="Menlo"/>
                <a:ea typeface="Menlo"/>
                <a:cs typeface="Menlo"/>
              </a:defRPr>
            </a:pPr>
            <a:r>
              <a:rPr sz="1163" b="0" i="0">
                <a:solidFill>
                  <a:srgbClr val="646B7A"/>
                </a:solidFill>
                <a:latin typeface="Menlo"/>
                <a:ea typeface="Menlo"/>
                <a:cs typeface="Menlo"/>
              </a:rPr>
              <a:t>#1 query → a  (overwrite)</a:t>
            </a:r>
          </a:p>
        </p:txBody>
      </p:sp>
      <p:sp>
        <p:nvSpPr>
          <p:cNvPr id="20" name="stale-0-third-panel">
            <a:extLst xmlns:a="http://schemas.openxmlformats.org/drawingml/2006/main">
              <a:ext uri="{FF2B5EF4-FFF2-40B4-BE49-F238E27FC236}">
                <a16:creationId xmlns:a16="http://schemas.microsoft.com/office/drawing/2014/main" id="{3EABD825-442D-41F3-A8FE-14609252B7E2}"/>
              </a:ext>
            </a:extLst>
          </p:cNvPr>
          <p:cNvSpPr>
            <a:spLocks xmlns:a="http://schemas.openxmlformats.org/drawingml/2006/main" noGrp="1"/>
          </p:cNvSpPr>
          <p:nvPr/>
        </p:nvSpPr>
        <p:spPr>
          <a:xfrm xmlns:a="http://schemas.openxmlformats.org/drawingml/2006/main">
            <a:off x="7972425" y="2628900"/>
            <a:ext cx="333375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21" name="stale-0-third-accent">
            <a:extLst xmlns:a="http://schemas.openxmlformats.org/drawingml/2006/main">
              <a:ext uri="{FF2B5EF4-FFF2-40B4-BE49-F238E27FC236}">
                <a16:creationId xmlns:a16="http://schemas.microsoft.com/office/drawing/2014/main" id="{D962E801-4D6C-46FB-A824-D37A7E1E1144}"/>
              </a:ext>
            </a:extLst>
          </p:cNvPr>
          <p:cNvSpPr>
            <a:spLocks xmlns:a="http://schemas.openxmlformats.org/drawingml/2006/main" noGrp="1"/>
          </p:cNvSpPr>
          <p:nvPr/>
        </p:nvSpPr>
        <p:spPr>
          <a:xfrm xmlns:a="http://schemas.openxmlformats.org/drawingml/2006/main">
            <a:off x="7972425" y="2628900"/>
            <a:ext cx="57150" cy="8763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2" name="stale-0-third-title">
            <a:extLst xmlns:a="http://schemas.openxmlformats.org/drawingml/2006/main">
              <a:ext uri="{FF2B5EF4-FFF2-40B4-BE49-F238E27FC236}">
                <a16:creationId xmlns:a16="http://schemas.microsoft.com/office/drawing/2014/main" id="{1E064BFE-7D4D-4459-8ABE-6A9B471F219D}"/>
              </a:ext>
            </a:extLst>
          </p:cNvPr>
          <p:cNvSpPr>
            <a:spLocks xmlns:a="http://schemas.openxmlformats.org/drawingml/2006/main" noGrp="1"/>
          </p:cNvSpPr>
          <p:nvPr/>
        </p:nvSpPr>
        <p:spPr>
          <a:xfrm xmlns:a="http://schemas.openxmlformats.org/drawingml/2006/main">
            <a:off x="8181975" y="2800350"/>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2</a:t>
            </a:r>
          </a:p>
        </p:txBody>
      </p:sp>
      <p:sp>
        <p:nvSpPr>
          <p:cNvPr id="23" name="stale-0-third-body">
            <a:extLst xmlns:a="http://schemas.openxmlformats.org/drawingml/2006/main">
              <a:ext uri="{FF2B5EF4-FFF2-40B4-BE49-F238E27FC236}">
                <a16:creationId xmlns:a16="http://schemas.microsoft.com/office/drawing/2014/main" id="{923B719B-74BE-4206-92D8-65357D99EB02}"/>
              </a:ext>
            </a:extLst>
          </p:cNvPr>
          <p:cNvSpPr>
            <a:spLocks xmlns:a="http://schemas.openxmlformats.org/drawingml/2006/main" noGrp="1"/>
          </p:cNvSpPr>
          <p:nvPr/>
        </p:nvSpPr>
        <p:spPr>
          <a:xfrm xmlns:a="http://schemas.openxmlformats.org/drawingml/2006/main">
            <a:off x="8181975" y="3105150"/>
            <a:ext cx="2914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Menlo"/>
                <a:ea typeface="Menlo"/>
                <a:cs typeface="Menlo"/>
              </a:defRPr>
            </a:defPPr>
          </a:lstStyle>
          <a:p xmlns:a="http://schemas.openxmlformats.org/drawingml/2006/main">
            <a:pPr algn="l">
              <a:defRPr sz="1163" b="0" i="0">
                <a:solidFill>
                  <a:srgbClr val="646B7A"/>
                </a:solidFill>
                <a:latin typeface="Menlo"/>
                <a:ea typeface="Menlo"/>
                <a:cs typeface="Menlo"/>
              </a:defRPr>
            </a:pPr>
            <a:r>
              <a:rPr sz="1163" b="0" i="0">
                <a:solidFill>
                  <a:srgbClr val="646B7A"/>
                </a:solidFill>
                <a:latin typeface="Menlo"/>
                <a:ea typeface="Menlo"/>
                <a:cs typeface="Menlo"/>
              </a:rPr>
              <a:t>#2 request(a) → b</a:t>
            </a:r>
          </a:p>
        </p:txBody>
      </p:sp>
      <p:sp>
        <p:nvSpPr>
          <p:cNvPr id="24" name="stale-1-side-pill">
            <a:extLst xmlns:a="http://schemas.openxmlformats.org/drawingml/2006/main">
              <a:ext uri="{FF2B5EF4-FFF2-40B4-BE49-F238E27FC236}">
                <a16:creationId xmlns:a16="http://schemas.microsoft.com/office/drawing/2014/main" id="{AAC182EF-7D24-476C-A4DA-1E6A7FCFC159}"/>
              </a:ext>
            </a:extLst>
          </p:cNvPr>
          <p:cNvSpPr>
            <a:spLocks xmlns:a="http://schemas.openxmlformats.org/drawingml/2006/main" noGrp="1"/>
          </p:cNvSpPr>
          <p:nvPr/>
        </p:nvSpPr>
        <p:spPr>
          <a:xfrm xmlns:a="http://schemas.openxmlformats.org/drawingml/2006/main">
            <a:off x="742950" y="4171950"/>
            <a:ext cx="933450" cy="266700"/>
          </a:xfrm>
          <a:prstGeom xmlns:a="http://schemas.openxmlformats.org/drawingml/2006/main" prst="roundRect">
            <a:avLst>
              <a:gd name="adj" fmla="val 35714"/>
            </a:avLst>
          </a:prstGeom>
          <a:solidFill xmlns:a="http://schemas.openxmlformats.org/drawingml/2006/main">
            <a:srgbClr val="5CC8B8"/>
          </a:solidFill>
          <a:ln xmlns:a="http://schemas.openxmlformats.org/drawingml/2006/main" w="0">
            <a:noFill/>
            <a:prstDash val="solid"/>
          </a:ln>
        </p:spPr>
      </p:sp>
      <p:sp>
        <p:nvSpPr>
          <p:cNvPr id="25" name="stale-1-side-text">
            <a:extLst xmlns:a="http://schemas.openxmlformats.org/drawingml/2006/main">
              <a:ext uri="{FF2B5EF4-FFF2-40B4-BE49-F238E27FC236}">
                <a16:creationId xmlns:a16="http://schemas.microsoft.com/office/drawing/2014/main" id="{5FA0968D-5E40-4C35-9DC7-F95ED88151D5}"/>
              </a:ext>
            </a:extLst>
          </p:cNvPr>
          <p:cNvSpPr>
            <a:spLocks xmlns:a="http://schemas.openxmlformats.org/drawingml/2006/main" noGrp="1"/>
          </p:cNvSpPr>
          <p:nvPr/>
        </p:nvSpPr>
        <p:spPr>
          <a:xfrm xmlns:a="http://schemas.openxmlformats.org/drawingml/2006/main">
            <a:off x="838200" y="42195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141B2B"/>
                </a:solidFill>
                <a:latin typeface="Avenir Next"/>
                <a:ea typeface="Avenir Next"/>
                <a:cs typeface="Avenir Next"/>
              </a:defRPr>
            </a:defPPr>
          </a:lstStyle>
          <a:p xmlns:a="http://schemas.openxmlformats.org/drawingml/2006/main">
            <a:pPr algn="ctr">
              <a:defRPr sz="975" b="1" i="0">
                <a:solidFill>
                  <a:srgbClr val="141B2B"/>
                </a:solidFill>
                <a:latin typeface="Avenir Next"/>
                <a:ea typeface="Avenir Next"/>
                <a:cs typeface="Avenir Next"/>
              </a:defRPr>
            </a:pPr>
            <a:r>
              <a:rPr sz="975" b="1" i="0">
                <a:solidFill>
                  <a:srgbClr val="141B2B"/>
                </a:solidFill>
                <a:latin typeface="Avenir Next"/>
                <a:ea typeface="Avenir Next"/>
                <a:cs typeface="Avenir Next"/>
              </a:rPr>
              <a:t>RIGHT</a:t>
            </a:r>
          </a:p>
        </p:txBody>
      </p:sp>
      <p:sp>
        <p:nvSpPr>
          <p:cNvPr id="26" name="stale-1-first-panel">
            <a:extLst xmlns:a="http://schemas.openxmlformats.org/drawingml/2006/main">
              <a:ext uri="{FF2B5EF4-FFF2-40B4-BE49-F238E27FC236}">
                <a16:creationId xmlns:a16="http://schemas.microsoft.com/office/drawing/2014/main" id="{6783BA93-8CAC-4A10-B336-E2A041D42FD9}"/>
              </a:ext>
            </a:extLst>
          </p:cNvPr>
          <p:cNvSpPr>
            <a:spLocks xmlns:a="http://schemas.openxmlformats.org/drawingml/2006/main" noGrp="1"/>
          </p:cNvSpPr>
          <p:nvPr/>
        </p:nvSpPr>
        <p:spPr>
          <a:xfrm xmlns:a="http://schemas.openxmlformats.org/drawingml/2006/main">
            <a:off x="1876425" y="3886200"/>
            <a:ext cx="253365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27" name="stale-1-first-accent">
            <a:extLst xmlns:a="http://schemas.openxmlformats.org/drawingml/2006/main">
              <a:ext uri="{FF2B5EF4-FFF2-40B4-BE49-F238E27FC236}">
                <a16:creationId xmlns:a16="http://schemas.microsoft.com/office/drawing/2014/main" id="{3F2BBC95-CD10-4548-8A41-CF65E9C259EC}"/>
              </a:ext>
            </a:extLst>
          </p:cNvPr>
          <p:cNvSpPr>
            <a:spLocks xmlns:a="http://schemas.openxmlformats.org/drawingml/2006/main" noGrp="1"/>
          </p:cNvSpPr>
          <p:nvPr/>
        </p:nvSpPr>
        <p:spPr>
          <a:xfrm xmlns:a="http://schemas.openxmlformats.org/drawingml/2006/main">
            <a:off x="1876425" y="3886200"/>
            <a:ext cx="57150" cy="8763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8" name="stale-1-first-title">
            <a:extLst xmlns:a="http://schemas.openxmlformats.org/drawingml/2006/main">
              <a:ext uri="{FF2B5EF4-FFF2-40B4-BE49-F238E27FC236}">
                <a16:creationId xmlns:a16="http://schemas.microsoft.com/office/drawing/2014/main" id="{B7512F9D-CF98-49D6-BBCD-7324924F0FE8}"/>
              </a:ext>
            </a:extLst>
          </p:cNvPr>
          <p:cNvSpPr>
            <a:spLocks xmlns:a="http://schemas.openxmlformats.org/drawingml/2006/main" noGrp="1"/>
          </p:cNvSpPr>
          <p:nvPr/>
        </p:nvSpPr>
        <p:spPr>
          <a:xfrm xmlns:a="http://schemas.openxmlformats.org/drawingml/2006/main">
            <a:off x="2085975" y="40576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0</a:t>
            </a:r>
          </a:p>
        </p:txBody>
      </p:sp>
      <p:sp>
        <p:nvSpPr>
          <p:cNvPr id="29" name="stale-1-first-body">
            <a:extLst xmlns:a="http://schemas.openxmlformats.org/drawingml/2006/main">
              <a:ext uri="{FF2B5EF4-FFF2-40B4-BE49-F238E27FC236}">
                <a16:creationId xmlns:a16="http://schemas.microsoft.com/office/drawing/2014/main" id="{FE1AA767-E383-4FF1-9FB0-B54897E8AAA4}"/>
              </a:ext>
            </a:extLst>
          </p:cNvPr>
          <p:cNvSpPr>
            <a:spLocks xmlns:a="http://schemas.openxmlformats.org/drawingml/2006/main" noGrp="1"/>
          </p:cNvSpPr>
          <p:nvPr/>
        </p:nvSpPr>
        <p:spPr>
          <a:xfrm xmlns:a="http://schemas.openxmlformats.org/drawingml/2006/main">
            <a:off x="2085975" y="43624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646B7A"/>
                </a:solidFill>
                <a:latin typeface="Menlo"/>
                <a:ea typeface="Menlo"/>
                <a:cs typeface="Menlo"/>
              </a:defRPr>
            </a:defPPr>
          </a:lstStyle>
          <a:p xmlns:a="http://schemas.openxmlformats.org/drawingml/2006/main">
            <a:pPr algn="l">
              <a:defRPr sz="1200" b="0" i="0">
                <a:solidFill>
                  <a:srgbClr val="646B7A"/>
                </a:solidFill>
                <a:latin typeface="Menlo"/>
                <a:ea typeface="Menlo"/>
                <a:cs typeface="Menlo"/>
              </a:defRPr>
            </a:pPr>
            <a:r>
              <a:rPr sz="1200" b="0" i="0">
                <a:solidFill>
                  <a:srgbClr val="646B7A"/>
                </a:solidFill>
                <a:latin typeface="Menlo"/>
                <a:ea typeface="Menlo"/>
                <a:cs typeface="Menlo"/>
              </a:rPr>
              <a:t>#0 query → x</a:t>
            </a:r>
          </a:p>
        </p:txBody>
      </p:sp>
      <p:sp>
        <p:nvSpPr>
          <p:cNvPr id="30" name="stale-1-second-panel">
            <a:extLst xmlns:a="http://schemas.openxmlformats.org/drawingml/2006/main">
              <a:ext uri="{FF2B5EF4-FFF2-40B4-BE49-F238E27FC236}">
                <a16:creationId xmlns:a16="http://schemas.microsoft.com/office/drawing/2014/main" id="{7D6BBB79-DC9C-49C2-80A5-98692E17A096}"/>
              </a:ext>
            </a:extLst>
          </p:cNvPr>
          <p:cNvSpPr>
            <a:spLocks xmlns:a="http://schemas.openxmlformats.org/drawingml/2006/main" noGrp="1"/>
          </p:cNvSpPr>
          <p:nvPr/>
        </p:nvSpPr>
        <p:spPr>
          <a:xfrm xmlns:a="http://schemas.openxmlformats.org/drawingml/2006/main">
            <a:off x="4762500" y="3886200"/>
            <a:ext cx="28575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31" name="stale-1-second-accent">
            <a:extLst xmlns:a="http://schemas.openxmlformats.org/drawingml/2006/main">
              <a:ext uri="{FF2B5EF4-FFF2-40B4-BE49-F238E27FC236}">
                <a16:creationId xmlns:a16="http://schemas.microsoft.com/office/drawing/2014/main" id="{9C4BBF84-01A9-4B0B-A6EB-B11899DAF709}"/>
              </a:ext>
            </a:extLst>
          </p:cNvPr>
          <p:cNvSpPr>
            <a:spLocks xmlns:a="http://schemas.openxmlformats.org/drawingml/2006/main" noGrp="1"/>
          </p:cNvSpPr>
          <p:nvPr/>
        </p:nvSpPr>
        <p:spPr>
          <a:xfrm xmlns:a="http://schemas.openxmlformats.org/drawingml/2006/main">
            <a:off x="4762500" y="3886200"/>
            <a:ext cx="57150" cy="8763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32" name="stale-1-second-title">
            <a:extLst xmlns:a="http://schemas.openxmlformats.org/drawingml/2006/main">
              <a:ext uri="{FF2B5EF4-FFF2-40B4-BE49-F238E27FC236}">
                <a16:creationId xmlns:a16="http://schemas.microsoft.com/office/drawing/2014/main" id="{CF9F0BCD-BE01-4D4E-8F64-ECD1E21141CC}"/>
              </a:ext>
            </a:extLst>
          </p:cNvPr>
          <p:cNvSpPr>
            <a:spLocks xmlns:a="http://schemas.openxmlformats.org/drawingml/2006/main" noGrp="1"/>
          </p:cNvSpPr>
          <p:nvPr/>
        </p:nvSpPr>
        <p:spPr>
          <a:xfrm xmlns:a="http://schemas.openxmlformats.org/drawingml/2006/main">
            <a:off x="4972050" y="40576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1</a:t>
            </a:r>
          </a:p>
        </p:txBody>
      </p:sp>
      <p:sp>
        <p:nvSpPr>
          <p:cNvPr id="33" name="stale-1-second-body">
            <a:extLst xmlns:a="http://schemas.openxmlformats.org/drawingml/2006/main">
              <a:ext uri="{FF2B5EF4-FFF2-40B4-BE49-F238E27FC236}">
                <a16:creationId xmlns:a16="http://schemas.microsoft.com/office/drawing/2014/main" id="{F888338D-02BD-4662-AC53-2CF99789E423}"/>
              </a:ext>
            </a:extLst>
          </p:cNvPr>
          <p:cNvSpPr>
            <a:spLocks xmlns:a="http://schemas.openxmlformats.org/drawingml/2006/main" noGrp="1"/>
          </p:cNvSpPr>
          <p:nvPr/>
        </p:nvSpPr>
        <p:spPr>
          <a:xfrm xmlns:a="http://schemas.openxmlformats.org/drawingml/2006/main">
            <a:off x="4972050" y="4362450"/>
            <a:ext cx="243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Menlo"/>
                <a:ea typeface="Menlo"/>
                <a:cs typeface="Menlo"/>
              </a:defRPr>
            </a:defPPr>
          </a:lstStyle>
          <a:p xmlns:a="http://schemas.openxmlformats.org/drawingml/2006/main">
            <a:pPr algn="l">
              <a:defRPr sz="1163" b="0" i="0">
                <a:solidFill>
                  <a:srgbClr val="646B7A"/>
                </a:solidFill>
                <a:latin typeface="Menlo"/>
                <a:ea typeface="Menlo"/>
                <a:cs typeface="Menlo"/>
              </a:defRPr>
            </a:pPr>
            <a:r>
              <a:rPr sz="1163" b="0" i="0">
                <a:solidFill>
                  <a:srgbClr val="646B7A"/>
                </a:solidFill>
                <a:latin typeface="Menlo"/>
                <a:ea typeface="Menlo"/>
                <a:cs typeface="Menlo"/>
              </a:rPr>
              <a:t>#1 query → y</a:t>
            </a:r>
          </a:p>
        </p:txBody>
      </p:sp>
      <p:sp>
        <p:nvSpPr>
          <p:cNvPr id="34" name="stale-1-third-panel">
            <a:extLst xmlns:a="http://schemas.openxmlformats.org/drawingml/2006/main">
              <a:ext uri="{FF2B5EF4-FFF2-40B4-BE49-F238E27FC236}">
                <a16:creationId xmlns:a16="http://schemas.microsoft.com/office/drawing/2014/main" id="{FA5A4308-4062-4EB4-8243-10B4D5A5BA77}"/>
              </a:ext>
            </a:extLst>
          </p:cNvPr>
          <p:cNvSpPr>
            <a:spLocks xmlns:a="http://schemas.openxmlformats.org/drawingml/2006/main" noGrp="1"/>
          </p:cNvSpPr>
          <p:nvPr/>
        </p:nvSpPr>
        <p:spPr>
          <a:xfrm xmlns:a="http://schemas.openxmlformats.org/drawingml/2006/main">
            <a:off x="7972425" y="3886200"/>
            <a:ext cx="333375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35" name="stale-1-third-accent">
            <a:extLst xmlns:a="http://schemas.openxmlformats.org/drawingml/2006/main">
              <a:ext uri="{FF2B5EF4-FFF2-40B4-BE49-F238E27FC236}">
                <a16:creationId xmlns:a16="http://schemas.microsoft.com/office/drawing/2014/main" id="{3607832B-BDA9-4D90-BD11-EB95A6C3CB18}"/>
              </a:ext>
            </a:extLst>
          </p:cNvPr>
          <p:cNvSpPr>
            <a:spLocks xmlns:a="http://schemas.openxmlformats.org/drawingml/2006/main" noGrp="1"/>
          </p:cNvSpPr>
          <p:nvPr/>
        </p:nvSpPr>
        <p:spPr>
          <a:xfrm xmlns:a="http://schemas.openxmlformats.org/drawingml/2006/main">
            <a:off x="7972425" y="3886200"/>
            <a:ext cx="57150" cy="8763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36" name="stale-1-third-title">
            <a:extLst xmlns:a="http://schemas.openxmlformats.org/drawingml/2006/main">
              <a:ext uri="{FF2B5EF4-FFF2-40B4-BE49-F238E27FC236}">
                <a16:creationId xmlns:a16="http://schemas.microsoft.com/office/drawing/2014/main" id="{C50EF40B-5A10-4024-97F3-1D9D55385E24}"/>
              </a:ext>
            </a:extLst>
          </p:cNvPr>
          <p:cNvSpPr>
            <a:spLocks xmlns:a="http://schemas.openxmlformats.org/drawingml/2006/main" noGrp="1"/>
          </p:cNvSpPr>
          <p:nvPr/>
        </p:nvSpPr>
        <p:spPr>
          <a:xfrm xmlns:a="http://schemas.openxmlformats.org/drawingml/2006/main">
            <a:off x="8181975" y="4057650"/>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2</a:t>
            </a:r>
          </a:p>
        </p:txBody>
      </p:sp>
      <p:sp>
        <p:nvSpPr>
          <p:cNvPr id="37" name="stale-1-third-body">
            <a:extLst xmlns:a="http://schemas.openxmlformats.org/drawingml/2006/main">
              <a:ext uri="{FF2B5EF4-FFF2-40B4-BE49-F238E27FC236}">
                <a16:creationId xmlns:a16="http://schemas.microsoft.com/office/drawing/2014/main" id="{8D0BBAC2-C299-4DF6-9A48-314AE0003678}"/>
              </a:ext>
            </a:extLst>
          </p:cNvPr>
          <p:cNvSpPr>
            <a:spLocks xmlns:a="http://schemas.openxmlformats.org/drawingml/2006/main" noGrp="1"/>
          </p:cNvSpPr>
          <p:nvPr/>
        </p:nvSpPr>
        <p:spPr>
          <a:xfrm xmlns:a="http://schemas.openxmlformats.org/drawingml/2006/main">
            <a:off x="8181975" y="4362450"/>
            <a:ext cx="2914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Menlo"/>
                <a:ea typeface="Menlo"/>
                <a:cs typeface="Menlo"/>
              </a:defRPr>
            </a:defPPr>
          </a:lstStyle>
          <a:p xmlns:a="http://schemas.openxmlformats.org/drawingml/2006/main">
            <a:pPr algn="l">
              <a:defRPr sz="1163" b="0" i="0">
                <a:solidFill>
                  <a:srgbClr val="646B7A"/>
                </a:solidFill>
                <a:latin typeface="Menlo"/>
                <a:ea typeface="Menlo"/>
                <a:cs typeface="Menlo"/>
              </a:defRPr>
            </a:pPr>
            <a:r>
              <a:rPr sz="1163" b="0" i="0">
                <a:solidFill>
                  <a:srgbClr val="646B7A"/>
                </a:solidFill>
                <a:latin typeface="Menlo"/>
                <a:ea typeface="Menlo"/>
                <a:cs typeface="Menlo"/>
              </a:rPr>
              <a:t>#2 request(x) → y</a:t>
            </a:r>
          </a:p>
        </p:txBody>
      </p:sp>
      <p:sp>
        <p:nvSpPr>
          <p:cNvPr id="38" name="stale-relation">
            <a:extLst xmlns:a="http://schemas.openxmlformats.org/drawingml/2006/main">
              <a:ext uri="{FF2B5EF4-FFF2-40B4-BE49-F238E27FC236}">
                <a16:creationId xmlns:a16="http://schemas.microsoft.com/office/drawing/2014/main" id="{FA850E41-DC70-4E3D-98E6-693600849721}"/>
              </a:ext>
            </a:extLst>
          </p:cNvPr>
          <p:cNvSpPr>
            <a:spLocks xmlns:a="http://schemas.openxmlformats.org/drawingml/2006/main" noGrp="1"/>
          </p:cNvSpPr>
          <p:nvPr/>
        </p:nvSpPr>
        <p:spPr>
          <a:xfrm xmlns:a="http://schemas.openxmlformats.org/drawingml/2006/main">
            <a:off x="1428750" y="52197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141B2B"/>
                </a:solidFill>
                <a:latin typeface="Avenir Next"/>
                <a:ea typeface="Avenir Next"/>
                <a:cs typeface="Avenir Next"/>
              </a:defRPr>
            </a:defPPr>
          </a:lstStyle>
          <a:p xmlns:a="http://schemas.openxmlformats.org/drawingml/2006/main">
            <a:pPr algn="ctr">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After overwrite: a ↔ y, not x. The third arguments are not proved equal.</a:t>
            </a:r>
          </a:p>
        </p:txBody>
      </p:sp>
      <p:sp>
        <p:nvSpPr>
          <p:cNvPr id="39" name="stale-witness">
            <a:extLst xmlns:a="http://schemas.openxmlformats.org/drawingml/2006/main">
              <a:ext uri="{FF2B5EF4-FFF2-40B4-BE49-F238E27FC236}">
                <a16:creationId xmlns:a16="http://schemas.microsoft.com/office/drawing/2014/main" id="{A6317D77-86B1-474A-B75A-0320485A4AF6}"/>
              </a:ext>
            </a:extLst>
          </p:cNvPr>
          <p:cNvSpPr>
            <a:spLocks xmlns:a="http://schemas.openxmlformats.org/drawingml/2006/main" noGrp="1"/>
          </p:cNvSpPr>
          <p:nvPr/>
        </p:nvSpPr>
        <p:spPr>
          <a:xfrm xmlns:a="http://schemas.openxmlformats.org/drawingml/2006/main">
            <a:off x="1047750" y="55626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63" b="0" i="0">
                <a:solidFill>
                  <a:srgbClr val="C2461F"/>
                </a:solidFill>
                <a:latin typeface="Menlo"/>
                <a:ea typeface="Menlo"/>
                <a:cs typeface="Menlo"/>
              </a:defRPr>
            </a:defPPr>
          </a:lstStyle>
          <a:p xmlns:a="http://schemas.openxmlformats.org/drawingml/2006/main">
            <a:pPr algn="ctr">
              <a:defRPr sz="1163" b="0" i="0">
                <a:solidFill>
                  <a:srgbClr val="C2461F"/>
                </a:solidFill>
                <a:latin typeface="Menlo"/>
                <a:ea typeface="Menlo"/>
                <a:cs typeface="Menlo"/>
              </a:defRPr>
            </a:pPr>
            <a:r>
              <a:rPr sz="1163" b="0" i="0">
                <a:solidFill>
                  <a:srgbClr val="C2461F"/>
                </a:solidFill>
                <a:latin typeface="Menlo"/>
                <a:ea typeface="Menlo"/>
                <a:cs typeface="Menlo"/>
              </a:rPr>
              <a:t>One finite mock witness at event 2: input usage 10 vs 15 · not a provider invoice.</a:t>
            </a:r>
          </a:p>
        </p:txBody>
      </p:sp>
    </p:spTree>
    <p:extLst>
      <p:ext uri="{BB962C8B-B14F-4D97-AF65-F5344CB8AC3E}">
        <p14:creationId xmlns:p14="http://schemas.microsoft.com/office/powerpoint/2010/main" val="256849435"/>
      </p:ext>
    </p:extLst>
  </p:cSld>
</p:sld>
</file>

<file path=ppt/slides/slide10.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18" name="s10-brand">
            <a:extLst xmlns:a="http://schemas.openxmlformats.org/drawingml/2006/main">
              <a:ext uri="{FF2B5EF4-FFF2-40B4-BE49-F238E27FC236}">
                <a16:creationId xmlns:a16="http://schemas.microsoft.com/office/drawing/2014/main" id="{9755F428-AFA4-44F8-895F-CF7D1800F9A4}"/>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0-section">
            <a:extLst xmlns:a="http://schemas.openxmlformats.org/drawingml/2006/main">
              <a:ext uri="{FF2B5EF4-FFF2-40B4-BE49-F238E27FC236}">
                <a16:creationId xmlns:a16="http://schemas.microsoft.com/office/drawing/2014/main" id="{B6069E44-A8AC-434C-942A-2AC410075505}"/>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TWO GUARANTEES</a:t>
            </a:r>
          </a:p>
        </p:txBody>
      </p:sp>
      <p:sp>
        <p:nvSpPr>
          <p:cNvPr id="3" name="s10-title">
            <a:extLst xmlns:a="http://schemas.openxmlformats.org/drawingml/2006/main">
              <a:ext uri="{FF2B5EF4-FFF2-40B4-BE49-F238E27FC236}">
                <a16:creationId xmlns:a16="http://schemas.microsoft.com/office/drawing/2014/main" id="{3EA87945-C243-4944-BBC8-F408E0E8BA79}"/>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86"/>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 unary bound and a relational trace check answer different questions</a:t>
            </a:r>
          </a:p>
        </p:txBody>
      </p:sp>
      <p:sp>
        <p:nvSpPr>
          <p:cNvPr id="4" name="s10-subtitle">
            <a:extLst xmlns:a="http://schemas.openxmlformats.org/drawingml/2006/main">
              <a:ext uri="{FF2B5EF4-FFF2-40B4-BE49-F238E27FC236}">
                <a16:creationId xmlns:a16="http://schemas.microsoft.com/office/drawing/2014/main" id="{C549E893-3E49-4C6B-962E-1C5D5B3B2B1F}"/>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The graph product does not inherit the bounded AST compiler's cost-budget theorem.</a:t>
            </a:r>
          </a:p>
        </p:txBody>
      </p:sp>
      <p:sp>
        <p:nvSpPr>
          <p:cNvPr id="5" name="s10-source-rule">
            <a:extLst xmlns:a="http://schemas.openxmlformats.org/drawingml/2006/main">
              <a:ext uri="{FF2B5EF4-FFF2-40B4-BE49-F238E27FC236}">
                <a16:creationId xmlns:a16="http://schemas.microsoft.com/office/drawing/2014/main" id="{C893322D-4FD1-4D67-9623-8DE98282E42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0-sources">
            <a:extLst xmlns:a="http://schemas.openxmlformats.org/drawingml/2006/main">
              <a:ext uri="{FF2B5EF4-FFF2-40B4-BE49-F238E27FC236}">
                <a16:creationId xmlns:a16="http://schemas.microsoft.com/office/drawing/2014/main" id="{739C1BB9-5B4B-4B9C-8D66-18F05B294021}"/>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src/cost_analyzer.cpp; src/relational.cpp; docs/CYCLIC_METHOD_REVIEW.md; docs/PAPER.md</a:t>
            </a:r>
          </a:p>
        </p:txBody>
      </p:sp>
      <p:sp>
        <p:nvSpPr>
          <p:cNvPr id="7" name="s10-footer-rule">
            <a:extLst xmlns:a="http://schemas.openxmlformats.org/drawingml/2006/main">
              <a:ext uri="{FF2B5EF4-FFF2-40B4-BE49-F238E27FC236}">
                <a16:creationId xmlns:a16="http://schemas.microsoft.com/office/drawing/2014/main" id="{3B42BE2F-1A78-4D0F-8230-84C16048E429}"/>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0-footer">
            <a:extLst xmlns:a="http://schemas.openxmlformats.org/drawingml/2006/main">
              <a:ext uri="{FF2B5EF4-FFF2-40B4-BE49-F238E27FC236}">
                <a16:creationId xmlns:a16="http://schemas.microsoft.com/office/drawing/2014/main" id="{264E9E57-B45F-4A46-8021-DDF5BA59DE56}"/>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0-page">
            <a:extLst xmlns:a="http://schemas.openxmlformats.org/drawingml/2006/main">
              <a:ext uri="{FF2B5EF4-FFF2-40B4-BE49-F238E27FC236}">
                <a16:creationId xmlns:a16="http://schemas.microsoft.com/office/drawing/2014/main" id="{EF039604-9C63-44A0-A7D3-ED5693467F34}"/>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10</a:t>
            </a:r>
          </a:p>
        </p:txBody>
      </p:sp>
      <p:sp>
        <p:nvSpPr>
          <p:cNvPr id="10" name="guarantee-unary-panel">
            <a:extLst xmlns:a="http://schemas.openxmlformats.org/drawingml/2006/main">
              <a:ext uri="{FF2B5EF4-FFF2-40B4-BE49-F238E27FC236}">
                <a16:creationId xmlns:a16="http://schemas.microsoft.com/office/drawing/2014/main" id="{AFC1900A-6B53-44BE-A0FF-C0CEE45CA8CF}"/>
              </a:ext>
            </a:extLst>
          </p:cNvPr>
          <p:cNvSpPr>
            <a:spLocks xmlns:a="http://schemas.openxmlformats.org/drawingml/2006/main" noGrp="1"/>
          </p:cNvSpPr>
          <p:nvPr/>
        </p:nvSpPr>
        <p:spPr>
          <a:xfrm xmlns:a="http://schemas.openxmlformats.org/drawingml/2006/main">
            <a:off x="819150" y="2514600"/>
            <a:ext cx="5000625" cy="2857500"/>
          </a:xfrm>
          <a:prstGeom xmlns:a="http://schemas.openxmlformats.org/drawingml/2006/main" prst="roundRect">
            <a:avLst>
              <a:gd name="adj" fmla="val 2667"/>
            </a:avLst>
          </a:prstGeom>
          <a:solidFill xmlns:a="http://schemas.openxmlformats.org/drawingml/2006/main">
            <a:srgbClr val="FFFDF8"/>
          </a:solidFill>
          <a:ln xmlns:a="http://schemas.openxmlformats.org/drawingml/2006/main" w="9525">
            <a:solidFill>
              <a:srgbClr val="D7D0C4"/>
            </a:solidFill>
            <a:prstDash val="solid"/>
          </a:ln>
        </p:spPr>
      </p:sp>
      <p:sp>
        <p:nvSpPr>
          <p:cNvPr id="11" name="guarantee-unary-accent">
            <a:extLst xmlns:a="http://schemas.openxmlformats.org/drawingml/2006/main">
              <a:ext uri="{FF2B5EF4-FFF2-40B4-BE49-F238E27FC236}">
                <a16:creationId xmlns:a16="http://schemas.microsoft.com/office/drawing/2014/main" id="{EBA9A04C-3ABB-49D8-9582-07DCB8E6B21D}"/>
              </a:ext>
            </a:extLst>
          </p:cNvPr>
          <p:cNvSpPr>
            <a:spLocks xmlns:a="http://schemas.openxmlformats.org/drawingml/2006/main" noGrp="1"/>
          </p:cNvSpPr>
          <p:nvPr/>
        </p:nvSpPr>
        <p:spPr>
          <a:xfrm xmlns:a="http://schemas.openxmlformats.org/drawingml/2006/main">
            <a:off x="819150" y="2514600"/>
            <a:ext cx="57150" cy="28575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guarantee-unary-title">
            <a:extLst xmlns:a="http://schemas.openxmlformats.org/drawingml/2006/main">
              <a:ext uri="{FF2B5EF4-FFF2-40B4-BE49-F238E27FC236}">
                <a16:creationId xmlns:a16="http://schemas.microsoft.com/office/drawing/2014/main" id="{5D2B18E2-C800-4A94-8951-1AC4C2386BF0}"/>
              </a:ext>
            </a:extLst>
          </p:cNvPr>
          <p:cNvSpPr>
            <a:spLocks xmlns:a="http://schemas.openxmlformats.org/drawingml/2006/main" noGrp="1"/>
          </p:cNvSpPr>
          <p:nvPr/>
        </p:nvSpPr>
        <p:spPr>
          <a:xfrm xmlns:a="http://schemas.openxmlformats.org/drawingml/2006/main">
            <a:off x="1028700" y="2686050"/>
            <a:ext cx="4581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41B2B"/>
                </a:solidFill>
                <a:latin typeface="Avenir Next"/>
                <a:ea typeface="Avenir Next"/>
                <a:cs typeface="Avenir Next"/>
              </a:defRPr>
            </a:defPPr>
          </a:lstStyle>
          <a:p xmlns:a="http://schemas.openxmlformats.org/drawingml/2006/main">
            <a:pPr algn="l">
              <a:defRPr sz="1725" b="1" i="0">
                <a:solidFill>
                  <a:srgbClr val="141B2B"/>
                </a:solidFill>
                <a:latin typeface="Avenir Next"/>
                <a:ea typeface="Avenir Next"/>
                <a:cs typeface="Avenir Next"/>
              </a:defRPr>
            </a:pPr>
            <a:r>
              <a:rPr sz="1725" b="1" i="0">
                <a:solidFill>
                  <a:srgbClr val="141B2B"/>
                </a:solidFill>
                <a:latin typeface="Avenir Next"/>
                <a:ea typeface="Avenir Next"/>
                <a:cs typeface="Avenir Next"/>
              </a:rPr>
              <a:t>ONE EXECUTION</a:t>
            </a:r>
          </a:p>
        </p:txBody>
      </p:sp>
      <p:sp>
        <p:nvSpPr>
          <p:cNvPr id="13" name="guarantee-unary-body">
            <a:extLst xmlns:a="http://schemas.openxmlformats.org/drawingml/2006/main">
              <a:ext uri="{FF2B5EF4-FFF2-40B4-BE49-F238E27FC236}">
                <a16:creationId xmlns:a16="http://schemas.microsoft.com/office/drawing/2014/main" id="{E87E2BEC-0FA8-4B49-95FA-D6D7BB1E45D2}"/>
              </a:ext>
            </a:extLst>
          </p:cNvPr>
          <p:cNvSpPr>
            <a:spLocks xmlns:a="http://schemas.openxmlformats.org/drawingml/2006/main" noGrp="1"/>
          </p:cNvSpPr>
          <p:nvPr/>
        </p:nvSpPr>
        <p:spPr>
          <a:xfrm xmlns:a="http://schemas.openxmlformats.org/drawingml/2006/main">
            <a:off x="1028700" y="3124200"/>
            <a:ext cx="4581525"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Question</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How much can this workflow consume?</a:t>
            </a:r>
          </a:p>
          <a:p xmlns:a="http://schemas.openxmlformats.org/drawingml/2006/main">
            <a:r>
              <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Claim</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Cost(e) ≤ B</a:t>
            </a:r>
          </a:p>
          <a:p xmlns:a="http://schemas.openxmlformats.org/drawingml/2006/main">
            <a:r>
              <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Evidence</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Structural worst-case bound</a:t>
            </a:r>
          </a:p>
        </p:txBody>
      </p:sp>
      <p:sp>
        <p:nvSpPr>
          <p:cNvPr id="14" name="guarantee-relational-panel">
            <a:extLst xmlns:a="http://schemas.openxmlformats.org/drawingml/2006/main">
              <a:ext uri="{FF2B5EF4-FFF2-40B4-BE49-F238E27FC236}">
                <a16:creationId xmlns:a16="http://schemas.microsoft.com/office/drawing/2014/main" id="{1C6906B3-17EA-4DC8-A729-BB384D28E69E}"/>
              </a:ext>
            </a:extLst>
          </p:cNvPr>
          <p:cNvSpPr>
            <a:spLocks xmlns:a="http://schemas.openxmlformats.org/drawingml/2006/main" noGrp="1"/>
          </p:cNvSpPr>
          <p:nvPr/>
        </p:nvSpPr>
        <p:spPr>
          <a:xfrm xmlns:a="http://schemas.openxmlformats.org/drawingml/2006/main">
            <a:off x="6362700" y="2514600"/>
            <a:ext cx="5000625" cy="2857500"/>
          </a:xfrm>
          <a:prstGeom xmlns:a="http://schemas.openxmlformats.org/drawingml/2006/main" prst="roundRect">
            <a:avLst>
              <a:gd name="adj" fmla="val 2667"/>
            </a:avLst>
          </a:prstGeom>
          <a:solidFill xmlns:a="http://schemas.openxmlformats.org/drawingml/2006/main">
            <a:srgbClr val="FFFDF8"/>
          </a:solidFill>
          <a:ln xmlns:a="http://schemas.openxmlformats.org/drawingml/2006/main" w="9525">
            <a:solidFill>
              <a:srgbClr val="D7D0C4"/>
            </a:solidFill>
            <a:prstDash val="solid"/>
          </a:ln>
        </p:spPr>
      </p:sp>
      <p:sp>
        <p:nvSpPr>
          <p:cNvPr id="15" name="guarantee-relational-accent">
            <a:extLst xmlns:a="http://schemas.openxmlformats.org/drawingml/2006/main">
              <a:ext uri="{FF2B5EF4-FFF2-40B4-BE49-F238E27FC236}">
                <a16:creationId xmlns:a16="http://schemas.microsoft.com/office/drawing/2014/main" id="{90CAD70F-B45D-4A66-9356-D38A7272CA6E}"/>
              </a:ext>
            </a:extLst>
          </p:cNvPr>
          <p:cNvSpPr>
            <a:spLocks xmlns:a="http://schemas.openxmlformats.org/drawingml/2006/main" noGrp="1"/>
          </p:cNvSpPr>
          <p:nvPr/>
        </p:nvSpPr>
        <p:spPr>
          <a:xfrm xmlns:a="http://schemas.openxmlformats.org/drawingml/2006/main">
            <a:off x="6362700" y="2514600"/>
            <a:ext cx="57150" cy="28575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guarantee-relational-title">
            <a:extLst xmlns:a="http://schemas.openxmlformats.org/drawingml/2006/main">
              <a:ext uri="{FF2B5EF4-FFF2-40B4-BE49-F238E27FC236}">
                <a16:creationId xmlns:a16="http://schemas.microsoft.com/office/drawing/2014/main" id="{774D2536-F37E-4A14-8174-2B19EE89E4DF}"/>
              </a:ext>
            </a:extLst>
          </p:cNvPr>
          <p:cNvSpPr>
            <a:spLocks xmlns:a="http://schemas.openxmlformats.org/drawingml/2006/main" noGrp="1"/>
          </p:cNvSpPr>
          <p:nvPr/>
        </p:nvSpPr>
        <p:spPr>
          <a:xfrm xmlns:a="http://schemas.openxmlformats.org/drawingml/2006/main">
            <a:off x="6572250" y="2686050"/>
            <a:ext cx="4581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141B2B"/>
                </a:solidFill>
                <a:latin typeface="Avenir Next"/>
                <a:ea typeface="Avenir Next"/>
                <a:cs typeface="Avenir Next"/>
              </a:defRPr>
            </a:defPPr>
          </a:lstStyle>
          <a:p xmlns:a="http://schemas.openxmlformats.org/drawingml/2006/main">
            <a:pPr algn="l">
              <a:defRPr sz="1725" b="1" i="0">
                <a:solidFill>
                  <a:srgbClr val="141B2B"/>
                </a:solidFill>
                <a:latin typeface="Avenir Next"/>
                <a:ea typeface="Avenir Next"/>
                <a:cs typeface="Avenir Next"/>
              </a:defRPr>
            </a:pPr>
            <a:r>
              <a:rPr sz="1725" b="1" i="0">
                <a:solidFill>
                  <a:srgbClr val="141B2B"/>
                </a:solidFill>
                <a:latin typeface="Avenir Next"/>
                <a:ea typeface="Avenir Next"/>
                <a:cs typeface="Avenir Next"/>
              </a:rPr>
              <a:t>PAIRED EXECUTIONS</a:t>
            </a:r>
          </a:p>
        </p:txBody>
      </p:sp>
      <p:sp>
        <p:nvSpPr>
          <p:cNvPr id="17" name="guarantee-relational-body">
            <a:extLst xmlns:a="http://schemas.openxmlformats.org/drawingml/2006/main">
              <a:ext uri="{FF2B5EF4-FFF2-40B4-BE49-F238E27FC236}">
                <a16:creationId xmlns:a16="http://schemas.microsoft.com/office/drawing/2014/main" id="{0DF4FDE8-9BBC-4589-98C2-741BA1029A8B}"/>
              </a:ext>
            </a:extLst>
          </p:cNvPr>
          <p:cNvSpPr>
            <a:spLocks xmlns:a="http://schemas.openxmlformats.org/drawingml/2006/main" noGrp="1"/>
          </p:cNvSpPr>
          <p:nvPr/>
        </p:nvSpPr>
        <p:spPr>
          <a:xfrm xmlns:a="http://schemas.openxmlformats.org/drawingml/2006/main">
            <a:off x="6572250" y="3124200"/>
            <a:ext cx="4581525"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Question</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Can changing the secret change the bill?</a:t>
            </a:r>
          </a:p>
          <a:p xmlns:a="http://schemas.openxmlformats.org/drawingml/2006/main">
            <a:r>
              <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Claim</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Obs(e₀) = Obs(e₁)</a:t>
            </a:r>
          </a:p>
          <a:p xmlns:a="http://schemas.openxmlformats.org/drawingml/2006/main">
            <a:r>
              <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Evidence</a:t>
            </a:r>
          </a:p>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Paired-run check under declared relation</a:t>
            </a:r>
          </a:p>
        </p:txBody>
      </p:sp>
    </p:spTree>
    <p:extLst>
      <p:ext uri="{BB962C8B-B14F-4D97-AF65-F5344CB8AC3E}">
        <p14:creationId xmlns:p14="http://schemas.microsoft.com/office/powerpoint/2010/main" val="1387033040"/>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s11-brand">
            <a:extLst xmlns:a="http://schemas.openxmlformats.org/drawingml/2006/main">
              <a:ext uri="{FF2B5EF4-FFF2-40B4-BE49-F238E27FC236}">
                <a16:creationId xmlns:a16="http://schemas.microsoft.com/office/drawing/2014/main" id="{E0EF833A-7518-4212-8E2B-80B5AFED1EE9}"/>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1-section">
            <a:extLst xmlns:a="http://schemas.openxmlformats.org/drawingml/2006/main">
              <a:ext uri="{FF2B5EF4-FFF2-40B4-BE49-F238E27FC236}">
                <a16:creationId xmlns:a16="http://schemas.microsoft.com/office/drawing/2014/main" id="{622FC2FD-4C4E-4D58-B4E1-3282497783CD}"/>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BOUNDED AST BASELINE</a:t>
            </a:r>
          </a:p>
        </p:txBody>
      </p:sp>
      <p:sp>
        <p:nvSpPr>
          <p:cNvPr id="3" name="s11-title">
            <a:extLst xmlns:a="http://schemas.openxmlformats.org/drawingml/2006/main">
              <a:ext uri="{FF2B5EF4-FFF2-40B4-BE49-F238E27FC236}">
                <a16:creationId xmlns:a16="http://schemas.microsoft.com/office/drawing/2014/main" id="{62A9F755-E31E-4A2E-B89C-68FD8B2C3A43}"/>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Equal caps still do not imply equal realized usage</a:t>
            </a:r>
          </a:p>
        </p:txBody>
      </p:sp>
      <p:sp>
        <p:nvSpPr>
          <p:cNvPr id="4" name="s11-subtitle">
            <a:extLst xmlns:a="http://schemas.openxmlformats.org/drawingml/2006/main">
              <a:ext uri="{FF2B5EF4-FFF2-40B4-BE49-F238E27FC236}">
                <a16:creationId xmlns:a16="http://schemas.microsoft.com/office/drawing/2014/main" id="{0DCD2197-C62F-4ED6-BD3B-8EE0F79B2663}"/>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A secret can select different public arguments while both static envelopes remain equal.</a:t>
            </a:r>
          </a:p>
        </p:txBody>
      </p:sp>
      <p:sp>
        <p:nvSpPr>
          <p:cNvPr id="5" name="s11-source-rule">
            <a:extLst xmlns:a="http://schemas.openxmlformats.org/drawingml/2006/main">
              <a:ext uri="{FF2B5EF4-FFF2-40B4-BE49-F238E27FC236}">
                <a16:creationId xmlns:a16="http://schemas.microsoft.com/office/drawing/2014/main" id="{4455FB50-D4D1-4A57-8D94-770D81D802B9}"/>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1-sources">
            <a:extLst xmlns:a="http://schemas.openxmlformats.org/drawingml/2006/main">
              <a:ext uri="{FF2B5EF4-FFF2-40B4-BE49-F238E27FC236}">
                <a16:creationId xmlns:a16="http://schemas.microsoft.com/office/drawing/2014/main" id="{2CF4C250-63E2-4606-8672-6D579BF92A41}"/>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examples/research/rejected/equal_bounds_different_inputs.orch; docs/PAPER.md §1</a:t>
            </a:r>
          </a:p>
        </p:txBody>
      </p:sp>
      <p:sp>
        <p:nvSpPr>
          <p:cNvPr id="7" name="s11-footer-rule">
            <a:extLst xmlns:a="http://schemas.openxmlformats.org/drawingml/2006/main">
              <a:ext uri="{FF2B5EF4-FFF2-40B4-BE49-F238E27FC236}">
                <a16:creationId xmlns:a16="http://schemas.microsoft.com/office/drawing/2014/main" id="{DCD996B3-7A48-476F-AA39-9497ABB4E077}"/>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1-footer">
            <a:extLst xmlns:a="http://schemas.openxmlformats.org/drawingml/2006/main">
              <a:ext uri="{FF2B5EF4-FFF2-40B4-BE49-F238E27FC236}">
                <a16:creationId xmlns:a16="http://schemas.microsoft.com/office/drawing/2014/main" id="{8EC94EE2-5E44-4E0E-915F-24E0DE76A651}"/>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1-page">
            <a:extLst xmlns:a="http://schemas.openxmlformats.org/drawingml/2006/main">
              <a:ext uri="{FF2B5EF4-FFF2-40B4-BE49-F238E27FC236}">
                <a16:creationId xmlns:a16="http://schemas.microsoft.com/office/drawing/2014/main" id="{4822C987-71BB-456B-AE5D-88ACD5F06AAA}"/>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11</a:t>
            </a:r>
          </a:p>
        </p:txBody>
      </p:sp>
      <p:sp>
        <p:nvSpPr>
          <p:cNvPr id="10" name="counter-left-panel">
            <a:extLst xmlns:a="http://schemas.openxmlformats.org/drawingml/2006/main">
              <a:ext uri="{FF2B5EF4-FFF2-40B4-BE49-F238E27FC236}">
                <a16:creationId xmlns:a16="http://schemas.microsoft.com/office/drawing/2014/main" id="{EAE20FBB-8D54-48D0-B5C4-9BBA0EDD9671}"/>
              </a:ext>
            </a:extLst>
          </p:cNvPr>
          <p:cNvSpPr>
            <a:spLocks xmlns:a="http://schemas.openxmlformats.org/drawingml/2006/main" noGrp="1"/>
          </p:cNvSpPr>
          <p:nvPr/>
        </p:nvSpPr>
        <p:spPr>
          <a:xfrm xmlns:a="http://schemas.openxmlformats.org/drawingml/2006/main">
            <a:off x="857250" y="2524125"/>
            <a:ext cx="4857750" cy="2762250"/>
          </a:xfrm>
          <a:prstGeom xmlns:a="http://schemas.openxmlformats.org/drawingml/2006/main" prst="roundRect">
            <a:avLst>
              <a:gd name="adj" fmla="val 2759"/>
            </a:avLst>
          </a:prstGeom>
          <a:solidFill xmlns:a="http://schemas.openxmlformats.org/drawingml/2006/main">
            <a:srgbClr val="1C2638"/>
          </a:solidFill>
          <a:ln xmlns:a="http://schemas.openxmlformats.org/drawingml/2006/main" w="9525">
            <a:solidFill>
              <a:srgbClr val="343D50"/>
            </a:solidFill>
            <a:prstDash val="solid"/>
          </a:ln>
        </p:spPr>
      </p:sp>
      <p:sp>
        <p:nvSpPr>
          <p:cNvPr id="11" name="counter-left-accent">
            <a:extLst xmlns:a="http://schemas.openxmlformats.org/drawingml/2006/main">
              <a:ext uri="{FF2B5EF4-FFF2-40B4-BE49-F238E27FC236}">
                <a16:creationId xmlns:a16="http://schemas.microsoft.com/office/drawing/2014/main" id="{BD7DE8A1-4C17-48FD-BDDD-A0342C1D7A32}"/>
              </a:ext>
            </a:extLst>
          </p:cNvPr>
          <p:cNvSpPr>
            <a:spLocks xmlns:a="http://schemas.openxmlformats.org/drawingml/2006/main" noGrp="1"/>
          </p:cNvSpPr>
          <p:nvPr/>
        </p:nvSpPr>
        <p:spPr>
          <a:xfrm xmlns:a="http://schemas.openxmlformats.org/drawingml/2006/main">
            <a:off x="857250" y="2524125"/>
            <a:ext cx="57150" cy="27622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counter-left-title">
            <a:extLst xmlns:a="http://schemas.openxmlformats.org/drawingml/2006/main">
              <a:ext uri="{FF2B5EF4-FFF2-40B4-BE49-F238E27FC236}">
                <a16:creationId xmlns:a16="http://schemas.microsoft.com/office/drawing/2014/main" id="{EEA46AB5-976F-4A34-9B43-EEAC2B0FB10B}"/>
              </a:ext>
            </a:extLst>
          </p:cNvPr>
          <p:cNvSpPr>
            <a:spLocks xmlns:a="http://schemas.openxmlformats.org/drawingml/2006/main" noGrp="1"/>
          </p:cNvSpPr>
          <p:nvPr/>
        </p:nvSpPr>
        <p:spPr>
          <a:xfrm xmlns:a="http://schemas.openxmlformats.org/drawingml/2006/main">
            <a:off x="1066800" y="2695575"/>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SECRET = 0</a:t>
            </a:r>
          </a:p>
        </p:txBody>
      </p:sp>
      <p:sp>
        <p:nvSpPr>
          <p:cNvPr id="13" name="counter-left-body">
            <a:extLst xmlns:a="http://schemas.openxmlformats.org/drawingml/2006/main">
              <a:ext uri="{FF2B5EF4-FFF2-40B4-BE49-F238E27FC236}">
                <a16:creationId xmlns:a16="http://schemas.microsoft.com/office/drawing/2014/main" id="{6FD57C41-14FC-4C2B-A4AA-B9367FE1753C}"/>
              </a:ext>
            </a:extLst>
          </p:cNvPr>
          <p:cNvSpPr>
            <a:spLocks xmlns:a="http://schemas.openxmlformats.org/drawingml/2006/main" noGrp="1"/>
          </p:cNvSpPr>
          <p:nvPr/>
        </p:nvSpPr>
        <p:spPr>
          <a:xfrm xmlns:a="http://schemas.openxmlformats.org/drawingml/2006/main">
            <a:off x="1066800" y="3248025"/>
            <a:ext cx="4438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B8C1D1"/>
                </a:solidFill>
                <a:latin typeface="Menlo"/>
                <a:ea typeface="Menlo"/>
                <a:cs typeface="Menlo"/>
              </a:defRPr>
            </a:defPPr>
          </a:lstStyle>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fixed public value: left_source</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cap = 32 tokens</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realized length = n</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input usage = 3 + n</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shared-oracle output = o₀</a:t>
            </a:r>
          </a:p>
        </p:txBody>
      </p:sp>
      <p:sp>
        <p:nvSpPr>
          <p:cNvPr id="14" name="counter-right-panel">
            <a:extLst xmlns:a="http://schemas.openxmlformats.org/drawingml/2006/main">
              <a:ext uri="{FF2B5EF4-FFF2-40B4-BE49-F238E27FC236}">
                <a16:creationId xmlns:a16="http://schemas.microsoft.com/office/drawing/2014/main" id="{03EE18DF-0F17-4345-8FC2-E9FE5632DD58}"/>
              </a:ext>
            </a:extLst>
          </p:cNvPr>
          <p:cNvSpPr>
            <a:spLocks xmlns:a="http://schemas.openxmlformats.org/drawingml/2006/main" noGrp="1"/>
          </p:cNvSpPr>
          <p:nvPr/>
        </p:nvSpPr>
        <p:spPr>
          <a:xfrm xmlns:a="http://schemas.openxmlformats.org/drawingml/2006/main">
            <a:off x="6477000" y="2524125"/>
            <a:ext cx="4857750" cy="2762250"/>
          </a:xfrm>
          <a:prstGeom xmlns:a="http://schemas.openxmlformats.org/drawingml/2006/main" prst="roundRect">
            <a:avLst>
              <a:gd name="adj" fmla="val 2759"/>
            </a:avLst>
          </a:prstGeom>
          <a:solidFill xmlns:a="http://schemas.openxmlformats.org/drawingml/2006/main">
            <a:srgbClr val="1C2638"/>
          </a:solidFill>
          <a:ln xmlns:a="http://schemas.openxmlformats.org/drawingml/2006/main" w="9525">
            <a:solidFill>
              <a:srgbClr val="343D50"/>
            </a:solidFill>
            <a:prstDash val="solid"/>
          </a:ln>
        </p:spPr>
      </p:sp>
      <p:sp>
        <p:nvSpPr>
          <p:cNvPr id="15" name="counter-right-accent">
            <a:extLst xmlns:a="http://schemas.openxmlformats.org/drawingml/2006/main">
              <a:ext uri="{FF2B5EF4-FFF2-40B4-BE49-F238E27FC236}">
                <a16:creationId xmlns:a16="http://schemas.microsoft.com/office/drawing/2014/main" id="{5D3FF97A-C2CB-483A-A852-924440DB41FA}"/>
              </a:ext>
            </a:extLst>
          </p:cNvPr>
          <p:cNvSpPr>
            <a:spLocks xmlns:a="http://schemas.openxmlformats.org/drawingml/2006/main" noGrp="1"/>
          </p:cNvSpPr>
          <p:nvPr/>
        </p:nvSpPr>
        <p:spPr>
          <a:xfrm xmlns:a="http://schemas.openxmlformats.org/drawingml/2006/main">
            <a:off x="6477000" y="2524125"/>
            <a:ext cx="57150" cy="27622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counter-right-title">
            <a:extLst xmlns:a="http://schemas.openxmlformats.org/drawingml/2006/main">
              <a:ext uri="{FF2B5EF4-FFF2-40B4-BE49-F238E27FC236}">
                <a16:creationId xmlns:a16="http://schemas.microsoft.com/office/drawing/2014/main" id="{F522C2E6-B007-457A-A6A4-B655E10CAF95}"/>
              </a:ext>
            </a:extLst>
          </p:cNvPr>
          <p:cNvSpPr>
            <a:spLocks xmlns:a="http://schemas.openxmlformats.org/drawingml/2006/main" noGrp="1"/>
          </p:cNvSpPr>
          <p:nvPr/>
        </p:nvSpPr>
        <p:spPr>
          <a:xfrm xmlns:a="http://schemas.openxmlformats.org/drawingml/2006/main">
            <a:off x="6686550" y="2695575"/>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SECRET = 1</a:t>
            </a:r>
          </a:p>
        </p:txBody>
      </p:sp>
      <p:sp>
        <p:nvSpPr>
          <p:cNvPr id="17" name="counter-right-body">
            <a:extLst xmlns:a="http://schemas.openxmlformats.org/drawingml/2006/main">
              <a:ext uri="{FF2B5EF4-FFF2-40B4-BE49-F238E27FC236}">
                <a16:creationId xmlns:a16="http://schemas.microsoft.com/office/drawing/2014/main" id="{80993224-D5A8-4203-A251-B0E3B3BF21B6}"/>
              </a:ext>
            </a:extLst>
          </p:cNvPr>
          <p:cNvSpPr>
            <a:spLocks xmlns:a="http://schemas.openxmlformats.org/drawingml/2006/main" noGrp="1"/>
          </p:cNvSpPr>
          <p:nvPr/>
        </p:nvSpPr>
        <p:spPr>
          <a:xfrm xmlns:a="http://schemas.openxmlformats.org/drawingml/2006/main">
            <a:off x="6686550" y="3248025"/>
            <a:ext cx="4438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B8C1D1"/>
                </a:solidFill>
                <a:latin typeface="Menlo"/>
                <a:ea typeface="Menlo"/>
                <a:cs typeface="Menlo"/>
              </a:defRPr>
            </a:defPPr>
          </a:lstStyle>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fixed public value: right_source</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cap = 32 tokens</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realized length = m</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input usage = 3 + m</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shared-oracle output = o₀</a:t>
            </a:r>
          </a:p>
        </p:txBody>
      </p:sp>
      <p:sp>
        <p:nvSpPr>
          <p:cNvPr id="18" name="counter-equal-caps">
            <a:extLst xmlns:a="http://schemas.openxmlformats.org/drawingml/2006/main">
              <a:ext uri="{FF2B5EF4-FFF2-40B4-BE49-F238E27FC236}">
                <a16:creationId xmlns:a16="http://schemas.microsoft.com/office/drawing/2014/main" id="{99E9B4B8-C2DE-405C-89BA-2C834B5652DA}"/>
              </a:ext>
            </a:extLst>
          </p:cNvPr>
          <p:cNvSpPr>
            <a:spLocks xmlns:a="http://schemas.openxmlformats.org/drawingml/2006/main" noGrp="1"/>
          </p:cNvSpPr>
          <p:nvPr/>
        </p:nvSpPr>
        <p:spPr>
          <a:xfrm xmlns:a="http://schemas.openxmlformats.org/drawingml/2006/main">
            <a:off x="1143000" y="54768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D9CBB6"/>
                </a:solidFill>
                <a:latin typeface="Avenir Next"/>
                <a:ea typeface="Avenir Next"/>
                <a:cs typeface="Avenir Next"/>
              </a:defRPr>
            </a:defPPr>
          </a:lstStyle>
          <a:p xmlns:a="http://schemas.openxmlformats.org/drawingml/2006/main">
            <a:pPr algn="ctr">
              <a:defRPr sz="1350" b="1" i="0">
                <a:solidFill>
                  <a:srgbClr val="D9CBB6"/>
                </a:solidFill>
                <a:latin typeface="Avenir Next"/>
                <a:ea typeface="Avenir Next"/>
                <a:cs typeface="Avenir Next"/>
              </a:defRPr>
            </a:pPr>
            <a:r>
              <a:rPr sz="1350" b="1" i="0">
                <a:solidFill>
                  <a:srgbClr val="D9CBB6"/>
                </a:solidFill>
                <a:latin typeface="Avenir Next"/>
                <a:ea typeface="Avenir Next"/>
                <a:cs typeface="Avenir Next"/>
              </a:rPr>
              <a:t>same per-call envelope: input ≤ 35 · output ≤ 4 · calls = 1</a:t>
            </a:r>
          </a:p>
        </p:txBody>
      </p:sp>
    </p:spTree>
    <p:extLst>
      <p:ext uri="{BB962C8B-B14F-4D97-AF65-F5344CB8AC3E}">
        <p14:creationId xmlns:p14="http://schemas.microsoft.com/office/powerpoint/2010/main" val="723213293"/>
      </p:ext>
    </p:extLst>
  </p:cSld>
</p:sld>
</file>

<file path=ppt/slides/slide1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5" name="s12-brand">
            <a:extLst xmlns:a="http://schemas.openxmlformats.org/drawingml/2006/main">
              <a:ext uri="{FF2B5EF4-FFF2-40B4-BE49-F238E27FC236}">
                <a16:creationId xmlns:a16="http://schemas.microsoft.com/office/drawing/2014/main" id="{DF0BA924-6FB6-468D-8DAF-2F99CD6D1A88}"/>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2-section">
            <a:extLst xmlns:a="http://schemas.openxmlformats.org/drawingml/2006/main">
              <a:ext uri="{FF2B5EF4-FFF2-40B4-BE49-F238E27FC236}">
                <a16:creationId xmlns:a16="http://schemas.microsoft.com/office/drawing/2014/main" id="{F25193F1-1DA7-4086-BEF3-A92ADCF6D704}"/>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 BASELINE PIPELINE</a:t>
            </a:r>
          </a:p>
        </p:txBody>
      </p:sp>
      <p:sp>
        <p:nvSpPr>
          <p:cNvPr id="3" name="s12-title">
            <a:extLst xmlns:a="http://schemas.openxmlformats.org/drawingml/2006/main">
              <a:ext uri="{FF2B5EF4-FFF2-40B4-BE49-F238E27FC236}">
                <a16:creationId xmlns:a16="http://schemas.microsoft.com/office/drawing/2014/main" id="{70440960-FE8F-496C-A6EC-D96355BB25CD}"/>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182"/>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The existing compiler remains a finite OrchLang pipeline</a:t>
            </a:r>
          </a:p>
        </p:txBody>
      </p:sp>
      <p:sp>
        <p:nvSpPr>
          <p:cNvPr id="4" name="s12-subtitle">
            <a:extLst xmlns:a="http://schemas.openxmlformats.org/drawingml/2006/main">
              <a:ext uri="{FF2B5EF4-FFF2-40B4-BE49-F238E27FC236}">
                <a16:creationId xmlns:a16="http://schemas.microsoft.com/office/drawing/2014/main" id="{3FDBD815-B0DD-48AC-84F2-91FA4B73DFD8}"/>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Source, semantic facts, analyses, certificate, and offline interpreter stay in the core artifact.</a:t>
            </a:r>
          </a:p>
        </p:txBody>
      </p:sp>
      <p:sp>
        <p:nvSpPr>
          <p:cNvPr id="5" name="s12-source-rule">
            <a:extLst xmlns:a="http://schemas.openxmlformats.org/drawingml/2006/main">
              <a:ext uri="{FF2B5EF4-FFF2-40B4-BE49-F238E27FC236}">
                <a16:creationId xmlns:a16="http://schemas.microsoft.com/office/drawing/2014/main" id="{BF5634C8-9F87-4FA6-9C7B-962538F88EA8}"/>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2-sources">
            <a:extLst xmlns:a="http://schemas.openxmlformats.org/drawingml/2006/main">
              <a:ext uri="{FF2B5EF4-FFF2-40B4-BE49-F238E27FC236}">
                <a16:creationId xmlns:a16="http://schemas.microsoft.com/office/drawing/2014/main" id="{5F7254BC-C588-4D15-A54A-9D8495E50ED7}"/>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src/main.cpp; src/semantic_analyzer.cpp; src/cost_analyzer.cpp; src/relational.cpp; src/certificate.cpp; audit/orchgraph.py</a:t>
            </a:r>
          </a:p>
        </p:txBody>
      </p:sp>
      <p:sp>
        <p:nvSpPr>
          <p:cNvPr id="7" name="s12-footer-rule">
            <a:extLst xmlns:a="http://schemas.openxmlformats.org/drawingml/2006/main">
              <a:ext uri="{FF2B5EF4-FFF2-40B4-BE49-F238E27FC236}">
                <a16:creationId xmlns:a16="http://schemas.microsoft.com/office/drawing/2014/main" id="{1CDDCE38-7BF8-4191-ADAB-84C03CAE412C}"/>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2-footer">
            <a:extLst xmlns:a="http://schemas.openxmlformats.org/drawingml/2006/main">
              <a:ext uri="{FF2B5EF4-FFF2-40B4-BE49-F238E27FC236}">
                <a16:creationId xmlns:a16="http://schemas.microsoft.com/office/drawing/2014/main" id="{774A770D-AFAA-403A-8EB6-515036088205}"/>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2-page">
            <a:extLst xmlns:a="http://schemas.openxmlformats.org/drawingml/2006/main">
              <a:ext uri="{FF2B5EF4-FFF2-40B4-BE49-F238E27FC236}">
                <a16:creationId xmlns:a16="http://schemas.microsoft.com/office/drawing/2014/main" id="{94BB6BEB-9591-44F1-88B3-5047BFEF573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12</a:t>
            </a:r>
          </a:p>
        </p:txBody>
      </p:sp>
      <p:sp>
        <p:nvSpPr>
          <p:cNvPr id="10" name="pipe-0-panel">
            <a:extLst xmlns:a="http://schemas.openxmlformats.org/drawingml/2006/main">
              <a:ext uri="{FF2B5EF4-FFF2-40B4-BE49-F238E27FC236}">
                <a16:creationId xmlns:a16="http://schemas.microsoft.com/office/drawing/2014/main" id="{3AE157AD-AADA-4CA8-BB3E-3ACB3E44A8C5}"/>
              </a:ext>
            </a:extLst>
          </p:cNvPr>
          <p:cNvSpPr>
            <a:spLocks xmlns:a="http://schemas.openxmlformats.org/drawingml/2006/main" noGrp="1"/>
          </p:cNvSpPr>
          <p:nvPr/>
        </p:nvSpPr>
        <p:spPr>
          <a:xfrm xmlns:a="http://schemas.openxmlformats.org/drawingml/2006/main">
            <a:off x="742950"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11" name="pipe-0-accent">
            <a:extLst xmlns:a="http://schemas.openxmlformats.org/drawingml/2006/main">
              <a:ext uri="{FF2B5EF4-FFF2-40B4-BE49-F238E27FC236}">
                <a16:creationId xmlns:a16="http://schemas.microsoft.com/office/drawing/2014/main" id="{5D926E77-FB93-4155-91EC-634DC3C49DCD}"/>
              </a:ext>
            </a:extLst>
          </p:cNvPr>
          <p:cNvSpPr>
            <a:spLocks xmlns:a="http://schemas.openxmlformats.org/drawingml/2006/main" noGrp="1"/>
          </p:cNvSpPr>
          <p:nvPr/>
        </p:nvSpPr>
        <p:spPr>
          <a:xfrm xmlns:a="http://schemas.openxmlformats.org/drawingml/2006/main">
            <a:off x="742950" y="2895600"/>
            <a:ext cx="57150" cy="16954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2" name="pipe-0-title">
            <a:extLst xmlns:a="http://schemas.openxmlformats.org/drawingml/2006/main">
              <a:ext uri="{FF2B5EF4-FFF2-40B4-BE49-F238E27FC236}">
                <a16:creationId xmlns:a16="http://schemas.microsoft.com/office/drawing/2014/main" id="{DA760AB8-AD3B-46A2-BF35-D97CB52DA34E}"/>
              </a:ext>
            </a:extLst>
          </p:cNvPr>
          <p:cNvSpPr>
            <a:spLocks xmlns:a="http://schemas.openxmlformats.org/drawingml/2006/main" noGrp="1"/>
          </p:cNvSpPr>
          <p:nvPr/>
        </p:nvSpPr>
        <p:spPr>
          <a:xfrm xmlns:a="http://schemas.openxmlformats.org/drawingml/2006/main">
            <a:off x="952500"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SOURCE</a:t>
            </a:r>
          </a:p>
        </p:txBody>
      </p:sp>
      <p:sp>
        <p:nvSpPr>
          <p:cNvPr id="13" name="pipe-0-body">
            <a:extLst xmlns:a="http://schemas.openxmlformats.org/drawingml/2006/main">
              <a:ext uri="{FF2B5EF4-FFF2-40B4-BE49-F238E27FC236}">
                <a16:creationId xmlns:a16="http://schemas.microsoft.com/office/drawing/2014/main" id="{CD825593-81F0-4A8E-9EEC-E52D7C1DAD64}"/>
              </a:ext>
            </a:extLst>
          </p:cNvPr>
          <p:cNvSpPr>
            <a:spLocks xmlns:a="http://schemas.openxmlformats.org/drawingml/2006/main" noGrp="1"/>
          </p:cNvSpPr>
          <p:nvPr/>
        </p:nvSpPr>
        <p:spPr>
          <a:xfrm xmlns:a="http://schemas.openxmlformats.org/drawingml/2006/main">
            <a:off x="952500"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lexer + parser</a:t>
            </a:r>
          </a:p>
        </p:txBody>
      </p:sp>
      <p:sp>
        <p:nvSpPr>
          <p:cNvPr id="14" name="pipe-arrow-0">
            <a:extLst xmlns:a="http://schemas.openxmlformats.org/drawingml/2006/main">
              <a:ext uri="{FF2B5EF4-FFF2-40B4-BE49-F238E27FC236}">
                <a16:creationId xmlns:a16="http://schemas.microsoft.com/office/drawing/2014/main" id="{65B4228A-3D3F-4458-98C6-22525618C296}"/>
              </a:ext>
            </a:extLst>
          </p:cNvPr>
          <p:cNvSpPr>
            <a:spLocks xmlns:a="http://schemas.openxmlformats.org/drawingml/2006/main" noGrp="1"/>
          </p:cNvSpPr>
          <p:nvPr/>
        </p:nvSpPr>
        <p:spPr>
          <a:xfrm xmlns:a="http://schemas.openxmlformats.org/drawingml/2006/main">
            <a:off x="2695575" y="3409950"/>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248"/>
          </a:bodyPr>
          <a:lstStyle xmlns:a="http://schemas.openxmlformats.org/drawingml/2006/main">
            <a:defPPr algn="ctr">
              <a:defRPr sz="1950" b="1" i="0">
                <a:solidFill>
                  <a:srgbClr val="B8C1D1"/>
                </a:solidFill>
                <a:latin typeface="Avenir Next"/>
                <a:ea typeface="Avenir Next"/>
                <a:cs typeface="Avenir Next"/>
              </a:defRPr>
            </a:defPPr>
          </a:lstStyle>
          <a:p xmlns:a="http://schemas.openxmlformats.org/drawingml/2006/main">
            <a:pPr algn="ctr">
              <a:defRPr sz="1950" b="1" i="0">
                <a:solidFill>
                  <a:srgbClr val="B8C1D1"/>
                </a:solidFill>
                <a:latin typeface="Avenir Next"/>
                <a:ea typeface="Avenir Next"/>
                <a:cs typeface="Avenir Next"/>
              </a:defRPr>
            </a:pPr>
            <a:r>
              <a:rPr sz="1950" b="1" i="0">
                <a:solidFill>
                  <a:srgbClr val="B8C1D1"/>
                </a:solidFill>
                <a:latin typeface="Avenir Next"/>
                <a:ea typeface="Avenir Next"/>
                <a:cs typeface="Avenir Next"/>
              </a:rPr>
              <a:t>→</a:t>
            </a:r>
          </a:p>
        </p:txBody>
      </p:sp>
      <p:sp>
        <p:nvSpPr>
          <p:cNvPr id="15" name="pipe-1-panel">
            <a:extLst xmlns:a="http://schemas.openxmlformats.org/drawingml/2006/main">
              <a:ext uri="{FF2B5EF4-FFF2-40B4-BE49-F238E27FC236}">
                <a16:creationId xmlns:a16="http://schemas.microsoft.com/office/drawing/2014/main" id="{04F24E0C-E63D-4E30-838E-4310BFC90986}"/>
              </a:ext>
            </a:extLst>
          </p:cNvPr>
          <p:cNvSpPr>
            <a:spLocks xmlns:a="http://schemas.openxmlformats.org/drawingml/2006/main" noGrp="1"/>
          </p:cNvSpPr>
          <p:nvPr/>
        </p:nvSpPr>
        <p:spPr>
          <a:xfrm xmlns:a="http://schemas.openxmlformats.org/drawingml/2006/main">
            <a:off x="2867025"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16" name="pipe-1-accent">
            <a:extLst xmlns:a="http://schemas.openxmlformats.org/drawingml/2006/main">
              <a:ext uri="{FF2B5EF4-FFF2-40B4-BE49-F238E27FC236}">
                <a16:creationId xmlns:a16="http://schemas.microsoft.com/office/drawing/2014/main" id="{BEDAF3DE-F1B0-41C3-A319-96D2013F81C1}"/>
              </a:ext>
            </a:extLst>
          </p:cNvPr>
          <p:cNvSpPr>
            <a:spLocks xmlns:a="http://schemas.openxmlformats.org/drawingml/2006/main" noGrp="1"/>
          </p:cNvSpPr>
          <p:nvPr/>
        </p:nvSpPr>
        <p:spPr>
          <a:xfrm xmlns:a="http://schemas.openxmlformats.org/drawingml/2006/main">
            <a:off x="2867025" y="2895600"/>
            <a:ext cx="57150" cy="16954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7" name="pipe-1-title">
            <a:extLst xmlns:a="http://schemas.openxmlformats.org/drawingml/2006/main">
              <a:ext uri="{FF2B5EF4-FFF2-40B4-BE49-F238E27FC236}">
                <a16:creationId xmlns:a16="http://schemas.microsoft.com/office/drawing/2014/main" id="{7D118B2C-9E50-480D-845E-F27D89F86471}"/>
              </a:ext>
            </a:extLst>
          </p:cNvPr>
          <p:cNvSpPr>
            <a:spLocks xmlns:a="http://schemas.openxmlformats.org/drawingml/2006/main" noGrp="1"/>
          </p:cNvSpPr>
          <p:nvPr/>
        </p:nvSpPr>
        <p:spPr>
          <a:xfrm xmlns:a="http://schemas.openxmlformats.org/drawingml/2006/main">
            <a:off x="3076575"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SCOPES</a:t>
            </a:r>
          </a:p>
        </p:txBody>
      </p:sp>
      <p:sp>
        <p:nvSpPr>
          <p:cNvPr id="18" name="pipe-1-body">
            <a:extLst xmlns:a="http://schemas.openxmlformats.org/drawingml/2006/main">
              <a:ext uri="{FF2B5EF4-FFF2-40B4-BE49-F238E27FC236}">
                <a16:creationId xmlns:a16="http://schemas.microsoft.com/office/drawing/2014/main" id="{A245EFEA-9B8A-4272-ACF8-F5EB7DE8C0E5}"/>
              </a:ext>
            </a:extLst>
          </p:cNvPr>
          <p:cNvSpPr>
            <a:spLocks xmlns:a="http://schemas.openxmlformats.org/drawingml/2006/main" noGrp="1"/>
          </p:cNvSpPr>
          <p:nvPr/>
        </p:nvSpPr>
        <p:spPr>
          <a:xfrm xmlns:a="http://schemas.openxmlformats.org/drawingml/2006/main">
            <a:off x="3076575"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resolved names</a:t>
            </a:r>
          </a:p>
        </p:txBody>
      </p:sp>
      <p:sp>
        <p:nvSpPr>
          <p:cNvPr id="19" name="pipe-arrow-1">
            <a:extLst xmlns:a="http://schemas.openxmlformats.org/drawingml/2006/main">
              <a:ext uri="{FF2B5EF4-FFF2-40B4-BE49-F238E27FC236}">
                <a16:creationId xmlns:a16="http://schemas.microsoft.com/office/drawing/2014/main" id="{657B1DDF-A83F-4258-9762-92D011784B41}"/>
              </a:ext>
            </a:extLst>
          </p:cNvPr>
          <p:cNvSpPr>
            <a:spLocks xmlns:a="http://schemas.openxmlformats.org/drawingml/2006/main" noGrp="1"/>
          </p:cNvSpPr>
          <p:nvPr/>
        </p:nvSpPr>
        <p:spPr>
          <a:xfrm xmlns:a="http://schemas.openxmlformats.org/drawingml/2006/main">
            <a:off x="4819650" y="3409950"/>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248"/>
          </a:bodyPr>
          <a:lstStyle xmlns:a="http://schemas.openxmlformats.org/drawingml/2006/main">
            <a:defPPr algn="ctr">
              <a:defRPr sz="1950" b="1" i="0">
                <a:solidFill>
                  <a:srgbClr val="B8C1D1"/>
                </a:solidFill>
                <a:latin typeface="Avenir Next"/>
                <a:ea typeface="Avenir Next"/>
                <a:cs typeface="Avenir Next"/>
              </a:defRPr>
            </a:defPPr>
          </a:lstStyle>
          <a:p xmlns:a="http://schemas.openxmlformats.org/drawingml/2006/main">
            <a:pPr algn="ctr">
              <a:defRPr sz="1950" b="1" i="0">
                <a:solidFill>
                  <a:srgbClr val="B8C1D1"/>
                </a:solidFill>
                <a:latin typeface="Avenir Next"/>
                <a:ea typeface="Avenir Next"/>
                <a:cs typeface="Avenir Next"/>
              </a:defRPr>
            </a:pPr>
            <a:r>
              <a:rPr sz="1950" b="1" i="0">
                <a:solidFill>
                  <a:srgbClr val="B8C1D1"/>
                </a:solidFill>
                <a:latin typeface="Avenir Next"/>
                <a:ea typeface="Avenir Next"/>
                <a:cs typeface="Avenir Next"/>
              </a:rPr>
              <a:t>→</a:t>
            </a:r>
          </a:p>
        </p:txBody>
      </p:sp>
      <p:sp>
        <p:nvSpPr>
          <p:cNvPr id="20" name="pipe-2-panel">
            <a:extLst xmlns:a="http://schemas.openxmlformats.org/drawingml/2006/main">
              <a:ext uri="{FF2B5EF4-FFF2-40B4-BE49-F238E27FC236}">
                <a16:creationId xmlns:a16="http://schemas.microsoft.com/office/drawing/2014/main" id="{02428B9E-839C-49EC-AA13-F01E03F623BB}"/>
              </a:ext>
            </a:extLst>
          </p:cNvPr>
          <p:cNvSpPr>
            <a:spLocks xmlns:a="http://schemas.openxmlformats.org/drawingml/2006/main" noGrp="1"/>
          </p:cNvSpPr>
          <p:nvPr/>
        </p:nvSpPr>
        <p:spPr>
          <a:xfrm xmlns:a="http://schemas.openxmlformats.org/drawingml/2006/main">
            <a:off x="4991100"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21" name="pipe-2-accent">
            <a:extLst xmlns:a="http://schemas.openxmlformats.org/drawingml/2006/main">
              <a:ext uri="{FF2B5EF4-FFF2-40B4-BE49-F238E27FC236}">
                <a16:creationId xmlns:a16="http://schemas.microsoft.com/office/drawing/2014/main" id="{A37DF7D5-7502-4757-9866-7ED81EDEFAF1}"/>
              </a:ext>
            </a:extLst>
          </p:cNvPr>
          <p:cNvSpPr>
            <a:spLocks xmlns:a="http://schemas.openxmlformats.org/drawingml/2006/main" noGrp="1"/>
          </p:cNvSpPr>
          <p:nvPr/>
        </p:nvSpPr>
        <p:spPr>
          <a:xfrm xmlns:a="http://schemas.openxmlformats.org/drawingml/2006/main">
            <a:off x="4991100" y="2895600"/>
            <a:ext cx="57150" cy="16954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2" name="pipe-2-title">
            <a:extLst xmlns:a="http://schemas.openxmlformats.org/drawingml/2006/main">
              <a:ext uri="{FF2B5EF4-FFF2-40B4-BE49-F238E27FC236}">
                <a16:creationId xmlns:a16="http://schemas.microsoft.com/office/drawing/2014/main" id="{DA4876D8-E716-4CB1-A49C-421606A7C676}"/>
              </a:ext>
            </a:extLst>
          </p:cNvPr>
          <p:cNvSpPr>
            <a:spLocks xmlns:a="http://schemas.openxmlformats.org/drawingml/2006/main" noGrp="1"/>
          </p:cNvSpPr>
          <p:nvPr/>
        </p:nvSpPr>
        <p:spPr>
          <a:xfrm xmlns:a="http://schemas.openxmlformats.org/drawingml/2006/main">
            <a:off x="5200650"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ANALYSES</a:t>
            </a:r>
          </a:p>
        </p:txBody>
      </p:sp>
      <p:sp>
        <p:nvSpPr>
          <p:cNvPr id="23" name="pipe-2-body">
            <a:extLst xmlns:a="http://schemas.openxmlformats.org/drawingml/2006/main">
              <a:ext uri="{FF2B5EF4-FFF2-40B4-BE49-F238E27FC236}">
                <a16:creationId xmlns:a16="http://schemas.microsoft.com/office/drawing/2014/main" id="{6043ACB1-959F-4ACF-AEFE-30B63A2CDE20}"/>
              </a:ext>
            </a:extLst>
          </p:cNvPr>
          <p:cNvSpPr>
            <a:spLocks xmlns:a="http://schemas.openxmlformats.org/drawingml/2006/main" noGrp="1"/>
          </p:cNvSpPr>
          <p:nvPr/>
        </p:nvSpPr>
        <p:spPr>
          <a:xfrm xmlns:a="http://schemas.openxmlformats.org/drawingml/2006/main">
            <a:off x="5200650"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flow + bound + relation</a:t>
            </a:r>
          </a:p>
        </p:txBody>
      </p:sp>
      <p:sp>
        <p:nvSpPr>
          <p:cNvPr id="24" name="pipe-arrow-2">
            <a:extLst xmlns:a="http://schemas.openxmlformats.org/drawingml/2006/main">
              <a:ext uri="{FF2B5EF4-FFF2-40B4-BE49-F238E27FC236}">
                <a16:creationId xmlns:a16="http://schemas.microsoft.com/office/drawing/2014/main" id="{DB851EF7-CACB-4263-B8DA-0F60B2482A32}"/>
              </a:ext>
            </a:extLst>
          </p:cNvPr>
          <p:cNvSpPr>
            <a:spLocks xmlns:a="http://schemas.openxmlformats.org/drawingml/2006/main" noGrp="1"/>
          </p:cNvSpPr>
          <p:nvPr/>
        </p:nvSpPr>
        <p:spPr>
          <a:xfrm xmlns:a="http://schemas.openxmlformats.org/drawingml/2006/main">
            <a:off x="6943725" y="3409950"/>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248"/>
          </a:bodyPr>
          <a:lstStyle xmlns:a="http://schemas.openxmlformats.org/drawingml/2006/main">
            <a:defPPr algn="ctr">
              <a:defRPr sz="1950" b="1" i="0">
                <a:solidFill>
                  <a:srgbClr val="B8C1D1"/>
                </a:solidFill>
                <a:latin typeface="Avenir Next"/>
                <a:ea typeface="Avenir Next"/>
                <a:cs typeface="Avenir Next"/>
              </a:defRPr>
            </a:defPPr>
          </a:lstStyle>
          <a:p xmlns:a="http://schemas.openxmlformats.org/drawingml/2006/main">
            <a:pPr algn="ctr">
              <a:defRPr sz="1950" b="1" i="0">
                <a:solidFill>
                  <a:srgbClr val="B8C1D1"/>
                </a:solidFill>
                <a:latin typeface="Avenir Next"/>
                <a:ea typeface="Avenir Next"/>
                <a:cs typeface="Avenir Next"/>
              </a:defRPr>
            </a:pPr>
            <a:r>
              <a:rPr sz="1950" b="1" i="0">
                <a:solidFill>
                  <a:srgbClr val="B8C1D1"/>
                </a:solidFill>
                <a:latin typeface="Avenir Next"/>
                <a:ea typeface="Avenir Next"/>
                <a:cs typeface="Avenir Next"/>
              </a:rPr>
              <a:t>→</a:t>
            </a:r>
          </a:p>
        </p:txBody>
      </p:sp>
      <p:sp>
        <p:nvSpPr>
          <p:cNvPr id="25" name="pipe-3-panel">
            <a:extLst xmlns:a="http://schemas.openxmlformats.org/drawingml/2006/main">
              <a:ext uri="{FF2B5EF4-FFF2-40B4-BE49-F238E27FC236}">
                <a16:creationId xmlns:a16="http://schemas.microsoft.com/office/drawing/2014/main" id="{793A1F09-3CBA-4CAF-87C1-34C55BD51C24}"/>
              </a:ext>
            </a:extLst>
          </p:cNvPr>
          <p:cNvSpPr>
            <a:spLocks xmlns:a="http://schemas.openxmlformats.org/drawingml/2006/main" noGrp="1"/>
          </p:cNvSpPr>
          <p:nvPr/>
        </p:nvSpPr>
        <p:spPr>
          <a:xfrm xmlns:a="http://schemas.openxmlformats.org/drawingml/2006/main">
            <a:off x="7115175"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26" name="pipe-3-accent">
            <a:extLst xmlns:a="http://schemas.openxmlformats.org/drawingml/2006/main">
              <a:ext uri="{FF2B5EF4-FFF2-40B4-BE49-F238E27FC236}">
                <a16:creationId xmlns:a16="http://schemas.microsoft.com/office/drawing/2014/main" id="{AEE263CF-5B2F-451F-A77F-93DAB632BF1D}"/>
              </a:ext>
            </a:extLst>
          </p:cNvPr>
          <p:cNvSpPr>
            <a:spLocks xmlns:a="http://schemas.openxmlformats.org/drawingml/2006/main" noGrp="1"/>
          </p:cNvSpPr>
          <p:nvPr/>
        </p:nvSpPr>
        <p:spPr>
          <a:xfrm xmlns:a="http://schemas.openxmlformats.org/drawingml/2006/main">
            <a:off x="7115175" y="2895600"/>
            <a:ext cx="57150" cy="16954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27" name="pipe-3-title">
            <a:extLst xmlns:a="http://schemas.openxmlformats.org/drawingml/2006/main">
              <a:ext uri="{FF2B5EF4-FFF2-40B4-BE49-F238E27FC236}">
                <a16:creationId xmlns:a16="http://schemas.microsoft.com/office/drawing/2014/main" id="{66C9D18C-8FC6-497C-8B8A-1741A9505AAD}"/>
              </a:ext>
            </a:extLst>
          </p:cNvPr>
          <p:cNvSpPr>
            <a:spLocks xmlns:a="http://schemas.openxmlformats.org/drawingml/2006/main" noGrp="1"/>
          </p:cNvSpPr>
          <p:nvPr/>
        </p:nvSpPr>
        <p:spPr>
          <a:xfrm xmlns:a="http://schemas.openxmlformats.org/drawingml/2006/main">
            <a:off x="7324725"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IR</a:t>
            </a:r>
          </a:p>
        </p:txBody>
      </p:sp>
      <p:sp>
        <p:nvSpPr>
          <p:cNvPr id="28" name="pipe-3-body">
            <a:extLst xmlns:a="http://schemas.openxmlformats.org/drawingml/2006/main">
              <a:ext uri="{FF2B5EF4-FFF2-40B4-BE49-F238E27FC236}">
                <a16:creationId xmlns:a16="http://schemas.microsoft.com/office/drawing/2014/main" id="{2D3E9B58-A770-4A3C-B554-F7B8C4071EE9}"/>
              </a:ext>
            </a:extLst>
          </p:cNvPr>
          <p:cNvSpPr>
            <a:spLocks xmlns:a="http://schemas.openxmlformats.org/drawingml/2006/main" noGrp="1"/>
          </p:cNvSpPr>
          <p:nvPr/>
        </p:nvSpPr>
        <p:spPr>
          <a:xfrm xmlns:a="http://schemas.openxmlformats.org/drawingml/2006/main">
            <a:off x="7324725"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regions + certificate</a:t>
            </a:r>
          </a:p>
        </p:txBody>
      </p:sp>
      <p:sp>
        <p:nvSpPr>
          <p:cNvPr id="29" name="pipe-arrow-3">
            <a:extLst xmlns:a="http://schemas.openxmlformats.org/drawingml/2006/main">
              <a:ext uri="{FF2B5EF4-FFF2-40B4-BE49-F238E27FC236}">
                <a16:creationId xmlns:a16="http://schemas.microsoft.com/office/drawing/2014/main" id="{EAA80F7F-C2DF-447B-B998-BF66E573CCC2}"/>
              </a:ext>
            </a:extLst>
          </p:cNvPr>
          <p:cNvSpPr>
            <a:spLocks xmlns:a="http://schemas.openxmlformats.org/drawingml/2006/main" noGrp="1"/>
          </p:cNvSpPr>
          <p:nvPr/>
        </p:nvSpPr>
        <p:spPr>
          <a:xfrm xmlns:a="http://schemas.openxmlformats.org/drawingml/2006/main">
            <a:off x="9067800" y="3409950"/>
            <a:ext cx="19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248"/>
          </a:bodyPr>
          <a:lstStyle xmlns:a="http://schemas.openxmlformats.org/drawingml/2006/main">
            <a:defPPr algn="ctr">
              <a:defRPr sz="1950" b="1" i="0">
                <a:solidFill>
                  <a:srgbClr val="B8C1D1"/>
                </a:solidFill>
                <a:latin typeface="Avenir Next"/>
                <a:ea typeface="Avenir Next"/>
                <a:cs typeface="Avenir Next"/>
              </a:defRPr>
            </a:defPPr>
          </a:lstStyle>
          <a:p xmlns:a="http://schemas.openxmlformats.org/drawingml/2006/main">
            <a:pPr algn="ctr">
              <a:defRPr sz="1950" b="1" i="0">
                <a:solidFill>
                  <a:srgbClr val="B8C1D1"/>
                </a:solidFill>
                <a:latin typeface="Avenir Next"/>
                <a:ea typeface="Avenir Next"/>
                <a:cs typeface="Avenir Next"/>
              </a:defRPr>
            </a:pPr>
            <a:r>
              <a:rPr sz="1950" b="1" i="0">
                <a:solidFill>
                  <a:srgbClr val="B8C1D1"/>
                </a:solidFill>
                <a:latin typeface="Avenir Next"/>
                <a:ea typeface="Avenir Next"/>
                <a:cs typeface="Avenir Next"/>
              </a:rPr>
              <a:t>→</a:t>
            </a:r>
          </a:p>
        </p:txBody>
      </p:sp>
      <p:sp>
        <p:nvSpPr>
          <p:cNvPr id="30" name="pipe-4-panel">
            <a:extLst xmlns:a="http://schemas.openxmlformats.org/drawingml/2006/main">
              <a:ext uri="{FF2B5EF4-FFF2-40B4-BE49-F238E27FC236}">
                <a16:creationId xmlns:a16="http://schemas.microsoft.com/office/drawing/2014/main" id="{EA4F5703-4A06-4111-8650-129DDA5CD1D7}"/>
              </a:ext>
            </a:extLst>
          </p:cNvPr>
          <p:cNvSpPr>
            <a:spLocks xmlns:a="http://schemas.openxmlformats.org/drawingml/2006/main" noGrp="1"/>
          </p:cNvSpPr>
          <p:nvPr/>
        </p:nvSpPr>
        <p:spPr>
          <a:xfrm xmlns:a="http://schemas.openxmlformats.org/drawingml/2006/main">
            <a:off x="9239250" y="2895600"/>
            <a:ext cx="1952625" cy="1695450"/>
          </a:xfrm>
          <a:prstGeom xmlns:a="http://schemas.openxmlformats.org/drawingml/2006/main" prst="roundRect">
            <a:avLst>
              <a:gd name="adj" fmla="val 4494"/>
            </a:avLst>
          </a:prstGeom>
          <a:solidFill xmlns:a="http://schemas.openxmlformats.org/drawingml/2006/main">
            <a:srgbClr val="1C2638"/>
          </a:solidFill>
          <a:ln xmlns:a="http://schemas.openxmlformats.org/drawingml/2006/main" w="9525">
            <a:solidFill>
              <a:srgbClr val="343D50"/>
            </a:solidFill>
            <a:prstDash val="solid"/>
          </a:ln>
        </p:spPr>
      </p:sp>
      <p:sp>
        <p:nvSpPr>
          <p:cNvPr id="31" name="pipe-4-accent">
            <a:extLst xmlns:a="http://schemas.openxmlformats.org/drawingml/2006/main">
              <a:ext uri="{FF2B5EF4-FFF2-40B4-BE49-F238E27FC236}">
                <a16:creationId xmlns:a16="http://schemas.microsoft.com/office/drawing/2014/main" id="{720FE788-9DB6-4355-82C3-1DBA6121DC5B}"/>
              </a:ext>
            </a:extLst>
          </p:cNvPr>
          <p:cNvSpPr>
            <a:spLocks xmlns:a="http://schemas.openxmlformats.org/drawingml/2006/main" noGrp="1"/>
          </p:cNvSpPr>
          <p:nvPr/>
        </p:nvSpPr>
        <p:spPr>
          <a:xfrm xmlns:a="http://schemas.openxmlformats.org/drawingml/2006/main">
            <a:off x="9239250" y="2895600"/>
            <a:ext cx="57150" cy="16954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32" name="pipe-4-title">
            <a:extLst xmlns:a="http://schemas.openxmlformats.org/drawingml/2006/main">
              <a:ext uri="{FF2B5EF4-FFF2-40B4-BE49-F238E27FC236}">
                <a16:creationId xmlns:a16="http://schemas.microsoft.com/office/drawing/2014/main" id="{9F1A29B8-5B1E-4519-BD4E-B7710E8BBA8F}"/>
              </a:ext>
            </a:extLst>
          </p:cNvPr>
          <p:cNvSpPr>
            <a:spLocks xmlns:a="http://schemas.openxmlformats.org/drawingml/2006/main" noGrp="1"/>
          </p:cNvSpPr>
          <p:nvPr/>
        </p:nvSpPr>
        <p:spPr>
          <a:xfrm xmlns:a="http://schemas.openxmlformats.org/drawingml/2006/main">
            <a:off x="9448800" y="3067050"/>
            <a:ext cx="1533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EVIDENCE</a:t>
            </a:r>
          </a:p>
        </p:txBody>
      </p:sp>
      <p:sp>
        <p:nvSpPr>
          <p:cNvPr id="33" name="pipe-4-body">
            <a:extLst xmlns:a="http://schemas.openxmlformats.org/drawingml/2006/main">
              <a:ext uri="{FF2B5EF4-FFF2-40B4-BE49-F238E27FC236}">
                <a16:creationId xmlns:a16="http://schemas.microsoft.com/office/drawing/2014/main" id="{8EC3BD87-B22E-415F-B3AF-DC12249E0E72}"/>
              </a:ext>
            </a:extLst>
          </p:cNvPr>
          <p:cNvSpPr>
            <a:spLocks xmlns:a="http://schemas.openxmlformats.org/drawingml/2006/main" noGrp="1"/>
          </p:cNvSpPr>
          <p:nvPr/>
        </p:nvSpPr>
        <p:spPr>
          <a:xfrm xmlns:a="http://schemas.openxmlformats.org/drawingml/2006/main">
            <a:off x="9448800" y="3581400"/>
            <a:ext cx="15335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diagnostics + offline run</a:t>
            </a:r>
          </a:p>
        </p:txBody>
      </p:sp>
      <p:sp>
        <p:nvSpPr>
          <p:cNvPr id="34" name="pipe-bottom">
            <a:extLst xmlns:a="http://schemas.openxmlformats.org/drawingml/2006/main">
              <a:ext uri="{FF2B5EF4-FFF2-40B4-BE49-F238E27FC236}">
                <a16:creationId xmlns:a16="http://schemas.microsoft.com/office/drawing/2014/main" id="{60F33DBC-766A-4957-B43B-B3B17E5B4949}"/>
              </a:ext>
            </a:extLst>
          </p:cNvPr>
          <p:cNvSpPr>
            <a:spLocks xmlns:a="http://schemas.openxmlformats.org/drawingml/2006/main" noGrp="1"/>
          </p:cNvSpPr>
          <p:nvPr/>
        </p:nvSpPr>
        <p:spPr>
          <a:xfrm xmlns:a="http://schemas.openxmlformats.org/drawingml/2006/main">
            <a:off x="952500" y="517207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0" i="0">
                <a:solidFill>
                  <a:srgbClr val="B8C1D1"/>
                </a:solidFill>
                <a:latin typeface="Avenir Next"/>
                <a:ea typeface="Avenir Next"/>
                <a:cs typeface="Avenir Next"/>
              </a:defRPr>
            </a:defPPr>
          </a:lstStyle>
          <a:p xmlns:a="http://schemas.openxmlformats.org/drawingml/2006/main">
            <a:pPr algn="ctr">
              <a:defRPr sz="1425" b="0" i="0">
                <a:solidFill>
                  <a:srgbClr val="B8C1D1"/>
                </a:solidFill>
                <a:latin typeface="Avenir Next"/>
                <a:ea typeface="Avenir Next"/>
                <a:cs typeface="Avenir Next"/>
              </a:defRPr>
            </a:pPr>
            <a:r>
              <a:rPr sz="1425" b="0" i="0">
                <a:solidFill>
                  <a:srgbClr val="B8C1D1"/>
                </a:solidFill>
                <a:latin typeface="Avenir Next"/>
                <a:ea typeface="Avenir Next"/>
                <a:cs typeface="Avenir Next"/>
              </a:rPr>
              <a:t>No model key, live provider call, or network access is needed for the static checks.</a:t>
            </a:r>
          </a:p>
        </p:txBody>
      </p:sp>
    </p:spTree>
    <p:extLst>
      <p:ext uri="{BB962C8B-B14F-4D97-AF65-F5344CB8AC3E}">
        <p14:creationId xmlns:p14="http://schemas.microsoft.com/office/powerpoint/2010/main" val="984691589"/>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1" name="s13-brand">
            <a:extLst xmlns:a="http://schemas.openxmlformats.org/drawingml/2006/main">
              <a:ext uri="{FF2B5EF4-FFF2-40B4-BE49-F238E27FC236}">
                <a16:creationId xmlns:a16="http://schemas.microsoft.com/office/drawing/2014/main" id="{66B4D268-DE4E-4EE6-8994-931B261914E9}"/>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3-section">
            <a:extLst xmlns:a="http://schemas.openxmlformats.org/drawingml/2006/main">
              <a:ext uri="{FF2B5EF4-FFF2-40B4-BE49-F238E27FC236}">
                <a16:creationId xmlns:a16="http://schemas.microsoft.com/office/drawing/2014/main" id="{505D51A0-CC96-4FAD-8474-0ECA1D90E339}"/>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FULL-TEXT STRESS</a:t>
            </a:r>
          </a:p>
        </p:txBody>
      </p:sp>
      <p:sp>
        <p:nvSpPr>
          <p:cNvPr id="3" name="s13-title">
            <a:extLst xmlns:a="http://schemas.openxmlformats.org/drawingml/2006/main">
              <a:ext uri="{FF2B5EF4-FFF2-40B4-BE49-F238E27FC236}">
                <a16:creationId xmlns:a16="http://schemas.microsoft.com/office/drawing/2014/main" id="{B7E2BADC-2554-4DBC-AD26-0A9D0536CD72}"/>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575"/>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Generated C++ cases were checked against full request text</a:t>
            </a:r>
          </a:p>
        </p:txBody>
      </p:sp>
      <p:sp>
        <p:nvSpPr>
          <p:cNvPr id="4" name="s13-subtitle">
            <a:extLst xmlns:a="http://schemas.openxmlformats.org/drawingml/2006/main">
              <a:ext uri="{FF2B5EF4-FFF2-40B4-BE49-F238E27FC236}">
                <a16:creationId xmlns:a16="http://schemas.microsoft.com/office/drawing/2014/main" id="{E58A40E5-96AB-43F8-A6E7-076B8D6BDDF7}"/>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A separate Python interpreter substitutes complete rendered requests under a controlled Ω.</a:t>
            </a:r>
          </a:p>
        </p:txBody>
      </p:sp>
      <p:sp>
        <p:nvSpPr>
          <p:cNvPr id="5" name="s13-source-rule">
            <a:extLst xmlns:a="http://schemas.openxmlformats.org/drawingml/2006/main">
              <a:ext uri="{FF2B5EF4-FFF2-40B4-BE49-F238E27FC236}">
                <a16:creationId xmlns:a16="http://schemas.microsoft.com/office/drawing/2014/main" id="{A74FC2FC-5DEA-44A5-8A2D-9058A7DDBD63}"/>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3-sources">
            <a:extLst xmlns:a="http://schemas.openxmlformats.org/drawingml/2006/main">
              <a:ext uri="{FF2B5EF4-FFF2-40B4-BE49-F238E27FC236}">
                <a16:creationId xmlns:a16="http://schemas.microsoft.com/office/drawing/2014/main" id="{A2011F7C-5813-4A2B-9B88-F14D726A08A9}"/>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docs/RELATIONAL_STRESS.md; bench/results/relational_stress.json; audit/relational_stress.py</a:t>
            </a:r>
          </a:p>
        </p:txBody>
      </p:sp>
      <p:sp>
        <p:nvSpPr>
          <p:cNvPr id="7" name="s13-footer-rule">
            <a:extLst xmlns:a="http://schemas.openxmlformats.org/drawingml/2006/main">
              <a:ext uri="{FF2B5EF4-FFF2-40B4-BE49-F238E27FC236}">
                <a16:creationId xmlns:a16="http://schemas.microsoft.com/office/drawing/2014/main" id="{BDF36873-44BE-43CE-B472-B12A22B5AA25}"/>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3-footer">
            <a:extLst xmlns:a="http://schemas.openxmlformats.org/drawingml/2006/main">
              <a:ext uri="{FF2B5EF4-FFF2-40B4-BE49-F238E27FC236}">
                <a16:creationId xmlns:a16="http://schemas.microsoft.com/office/drawing/2014/main" id="{B423090E-A7D6-4668-A734-A9764C758301}"/>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3-page">
            <a:extLst xmlns:a="http://schemas.openxmlformats.org/drawingml/2006/main">
              <a:ext uri="{FF2B5EF4-FFF2-40B4-BE49-F238E27FC236}">
                <a16:creationId xmlns:a16="http://schemas.microsoft.com/office/drawing/2014/main" id="{A972F8B0-665B-4E50-989E-1CE06B78900E}"/>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13</a:t>
            </a:r>
          </a:p>
        </p:txBody>
      </p:sp>
      <p:sp>
        <p:nvSpPr>
          <p:cNvPr id="10" name="stress-metric-0-panel">
            <a:extLst xmlns:a="http://schemas.openxmlformats.org/drawingml/2006/main">
              <a:ext uri="{FF2B5EF4-FFF2-40B4-BE49-F238E27FC236}">
                <a16:creationId xmlns:a16="http://schemas.microsoft.com/office/drawing/2014/main" id="{1E03069D-3133-4034-8510-5B359D3F5207}"/>
              </a:ext>
            </a:extLst>
          </p:cNvPr>
          <p:cNvSpPr>
            <a:spLocks xmlns:a="http://schemas.openxmlformats.org/drawingml/2006/main" noGrp="1"/>
          </p:cNvSpPr>
          <p:nvPr/>
        </p:nvSpPr>
        <p:spPr>
          <a:xfrm xmlns:a="http://schemas.openxmlformats.org/drawingml/2006/main">
            <a:off x="781050" y="27241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11" name="stress-metric-0-stripe">
            <a:extLst xmlns:a="http://schemas.openxmlformats.org/drawingml/2006/main">
              <a:ext uri="{FF2B5EF4-FFF2-40B4-BE49-F238E27FC236}">
                <a16:creationId xmlns:a16="http://schemas.microsoft.com/office/drawing/2014/main" id="{9B1890BD-C6E4-4B9E-AB12-7F69486EEFAF}"/>
              </a:ext>
            </a:extLst>
          </p:cNvPr>
          <p:cNvSpPr>
            <a:spLocks xmlns:a="http://schemas.openxmlformats.org/drawingml/2006/main" noGrp="1"/>
          </p:cNvSpPr>
          <p:nvPr/>
        </p:nvSpPr>
        <p:spPr>
          <a:xfrm xmlns:a="http://schemas.openxmlformats.org/drawingml/2006/main">
            <a:off x="781050" y="2724150"/>
            <a:ext cx="2343150" cy="762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stress-metric-0-value">
            <a:extLst xmlns:a="http://schemas.openxmlformats.org/drawingml/2006/main">
              <a:ext uri="{FF2B5EF4-FFF2-40B4-BE49-F238E27FC236}">
                <a16:creationId xmlns:a16="http://schemas.microsoft.com/office/drawing/2014/main" id="{68E07CB8-013D-4F6F-8451-647AFC991E46}"/>
              </a:ext>
            </a:extLst>
          </p:cNvPr>
          <p:cNvSpPr>
            <a:spLocks xmlns:a="http://schemas.openxmlformats.org/drawingml/2006/main" noGrp="1"/>
          </p:cNvSpPr>
          <p:nvPr/>
        </p:nvSpPr>
        <p:spPr>
          <a:xfrm xmlns:a="http://schemas.openxmlformats.org/drawingml/2006/main">
            <a:off x="914400" y="30670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400" b="1" i="0">
                <a:solidFill>
                  <a:srgbClr val="1F6F66"/>
                </a:solidFill>
                <a:latin typeface="Avenir Next"/>
                <a:ea typeface="Avenir Next"/>
                <a:cs typeface="Avenir Next"/>
              </a:defRPr>
            </a:defPPr>
          </a:lstStyle>
          <a:p xmlns:a="http://schemas.openxmlformats.org/drawingml/2006/main">
            <a:pPr algn="ctr">
              <a:defRPr sz="2400" b="1" i="0">
                <a:solidFill>
                  <a:srgbClr val="1F6F66"/>
                </a:solidFill>
                <a:latin typeface="Avenir Next"/>
                <a:ea typeface="Avenir Next"/>
                <a:cs typeface="Avenir Next"/>
              </a:defRPr>
            </a:pPr>
            <a:r>
              <a:rPr sz="2400" b="1" i="0">
                <a:solidFill>
                  <a:srgbClr val="1F6F66"/>
                </a:solidFill>
                <a:latin typeface="Avenir Next"/>
                <a:ea typeface="Avenir Next"/>
                <a:cs typeface="Avenir Next"/>
              </a:rPr>
              <a:t>264</a:t>
            </a:r>
          </a:p>
        </p:txBody>
      </p:sp>
      <p:sp>
        <p:nvSpPr>
          <p:cNvPr id="13" name="stress-metric-0-label">
            <a:extLst xmlns:a="http://schemas.openxmlformats.org/drawingml/2006/main">
              <a:ext uri="{FF2B5EF4-FFF2-40B4-BE49-F238E27FC236}">
                <a16:creationId xmlns:a16="http://schemas.microsoft.com/office/drawing/2014/main" id="{ABD6A3C2-6393-4D2D-9703-F8265A2EA624}"/>
              </a:ext>
            </a:extLst>
          </p:cNvPr>
          <p:cNvSpPr>
            <a:spLocks xmlns:a="http://schemas.openxmlformats.org/drawingml/2006/main" noGrp="1"/>
          </p:cNvSpPr>
          <p:nvPr/>
        </p:nvSpPr>
        <p:spPr>
          <a:xfrm xmlns:a="http://schemas.openxmlformats.org/drawingml/2006/main">
            <a:off x="933450" y="37147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generated C++ cases</a:t>
            </a:r>
          </a:p>
        </p:txBody>
      </p:sp>
      <p:sp>
        <p:nvSpPr>
          <p:cNvPr id="14" name="stress-metric-0-detail">
            <a:extLst xmlns:a="http://schemas.openxmlformats.org/drawingml/2006/main">
              <a:ext uri="{FF2B5EF4-FFF2-40B4-BE49-F238E27FC236}">
                <a16:creationId xmlns:a16="http://schemas.microsoft.com/office/drawing/2014/main" id="{EE10DB37-183F-4E2E-8A68-4B5A7BB1635C}"/>
              </a:ext>
            </a:extLst>
          </p:cNvPr>
          <p:cNvSpPr>
            <a:spLocks xmlns:a="http://schemas.openxmlformats.org/drawingml/2006/main" noGrp="1"/>
          </p:cNvSpPr>
          <p:nvPr/>
        </p:nvSpPr>
        <p:spPr>
          <a:xfrm xmlns:a="http://schemas.openxmlformats.org/drawingml/2006/main">
            <a:off x="914400" y="43053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144 accepted · 120 mutations rejected</a:t>
            </a:r>
          </a:p>
        </p:txBody>
      </p:sp>
      <p:sp>
        <p:nvSpPr>
          <p:cNvPr id="15" name="stress-metric-1-panel">
            <a:extLst xmlns:a="http://schemas.openxmlformats.org/drawingml/2006/main">
              <a:ext uri="{FF2B5EF4-FFF2-40B4-BE49-F238E27FC236}">
                <a16:creationId xmlns:a16="http://schemas.microsoft.com/office/drawing/2014/main" id="{BB778FBA-69E2-420F-8E69-46DEFF4AF69C}"/>
              </a:ext>
            </a:extLst>
          </p:cNvPr>
          <p:cNvSpPr>
            <a:spLocks xmlns:a="http://schemas.openxmlformats.org/drawingml/2006/main" noGrp="1"/>
          </p:cNvSpPr>
          <p:nvPr/>
        </p:nvSpPr>
        <p:spPr>
          <a:xfrm xmlns:a="http://schemas.openxmlformats.org/drawingml/2006/main">
            <a:off x="3543300" y="27241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16" name="stress-metric-1-stripe">
            <a:extLst xmlns:a="http://schemas.openxmlformats.org/drawingml/2006/main">
              <a:ext uri="{FF2B5EF4-FFF2-40B4-BE49-F238E27FC236}">
                <a16:creationId xmlns:a16="http://schemas.microsoft.com/office/drawing/2014/main" id="{5822E99C-7331-4EFC-A6DD-634E2E53FF61}"/>
              </a:ext>
            </a:extLst>
          </p:cNvPr>
          <p:cNvSpPr>
            <a:spLocks xmlns:a="http://schemas.openxmlformats.org/drawingml/2006/main" noGrp="1"/>
          </p:cNvSpPr>
          <p:nvPr/>
        </p:nvSpPr>
        <p:spPr>
          <a:xfrm xmlns:a="http://schemas.openxmlformats.org/drawingml/2006/main">
            <a:off x="3543300" y="2724150"/>
            <a:ext cx="2343150" cy="76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stress-metric-1-value">
            <a:extLst xmlns:a="http://schemas.openxmlformats.org/drawingml/2006/main">
              <a:ext uri="{FF2B5EF4-FFF2-40B4-BE49-F238E27FC236}">
                <a16:creationId xmlns:a16="http://schemas.microsoft.com/office/drawing/2014/main" id="{619760BD-670F-4009-BEBD-61E35533A757}"/>
              </a:ext>
            </a:extLst>
          </p:cNvPr>
          <p:cNvSpPr>
            <a:spLocks xmlns:a="http://schemas.openxmlformats.org/drawingml/2006/main" noGrp="1"/>
          </p:cNvSpPr>
          <p:nvPr/>
        </p:nvSpPr>
        <p:spPr>
          <a:xfrm xmlns:a="http://schemas.openxmlformats.org/drawingml/2006/main">
            <a:off x="3676650" y="30670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400" b="1" i="0">
                <a:solidFill>
                  <a:srgbClr val="FF8A5C"/>
                </a:solidFill>
                <a:latin typeface="Avenir Next"/>
                <a:ea typeface="Avenir Next"/>
                <a:cs typeface="Avenir Next"/>
              </a:defRPr>
            </a:defPPr>
          </a:lstStyle>
          <a:p xmlns:a="http://schemas.openxmlformats.org/drawingml/2006/main">
            <a:pPr algn="ctr">
              <a:defRPr sz="2400" b="1" i="0">
                <a:solidFill>
                  <a:srgbClr val="FF8A5C"/>
                </a:solidFill>
                <a:latin typeface="Avenir Next"/>
                <a:ea typeface="Avenir Next"/>
                <a:cs typeface="Avenir Next"/>
              </a:defRPr>
            </a:pPr>
            <a:r>
              <a:rPr sz="2400" b="1" i="0">
                <a:solidFill>
                  <a:srgbClr val="FF8A5C"/>
                </a:solidFill>
                <a:latin typeface="Avenir Next"/>
                <a:ea typeface="Avenir Next"/>
                <a:cs typeface="Avenir Next"/>
              </a:rPr>
              <a:t>24,192</a:t>
            </a:r>
          </a:p>
        </p:txBody>
      </p:sp>
      <p:sp>
        <p:nvSpPr>
          <p:cNvPr id="18" name="stress-metric-1-label">
            <a:extLst xmlns:a="http://schemas.openxmlformats.org/drawingml/2006/main">
              <a:ext uri="{FF2B5EF4-FFF2-40B4-BE49-F238E27FC236}">
                <a16:creationId xmlns:a16="http://schemas.microsoft.com/office/drawing/2014/main" id="{CB0E5F6E-9FE7-45DF-9F9C-DCEEB740798B}"/>
              </a:ext>
            </a:extLst>
          </p:cNvPr>
          <p:cNvSpPr>
            <a:spLocks xmlns:a="http://schemas.openxmlformats.org/drawingml/2006/main" noGrp="1"/>
          </p:cNvSpPr>
          <p:nvPr/>
        </p:nvSpPr>
        <p:spPr>
          <a:xfrm xmlns:a="http://schemas.openxmlformats.org/drawingml/2006/main">
            <a:off x="3695700" y="37147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independent reference runs</a:t>
            </a:r>
          </a:p>
        </p:txBody>
      </p:sp>
      <p:sp>
        <p:nvSpPr>
          <p:cNvPr id="19" name="stress-metric-1-detail">
            <a:extLst xmlns:a="http://schemas.openxmlformats.org/drawingml/2006/main">
              <a:ext uri="{FF2B5EF4-FFF2-40B4-BE49-F238E27FC236}">
                <a16:creationId xmlns:a16="http://schemas.microsoft.com/office/drawing/2014/main" id="{E2F18D7F-C817-4524-9578-DF2544B3A2D5}"/>
              </a:ext>
            </a:extLst>
          </p:cNvPr>
          <p:cNvSpPr>
            <a:spLocks xmlns:a="http://schemas.openxmlformats.org/drawingml/2006/main" noGrp="1"/>
          </p:cNvSpPr>
          <p:nvPr/>
        </p:nvSpPr>
        <p:spPr>
          <a:xfrm xmlns:a="http://schemas.openxmlformats.org/drawingml/2006/main">
            <a:off x="3676650" y="43053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full rendered request text</a:t>
            </a:r>
          </a:p>
        </p:txBody>
      </p:sp>
      <p:sp>
        <p:nvSpPr>
          <p:cNvPr id="20" name="stress-metric-2-panel">
            <a:extLst xmlns:a="http://schemas.openxmlformats.org/drawingml/2006/main">
              <a:ext uri="{FF2B5EF4-FFF2-40B4-BE49-F238E27FC236}">
                <a16:creationId xmlns:a16="http://schemas.microsoft.com/office/drawing/2014/main" id="{897EF9B6-D688-459A-88F5-167C22023E31}"/>
              </a:ext>
            </a:extLst>
          </p:cNvPr>
          <p:cNvSpPr>
            <a:spLocks xmlns:a="http://schemas.openxmlformats.org/drawingml/2006/main" noGrp="1"/>
          </p:cNvSpPr>
          <p:nvPr/>
        </p:nvSpPr>
        <p:spPr>
          <a:xfrm xmlns:a="http://schemas.openxmlformats.org/drawingml/2006/main">
            <a:off x="6305550" y="27241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21" name="stress-metric-2-stripe">
            <a:extLst xmlns:a="http://schemas.openxmlformats.org/drawingml/2006/main">
              <a:ext uri="{FF2B5EF4-FFF2-40B4-BE49-F238E27FC236}">
                <a16:creationId xmlns:a16="http://schemas.microsoft.com/office/drawing/2014/main" id="{D9FB9F5E-FE36-4961-B14A-9A6B560F0C9B}"/>
              </a:ext>
            </a:extLst>
          </p:cNvPr>
          <p:cNvSpPr>
            <a:spLocks xmlns:a="http://schemas.openxmlformats.org/drawingml/2006/main" noGrp="1"/>
          </p:cNvSpPr>
          <p:nvPr/>
        </p:nvSpPr>
        <p:spPr>
          <a:xfrm xmlns:a="http://schemas.openxmlformats.org/drawingml/2006/main">
            <a:off x="6305550" y="2724150"/>
            <a:ext cx="2343150" cy="76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stress-metric-2-value">
            <a:extLst xmlns:a="http://schemas.openxmlformats.org/drawingml/2006/main">
              <a:ext uri="{FF2B5EF4-FFF2-40B4-BE49-F238E27FC236}">
                <a16:creationId xmlns:a16="http://schemas.microsoft.com/office/drawing/2014/main" id="{977E64D6-6109-4FB6-B777-149D652DBF2B}"/>
              </a:ext>
            </a:extLst>
          </p:cNvPr>
          <p:cNvSpPr>
            <a:spLocks xmlns:a="http://schemas.openxmlformats.org/drawingml/2006/main" noGrp="1"/>
          </p:cNvSpPr>
          <p:nvPr/>
        </p:nvSpPr>
        <p:spPr>
          <a:xfrm xmlns:a="http://schemas.openxmlformats.org/drawingml/2006/main">
            <a:off x="6438900" y="30670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400" b="1" i="0">
                <a:solidFill>
                  <a:srgbClr val="5CC8B8"/>
                </a:solidFill>
                <a:latin typeface="Avenir Next"/>
                <a:ea typeface="Avenir Next"/>
                <a:cs typeface="Avenir Next"/>
              </a:defRPr>
            </a:defPPr>
          </a:lstStyle>
          <a:p xmlns:a="http://schemas.openxmlformats.org/drawingml/2006/main">
            <a:pPr algn="ctr">
              <a:defRPr sz="2400" b="1" i="0">
                <a:solidFill>
                  <a:srgbClr val="5CC8B8"/>
                </a:solidFill>
                <a:latin typeface="Avenir Next"/>
                <a:ea typeface="Avenir Next"/>
                <a:cs typeface="Avenir Next"/>
              </a:defRPr>
            </a:pPr>
            <a:r>
              <a:rPr sz="2400" b="1" i="0">
                <a:solidFill>
                  <a:srgbClr val="5CC8B8"/>
                </a:solidFill>
                <a:latin typeface="Avenir Next"/>
                <a:ea typeface="Avenir Next"/>
                <a:cs typeface="Avenir Next"/>
              </a:rPr>
              <a:t>0 / 13,824</a:t>
            </a:r>
          </a:p>
        </p:txBody>
      </p:sp>
      <p:sp>
        <p:nvSpPr>
          <p:cNvPr id="23" name="stress-metric-2-label">
            <a:extLst xmlns:a="http://schemas.openxmlformats.org/drawingml/2006/main">
              <a:ext uri="{FF2B5EF4-FFF2-40B4-BE49-F238E27FC236}">
                <a16:creationId xmlns:a16="http://schemas.microsoft.com/office/drawing/2014/main" id="{2C323D3A-D101-4432-8FEB-B1BF39DCF988}"/>
              </a:ext>
            </a:extLst>
          </p:cNvPr>
          <p:cNvSpPr>
            <a:spLocks xmlns:a="http://schemas.openxmlformats.org/drawingml/2006/main" noGrp="1"/>
          </p:cNvSpPr>
          <p:nvPr/>
        </p:nvSpPr>
        <p:spPr>
          <a:xfrm xmlns:a="http://schemas.openxmlformats.org/drawingml/2006/main">
            <a:off x="6457950" y="37147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mismatch / accepted pairs</a:t>
            </a:r>
          </a:p>
        </p:txBody>
      </p:sp>
      <p:sp>
        <p:nvSpPr>
          <p:cNvPr id="24" name="stress-metric-2-detail">
            <a:extLst xmlns:a="http://schemas.openxmlformats.org/drawingml/2006/main">
              <a:ext uri="{FF2B5EF4-FFF2-40B4-BE49-F238E27FC236}">
                <a16:creationId xmlns:a16="http://schemas.microsoft.com/office/drawing/2014/main" id="{DA86363B-098D-4CCB-A310-55F9C0067BB6}"/>
              </a:ext>
            </a:extLst>
          </p:cNvPr>
          <p:cNvSpPr>
            <a:spLocks xmlns:a="http://schemas.openxmlformats.org/drawingml/2006/main" noGrp="1"/>
          </p:cNvSpPr>
          <p:nvPr/>
        </p:nvSpPr>
        <p:spPr>
          <a:xfrm xmlns:a="http://schemas.openxmlformats.org/drawingml/2006/main">
            <a:off x="6438900" y="43053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request and usage traces</a:t>
            </a:r>
          </a:p>
        </p:txBody>
      </p:sp>
      <p:sp>
        <p:nvSpPr>
          <p:cNvPr id="25" name="stress-metric-3-panel">
            <a:extLst xmlns:a="http://schemas.openxmlformats.org/drawingml/2006/main">
              <a:ext uri="{FF2B5EF4-FFF2-40B4-BE49-F238E27FC236}">
                <a16:creationId xmlns:a16="http://schemas.microsoft.com/office/drawing/2014/main" id="{30E8ABA0-AA77-4ABA-AA7C-DCDB961EE61E}"/>
              </a:ext>
            </a:extLst>
          </p:cNvPr>
          <p:cNvSpPr>
            <a:spLocks xmlns:a="http://schemas.openxmlformats.org/drawingml/2006/main" noGrp="1"/>
          </p:cNvSpPr>
          <p:nvPr/>
        </p:nvSpPr>
        <p:spPr>
          <a:xfrm xmlns:a="http://schemas.openxmlformats.org/drawingml/2006/main">
            <a:off x="9067800" y="27241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26" name="stress-metric-3-stripe">
            <a:extLst xmlns:a="http://schemas.openxmlformats.org/drawingml/2006/main">
              <a:ext uri="{FF2B5EF4-FFF2-40B4-BE49-F238E27FC236}">
                <a16:creationId xmlns:a16="http://schemas.microsoft.com/office/drawing/2014/main" id="{61C45DB2-7B17-4AFC-8E05-E7B791905215}"/>
              </a:ext>
            </a:extLst>
          </p:cNvPr>
          <p:cNvSpPr>
            <a:spLocks xmlns:a="http://schemas.openxmlformats.org/drawingml/2006/main" noGrp="1"/>
          </p:cNvSpPr>
          <p:nvPr/>
        </p:nvSpPr>
        <p:spPr>
          <a:xfrm xmlns:a="http://schemas.openxmlformats.org/drawingml/2006/main">
            <a:off x="9067800" y="2724150"/>
            <a:ext cx="2343150" cy="762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7" name="stress-metric-3-value">
            <a:extLst xmlns:a="http://schemas.openxmlformats.org/drawingml/2006/main">
              <a:ext uri="{FF2B5EF4-FFF2-40B4-BE49-F238E27FC236}">
                <a16:creationId xmlns:a16="http://schemas.microsoft.com/office/drawing/2014/main" id="{1DE12ECD-92D5-4F90-B174-B8BFFC6D6FE1}"/>
              </a:ext>
            </a:extLst>
          </p:cNvPr>
          <p:cNvSpPr>
            <a:spLocks xmlns:a="http://schemas.openxmlformats.org/drawingml/2006/main" noGrp="1"/>
          </p:cNvSpPr>
          <p:nvPr/>
        </p:nvSpPr>
        <p:spPr>
          <a:xfrm xmlns:a="http://schemas.openxmlformats.org/drawingml/2006/main">
            <a:off x="9201150" y="30670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400" b="1" i="0">
                <a:solidFill>
                  <a:srgbClr val="C2461F"/>
                </a:solidFill>
                <a:latin typeface="Avenir Next"/>
                <a:ea typeface="Avenir Next"/>
                <a:cs typeface="Avenir Next"/>
              </a:defRPr>
            </a:defPPr>
          </a:lstStyle>
          <a:p xmlns:a="http://schemas.openxmlformats.org/drawingml/2006/main">
            <a:pPr algn="ctr">
              <a:defRPr sz="2400" b="1" i="0">
                <a:solidFill>
                  <a:srgbClr val="C2461F"/>
                </a:solidFill>
                <a:latin typeface="Avenir Next"/>
                <a:ea typeface="Avenir Next"/>
                <a:cs typeface="Avenir Next"/>
              </a:defRPr>
            </a:pPr>
            <a:r>
              <a:rPr sz="2400" b="1" i="0">
                <a:solidFill>
                  <a:srgbClr val="C2461F"/>
                </a:solidFill>
                <a:latin typeface="Avenir Next"/>
                <a:ea typeface="Avenir Next"/>
                <a:cs typeface="Avenir Next"/>
              </a:rPr>
              <a:t>66,240</a:t>
            </a:r>
          </a:p>
        </p:txBody>
      </p:sp>
      <p:sp>
        <p:nvSpPr>
          <p:cNvPr id="28" name="stress-metric-3-label">
            <a:extLst xmlns:a="http://schemas.openxmlformats.org/drawingml/2006/main">
              <a:ext uri="{FF2B5EF4-FFF2-40B4-BE49-F238E27FC236}">
                <a16:creationId xmlns:a16="http://schemas.microsoft.com/office/drawing/2014/main" id="{2014EDAC-A5B5-4AA0-9FE2-DE834F0D22D1}"/>
              </a:ext>
            </a:extLst>
          </p:cNvPr>
          <p:cNvSpPr>
            <a:spLocks xmlns:a="http://schemas.openxmlformats.org/drawingml/2006/main" noGrp="1"/>
          </p:cNvSpPr>
          <p:nvPr/>
        </p:nvSpPr>
        <p:spPr>
          <a:xfrm xmlns:a="http://schemas.openxmlformats.org/drawingml/2006/main">
            <a:off x="9220200" y="37147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per-call accounting checks</a:t>
            </a:r>
          </a:p>
        </p:txBody>
      </p:sp>
      <p:sp>
        <p:nvSpPr>
          <p:cNvPr id="29" name="stress-metric-3-detail">
            <a:extLst xmlns:a="http://schemas.openxmlformats.org/drawingml/2006/main">
              <a:ext uri="{FF2B5EF4-FFF2-40B4-BE49-F238E27FC236}">
                <a16:creationId xmlns:a16="http://schemas.microsoft.com/office/drawing/2014/main" id="{027CEDC5-06F3-4824-8995-C4AFDC0AFB4D}"/>
              </a:ext>
            </a:extLst>
          </p:cNvPr>
          <p:cNvSpPr>
            <a:spLocks xmlns:a="http://schemas.openxmlformats.org/drawingml/2006/main" noGrp="1"/>
          </p:cNvSpPr>
          <p:nvPr/>
        </p:nvSpPr>
        <p:spPr>
          <a:xfrm xmlns:a="http://schemas.openxmlformats.org/drawingml/2006/main">
            <a:off x="9201150" y="43053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117 mutation witnesses · 3 unknown</a:t>
            </a:r>
          </a:p>
        </p:txBody>
      </p:sp>
      <p:sp>
        <p:nvSpPr>
          <p:cNvPr id="30" name="stress-scope">
            <a:extLst xmlns:a="http://schemas.openxmlformats.org/drawingml/2006/main">
              <a:ext uri="{FF2B5EF4-FFF2-40B4-BE49-F238E27FC236}">
                <a16:creationId xmlns:a16="http://schemas.microsoft.com/office/drawing/2014/main" id="{485217A3-32D7-4627-A5F6-232C8DB1F87B}"/>
              </a:ext>
            </a:extLst>
          </p:cNvPr>
          <p:cNvSpPr>
            <a:spLocks xmlns:a="http://schemas.openxmlformats.org/drawingml/2006/main" noGrp="1"/>
          </p:cNvSpPr>
          <p:nvPr/>
        </p:nvSpPr>
        <p:spPr>
          <a:xfrm xmlns:a="http://schemas.openxmlformats.org/drawingml/2006/main">
            <a:off x="904875" y="52197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63" b="1" i="0">
                <a:solidFill>
                  <a:srgbClr val="646B7A"/>
                </a:solidFill>
                <a:latin typeface="Avenir Next"/>
                <a:ea typeface="Avenir Next"/>
                <a:cs typeface="Avenir Next"/>
              </a:defRPr>
            </a:defPPr>
          </a:lstStyle>
          <a:p xmlns:a="http://schemas.openxmlformats.org/drawingml/2006/main">
            <a:pPr algn="ctr">
              <a:defRPr sz="1163" b="1" i="0">
                <a:solidFill>
                  <a:srgbClr val="646B7A"/>
                </a:solidFill>
                <a:latin typeface="Avenir Next"/>
                <a:ea typeface="Avenir Next"/>
                <a:cs typeface="Avenir Next"/>
              </a:defRPr>
            </a:pPr>
            <a:r>
              <a:rPr sz="1163" b="1" i="0">
                <a:solidFill>
                  <a:srgbClr val="646B7A"/>
                </a:solidFill>
                <a:latin typeface="Avenir Next"/>
                <a:ea typeface="Avenir Next"/>
                <a:cs typeface="Avenir Next"/>
              </a:rPr>
              <a:t>C++ checker only compiles cases; a separate Python interpreter substitutes full text. Synthetic cases, not a proof or provider test.</a:t>
            </a:r>
          </a:p>
        </p:txBody>
      </p:sp>
    </p:spTree>
    <p:extLst>
      <p:ext uri="{BB962C8B-B14F-4D97-AF65-F5344CB8AC3E}">
        <p14:creationId xmlns:p14="http://schemas.microsoft.com/office/powerpoint/2010/main" val="691805552"/>
      </p:ext>
    </p:extLst>
  </p:cSld>
</p:sld>
</file>

<file path=ppt/slides/slide14.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1" name="s14-brand">
            <a:extLst xmlns:a="http://schemas.openxmlformats.org/drawingml/2006/main">
              <a:ext uri="{FF2B5EF4-FFF2-40B4-BE49-F238E27FC236}">
                <a16:creationId xmlns:a16="http://schemas.microsoft.com/office/drawing/2014/main" id="{BBCA926C-7A31-478C-97F1-74D455D2F95F}"/>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4-section">
            <a:extLst xmlns:a="http://schemas.openxmlformats.org/drawingml/2006/main">
              <a:ext uri="{FF2B5EF4-FFF2-40B4-BE49-F238E27FC236}">
                <a16:creationId xmlns:a16="http://schemas.microsoft.com/office/drawing/2014/main" id="{44E6A4AB-91B1-471A-A9D4-58D15A6CFCB0}"/>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GRAPH FIXTURE STUDY</a:t>
            </a:r>
          </a:p>
        </p:txBody>
      </p:sp>
      <p:sp>
        <p:nvSpPr>
          <p:cNvPr id="3" name="s14-title">
            <a:extLst xmlns:a="http://schemas.openxmlformats.org/drawingml/2006/main">
              <a:ext uri="{FF2B5EF4-FFF2-40B4-BE49-F238E27FC236}">
                <a16:creationId xmlns:a16="http://schemas.microsoft.com/office/drawing/2014/main" id="{6107CF8C-071E-48A9-867B-2FD07B94C3B8}"/>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96"/>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Eight rejected graph fixtures have billing-vector witnesses</a:t>
            </a:r>
          </a:p>
        </p:txBody>
      </p:sp>
      <p:sp>
        <p:nvSpPr>
          <p:cNvPr id="4" name="s14-subtitle">
            <a:extLst xmlns:a="http://schemas.openxmlformats.org/drawingml/2006/main">
              <a:ext uri="{FF2B5EF4-FFF2-40B4-BE49-F238E27FC236}">
                <a16:creationId xmlns:a16="http://schemas.microsoft.com/office/drawing/2014/main" id="{9970568C-AD6A-4ACD-8403-45525C71357F}"/>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Stopped runs are complete; other runs are compared through the 120-call horizon.</a:t>
            </a:r>
          </a:p>
        </p:txBody>
      </p:sp>
      <p:sp>
        <p:nvSpPr>
          <p:cNvPr id="5" name="s14-source-rule">
            <a:extLst xmlns:a="http://schemas.openxmlformats.org/drawingml/2006/main">
              <a:ext uri="{FF2B5EF4-FFF2-40B4-BE49-F238E27FC236}">
                <a16:creationId xmlns:a16="http://schemas.microsoft.com/office/drawing/2014/main" id="{5A8FDCBB-F10C-4827-9A0C-23F0E25FFA98}"/>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4-sources">
            <a:extLst xmlns:a="http://schemas.openxmlformats.org/drawingml/2006/main">
              <a:ext uri="{FF2B5EF4-FFF2-40B4-BE49-F238E27FC236}">
                <a16:creationId xmlns:a16="http://schemas.microsoft.com/office/drawing/2014/main" id="{9E2FC937-A81C-4B36-A6D3-4904BD7F4F90}"/>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bench/results/graphs.json; examples/graphs/manifest.json; audit/evaluate_graphs.py; audit/replay_graph_certificate.py</a:t>
            </a:r>
          </a:p>
        </p:txBody>
      </p:sp>
      <p:sp>
        <p:nvSpPr>
          <p:cNvPr id="7" name="s14-footer-rule">
            <a:extLst xmlns:a="http://schemas.openxmlformats.org/drawingml/2006/main">
              <a:ext uri="{FF2B5EF4-FFF2-40B4-BE49-F238E27FC236}">
                <a16:creationId xmlns:a16="http://schemas.microsoft.com/office/drawing/2014/main" id="{6A197778-D271-455C-B0A7-0E6B8CCE8984}"/>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4-footer">
            <a:extLst xmlns:a="http://schemas.openxmlformats.org/drawingml/2006/main">
              <a:ext uri="{FF2B5EF4-FFF2-40B4-BE49-F238E27FC236}">
                <a16:creationId xmlns:a16="http://schemas.microsoft.com/office/drawing/2014/main" id="{AACDC7B9-6CCC-42BE-B1F3-A2FE4D22C74F}"/>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4-page">
            <a:extLst xmlns:a="http://schemas.openxmlformats.org/drawingml/2006/main">
              <a:ext uri="{FF2B5EF4-FFF2-40B4-BE49-F238E27FC236}">
                <a16:creationId xmlns:a16="http://schemas.microsoft.com/office/drawing/2014/main" id="{9695F5B6-FCC0-49A2-9F08-E92FD3A3C948}"/>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14</a:t>
            </a:r>
          </a:p>
        </p:txBody>
      </p:sp>
      <p:sp>
        <p:nvSpPr>
          <p:cNvPr id="10" name="graph-metric-0-panel">
            <a:extLst xmlns:a="http://schemas.openxmlformats.org/drawingml/2006/main">
              <a:ext uri="{FF2B5EF4-FFF2-40B4-BE49-F238E27FC236}">
                <a16:creationId xmlns:a16="http://schemas.microsoft.com/office/drawing/2014/main" id="{5B31EDF6-4E28-4894-9A2F-D37182410095}"/>
              </a:ext>
            </a:extLst>
          </p:cNvPr>
          <p:cNvSpPr>
            <a:spLocks xmlns:a="http://schemas.openxmlformats.org/drawingml/2006/main" noGrp="1"/>
          </p:cNvSpPr>
          <p:nvPr/>
        </p:nvSpPr>
        <p:spPr>
          <a:xfrm xmlns:a="http://schemas.openxmlformats.org/drawingml/2006/main">
            <a:off x="781050" y="27622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11" name="graph-metric-0-stripe">
            <a:extLst xmlns:a="http://schemas.openxmlformats.org/drawingml/2006/main">
              <a:ext uri="{FF2B5EF4-FFF2-40B4-BE49-F238E27FC236}">
                <a16:creationId xmlns:a16="http://schemas.microsoft.com/office/drawing/2014/main" id="{17F996F6-1DC2-47A3-B4B6-561C6BE5BE47}"/>
              </a:ext>
            </a:extLst>
          </p:cNvPr>
          <p:cNvSpPr>
            <a:spLocks xmlns:a="http://schemas.openxmlformats.org/drawingml/2006/main" noGrp="1"/>
          </p:cNvSpPr>
          <p:nvPr/>
        </p:nvSpPr>
        <p:spPr>
          <a:xfrm xmlns:a="http://schemas.openxmlformats.org/drawingml/2006/main">
            <a:off x="781050" y="2762250"/>
            <a:ext cx="2343150" cy="762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graph-metric-0-value">
            <a:extLst xmlns:a="http://schemas.openxmlformats.org/drawingml/2006/main">
              <a:ext uri="{FF2B5EF4-FFF2-40B4-BE49-F238E27FC236}">
                <a16:creationId xmlns:a16="http://schemas.microsoft.com/office/drawing/2014/main" id="{57262A5A-8C8E-47A0-9D53-245F81D71EDE}"/>
              </a:ext>
            </a:extLst>
          </p:cNvPr>
          <p:cNvSpPr>
            <a:spLocks xmlns:a="http://schemas.openxmlformats.org/drawingml/2006/main" noGrp="1"/>
          </p:cNvSpPr>
          <p:nvPr/>
        </p:nvSpPr>
        <p:spPr>
          <a:xfrm xmlns:a="http://schemas.openxmlformats.org/drawingml/2006/main">
            <a:off x="914400" y="31051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1F6F66"/>
                </a:solidFill>
                <a:latin typeface="Avenir Next"/>
                <a:ea typeface="Avenir Next"/>
                <a:cs typeface="Avenir Next"/>
              </a:defRPr>
            </a:defPPr>
          </a:lstStyle>
          <a:p xmlns:a="http://schemas.openxmlformats.org/drawingml/2006/main">
            <a:pPr algn="ctr">
              <a:defRPr sz="2550" b="1" i="0">
                <a:solidFill>
                  <a:srgbClr val="1F6F66"/>
                </a:solidFill>
                <a:latin typeface="Avenir Next"/>
                <a:ea typeface="Avenir Next"/>
                <a:cs typeface="Avenir Next"/>
              </a:defRPr>
            </a:pPr>
            <a:r>
              <a:rPr sz="2550" b="1" i="0">
                <a:solidFill>
                  <a:srgbClr val="1F6F66"/>
                </a:solidFill>
                <a:latin typeface="Avenir Next"/>
                <a:ea typeface="Avenir Next"/>
                <a:cs typeface="Avenir Next"/>
              </a:rPr>
              <a:t>17</a:t>
            </a:r>
          </a:p>
        </p:txBody>
      </p:sp>
      <p:sp>
        <p:nvSpPr>
          <p:cNvPr id="13" name="graph-metric-0-label">
            <a:extLst xmlns:a="http://schemas.openxmlformats.org/drawingml/2006/main">
              <a:ext uri="{FF2B5EF4-FFF2-40B4-BE49-F238E27FC236}">
                <a16:creationId xmlns:a16="http://schemas.microsoft.com/office/drawing/2014/main" id="{ACFFFABC-8151-44CB-B5E3-59D1477D7624}"/>
              </a:ext>
            </a:extLst>
          </p:cNvPr>
          <p:cNvSpPr>
            <a:spLocks xmlns:a="http://schemas.openxmlformats.org/drawingml/2006/main" noGrp="1"/>
          </p:cNvSpPr>
          <p:nvPr/>
        </p:nvSpPr>
        <p:spPr>
          <a:xfrm xmlns:a="http://schemas.openxmlformats.org/drawingml/2006/main">
            <a:off x="933450" y="37528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authored JSON fixtures</a:t>
            </a:r>
          </a:p>
        </p:txBody>
      </p:sp>
      <p:sp>
        <p:nvSpPr>
          <p:cNvPr id="14" name="graph-metric-0-detail">
            <a:extLst xmlns:a="http://schemas.openxmlformats.org/drawingml/2006/main">
              <a:ext uri="{FF2B5EF4-FFF2-40B4-BE49-F238E27FC236}">
                <a16:creationId xmlns:a16="http://schemas.microsoft.com/office/drawing/2014/main" id="{668C0710-4395-412C-A423-5024085868D6}"/>
              </a:ext>
            </a:extLst>
          </p:cNvPr>
          <p:cNvSpPr>
            <a:spLocks xmlns:a="http://schemas.openxmlformats.org/drawingml/2006/main" noGrp="1"/>
          </p:cNvSpPr>
          <p:nvPr/>
        </p:nvSpPr>
        <p:spPr>
          <a:xfrm xmlns:a="http://schemas.openxmlformats.org/drawingml/2006/main">
            <a:off x="914400" y="43434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6 accept · 8 reject · 3 invalid</a:t>
            </a:r>
          </a:p>
        </p:txBody>
      </p:sp>
      <p:sp>
        <p:nvSpPr>
          <p:cNvPr id="15" name="graph-metric-1-panel">
            <a:extLst xmlns:a="http://schemas.openxmlformats.org/drawingml/2006/main">
              <a:ext uri="{FF2B5EF4-FFF2-40B4-BE49-F238E27FC236}">
                <a16:creationId xmlns:a16="http://schemas.microsoft.com/office/drawing/2014/main" id="{9982C15D-737A-48E4-B7EA-E1A88499B2D7}"/>
              </a:ext>
            </a:extLst>
          </p:cNvPr>
          <p:cNvSpPr>
            <a:spLocks xmlns:a="http://schemas.openxmlformats.org/drawingml/2006/main" noGrp="1"/>
          </p:cNvSpPr>
          <p:nvPr/>
        </p:nvSpPr>
        <p:spPr>
          <a:xfrm xmlns:a="http://schemas.openxmlformats.org/drawingml/2006/main">
            <a:off x="3543300" y="27622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16" name="graph-metric-1-stripe">
            <a:extLst xmlns:a="http://schemas.openxmlformats.org/drawingml/2006/main">
              <a:ext uri="{FF2B5EF4-FFF2-40B4-BE49-F238E27FC236}">
                <a16:creationId xmlns:a16="http://schemas.microsoft.com/office/drawing/2014/main" id="{EA723016-BCC2-4A0D-A740-B4570F66B8BF}"/>
              </a:ext>
            </a:extLst>
          </p:cNvPr>
          <p:cNvSpPr>
            <a:spLocks xmlns:a="http://schemas.openxmlformats.org/drawingml/2006/main" noGrp="1"/>
          </p:cNvSpPr>
          <p:nvPr/>
        </p:nvSpPr>
        <p:spPr>
          <a:xfrm xmlns:a="http://schemas.openxmlformats.org/drawingml/2006/main">
            <a:off x="3543300" y="2762250"/>
            <a:ext cx="2343150" cy="76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graph-metric-1-value">
            <a:extLst xmlns:a="http://schemas.openxmlformats.org/drawingml/2006/main">
              <a:ext uri="{FF2B5EF4-FFF2-40B4-BE49-F238E27FC236}">
                <a16:creationId xmlns:a16="http://schemas.microsoft.com/office/drawing/2014/main" id="{65B48667-9F61-4F57-9AEC-EC0928E92CBF}"/>
              </a:ext>
            </a:extLst>
          </p:cNvPr>
          <p:cNvSpPr>
            <a:spLocks xmlns:a="http://schemas.openxmlformats.org/drawingml/2006/main" noGrp="1"/>
          </p:cNvSpPr>
          <p:nvPr/>
        </p:nvSpPr>
        <p:spPr>
          <a:xfrm xmlns:a="http://schemas.openxmlformats.org/drawingml/2006/main">
            <a:off x="3676650" y="31051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FF8A5C"/>
                </a:solidFill>
                <a:latin typeface="Avenir Next"/>
                <a:ea typeface="Avenir Next"/>
                <a:cs typeface="Avenir Next"/>
              </a:defRPr>
            </a:defPPr>
          </a:lstStyle>
          <a:p xmlns:a="http://schemas.openxmlformats.org/drawingml/2006/main">
            <a:pPr algn="ctr">
              <a:defRPr sz="2550" b="1" i="0">
                <a:solidFill>
                  <a:srgbClr val="FF8A5C"/>
                </a:solidFill>
                <a:latin typeface="Avenir Next"/>
                <a:ea typeface="Avenir Next"/>
                <a:cs typeface="Avenir Next"/>
              </a:defRPr>
            </a:pPr>
            <a:r>
              <a:rPr sz="2550" b="1" i="0">
                <a:solidFill>
                  <a:srgbClr val="FF8A5C"/>
                </a:solidFill>
                <a:latin typeface="Avenir Next"/>
                <a:ea typeface="Avenir Next"/>
                <a:cs typeface="Avenir Next"/>
              </a:rPr>
              <a:t>1,400</a:t>
            </a:r>
          </a:p>
        </p:txBody>
      </p:sp>
      <p:sp>
        <p:nvSpPr>
          <p:cNvPr id="18" name="graph-metric-1-label">
            <a:extLst xmlns:a="http://schemas.openxmlformats.org/drawingml/2006/main">
              <a:ext uri="{FF2B5EF4-FFF2-40B4-BE49-F238E27FC236}">
                <a16:creationId xmlns:a16="http://schemas.microsoft.com/office/drawing/2014/main" id="{C6F1ABAC-8D54-4E37-9326-825FADDF024E}"/>
              </a:ext>
            </a:extLst>
          </p:cNvPr>
          <p:cNvSpPr>
            <a:spLocks xmlns:a="http://schemas.openxmlformats.org/drawingml/2006/main" noGrp="1"/>
          </p:cNvSpPr>
          <p:nvPr/>
        </p:nvSpPr>
        <p:spPr>
          <a:xfrm xmlns:a="http://schemas.openxmlformats.org/drawingml/2006/main">
            <a:off x="3695700" y="37528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accepted reference runs</a:t>
            </a:r>
          </a:p>
        </p:txBody>
      </p:sp>
      <p:sp>
        <p:nvSpPr>
          <p:cNvPr id="19" name="graph-metric-1-detail">
            <a:extLst xmlns:a="http://schemas.openxmlformats.org/drawingml/2006/main">
              <a:ext uri="{FF2B5EF4-FFF2-40B4-BE49-F238E27FC236}">
                <a16:creationId xmlns:a16="http://schemas.microsoft.com/office/drawing/2014/main" id="{52C1BB79-1D78-405C-9BAA-40C31CA4F0E3}"/>
              </a:ext>
            </a:extLst>
          </p:cNvPr>
          <p:cNvSpPr>
            <a:spLocks xmlns:a="http://schemas.openxmlformats.org/drawingml/2006/main" noGrp="1"/>
          </p:cNvSpPr>
          <p:nvPr/>
        </p:nvSpPr>
        <p:spPr>
          <a:xfrm xmlns:a="http://schemas.openxmlformats.org/drawingml/2006/main">
            <a:off x="3676650" y="43434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800 secret-assignment pairs</a:t>
            </a:r>
          </a:p>
        </p:txBody>
      </p:sp>
      <p:sp>
        <p:nvSpPr>
          <p:cNvPr id="20" name="graph-metric-2-panel">
            <a:extLst xmlns:a="http://schemas.openxmlformats.org/drawingml/2006/main">
              <a:ext uri="{FF2B5EF4-FFF2-40B4-BE49-F238E27FC236}">
                <a16:creationId xmlns:a16="http://schemas.microsoft.com/office/drawing/2014/main" id="{7050DE93-3D5C-457D-9D8B-93A1D1733792}"/>
              </a:ext>
            </a:extLst>
          </p:cNvPr>
          <p:cNvSpPr>
            <a:spLocks xmlns:a="http://schemas.openxmlformats.org/drawingml/2006/main" noGrp="1"/>
          </p:cNvSpPr>
          <p:nvPr/>
        </p:nvSpPr>
        <p:spPr>
          <a:xfrm xmlns:a="http://schemas.openxmlformats.org/drawingml/2006/main">
            <a:off x="6305550" y="27622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21" name="graph-metric-2-stripe">
            <a:extLst xmlns:a="http://schemas.openxmlformats.org/drawingml/2006/main">
              <a:ext uri="{FF2B5EF4-FFF2-40B4-BE49-F238E27FC236}">
                <a16:creationId xmlns:a16="http://schemas.microsoft.com/office/drawing/2014/main" id="{C09571C6-F7D8-48DD-B3CF-F4CB9820E7B9}"/>
              </a:ext>
            </a:extLst>
          </p:cNvPr>
          <p:cNvSpPr>
            <a:spLocks xmlns:a="http://schemas.openxmlformats.org/drawingml/2006/main" noGrp="1"/>
          </p:cNvSpPr>
          <p:nvPr/>
        </p:nvSpPr>
        <p:spPr>
          <a:xfrm xmlns:a="http://schemas.openxmlformats.org/drawingml/2006/main">
            <a:off x="6305550" y="2762250"/>
            <a:ext cx="2343150" cy="76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graph-metric-2-value">
            <a:extLst xmlns:a="http://schemas.openxmlformats.org/drawingml/2006/main">
              <a:ext uri="{FF2B5EF4-FFF2-40B4-BE49-F238E27FC236}">
                <a16:creationId xmlns:a16="http://schemas.microsoft.com/office/drawing/2014/main" id="{3C6BD4AF-3509-4769-9384-CCF11BC18D9D}"/>
              </a:ext>
            </a:extLst>
          </p:cNvPr>
          <p:cNvSpPr>
            <a:spLocks xmlns:a="http://schemas.openxmlformats.org/drawingml/2006/main" noGrp="1"/>
          </p:cNvSpPr>
          <p:nvPr/>
        </p:nvSpPr>
        <p:spPr>
          <a:xfrm xmlns:a="http://schemas.openxmlformats.org/drawingml/2006/main">
            <a:off x="6438900" y="31051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5CC8B8"/>
                </a:solidFill>
                <a:latin typeface="Avenir Next"/>
                <a:ea typeface="Avenir Next"/>
                <a:cs typeface="Avenir Next"/>
              </a:defRPr>
            </a:defPPr>
          </a:lstStyle>
          <a:p xmlns:a="http://schemas.openxmlformats.org/drawingml/2006/main">
            <a:pPr algn="ctr">
              <a:defRPr sz="2550" b="1" i="0">
                <a:solidFill>
                  <a:srgbClr val="5CC8B8"/>
                </a:solidFill>
                <a:latin typeface="Avenir Next"/>
                <a:ea typeface="Avenir Next"/>
                <a:cs typeface="Avenir Next"/>
              </a:defRPr>
            </a:pPr>
            <a:r>
              <a:rPr sz="2550" b="1" i="0">
                <a:solidFill>
                  <a:srgbClr val="5CC8B8"/>
                </a:solidFill>
                <a:latin typeface="Avenir Next"/>
                <a:ea typeface="Avenir Next"/>
                <a:cs typeface="Avenir Next"/>
              </a:rPr>
              <a:t>0</a:t>
            </a:r>
          </a:p>
        </p:txBody>
      </p:sp>
      <p:sp>
        <p:nvSpPr>
          <p:cNvPr id="23" name="graph-metric-2-label">
            <a:extLst xmlns:a="http://schemas.openxmlformats.org/drawingml/2006/main">
              <a:ext uri="{FF2B5EF4-FFF2-40B4-BE49-F238E27FC236}">
                <a16:creationId xmlns:a16="http://schemas.microsoft.com/office/drawing/2014/main" id="{C9525798-C7D1-463A-8E4B-8747B96424EF}"/>
              </a:ext>
            </a:extLst>
          </p:cNvPr>
          <p:cNvSpPr>
            <a:spLocks xmlns:a="http://schemas.openxmlformats.org/drawingml/2006/main" noGrp="1"/>
          </p:cNvSpPr>
          <p:nvPr/>
        </p:nvSpPr>
        <p:spPr>
          <a:xfrm xmlns:a="http://schemas.openxmlformats.org/drawingml/2006/main">
            <a:off x="6457950" y="37528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accepted mismatches</a:t>
            </a:r>
          </a:p>
        </p:txBody>
      </p:sp>
      <p:sp>
        <p:nvSpPr>
          <p:cNvPr id="24" name="graph-metric-2-detail">
            <a:extLst xmlns:a="http://schemas.openxmlformats.org/drawingml/2006/main">
              <a:ext uri="{FF2B5EF4-FFF2-40B4-BE49-F238E27FC236}">
                <a16:creationId xmlns:a16="http://schemas.microsoft.com/office/drawing/2014/main" id="{2FDE9534-04EF-4488-A642-4FCCA024C2D6}"/>
              </a:ext>
            </a:extLst>
          </p:cNvPr>
          <p:cNvSpPr>
            <a:spLocks xmlns:a="http://schemas.openxmlformats.org/drawingml/2006/main" noGrp="1"/>
          </p:cNvSpPr>
          <p:nvPr/>
        </p:nvSpPr>
        <p:spPr>
          <a:xfrm xmlns:a="http://schemas.openxmlformats.org/drawingml/2006/main">
            <a:off x="6438900" y="43434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28,580 call-accounting checks</a:t>
            </a:r>
          </a:p>
        </p:txBody>
      </p:sp>
      <p:sp>
        <p:nvSpPr>
          <p:cNvPr id="25" name="graph-metric-3-panel">
            <a:extLst xmlns:a="http://schemas.openxmlformats.org/drawingml/2006/main">
              <a:ext uri="{FF2B5EF4-FFF2-40B4-BE49-F238E27FC236}">
                <a16:creationId xmlns:a16="http://schemas.microsoft.com/office/drawing/2014/main" id="{98D6F12D-20D1-4B08-9F11-630B35441CE6}"/>
              </a:ext>
            </a:extLst>
          </p:cNvPr>
          <p:cNvSpPr>
            <a:spLocks xmlns:a="http://schemas.openxmlformats.org/drawingml/2006/main" noGrp="1"/>
          </p:cNvSpPr>
          <p:nvPr/>
        </p:nvSpPr>
        <p:spPr>
          <a:xfrm xmlns:a="http://schemas.openxmlformats.org/drawingml/2006/main">
            <a:off x="9067800" y="27622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26" name="graph-metric-3-stripe">
            <a:extLst xmlns:a="http://schemas.openxmlformats.org/drawingml/2006/main">
              <a:ext uri="{FF2B5EF4-FFF2-40B4-BE49-F238E27FC236}">
                <a16:creationId xmlns:a16="http://schemas.microsoft.com/office/drawing/2014/main" id="{573E4A99-0A52-4C2A-97EC-D62C98EA3DFC}"/>
              </a:ext>
            </a:extLst>
          </p:cNvPr>
          <p:cNvSpPr>
            <a:spLocks xmlns:a="http://schemas.openxmlformats.org/drawingml/2006/main" noGrp="1"/>
          </p:cNvSpPr>
          <p:nvPr/>
        </p:nvSpPr>
        <p:spPr>
          <a:xfrm xmlns:a="http://schemas.openxmlformats.org/drawingml/2006/main">
            <a:off x="9067800" y="2762250"/>
            <a:ext cx="2343150" cy="762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7" name="graph-metric-3-value">
            <a:extLst xmlns:a="http://schemas.openxmlformats.org/drawingml/2006/main">
              <a:ext uri="{FF2B5EF4-FFF2-40B4-BE49-F238E27FC236}">
                <a16:creationId xmlns:a16="http://schemas.microsoft.com/office/drawing/2014/main" id="{A547E0CA-8D77-43A0-8915-C2FF2585E548}"/>
              </a:ext>
            </a:extLst>
          </p:cNvPr>
          <p:cNvSpPr>
            <a:spLocks xmlns:a="http://schemas.openxmlformats.org/drawingml/2006/main" noGrp="1"/>
          </p:cNvSpPr>
          <p:nvPr/>
        </p:nvSpPr>
        <p:spPr>
          <a:xfrm xmlns:a="http://schemas.openxmlformats.org/drawingml/2006/main">
            <a:off x="9201150" y="31051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C2461F"/>
                </a:solidFill>
                <a:latin typeface="Avenir Next"/>
                <a:ea typeface="Avenir Next"/>
                <a:cs typeface="Avenir Next"/>
              </a:defRPr>
            </a:defPPr>
          </a:lstStyle>
          <a:p xmlns:a="http://schemas.openxmlformats.org/drawingml/2006/main">
            <a:pPr algn="ctr">
              <a:defRPr sz="2550" b="1" i="0">
                <a:solidFill>
                  <a:srgbClr val="C2461F"/>
                </a:solidFill>
                <a:latin typeface="Avenir Next"/>
                <a:ea typeface="Avenir Next"/>
                <a:cs typeface="Avenir Next"/>
              </a:defRPr>
            </a:pPr>
            <a:r>
              <a:rPr sz="2550" b="1" i="0">
                <a:solidFill>
                  <a:srgbClr val="C2461F"/>
                </a:solidFill>
                <a:latin typeface="Avenir Next"/>
                <a:ea typeface="Avenir Next"/>
                <a:cs typeface="Avenir Next"/>
              </a:rPr>
              <a:t>6/6</a:t>
            </a:r>
          </a:p>
        </p:txBody>
      </p:sp>
      <p:sp>
        <p:nvSpPr>
          <p:cNvPr id="28" name="graph-metric-3-label">
            <a:extLst xmlns:a="http://schemas.openxmlformats.org/drawingml/2006/main">
              <a:ext uri="{FF2B5EF4-FFF2-40B4-BE49-F238E27FC236}">
                <a16:creationId xmlns:a16="http://schemas.microsoft.com/office/drawing/2014/main" id="{8C64E0E1-CA9B-4146-A101-813441309C0B}"/>
              </a:ext>
            </a:extLst>
          </p:cNvPr>
          <p:cNvSpPr>
            <a:spLocks xmlns:a="http://schemas.openxmlformats.org/drawingml/2006/main" noGrp="1"/>
          </p:cNvSpPr>
          <p:nvPr/>
        </p:nvSpPr>
        <p:spPr>
          <a:xfrm xmlns:a="http://schemas.openxmlformats.org/drawingml/2006/main">
            <a:off x="9220200" y="37528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accepted certs replayed</a:t>
            </a:r>
          </a:p>
        </p:txBody>
      </p:sp>
      <p:sp>
        <p:nvSpPr>
          <p:cNvPr id="29" name="graph-metric-3-detail">
            <a:extLst xmlns:a="http://schemas.openxmlformats.org/drawingml/2006/main">
              <a:ext uri="{FF2B5EF4-FFF2-40B4-BE49-F238E27FC236}">
                <a16:creationId xmlns:a16="http://schemas.microsoft.com/office/drawing/2014/main" id="{640779E3-A459-4383-BDD2-15F92AA5AF49}"/>
              </a:ext>
            </a:extLst>
          </p:cNvPr>
          <p:cNvSpPr>
            <a:spLocks xmlns:a="http://schemas.openxmlformats.org/drawingml/2006/main" noGrp="1"/>
          </p:cNvSpPr>
          <p:nvPr/>
        </p:nvSpPr>
        <p:spPr>
          <a:xfrm xmlns:a="http://schemas.openxmlformats.org/drawingml/2006/main">
            <a:off x="9201150" y="43434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8/8 rejected with finite full-trace witnesses</a:t>
            </a:r>
          </a:p>
        </p:txBody>
      </p:sp>
      <p:sp>
        <p:nvSpPr>
          <p:cNvPr id="30" name="graph-metric-scope">
            <a:extLst xmlns:a="http://schemas.openxmlformats.org/drawingml/2006/main">
              <a:ext uri="{FF2B5EF4-FFF2-40B4-BE49-F238E27FC236}">
                <a16:creationId xmlns:a16="http://schemas.microsoft.com/office/drawing/2014/main" id="{644CF1A2-2845-4660-A8D9-1BE52521F1DC}"/>
              </a:ext>
            </a:extLst>
          </p:cNvPr>
          <p:cNvSpPr>
            <a:spLocks xmlns:a="http://schemas.openxmlformats.org/drawingml/2006/main" noGrp="1"/>
          </p:cNvSpPr>
          <p:nvPr/>
        </p:nvSpPr>
        <p:spPr>
          <a:xfrm xmlns:a="http://schemas.openxmlformats.org/drawingml/2006/main">
            <a:off x="857250" y="5219700"/>
            <a:ext cx="1047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i="0">
                <a:solidFill>
                  <a:srgbClr val="646B7A"/>
                </a:solidFill>
                <a:latin typeface="Avenir Next"/>
                <a:ea typeface="Avenir Next"/>
                <a:cs typeface="Avenir Next"/>
              </a:defRPr>
            </a:defPPr>
          </a:lstStyle>
          <a:p xmlns:a="http://schemas.openxmlformats.org/drawingml/2006/main">
            <a:pPr algn="ctr">
              <a:defRPr sz="1200" b="1" i="0">
                <a:solidFill>
                  <a:srgbClr val="646B7A"/>
                </a:solidFill>
                <a:latin typeface="Avenir Next"/>
                <a:ea typeface="Avenir Next"/>
                <a:cs typeface="Avenir Next"/>
              </a:defRPr>
            </a:pPr>
            <a:r>
              <a:rPr sz="1200" b="1" i="0">
                <a:solidFill>
                  <a:srgbClr val="646B7A"/>
                </a:solidFill>
                <a:latin typeface="Avenir Next"/>
                <a:ea typeface="Avenir Next"/>
                <a:cs typeface="Avenir Next"/>
              </a:rPr>
              <a:t>Authored graph models · finite Ω probes · no external framework ports · not a proof of the checker semantics</a:t>
            </a:r>
          </a:p>
        </p:txBody>
      </p:sp>
    </p:spTree>
    <p:extLst>
      <p:ext uri="{BB962C8B-B14F-4D97-AF65-F5344CB8AC3E}">
        <p14:creationId xmlns:p14="http://schemas.microsoft.com/office/powerpoint/2010/main" val="1937461953"/>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s15-brand">
            <a:extLst xmlns:a="http://schemas.openxmlformats.org/drawingml/2006/main">
              <a:ext uri="{FF2B5EF4-FFF2-40B4-BE49-F238E27FC236}">
                <a16:creationId xmlns:a16="http://schemas.microsoft.com/office/drawing/2014/main" id="{F7F12BFF-4E7D-49FB-BED1-3276F4F215B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5-section">
            <a:extLst xmlns:a="http://schemas.openxmlformats.org/drawingml/2006/main">
              <a:ext uri="{FF2B5EF4-FFF2-40B4-BE49-F238E27FC236}">
                <a16:creationId xmlns:a16="http://schemas.microsoft.com/office/drawing/2014/main" id="{3B8A1EC5-5E95-478A-9673-A7D89582E266}"/>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RELATED WORK</a:t>
            </a:r>
          </a:p>
        </p:txBody>
      </p:sp>
      <p:sp>
        <p:nvSpPr>
          <p:cNvPr id="3" name="s15-title">
            <a:extLst xmlns:a="http://schemas.openxmlformats.org/drawingml/2006/main">
              <a:ext uri="{FF2B5EF4-FFF2-40B4-BE49-F238E27FC236}">
                <a16:creationId xmlns:a16="http://schemas.microsoft.com/office/drawing/2014/main" id="{5ED40612-285F-4873-8EAB-91ED46191951}"/>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86"/>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delta is relational request matching, not unary graph cost bounding</a:t>
            </a:r>
          </a:p>
        </p:txBody>
      </p:sp>
      <p:sp>
        <p:nvSpPr>
          <p:cNvPr id="4" name="s15-subtitle">
            <a:extLst xmlns:a="http://schemas.openxmlformats.org/drawingml/2006/main">
              <a:ext uri="{FF2B5EF4-FFF2-40B4-BE49-F238E27FC236}">
                <a16:creationId xmlns:a16="http://schemas.microsoft.com/office/drawing/2014/main" id="{F1785B9C-BC5F-4D70-A12F-220E5932B0BC}"/>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The method is an application of established product-program and resource-security ideas.</a:t>
            </a:r>
          </a:p>
        </p:txBody>
      </p:sp>
      <p:sp>
        <p:nvSpPr>
          <p:cNvPr id="5" name="s15-source-rule">
            <a:extLst xmlns:a="http://schemas.openxmlformats.org/drawingml/2006/main">
              <a:ext uri="{FF2B5EF4-FFF2-40B4-BE49-F238E27FC236}">
                <a16:creationId xmlns:a16="http://schemas.microsoft.com/office/drawing/2014/main" id="{8DDCABA5-BE81-4479-9938-6496358AF908}"/>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5-sources">
            <a:extLst xmlns:a="http://schemas.openxmlformats.org/drawingml/2006/main">
              <a:ext uri="{FF2B5EF4-FFF2-40B4-BE49-F238E27FC236}">
                <a16:creationId xmlns:a16="http://schemas.microsoft.com/office/drawing/2014/main" id="{3CBD6CFF-3BC0-4166-B58D-E225D038D28E}"/>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docs/CYCLIC_METHOD_REVIEW.md; docs/PRIOR_ART_MATRIX.md; graph_candidate_sources.md</a:t>
            </a:r>
          </a:p>
        </p:txBody>
      </p:sp>
      <p:sp>
        <p:nvSpPr>
          <p:cNvPr id="7" name="s15-footer-rule">
            <a:extLst xmlns:a="http://schemas.openxmlformats.org/drawingml/2006/main">
              <a:ext uri="{FF2B5EF4-FFF2-40B4-BE49-F238E27FC236}">
                <a16:creationId xmlns:a16="http://schemas.microsoft.com/office/drawing/2014/main" id="{89BC3181-3821-4B43-B6B1-16CA6981DE16}"/>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5-footer">
            <a:extLst xmlns:a="http://schemas.openxmlformats.org/drawingml/2006/main">
              <a:ext uri="{FF2B5EF4-FFF2-40B4-BE49-F238E27FC236}">
                <a16:creationId xmlns:a16="http://schemas.microsoft.com/office/drawing/2014/main" id="{A10B6B0B-94F5-42AC-A3E5-8859B63FF5B1}"/>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5-page">
            <a:extLst xmlns:a="http://schemas.openxmlformats.org/drawingml/2006/main">
              <a:ext uri="{FF2B5EF4-FFF2-40B4-BE49-F238E27FC236}">
                <a16:creationId xmlns:a16="http://schemas.microsoft.com/office/drawing/2014/main" id="{D8220F98-465A-4834-B304-E0EA081FA132}"/>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15</a:t>
            </a:r>
          </a:p>
        </p:txBody>
      </p:sp>
      <p:sp>
        <p:nvSpPr>
          <p:cNvPr id="10" name="delta-established-panel">
            <a:extLst xmlns:a="http://schemas.openxmlformats.org/drawingml/2006/main">
              <a:ext uri="{FF2B5EF4-FFF2-40B4-BE49-F238E27FC236}">
                <a16:creationId xmlns:a16="http://schemas.microsoft.com/office/drawing/2014/main" id="{B9DB1A72-21D2-423B-ADCF-D747663F3679}"/>
              </a:ext>
            </a:extLst>
          </p:cNvPr>
          <p:cNvSpPr>
            <a:spLocks xmlns:a="http://schemas.openxmlformats.org/drawingml/2006/main" noGrp="1"/>
          </p:cNvSpPr>
          <p:nvPr/>
        </p:nvSpPr>
        <p:spPr>
          <a:xfrm xmlns:a="http://schemas.openxmlformats.org/drawingml/2006/main">
            <a:off x="781050" y="2571750"/>
            <a:ext cx="4905375" cy="2667000"/>
          </a:xfrm>
          <a:prstGeom xmlns:a="http://schemas.openxmlformats.org/drawingml/2006/main" prst="roundRect">
            <a:avLst>
              <a:gd name="adj" fmla="val 2857"/>
            </a:avLst>
          </a:prstGeom>
          <a:solidFill xmlns:a="http://schemas.openxmlformats.org/drawingml/2006/main">
            <a:srgbClr val="1C2638"/>
          </a:solidFill>
          <a:ln xmlns:a="http://schemas.openxmlformats.org/drawingml/2006/main" w="9525">
            <a:solidFill>
              <a:srgbClr val="343D50"/>
            </a:solidFill>
            <a:prstDash val="solid"/>
          </a:ln>
        </p:spPr>
      </p:sp>
      <p:sp>
        <p:nvSpPr>
          <p:cNvPr id="11" name="delta-established-accent">
            <a:extLst xmlns:a="http://schemas.openxmlformats.org/drawingml/2006/main">
              <a:ext uri="{FF2B5EF4-FFF2-40B4-BE49-F238E27FC236}">
                <a16:creationId xmlns:a16="http://schemas.microsoft.com/office/drawing/2014/main" id="{96375252-41A1-4E80-95BB-C6140A087AE7}"/>
              </a:ext>
            </a:extLst>
          </p:cNvPr>
          <p:cNvSpPr>
            <a:spLocks xmlns:a="http://schemas.openxmlformats.org/drawingml/2006/main" noGrp="1"/>
          </p:cNvSpPr>
          <p:nvPr/>
        </p:nvSpPr>
        <p:spPr>
          <a:xfrm xmlns:a="http://schemas.openxmlformats.org/drawingml/2006/main">
            <a:off x="781050" y="2571750"/>
            <a:ext cx="57150" cy="266700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2" name="delta-established-title">
            <a:extLst xmlns:a="http://schemas.openxmlformats.org/drawingml/2006/main">
              <a:ext uri="{FF2B5EF4-FFF2-40B4-BE49-F238E27FC236}">
                <a16:creationId xmlns:a16="http://schemas.microsoft.com/office/drawing/2014/main" id="{3BEBEB75-035C-40A9-960F-2D3E0821F4F9}"/>
              </a:ext>
            </a:extLst>
          </p:cNvPr>
          <p:cNvSpPr>
            <a:spLocks xmlns:a="http://schemas.openxmlformats.org/drawingml/2006/main" noGrp="1"/>
          </p:cNvSpPr>
          <p:nvPr/>
        </p:nvSpPr>
        <p:spPr>
          <a:xfrm xmlns:a="http://schemas.openxmlformats.org/drawingml/2006/main">
            <a:off x="990600" y="2743200"/>
            <a:ext cx="4486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ESTABLISHED FOUNDATIONS</a:t>
            </a:r>
          </a:p>
        </p:txBody>
      </p:sp>
      <p:sp>
        <p:nvSpPr>
          <p:cNvPr id="13" name="delta-established-body">
            <a:extLst xmlns:a="http://schemas.openxmlformats.org/drawingml/2006/main">
              <a:ext uri="{FF2B5EF4-FFF2-40B4-BE49-F238E27FC236}">
                <a16:creationId xmlns:a16="http://schemas.microsoft.com/office/drawing/2014/main" id="{D1A2FEB6-0F97-4F5C-ACEC-4F5A77E85FE0}"/>
              </a:ext>
            </a:extLst>
          </p:cNvPr>
          <p:cNvSpPr>
            <a:spLocks xmlns:a="http://schemas.openxmlformats.org/drawingml/2006/main" noGrp="1"/>
          </p:cNvSpPr>
          <p:nvPr/>
        </p:nvSpPr>
        <p:spPr>
          <a:xfrm xmlns:a="http://schemas.openxmlformats.org/drawingml/2006/main">
            <a:off x="990600" y="3257550"/>
            <a:ext cx="4486275"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Self-composition and product programs</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Resource-aware noninterference</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Relational cost analysis</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Unary graph-level resource bounds</a:t>
            </a:r>
          </a:p>
        </p:txBody>
      </p:sp>
      <p:sp>
        <p:nvSpPr>
          <p:cNvPr id="14" name="delta-project-panel">
            <a:extLst xmlns:a="http://schemas.openxmlformats.org/drawingml/2006/main">
              <a:ext uri="{FF2B5EF4-FFF2-40B4-BE49-F238E27FC236}">
                <a16:creationId xmlns:a16="http://schemas.microsoft.com/office/drawing/2014/main" id="{9FBEFA03-4AF4-4AC0-8C4C-7456A0E60CF8}"/>
              </a:ext>
            </a:extLst>
          </p:cNvPr>
          <p:cNvSpPr>
            <a:spLocks xmlns:a="http://schemas.openxmlformats.org/drawingml/2006/main" noGrp="1"/>
          </p:cNvSpPr>
          <p:nvPr/>
        </p:nvSpPr>
        <p:spPr>
          <a:xfrm xmlns:a="http://schemas.openxmlformats.org/drawingml/2006/main">
            <a:off x="6496050" y="2571750"/>
            <a:ext cx="4905375" cy="2667000"/>
          </a:xfrm>
          <a:prstGeom xmlns:a="http://schemas.openxmlformats.org/drawingml/2006/main" prst="roundRect">
            <a:avLst>
              <a:gd name="adj" fmla="val 2857"/>
            </a:avLst>
          </a:prstGeom>
          <a:solidFill xmlns:a="http://schemas.openxmlformats.org/drawingml/2006/main">
            <a:srgbClr val="1C2638"/>
          </a:solidFill>
          <a:ln xmlns:a="http://schemas.openxmlformats.org/drawingml/2006/main" w="9525">
            <a:solidFill>
              <a:srgbClr val="343D50"/>
            </a:solidFill>
            <a:prstDash val="solid"/>
          </a:ln>
        </p:spPr>
      </p:sp>
      <p:sp>
        <p:nvSpPr>
          <p:cNvPr id="15" name="delta-project-accent">
            <a:extLst xmlns:a="http://schemas.openxmlformats.org/drawingml/2006/main">
              <a:ext uri="{FF2B5EF4-FFF2-40B4-BE49-F238E27FC236}">
                <a16:creationId xmlns:a16="http://schemas.microsoft.com/office/drawing/2014/main" id="{BCEBA705-0CCD-4460-BADE-E4E4FCFA3A9B}"/>
              </a:ext>
            </a:extLst>
          </p:cNvPr>
          <p:cNvSpPr>
            <a:spLocks xmlns:a="http://schemas.openxmlformats.org/drawingml/2006/main" noGrp="1"/>
          </p:cNvSpPr>
          <p:nvPr/>
        </p:nvSpPr>
        <p:spPr>
          <a:xfrm xmlns:a="http://schemas.openxmlformats.org/drawingml/2006/main">
            <a:off x="6496050" y="2571750"/>
            <a:ext cx="57150" cy="26670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delta-project-title">
            <a:extLst xmlns:a="http://schemas.openxmlformats.org/drawingml/2006/main">
              <a:ext uri="{FF2B5EF4-FFF2-40B4-BE49-F238E27FC236}">
                <a16:creationId xmlns:a16="http://schemas.microsoft.com/office/drawing/2014/main" id="{9800767B-D365-4766-8914-A9B3CB9D6452}"/>
              </a:ext>
            </a:extLst>
          </p:cNvPr>
          <p:cNvSpPr>
            <a:spLocks xmlns:a="http://schemas.openxmlformats.org/drawingml/2006/main" noGrp="1"/>
          </p:cNvSpPr>
          <p:nvPr/>
        </p:nvSpPr>
        <p:spPr>
          <a:xfrm xmlns:a="http://schemas.openxmlformats.org/drawingml/2006/main">
            <a:off x="6705600" y="2743200"/>
            <a:ext cx="4486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THIS PROTOTYPE'S NARROW DELTA</a:t>
            </a:r>
          </a:p>
        </p:txBody>
      </p:sp>
      <p:sp>
        <p:nvSpPr>
          <p:cNvPr id="17" name="delta-project-body">
            <a:extLst xmlns:a="http://schemas.openxmlformats.org/drawingml/2006/main">
              <a:ext uri="{FF2B5EF4-FFF2-40B4-BE49-F238E27FC236}">
                <a16:creationId xmlns:a16="http://schemas.microsoft.com/office/drawing/2014/main" id="{15DEFBE0-52F4-405E-8AA1-DFD97EE70752}"/>
              </a:ext>
            </a:extLst>
          </p:cNvPr>
          <p:cNvSpPr>
            <a:spLocks xmlns:a="http://schemas.openxmlformats.org/drawingml/2006/main" noGrp="1"/>
          </p:cNvSpPr>
          <p:nvPr/>
        </p:nvSpPr>
        <p:spPr>
          <a:xfrm xmlns:a="http://schemas.openxmlformats.org/drawingml/2006/main">
            <a:off x="6705600" y="3257550"/>
            <a:ext cx="4486275"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A finite product over a workflow graph</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Resolved model-call event matching</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Request-linked result-register relation</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Replayable reachable-product certificate</a:t>
            </a:r>
          </a:p>
        </p:txBody>
      </p:sp>
      <p:sp>
        <p:nvSpPr>
          <p:cNvPr id="18" name="delta-boundary">
            <a:extLst xmlns:a="http://schemas.openxmlformats.org/drawingml/2006/main">
              <a:ext uri="{FF2B5EF4-FFF2-40B4-BE49-F238E27FC236}">
                <a16:creationId xmlns:a16="http://schemas.microsoft.com/office/drawing/2014/main" id="{C00D07BB-C611-4202-9E7D-1D1DCE1C034D}"/>
              </a:ext>
            </a:extLst>
          </p:cNvPr>
          <p:cNvSpPr>
            <a:spLocks xmlns:a="http://schemas.openxmlformats.org/drawingml/2006/main" noGrp="1"/>
          </p:cNvSpPr>
          <p:nvPr/>
        </p:nvSpPr>
        <p:spPr>
          <a:xfrm xmlns:a="http://schemas.openxmlformats.org/drawingml/2006/main">
            <a:off x="1333500" y="54673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B8C1D1"/>
                </a:solidFill>
                <a:latin typeface="Avenir Next"/>
                <a:ea typeface="Avenir Next"/>
                <a:cs typeface="Avenir Next"/>
              </a:defRPr>
            </a:defPPr>
          </a:lstStyle>
          <a:p xmlns:a="http://schemas.openxmlformats.org/drawingml/2006/main">
            <a:pPr algn="ctr">
              <a:defRPr sz="1275" b="1" i="0">
                <a:solidFill>
                  <a:srgbClr val="B8C1D1"/>
                </a:solidFill>
                <a:latin typeface="Avenir Next"/>
                <a:ea typeface="Avenir Next"/>
                <a:cs typeface="Avenir Next"/>
              </a:defRPr>
            </a:pPr>
            <a:r>
              <a:rPr sz="1275" b="1" i="0">
                <a:solidFill>
                  <a:srgbClr val="B8C1D1"/>
                </a:solidFill>
                <a:latin typeface="Avenir Next"/>
                <a:ea typeface="Avenir Next"/>
                <a:cs typeface="Avenir Next"/>
              </a:rPr>
              <a:t>Application and software artifact contribution; no new general product-program theory.</a:t>
            </a:r>
          </a:p>
        </p:txBody>
      </p:sp>
    </p:spTree>
    <p:extLst>
      <p:ext uri="{BB962C8B-B14F-4D97-AF65-F5344CB8AC3E}">
        <p14:creationId xmlns:p14="http://schemas.microsoft.com/office/powerpoint/2010/main" val="1506804486"/>
      </p:ext>
    </p:extLst>
  </p:cSld>
</p:sld>
</file>

<file path=ppt/slides/slide16.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19" name="s16-brand">
            <a:extLst xmlns:a="http://schemas.openxmlformats.org/drawingml/2006/main">
              <a:ext uri="{FF2B5EF4-FFF2-40B4-BE49-F238E27FC236}">
                <a16:creationId xmlns:a16="http://schemas.microsoft.com/office/drawing/2014/main" id="{896E1734-29CA-4E13-B943-31BEFAC54CE2}"/>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6-section">
            <a:extLst xmlns:a="http://schemas.openxmlformats.org/drawingml/2006/main">
              <a:ext uri="{FF2B5EF4-FFF2-40B4-BE49-F238E27FC236}">
                <a16:creationId xmlns:a16="http://schemas.microsoft.com/office/drawing/2014/main" id="{C08E3961-C58E-4725-B99C-F6873AE16875}"/>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SUPPLEMENTARY COVERAGE</a:t>
            </a:r>
          </a:p>
        </p:txBody>
      </p:sp>
      <p:sp>
        <p:nvSpPr>
          <p:cNvPr id="3" name="s16-title">
            <a:extLst xmlns:a="http://schemas.openxmlformats.org/drawingml/2006/main">
              <a:ext uri="{FF2B5EF4-FFF2-40B4-BE49-F238E27FC236}">
                <a16:creationId xmlns:a16="http://schemas.microsoft.com/office/drawing/2014/main" id="{5F3D53AD-FD98-4FEA-B935-D3DF88B2F986}"/>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86"/>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 generated graph probe adds adversarial coverage, with a shared reference</a:t>
            </a:r>
          </a:p>
        </p:txBody>
      </p:sp>
      <p:sp>
        <p:nvSpPr>
          <p:cNvPr id="4" name="s16-subtitle">
            <a:extLst xmlns:a="http://schemas.openxmlformats.org/drawingml/2006/main">
              <a:ext uri="{FF2B5EF4-FFF2-40B4-BE49-F238E27FC236}">
                <a16:creationId xmlns:a16="http://schemas.microsoft.com/office/drawing/2014/main" id="{279B62F7-9B4B-49CF-B772-D4EB61CAF3F8}"/>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It tests small graphs at finite prefixes; it is not independent semantic validation.</a:t>
            </a:r>
          </a:p>
        </p:txBody>
      </p:sp>
      <p:sp>
        <p:nvSpPr>
          <p:cNvPr id="5" name="s16-source-rule">
            <a:extLst xmlns:a="http://schemas.openxmlformats.org/drawingml/2006/main">
              <a:ext uri="{FF2B5EF4-FFF2-40B4-BE49-F238E27FC236}">
                <a16:creationId xmlns:a16="http://schemas.microsoft.com/office/drawing/2014/main" id="{7E92C05B-1C7B-4146-A5E8-9388CEAEA476}"/>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6-sources">
            <a:extLst xmlns:a="http://schemas.openxmlformats.org/drawingml/2006/main">
              <a:ext uri="{FF2B5EF4-FFF2-40B4-BE49-F238E27FC236}">
                <a16:creationId xmlns:a16="http://schemas.microsoft.com/office/drawing/2014/main" id="{F2669712-A8C3-45B3-963E-C8D4279B6145}"/>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audit/graph_adversarial.py; bench/results/graph_adversarial.json; docs/CYCLIC_METHOD_REVIEW.md</a:t>
            </a:r>
          </a:p>
        </p:txBody>
      </p:sp>
      <p:sp>
        <p:nvSpPr>
          <p:cNvPr id="7" name="s16-footer-rule">
            <a:extLst xmlns:a="http://schemas.openxmlformats.org/drawingml/2006/main">
              <a:ext uri="{FF2B5EF4-FFF2-40B4-BE49-F238E27FC236}">
                <a16:creationId xmlns:a16="http://schemas.microsoft.com/office/drawing/2014/main" id="{CEC66C75-6C10-4BEE-885C-B611905BFF10}"/>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6-footer">
            <a:extLst xmlns:a="http://schemas.openxmlformats.org/drawingml/2006/main">
              <a:ext uri="{FF2B5EF4-FFF2-40B4-BE49-F238E27FC236}">
                <a16:creationId xmlns:a16="http://schemas.microsoft.com/office/drawing/2014/main" id="{ED0DE9F2-DAE4-427D-85F7-2EADCCFB89ED}"/>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6-page">
            <a:extLst xmlns:a="http://schemas.openxmlformats.org/drawingml/2006/main">
              <a:ext uri="{FF2B5EF4-FFF2-40B4-BE49-F238E27FC236}">
                <a16:creationId xmlns:a16="http://schemas.microsoft.com/office/drawing/2014/main" id="{47245B69-5ED0-4E68-A386-4B11FF2743B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16</a:t>
            </a:r>
          </a:p>
        </p:txBody>
      </p:sp>
      <p:sp>
        <p:nvSpPr>
          <p:cNvPr id="10" name="adversarial-counts-panel">
            <a:extLst xmlns:a="http://schemas.openxmlformats.org/drawingml/2006/main">
              <a:ext uri="{FF2B5EF4-FFF2-40B4-BE49-F238E27FC236}">
                <a16:creationId xmlns:a16="http://schemas.microsoft.com/office/drawing/2014/main" id="{C847C363-812D-462B-A368-8F47E85FEF48}"/>
              </a:ext>
            </a:extLst>
          </p:cNvPr>
          <p:cNvSpPr>
            <a:spLocks xmlns:a="http://schemas.openxmlformats.org/drawingml/2006/main" noGrp="1"/>
          </p:cNvSpPr>
          <p:nvPr/>
        </p:nvSpPr>
        <p:spPr>
          <a:xfrm xmlns:a="http://schemas.openxmlformats.org/drawingml/2006/main">
            <a:off x="781050" y="2543175"/>
            <a:ext cx="4953000" cy="2362200"/>
          </a:xfrm>
          <a:prstGeom xmlns:a="http://schemas.openxmlformats.org/drawingml/2006/main" prst="roundRect">
            <a:avLst>
              <a:gd name="adj" fmla="val 3226"/>
            </a:avLst>
          </a:prstGeom>
          <a:solidFill xmlns:a="http://schemas.openxmlformats.org/drawingml/2006/main">
            <a:srgbClr val="1C2638"/>
          </a:solidFill>
          <a:ln xmlns:a="http://schemas.openxmlformats.org/drawingml/2006/main" w="9525">
            <a:solidFill>
              <a:srgbClr val="343D50"/>
            </a:solidFill>
            <a:prstDash val="solid"/>
          </a:ln>
        </p:spPr>
      </p:sp>
      <p:sp>
        <p:nvSpPr>
          <p:cNvPr id="11" name="adversarial-counts-accent">
            <a:extLst xmlns:a="http://schemas.openxmlformats.org/drawingml/2006/main">
              <a:ext uri="{FF2B5EF4-FFF2-40B4-BE49-F238E27FC236}">
                <a16:creationId xmlns:a16="http://schemas.microsoft.com/office/drawing/2014/main" id="{08AD3AFD-AD16-423A-B443-1C87BFEE3813}"/>
              </a:ext>
            </a:extLst>
          </p:cNvPr>
          <p:cNvSpPr>
            <a:spLocks xmlns:a="http://schemas.openxmlformats.org/drawingml/2006/main" noGrp="1"/>
          </p:cNvSpPr>
          <p:nvPr/>
        </p:nvSpPr>
        <p:spPr>
          <a:xfrm xmlns:a="http://schemas.openxmlformats.org/drawingml/2006/main">
            <a:off x="781050" y="2543175"/>
            <a:ext cx="57150" cy="2362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adversarial-counts-title">
            <a:extLst xmlns:a="http://schemas.openxmlformats.org/drawingml/2006/main">
              <a:ext uri="{FF2B5EF4-FFF2-40B4-BE49-F238E27FC236}">
                <a16:creationId xmlns:a16="http://schemas.microsoft.com/office/drawing/2014/main" id="{1B730695-F170-4D13-AA9F-208F309A848F}"/>
              </a:ext>
            </a:extLst>
          </p:cNvPr>
          <p:cNvSpPr>
            <a:spLocks xmlns:a="http://schemas.openxmlformats.org/drawingml/2006/main" noGrp="1"/>
          </p:cNvSpPr>
          <p:nvPr/>
        </p:nvSpPr>
        <p:spPr>
          <a:xfrm xmlns:a="http://schemas.openxmlformats.org/drawingml/2006/main">
            <a:off x="990600" y="271462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SEEDED SMALL-GRAPH PROBE</a:t>
            </a:r>
          </a:p>
        </p:txBody>
      </p:sp>
      <p:sp>
        <p:nvSpPr>
          <p:cNvPr id="13" name="adversarial-counts-body">
            <a:extLst xmlns:a="http://schemas.openxmlformats.org/drawingml/2006/main">
              <a:ext uri="{FF2B5EF4-FFF2-40B4-BE49-F238E27FC236}">
                <a16:creationId xmlns:a16="http://schemas.microsoft.com/office/drawing/2014/main" id="{324C8732-02CF-4A01-9354-F12EC034AFDA}"/>
              </a:ext>
            </a:extLst>
          </p:cNvPr>
          <p:cNvSpPr>
            <a:spLocks xmlns:a="http://schemas.openxmlformats.org/drawingml/2006/main" noGrp="1"/>
          </p:cNvSpPr>
          <p:nvPr/>
        </p:nvSpPr>
        <p:spPr>
          <a:xfrm xmlns:a="http://schemas.openxmlformats.org/drawingml/2006/main">
            <a:off x="990600" y="3248025"/>
            <a:ext cx="45339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3,000 generated graphs</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1,462 accepted</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11,696 ordered equal-public store pairs</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5,848 distinct-secret pairs</a:t>
            </a:r>
          </a:p>
        </p:txBody>
      </p:sp>
      <p:sp>
        <p:nvSpPr>
          <p:cNvPr id="14" name="adversarial-zero-panel">
            <a:extLst xmlns:a="http://schemas.openxmlformats.org/drawingml/2006/main">
              <a:ext uri="{FF2B5EF4-FFF2-40B4-BE49-F238E27FC236}">
                <a16:creationId xmlns:a16="http://schemas.microsoft.com/office/drawing/2014/main" id="{A0EA3129-E3E1-4A2A-89CD-6DCE04583953}"/>
              </a:ext>
            </a:extLst>
          </p:cNvPr>
          <p:cNvSpPr>
            <a:spLocks xmlns:a="http://schemas.openxmlformats.org/drawingml/2006/main" noGrp="1"/>
          </p:cNvSpPr>
          <p:nvPr/>
        </p:nvSpPr>
        <p:spPr>
          <a:xfrm xmlns:a="http://schemas.openxmlformats.org/drawingml/2006/main">
            <a:off x="6496050" y="2543175"/>
            <a:ext cx="4953000" cy="2362200"/>
          </a:xfrm>
          <a:prstGeom xmlns:a="http://schemas.openxmlformats.org/drawingml/2006/main" prst="roundRect">
            <a:avLst>
              <a:gd name="adj" fmla="val 3226"/>
            </a:avLst>
          </a:prstGeom>
          <a:solidFill xmlns:a="http://schemas.openxmlformats.org/drawingml/2006/main">
            <a:srgbClr val="1C2638"/>
          </a:solidFill>
          <a:ln xmlns:a="http://schemas.openxmlformats.org/drawingml/2006/main" w="9525">
            <a:solidFill>
              <a:srgbClr val="343D50"/>
            </a:solidFill>
            <a:prstDash val="solid"/>
          </a:ln>
        </p:spPr>
      </p:sp>
      <p:sp>
        <p:nvSpPr>
          <p:cNvPr id="15" name="adversarial-zero-accent">
            <a:extLst xmlns:a="http://schemas.openxmlformats.org/drawingml/2006/main">
              <a:ext uri="{FF2B5EF4-FFF2-40B4-BE49-F238E27FC236}">
                <a16:creationId xmlns:a16="http://schemas.microsoft.com/office/drawing/2014/main" id="{25F07FCC-46E1-4645-A79B-CFD5D1A3096F}"/>
              </a:ext>
            </a:extLst>
          </p:cNvPr>
          <p:cNvSpPr>
            <a:spLocks xmlns:a="http://schemas.openxmlformats.org/drawingml/2006/main" noGrp="1"/>
          </p:cNvSpPr>
          <p:nvPr/>
        </p:nvSpPr>
        <p:spPr>
          <a:xfrm xmlns:a="http://schemas.openxmlformats.org/drawingml/2006/main">
            <a:off x="6496050" y="2543175"/>
            <a:ext cx="57150" cy="2362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adversarial-zero-title">
            <a:extLst xmlns:a="http://schemas.openxmlformats.org/drawingml/2006/main">
              <a:ext uri="{FF2B5EF4-FFF2-40B4-BE49-F238E27FC236}">
                <a16:creationId xmlns:a16="http://schemas.microsoft.com/office/drawing/2014/main" id="{61FA2531-D8F3-4B20-913A-E713279A5C76}"/>
              </a:ext>
            </a:extLst>
          </p:cNvPr>
          <p:cNvSpPr>
            <a:spLocks xmlns:a="http://schemas.openxmlformats.org/drawingml/2006/main" noGrp="1"/>
          </p:cNvSpPr>
          <p:nvPr/>
        </p:nvSpPr>
        <p:spPr>
          <a:xfrm xmlns:a="http://schemas.openxmlformats.org/drawingml/2006/main">
            <a:off x="6705600" y="271462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OBSERVED ON THE PROBE GRID</a:t>
            </a:r>
          </a:p>
        </p:txBody>
      </p:sp>
      <p:sp>
        <p:nvSpPr>
          <p:cNvPr id="17" name="adversarial-zero-body">
            <a:extLst xmlns:a="http://schemas.openxmlformats.org/drawingml/2006/main">
              <a:ext uri="{FF2B5EF4-FFF2-40B4-BE49-F238E27FC236}">
                <a16:creationId xmlns:a16="http://schemas.microsoft.com/office/drawing/2014/main" id="{42BA02F7-BF9C-4E62-B7B4-586B059DB0EC}"/>
              </a:ext>
            </a:extLst>
          </p:cNvPr>
          <p:cNvSpPr>
            <a:spLocks xmlns:a="http://schemas.openxmlformats.org/drawingml/2006/main" noGrp="1"/>
          </p:cNvSpPr>
          <p:nvPr/>
        </p:nvSpPr>
        <p:spPr>
          <a:xfrm xmlns:a="http://schemas.openxmlformats.org/drawingml/2006/main">
            <a:off x="6705600" y="3248025"/>
            <a:ext cx="45339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Menlo"/>
                <a:ea typeface="Menlo"/>
                <a:cs typeface="Menlo"/>
              </a:defRPr>
            </a:defPPr>
          </a:lstStyle>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0 complete-observation mismatches</a:t>
            </a:r>
          </a:p>
          <a:p xmlns:a="http://schemas.openxmlformats.org/drawingml/2006/main">
            <a:r>
              <a:t/>
            </a:r>
          </a:p>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request · input/output usage</a:t>
            </a:r>
          </a:p>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response bytes · stop/truncation status</a:t>
            </a:r>
          </a:p>
        </p:txBody>
      </p:sp>
      <p:sp>
        <p:nvSpPr>
          <p:cNvPr id="18" name="adversarial-caveat">
            <a:extLst xmlns:a="http://schemas.openxmlformats.org/drawingml/2006/main">
              <a:ext uri="{FF2B5EF4-FFF2-40B4-BE49-F238E27FC236}">
                <a16:creationId xmlns:a16="http://schemas.microsoft.com/office/drawing/2014/main" id="{9BDD716B-3DC4-4D54-8DA2-C55CF0DD5565}"/>
              </a:ext>
            </a:extLst>
          </p:cNvPr>
          <p:cNvSpPr>
            <a:spLocks xmlns:a="http://schemas.openxmlformats.org/drawingml/2006/main" noGrp="1"/>
          </p:cNvSpPr>
          <p:nvPr/>
        </p:nvSpPr>
        <p:spPr>
          <a:xfrm xmlns:a="http://schemas.openxmlformats.org/drawingml/2006/main">
            <a:off x="904875" y="52673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i="0">
                <a:solidFill>
                  <a:srgbClr val="646B7A"/>
                </a:solidFill>
                <a:latin typeface="Avenir Next"/>
                <a:ea typeface="Avenir Next"/>
                <a:cs typeface="Avenir Next"/>
              </a:defRPr>
            </a:defPPr>
          </a:lstStyle>
          <a:p xmlns:a="http://schemas.openxmlformats.org/drawingml/2006/main">
            <a:pPr algn="ctr">
              <a:defRPr sz="1200" b="0" i="0">
                <a:solidFill>
                  <a:srgbClr val="646B7A"/>
                </a:solidFill>
                <a:latin typeface="Avenir Next"/>
                <a:ea typeface="Avenir Next"/>
                <a:cs typeface="Avenir Next"/>
              </a:defRPr>
            </a:pPr>
            <a:r>
              <a:rPr sz="1200" b="0" i="0">
                <a:solidFill>
                  <a:srgbClr val="646B7A"/>
                </a:solidFill>
                <a:latin typeface="Avenir Next"/>
                <a:ea typeface="Avenir Next"/>
                <a:cs typeface="Avenir Next"/>
              </a:rPr>
              <a:t>Supplementary adversarial coverage only: generator and reference use the same producer module; small Boolean/literal graph domain; prefixes capped at 20 calls.</a:t>
            </a:r>
          </a:p>
        </p:txBody>
      </p:sp>
    </p:spTree>
    <p:extLst>
      <p:ext uri="{BB962C8B-B14F-4D97-AF65-F5344CB8AC3E}">
        <p14:creationId xmlns:p14="http://schemas.microsoft.com/office/powerpoint/2010/main" val="498811973"/>
      </p:ext>
    </p:extLst>
  </p:cSld>
</p:sld>
</file>

<file path=ppt/slides/slide1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s17-brand">
            <a:extLst xmlns:a="http://schemas.openxmlformats.org/drawingml/2006/main">
              <a:ext uri="{FF2B5EF4-FFF2-40B4-BE49-F238E27FC236}">
                <a16:creationId xmlns:a16="http://schemas.microsoft.com/office/drawing/2014/main" id="{C30BC283-1B25-4BCF-9477-842926BC6528}"/>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7-section">
            <a:extLst xmlns:a="http://schemas.openxmlformats.org/drawingml/2006/main">
              <a:ext uri="{FF2B5EF4-FFF2-40B4-BE49-F238E27FC236}">
                <a16:creationId xmlns:a16="http://schemas.microsoft.com/office/drawing/2014/main" id="{2BDF859C-5972-43DC-92CB-2625E4686C88}"/>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LIMITS</a:t>
            </a:r>
          </a:p>
        </p:txBody>
      </p:sp>
      <p:sp>
        <p:nvSpPr>
          <p:cNvPr id="3" name="s17-title">
            <a:extLst xmlns:a="http://schemas.openxmlformats.org/drawingml/2006/main">
              <a:ext uri="{FF2B5EF4-FFF2-40B4-BE49-F238E27FC236}">
                <a16:creationId xmlns:a16="http://schemas.microsoft.com/office/drawing/2014/main" id="{7BD70503-FC21-4783-8818-1DD2067EC344}"/>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86"/>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result is a checked graph model, not a verified deployment</a:t>
            </a:r>
          </a:p>
        </p:txBody>
      </p:sp>
      <p:sp>
        <p:nvSpPr>
          <p:cNvPr id="4" name="s17-subtitle">
            <a:extLst xmlns:a="http://schemas.openxmlformats.org/drawingml/2006/main">
              <a:ext uri="{FF2B5EF4-FFF2-40B4-BE49-F238E27FC236}">
                <a16:creationId xmlns:a16="http://schemas.microsoft.com/office/drawing/2014/main" id="{7C0976FD-7B5D-41CA-AEEC-0479D93D8540}"/>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The request, oracle, accounting, graph identity, and secret labels remain explicit assumptions.</a:t>
            </a:r>
          </a:p>
        </p:txBody>
      </p:sp>
      <p:sp>
        <p:nvSpPr>
          <p:cNvPr id="5" name="s17-source-rule">
            <a:extLst xmlns:a="http://schemas.openxmlformats.org/drawingml/2006/main">
              <a:ext uri="{FF2B5EF4-FFF2-40B4-BE49-F238E27FC236}">
                <a16:creationId xmlns:a16="http://schemas.microsoft.com/office/drawing/2014/main" id="{60A75CDA-0E50-44DD-B92F-0A38DE09839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7-sources">
            <a:extLst xmlns:a="http://schemas.openxmlformats.org/drawingml/2006/main">
              <a:ext uri="{FF2B5EF4-FFF2-40B4-BE49-F238E27FC236}">
                <a16:creationId xmlns:a16="http://schemas.microsoft.com/office/drawing/2014/main" id="{E83A3CD6-F843-49B9-A8E2-CAC22FE4E27F}"/>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docs/CYCLIC_METHOD_REVIEW.md; docs/FORMAL_CONTRACT.md; audit/replay_graph_certificate.py</a:t>
            </a:r>
          </a:p>
        </p:txBody>
      </p:sp>
      <p:sp>
        <p:nvSpPr>
          <p:cNvPr id="7" name="s17-footer-rule">
            <a:extLst xmlns:a="http://schemas.openxmlformats.org/drawingml/2006/main">
              <a:ext uri="{FF2B5EF4-FFF2-40B4-BE49-F238E27FC236}">
                <a16:creationId xmlns:a16="http://schemas.microsoft.com/office/drawing/2014/main" id="{1AE1444E-AAF7-471C-979D-D02EE1F64469}"/>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7-footer">
            <a:extLst xmlns:a="http://schemas.openxmlformats.org/drawingml/2006/main">
              <a:ext uri="{FF2B5EF4-FFF2-40B4-BE49-F238E27FC236}">
                <a16:creationId xmlns:a16="http://schemas.microsoft.com/office/drawing/2014/main" id="{C02399CF-68D2-49BA-A5E0-EFA950991E01}"/>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7-page">
            <a:extLst xmlns:a="http://schemas.openxmlformats.org/drawingml/2006/main">
              <a:ext uri="{FF2B5EF4-FFF2-40B4-BE49-F238E27FC236}">
                <a16:creationId xmlns:a16="http://schemas.microsoft.com/office/drawing/2014/main" id="{1367C507-2B05-43E6-98C3-FF0F87B1CEFE}"/>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17</a:t>
            </a:r>
          </a:p>
        </p:txBody>
      </p:sp>
      <p:sp>
        <p:nvSpPr>
          <p:cNvPr id="10" name="graph-limit-claim-panel">
            <a:extLst xmlns:a="http://schemas.openxmlformats.org/drawingml/2006/main">
              <a:ext uri="{FF2B5EF4-FFF2-40B4-BE49-F238E27FC236}">
                <a16:creationId xmlns:a16="http://schemas.microsoft.com/office/drawing/2014/main" id="{AE6C8B50-F623-4A1C-929F-3B4BF6536DE3}"/>
              </a:ext>
            </a:extLst>
          </p:cNvPr>
          <p:cNvSpPr>
            <a:spLocks xmlns:a="http://schemas.openxmlformats.org/drawingml/2006/main" noGrp="1"/>
          </p:cNvSpPr>
          <p:nvPr/>
        </p:nvSpPr>
        <p:spPr>
          <a:xfrm xmlns:a="http://schemas.openxmlformats.org/drawingml/2006/main">
            <a:off x="781050" y="2457450"/>
            <a:ext cx="4905375" cy="2838450"/>
          </a:xfrm>
          <a:prstGeom xmlns:a="http://schemas.openxmlformats.org/drawingml/2006/main" prst="roundRect">
            <a:avLst>
              <a:gd name="adj" fmla="val 2685"/>
            </a:avLst>
          </a:prstGeom>
          <a:solidFill xmlns:a="http://schemas.openxmlformats.org/drawingml/2006/main">
            <a:srgbClr val="FFFDF8"/>
          </a:solidFill>
          <a:ln xmlns:a="http://schemas.openxmlformats.org/drawingml/2006/main" w="9525">
            <a:solidFill>
              <a:srgbClr val="D7D0C4"/>
            </a:solidFill>
            <a:prstDash val="solid"/>
          </a:ln>
        </p:spPr>
      </p:sp>
      <p:sp>
        <p:nvSpPr>
          <p:cNvPr id="11" name="graph-limit-claim-accent">
            <a:extLst xmlns:a="http://schemas.openxmlformats.org/drawingml/2006/main">
              <a:ext uri="{FF2B5EF4-FFF2-40B4-BE49-F238E27FC236}">
                <a16:creationId xmlns:a16="http://schemas.microsoft.com/office/drawing/2014/main" id="{4022067D-65D0-4CA3-A69C-E29EA6C6583F}"/>
              </a:ext>
            </a:extLst>
          </p:cNvPr>
          <p:cNvSpPr>
            <a:spLocks xmlns:a="http://schemas.openxmlformats.org/drawingml/2006/main" noGrp="1"/>
          </p:cNvSpPr>
          <p:nvPr/>
        </p:nvSpPr>
        <p:spPr>
          <a:xfrm xmlns:a="http://schemas.openxmlformats.org/drawingml/2006/main">
            <a:off x="781050" y="2457450"/>
            <a:ext cx="57150" cy="28384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graph-limit-claim-title">
            <a:extLst xmlns:a="http://schemas.openxmlformats.org/drawingml/2006/main">
              <a:ext uri="{FF2B5EF4-FFF2-40B4-BE49-F238E27FC236}">
                <a16:creationId xmlns:a16="http://schemas.microsoft.com/office/drawing/2014/main" id="{2C60D01C-19C9-4707-A308-4BC012AB5EDC}"/>
              </a:ext>
            </a:extLst>
          </p:cNvPr>
          <p:cNvSpPr>
            <a:spLocks xmlns:a="http://schemas.openxmlformats.org/drawingml/2006/main" noGrp="1"/>
          </p:cNvSpPr>
          <p:nvPr/>
        </p:nvSpPr>
        <p:spPr>
          <a:xfrm xmlns:a="http://schemas.openxmlformats.org/drawingml/2006/main">
            <a:off x="990600" y="2628900"/>
            <a:ext cx="4486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CHECKED UNDER THE MODEL</a:t>
            </a:r>
          </a:p>
        </p:txBody>
      </p:sp>
      <p:sp>
        <p:nvSpPr>
          <p:cNvPr id="13" name="graph-limit-claim-body">
            <a:extLst xmlns:a="http://schemas.openxmlformats.org/drawingml/2006/main">
              <a:ext uri="{FF2B5EF4-FFF2-40B4-BE49-F238E27FC236}">
                <a16:creationId xmlns:a16="http://schemas.microsoft.com/office/drawing/2014/main" id="{8CF772BE-2575-4F66-834D-056D01B56FDB}"/>
              </a:ext>
            </a:extLst>
          </p:cNvPr>
          <p:cNvSpPr>
            <a:spLocks xmlns:a="http://schemas.openxmlformats.org/drawingml/2006/main" noGrp="1"/>
          </p:cNvSpPr>
          <p:nvPr/>
        </p:nvSpPr>
        <p:spPr>
          <a:xfrm xmlns:a="http://schemas.openxmlformats.org/drawingml/2006/main">
            <a:off x="990600" y="3105150"/>
            <a:ext cx="44862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46B7A"/>
                </a:solidFill>
                <a:latin typeface="Menlo"/>
                <a:ea typeface="Menlo"/>
                <a:cs typeface="Menlo"/>
              </a:defRPr>
            </a:defPPr>
          </a:lstStyle>
          <a:p xmlns:a="http://schemas.openxmlformats.org/drawingml/2006/main">
            <a:pPr algn="l">
              <a:defRPr sz="1275" b="0" i="0">
                <a:solidFill>
                  <a:srgbClr val="646B7A"/>
                </a:solidFill>
                <a:latin typeface="Menlo"/>
                <a:ea typeface="Menlo"/>
                <a:cs typeface="Menlo"/>
              </a:defRPr>
            </a:pPr>
            <a:r>
              <a:rPr sz="1275" b="0" i="0">
                <a:solidFill>
                  <a:srgbClr val="646B7A"/>
                </a:solidFill>
                <a:latin typeface="Menlo"/>
                <a:ea typeface="Menlo"/>
                <a:cs typeface="Menlo"/>
              </a:rPr>
              <a:t>Finite JSON control graph</a:t>
            </a:r>
          </a:p>
          <a:p xmlns:a="http://schemas.openxmlformats.org/drawingml/2006/main">
            <a:pPr algn="l">
              <a:defRPr sz="1275" b="0" i="0">
                <a:solidFill>
                  <a:srgbClr val="646B7A"/>
                </a:solidFill>
                <a:latin typeface="Menlo"/>
                <a:ea typeface="Menlo"/>
                <a:cs typeface="Menlo"/>
              </a:defRPr>
            </a:pPr>
            <a:r>
              <a:rPr sz="1275" b="0" i="0">
                <a:solidFill>
                  <a:srgbClr val="646B7A"/>
                </a:solidFill>
                <a:latin typeface="Menlo"/>
                <a:ea typeface="Menlo"/>
                <a:cs typeface="Menlo"/>
              </a:rPr>
              <a:t>Public inputs equal by identity</a:t>
            </a:r>
          </a:p>
          <a:p xmlns:a="http://schemas.openxmlformats.org/drawingml/2006/main">
            <a:pPr algn="l">
              <a:defRPr sz="1275" b="0" i="0">
                <a:solidFill>
                  <a:srgbClr val="646B7A"/>
                </a:solidFill>
                <a:latin typeface="Menlo"/>
                <a:ea typeface="Menlo"/>
                <a:cs typeface="Menlo"/>
              </a:defRPr>
            </a:pPr>
            <a:r>
              <a:rPr sz="1275" b="0" i="0">
                <a:solidFill>
                  <a:srgbClr val="646B7A"/>
                </a:solidFill>
                <a:latin typeface="Menlo"/>
                <a:ea typeface="Menlo"/>
                <a:cs typeface="Menlo"/>
              </a:rPr>
              <a:t>Secret choices universally paired</a:t>
            </a:r>
          </a:p>
          <a:p xmlns:a="http://schemas.openxmlformats.org/drawingml/2006/main">
            <a:pPr algn="l">
              <a:defRPr sz="1275" b="0" i="0">
                <a:solidFill>
                  <a:srgbClr val="646B7A"/>
                </a:solidFill>
                <a:latin typeface="Menlo"/>
                <a:ea typeface="Menlo"/>
                <a:cs typeface="Menlo"/>
              </a:defRPr>
            </a:pPr>
            <a:r>
              <a:rPr sz="1275" b="0" i="0">
                <a:solidFill>
                  <a:srgbClr val="646B7A"/>
                </a:solidFill>
                <a:latin typeface="Menlo"/>
                <a:ea typeface="Menlo"/>
                <a:cs typeface="Menlo"/>
              </a:rPr>
              <a:t>Per-call usage-event prefixes</a:t>
            </a:r>
          </a:p>
          <a:p xmlns:a="http://schemas.openxmlformats.org/drawingml/2006/main">
            <a:pPr algn="l">
              <a:defRPr sz="1275" b="0" i="0">
                <a:solidFill>
                  <a:srgbClr val="646B7A"/>
                </a:solidFill>
                <a:latin typeface="Menlo"/>
                <a:ea typeface="Menlo"/>
                <a:cs typeface="Menlo"/>
              </a:defRPr>
            </a:pPr>
            <a:r>
              <a:rPr sz="1275" b="0" i="0">
                <a:solidFill>
                  <a:srgbClr val="646B7A"/>
                </a:solidFill>
                <a:latin typeface="Menlo"/>
                <a:ea typeface="Menlo"/>
                <a:cs typeface="Menlo"/>
              </a:rPr>
              <a:t>Shared Ω(contract, index, request)</a:t>
            </a:r>
          </a:p>
        </p:txBody>
      </p:sp>
      <p:sp>
        <p:nvSpPr>
          <p:cNvPr id="14" name="graph-limit-open-panel">
            <a:extLst xmlns:a="http://schemas.openxmlformats.org/drawingml/2006/main">
              <a:ext uri="{FF2B5EF4-FFF2-40B4-BE49-F238E27FC236}">
                <a16:creationId xmlns:a16="http://schemas.microsoft.com/office/drawing/2014/main" id="{05B385FE-EEFD-493E-826E-402214704C02}"/>
              </a:ext>
            </a:extLst>
          </p:cNvPr>
          <p:cNvSpPr>
            <a:spLocks xmlns:a="http://schemas.openxmlformats.org/drawingml/2006/main" noGrp="1"/>
          </p:cNvSpPr>
          <p:nvPr/>
        </p:nvSpPr>
        <p:spPr>
          <a:xfrm xmlns:a="http://schemas.openxmlformats.org/drawingml/2006/main">
            <a:off x="6496050" y="2457450"/>
            <a:ext cx="4905375" cy="2838450"/>
          </a:xfrm>
          <a:prstGeom xmlns:a="http://schemas.openxmlformats.org/drawingml/2006/main" prst="roundRect">
            <a:avLst>
              <a:gd name="adj" fmla="val 2685"/>
            </a:avLst>
          </a:prstGeom>
          <a:solidFill xmlns:a="http://schemas.openxmlformats.org/drawingml/2006/main">
            <a:srgbClr val="FFFDF8"/>
          </a:solidFill>
          <a:ln xmlns:a="http://schemas.openxmlformats.org/drawingml/2006/main" w="9525">
            <a:solidFill>
              <a:srgbClr val="D7D0C4"/>
            </a:solidFill>
            <a:prstDash val="solid"/>
          </a:ln>
        </p:spPr>
      </p:sp>
      <p:sp>
        <p:nvSpPr>
          <p:cNvPr id="15" name="graph-limit-open-accent">
            <a:extLst xmlns:a="http://schemas.openxmlformats.org/drawingml/2006/main">
              <a:ext uri="{FF2B5EF4-FFF2-40B4-BE49-F238E27FC236}">
                <a16:creationId xmlns:a16="http://schemas.microsoft.com/office/drawing/2014/main" id="{C79BC27B-0A8F-43F1-BB24-C488C5C372CF}"/>
              </a:ext>
            </a:extLst>
          </p:cNvPr>
          <p:cNvSpPr>
            <a:spLocks xmlns:a="http://schemas.openxmlformats.org/drawingml/2006/main" noGrp="1"/>
          </p:cNvSpPr>
          <p:nvPr/>
        </p:nvSpPr>
        <p:spPr>
          <a:xfrm xmlns:a="http://schemas.openxmlformats.org/drawingml/2006/main">
            <a:off x="6496050" y="2457450"/>
            <a:ext cx="57150" cy="283845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16" name="graph-limit-open-title">
            <a:extLst xmlns:a="http://schemas.openxmlformats.org/drawingml/2006/main">
              <a:ext uri="{FF2B5EF4-FFF2-40B4-BE49-F238E27FC236}">
                <a16:creationId xmlns:a16="http://schemas.microsoft.com/office/drawing/2014/main" id="{4A85E586-3D97-47A5-8F8C-7514E2E52F4B}"/>
              </a:ext>
            </a:extLst>
          </p:cNvPr>
          <p:cNvSpPr>
            <a:spLocks xmlns:a="http://schemas.openxmlformats.org/drawingml/2006/main" noGrp="1"/>
          </p:cNvSpPr>
          <p:nvPr/>
        </p:nvSpPr>
        <p:spPr>
          <a:xfrm xmlns:a="http://schemas.openxmlformats.org/drawingml/2006/main">
            <a:off x="6705600" y="2628900"/>
            <a:ext cx="44862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NOT ESTABLISHED</a:t>
            </a:r>
          </a:p>
        </p:txBody>
      </p:sp>
      <p:sp>
        <p:nvSpPr>
          <p:cNvPr id="17" name="graph-limit-open-body">
            <a:extLst xmlns:a="http://schemas.openxmlformats.org/drawingml/2006/main">
              <a:ext uri="{FF2B5EF4-FFF2-40B4-BE49-F238E27FC236}">
                <a16:creationId xmlns:a16="http://schemas.microsoft.com/office/drawing/2014/main" id="{597FFA60-53AB-4791-A062-07F11C94BEAA}"/>
              </a:ext>
            </a:extLst>
          </p:cNvPr>
          <p:cNvSpPr>
            <a:spLocks xmlns:a="http://schemas.openxmlformats.org/drawingml/2006/main" noGrp="1"/>
          </p:cNvSpPr>
          <p:nvPr/>
        </p:nvSpPr>
        <p:spPr>
          <a:xfrm xmlns:a="http://schemas.openxmlformats.org/drawingml/2006/main">
            <a:off x="6705600" y="3105150"/>
            <a:ext cx="44862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46B7A"/>
                </a:solidFill>
                <a:latin typeface="Avenir Next"/>
                <a:ea typeface="Avenir Next"/>
                <a:cs typeface="Avenir Next"/>
              </a:defRPr>
            </a:defPPr>
          </a:lstStyle>
          <a:p xmlns:a="http://schemas.openxmlformats.org/drawingml/2006/main">
            <a:pPr algn="l">
              <a:defRPr sz="1275" b="0" i="0">
                <a:solidFill>
                  <a:srgbClr val="646B7A"/>
                </a:solidFill>
                <a:latin typeface="Avenir Next"/>
                <a:ea typeface="Avenir Next"/>
                <a:cs typeface="Avenir Next"/>
              </a:defRPr>
            </a:pPr>
            <a:r>
              <a:rPr sz="1275" b="0" i="0">
                <a:solidFill>
                  <a:srgbClr val="646B7A"/>
                </a:solidFill>
                <a:latin typeface="Avenir Next"/>
                <a:ea typeface="Avenir Next"/>
                <a:cs typeface="Avenir Next"/>
              </a:rPr>
              <a:t>Source/framework → graph fidelity</a:t>
            </a:r>
          </a:p>
          <a:p xmlns:a="http://schemas.openxmlformats.org/drawingml/2006/main">
            <a:pPr algn="l">
              <a:defRPr sz="1275" b="0" i="0">
                <a:solidFill>
                  <a:srgbClr val="646B7A"/>
                </a:solidFill>
                <a:latin typeface="Avenir Next"/>
                <a:ea typeface="Avenir Next"/>
                <a:cs typeface="Avenir Next"/>
              </a:defRPr>
            </a:pPr>
            <a:r>
              <a:rPr sz="1275" b="0" i="0">
                <a:solidFill>
                  <a:srgbClr val="646B7A"/>
                </a:solidFill>
                <a:latin typeface="Avenir Next"/>
                <a:ea typeface="Avenir Next"/>
                <a:cs typeface="Avenir Next"/>
              </a:rPr>
              <a:t>Real provider request serialization</a:t>
            </a:r>
          </a:p>
          <a:p xmlns:a="http://schemas.openxmlformats.org/drawingml/2006/main">
            <a:pPr algn="l">
              <a:defRPr sz="1275" b="0" i="0">
                <a:solidFill>
                  <a:srgbClr val="646B7A"/>
                </a:solidFill>
                <a:latin typeface="Avenir Next"/>
                <a:ea typeface="Avenir Next"/>
                <a:cs typeface="Avenir Next"/>
              </a:defRPr>
            </a:pPr>
            <a:r>
              <a:rPr sz="1275" b="0" i="0">
                <a:solidFill>
                  <a:srgbClr val="646B7A"/>
                </a:solidFill>
                <a:latin typeface="Avenir Next"/>
                <a:ea typeface="Avenir Next"/>
                <a:cs typeface="Avenir Next"/>
              </a:rPr>
              <a:t>Termination or finite total-cost bound</a:t>
            </a:r>
          </a:p>
          <a:p xmlns:a="http://schemas.openxmlformats.org/drawingml/2006/main">
            <a:pPr algn="l">
              <a:defRPr sz="1275" b="0" i="0">
                <a:solidFill>
                  <a:srgbClr val="646B7A"/>
                </a:solidFill>
                <a:latin typeface="Avenir Next"/>
                <a:ea typeface="Avenir Next"/>
                <a:cs typeface="Avenir Next"/>
              </a:defRPr>
            </a:pPr>
            <a:r>
              <a:rPr sz="1275" b="0" i="0">
                <a:solidFill>
                  <a:srgbClr val="646B7A"/>
                </a:solidFill>
                <a:latin typeface="Avenir Next"/>
                <a:ea typeface="Avenir Next"/>
                <a:cs typeface="Avenir Next"/>
              </a:rPr>
              <a:t>Timing, tools, output confidentiality</a:t>
            </a:r>
          </a:p>
          <a:p xmlns:a="http://schemas.openxmlformats.org/drawingml/2006/main">
            <a:pPr algn="l">
              <a:defRPr sz="1275" b="0" i="0">
                <a:solidFill>
                  <a:srgbClr val="646B7A"/>
                </a:solidFill>
                <a:latin typeface="Avenir Next"/>
                <a:ea typeface="Avenir Next"/>
                <a:cs typeface="Avenir Next"/>
              </a:defRPr>
            </a:pPr>
            <a:r>
              <a:rPr sz="1275" b="0" i="0">
                <a:solidFill>
                  <a:srgbClr val="646B7A"/>
                </a:solidFill>
                <a:latin typeface="Avenir Next"/>
                <a:ea typeface="Avenir Next"/>
                <a:cs typeface="Avenir Next"/>
              </a:rPr>
              <a:t>Mechanized relational metatheory</a:t>
            </a:r>
          </a:p>
        </p:txBody>
      </p:sp>
      <p:sp>
        <p:nvSpPr>
          <p:cNvPr id="18" name="graph-limit-close">
            <a:extLst xmlns:a="http://schemas.openxmlformats.org/drawingml/2006/main">
              <a:ext uri="{FF2B5EF4-FFF2-40B4-BE49-F238E27FC236}">
                <a16:creationId xmlns:a16="http://schemas.microsoft.com/office/drawing/2014/main" id="{EB6C8FB5-8A8F-41CF-80D2-DFD9BAEA2E7E}"/>
              </a:ext>
            </a:extLst>
          </p:cNvPr>
          <p:cNvSpPr>
            <a:spLocks xmlns:a="http://schemas.openxmlformats.org/drawingml/2006/main" noGrp="1"/>
          </p:cNvSpPr>
          <p:nvPr/>
        </p:nvSpPr>
        <p:spPr>
          <a:xfrm xmlns:a="http://schemas.openxmlformats.org/drawingml/2006/main">
            <a:off x="904875" y="5467350"/>
            <a:ext cx="1038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141B2B"/>
                </a:solidFill>
                <a:latin typeface="Avenir Next"/>
                <a:ea typeface="Avenir Next"/>
                <a:cs typeface="Avenir Next"/>
              </a:defRPr>
            </a:defPPr>
          </a:lstStyle>
          <a:p xmlns:a="http://schemas.openxmlformats.org/drawingml/2006/main">
            <a:pPr algn="ctr">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A verified certificate is a checked graph-model result, not a verified deployed workflow.</a:t>
            </a:r>
          </a:p>
        </p:txBody>
      </p:sp>
    </p:spTree>
    <p:extLst>
      <p:ext uri="{BB962C8B-B14F-4D97-AF65-F5344CB8AC3E}">
        <p14:creationId xmlns:p14="http://schemas.microsoft.com/office/powerpoint/2010/main" val="990050760"/>
      </p:ext>
    </p:extLst>
  </p:cSld>
</p:sld>
</file>

<file path=ppt/slides/slide18.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19" name="s18-brand">
            <a:extLst xmlns:a="http://schemas.openxmlformats.org/drawingml/2006/main">
              <a:ext uri="{FF2B5EF4-FFF2-40B4-BE49-F238E27FC236}">
                <a16:creationId xmlns:a16="http://schemas.microsoft.com/office/drawing/2014/main" id="{D0DE5244-9CFE-47F0-ABE7-6112F562E964}"/>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8-section">
            <a:extLst xmlns:a="http://schemas.openxmlformats.org/drawingml/2006/main">
              <a:ext uri="{FF2B5EF4-FFF2-40B4-BE49-F238E27FC236}">
                <a16:creationId xmlns:a16="http://schemas.microsoft.com/office/drawing/2014/main" id="{F6A3B547-2449-415D-9FFB-4FA74FF39719}"/>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CONCLUSION</a:t>
            </a:r>
          </a:p>
        </p:txBody>
      </p:sp>
      <p:sp>
        <p:nvSpPr>
          <p:cNvPr id="3" name="s18-title">
            <a:extLst xmlns:a="http://schemas.openxmlformats.org/drawingml/2006/main">
              <a:ext uri="{FF2B5EF4-FFF2-40B4-BE49-F238E27FC236}">
                <a16:creationId xmlns:a16="http://schemas.microsoft.com/office/drawing/2014/main" id="{811B550F-D20D-467E-8F0B-85D8E9D12654}"/>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86"/>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 narrow relational check can cover cycles without promising a budget</a:t>
            </a:r>
          </a:p>
        </p:txBody>
      </p:sp>
      <p:sp>
        <p:nvSpPr>
          <p:cNvPr id="4" name="s18-subtitle">
            <a:extLst xmlns:a="http://schemas.openxmlformats.org/drawingml/2006/main">
              <a:ext uri="{FF2B5EF4-FFF2-40B4-BE49-F238E27FC236}">
                <a16:creationId xmlns:a16="http://schemas.microsoft.com/office/drawing/2014/main" id="{06C95EFC-9BD1-42FC-8A32-8C863DD3055B}"/>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Keep the property, input model, oracle, and evidence distinct.</a:t>
            </a:r>
          </a:p>
        </p:txBody>
      </p:sp>
      <p:sp>
        <p:nvSpPr>
          <p:cNvPr id="5" name="s18-source-rule">
            <a:extLst xmlns:a="http://schemas.openxmlformats.org/drawingml/2006/main">
              <a:ext uri="{FF2B5EF4-FFF2-40B4-BE49-F238E27FC236}">
                <a16:creationId xmlns:a16="http://schemas.microsoft.com/office/drawing/2014/main" id="{A8CD5203-1B04-4464-B2E4-D133E952E67C}"/>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8-sources">
            <a:extLst xmlns:a="http://schemas.openxmlformats.org/drawingml/2006/main">
              <a:ext uri="{FF2B5EF4-FFF2-40B4-BE49-F238E27FC236}">
                <a16:creationId xmlns:a16="http://schemas.microsoft.com/office/drawing/2014/main" id="{14133C36-2979-4CF7-9AD4-91A8A29A05CE}"/>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docs/CYCLIC_METHOD_REVIEW.md; docs/PUBLICATION_READINESS.md; graph_candidate_sources.md</a:t>
            </a:r>
          </a:p>
        </p:txBody>
      </p:sp>
      <p:sp>
        <p:nvSpPr>
          <p:cNvPr id="7" name="s18-footer-rule">
            <a:extLst xmlns:a="http://schemas.openxmlformats.org/drawingml/2006/main">
              <a:ext uri="{FF2B5EF4-FFF2-40B4-BE49-F238E27FC236}">
                <a16:creationId xmlns:a16="http://schemas.microsoft.com/office/drawing/2014/main" id="{F099C855-69FD-47A3-93CF-B9F5B7FEF4E9}"/>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8-footer">
            <a:extLst xmlns:a="http://schemas.openxmlformats.org/drawingml/2006/main">
              <a:ext uri="{FF2B5EF4-FFF2-40B4-BE49-F238E27FC236}">
                <a16:creationId xmlns:a16="http://schemas.microsoft.com/office/drawing/2014/main" id="{AC25246E-F0DE-4123-91D1-62CB26662D84}"/>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8-page">
            <a:extLst xmlns:a="http://schemas.openxmlformats.org/drawingml/2006/main">
              <a:ext uri="{FF2B5EF4-FFF2-40B4-BE49-F238E27FC236}">
                <a16:creationId xmlns:a16="http://schemas.microsoft.com/office/drawing/2014/main" id="{B89357E7-DAF9-4E5D-806F-F4FE88BF28B6}"/>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18</a:t>
            </a:r>
          </a:p>
        </p:txBody>
      </p:sp>
      <p:sp>
        <p:nvSpPr>
          <p:cNvPr id="10" name="limits-supported-panel">
            <a:extLst xmlns:a="http://schemas.openxmlformats.org/drawingml/2006/main">
              <a:ext uri="{FF2B5EF4-FFF2-40B4-BE49-F238E27FC236}">
                <a16:creationId xmlns:a16="http://schemas.microsoft.com/office/drawing/2014/main" id="{B67C9115-6F2F-4A12-B4F7-3CDB3EB9026E}"/>
              </a:ext>
            </a:extLst>
          </p:cNvPr>
          <p:cNvSpPr>
            <a:spLocks xmlns:a="http://schemas.openxmlformats.org/drawingml/2006/main" noGrp="1"/>
          </p:cNvSpPr>
          <p:nvPr/>
        </p:nvSpPr>
        <p:spPr>
          <a:xfrm xmlns:a="http://schemas.openxmlformats.org/drawingml/2006/main">
            <a:off x="800100" y="2524125"/>
            <a:ext cx="4953000" cy="2619375"/>
          </a:xfrm>
          <a:prstGeom xmlns:a="http://schemas.openxmlformats.org/drawingml/2006/main" prst="roundRect">
            <a:avLst>
              <a:gd name="adj" fmla="val 2909"/>
            </a:avLst>
          </a:prstGeom>
          <a:solidFill xmlns:a="http://schemas.openxmlformats.org/drawingml/2006/main">
            <a:srgbClr val="1C2638"/>
          </a:solidFill>
          <a:ln xmlns:a="http://schemas.openxmlformats.org/drawingml/2006/main" w="9525">
            <a:solidFill>
              <a:srgbClr val="343D50"/>
            </a:solidFill>
            <a:prstDash val="solid"/>
          </a:ln>
        </p:spPr>
      </p:sp>
      <p:sp>
        <p:nvSpPr>
          <p:cNvPr id="11" name="limits-supported-accent">
            <a:extLst xmlns:a="http://schemas.openxmlformats.org/drawingml/2006/main">
              <a:ext uri="{FF2B5EF4-FFF2-40B4-BE49-F238E27FC236}">
                <a16:creationId xmlns:a16="http://schemas.microsoft.com/office/drawing/2014/main" id="{A3199154-B4F0-4265-A9E3-AF868EC11E78}"/>
              </a:ext>
            </a:extLst>
          </p:cNvPr>
          <p:cNvSpPr>
            <a:spLocks xmlns:a="http://schemas.openxmlformats.org/drawingml/2006/main" noGrp="1"/>
          </p:cNvSpPr>
          <p:nvPr/>
        </p:nvSpPr>
        <p:spPr>
          <a:xfrm xmlns:a="http://schemas.openxmlformats.org/drawingml/2006/main">
            <a:off x="800100" y="2524125"/>
            <a:ext cx="57150" cy="2619375"/>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limits-supported-title">
            <a:extLst xmlns:a="http://schemas.openxmlformats.org/drawingml/2006/main">
              <a:ext uri="{FF2B5EF4-FFF2-40B4-BE49-F238E27FC236}">
                <a16:creationId xmlns:a16="http://schemas.microsoft.com/office/drawing/2014/main" id="{778B5BE5-6E1B-4AFF-95B9-15429883C62C}"/>
              </a:ext>
            </a:extLst>
          </p:cNvPr>
          <p:cNvSpPr>
            <a:spLocks xmlns:a="http://schemas.openxmlformats.org/drawingml/2006/main" noGrp="1"/>
          </p:cNvSpPr>
          <p:nvPr/>
        </p:nvSpPr>
        <p:spPr>
          <a:xfrm xmlns:a="http://schemas.openxmlformats.org/drawingml/2006/main">
            <a:off x="1009650" y="269557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SUPPORTED ENVELOPE</a:t>
            </a:r>
          </a:p>
        </p:txBody>
      </p:sp>
      <p:sp>
        <p:nvSpPr>
          <p:cNvPr id="13" name="limits-supported-body">
            <a:extLst xmlns:a="http://schemas.openxmlformats.org/drawingml/2006/main">
              <a:ext uri="{FF2B5EF4-FFF2-40B4-BE49-F238E27FC236}">
                <a16:creationId xmlns:a16="http://schemas.microsoft.com/office/drawing/2014/main" id="{BE788600-A9B6-4F2B-93D2-8CD51EC76BCF}"/>
              </a:ext>
            </a:extLst>
          </p:cNvPr>
          <p:cNvSpPr>
            <a:spLocks xmlns:a="http://schemas.openxmlformats.org/drawingml/2006/main" noGrp="1"/>
          </p:cNvSpPr>
          <p:nvPr/>
        </p:nvSpPr>
        <p:spPr>
          <a:xfrm xmlns:a="http://schemas.openxmlformats.org/drawingml/2006/main">
            <a:off x="1009650" y="3171825"/>
            <a:ext cx="45339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Avenir Next"/>
                <a:ea typeface="Avenir Next"/>
                <a:cs typeface="Avenir Next"/>
              </a:defRPr>
            </a:defPPr>
          </a:lstStyle>
          <a:p xmlns:a="http://schemas.openxmlformats.org/drawingml/2006/main">
            <a:pPr algn="l">
              <a:defRPr sz="1425" b="0" i="0">
                <a:solidFill>
                  <a:srgbClr val="B8C1D1"/>
                </a:solidFill>
                <a:latin typeface="Avenir Next"/>
                <a:ea typeface="Avenir Next"/>
                <a:cs typeface="Avenir Next"/>
              </a:defRPr>
            </a:pPr>
            <a:r>
              <a:rPr sz="1425" b="0" i="0">
                <a:solidFill>
                  <a:srgbClr val="B8C1D1"/>
                </a:solidFill>
                <a:latin typeface="Avenir Next"/>
                <a:ea typeface="Avenir Next"/>
                <a:cs typeface="Avenir Next"/>
              </a:rPr>
              <a:t>Local structural signature check</a:t>
            </a:r>
          </a:p>
          <a:p xmlns:a="http://schemas.openxmlformats.org/drawingml/2006/main">
            <a:pPr algn="l">
              <a:defRPr sz="1425" b="0" i="0">
                <a:solidFill>
                  <a:srgbClr val="B8C1D1"/>
                </a:solidFill>
                <a:latin typeface="Avenir Next"/>
                <a:ea typeface="Avenir Next"/>
                <a:cs typeface="Avenir Next"/>
              </a:defRPr>
            </a:pPr>
            <a:r>
              <a:rPr sz="1425" b="0" i="0">
                <a:solidFill>
                  <a:srgbClr val="B8C1D1"/>
                </a:solidFill>
                <a:latin typeface="Avenir Next"/>
                <a:ea typeface="Avenir Next"/>
                <a:cs typeface="Avenir Next"/>
              </a:rPr>
              <a:t>Unary token bounds under declared caps</a:t>
            </a:r>
          </a:p>
          <a:p xmlns:a="http://schemas.openxmlformats.org/drawingml/2006/main">
            <a:pPr algn="l">
              <a:defRPr sz="1425" b="0" i="0">
                <a:solidFill>
                  <a:srgbClr val="B8C1D1"/>
                </a:solidFill>
                <a:latin typeface="Avenir Next"/>
                <a:ea typeface="Avenir Next"/>
                <a:cs typeface="Avenir Next"/>
              </a:defRPr>
            </a:pPr>
            <a:r>
              <a:rPr sz="1425" b="0" i="0">
                <a:solidFill>
                  <a:srgbClr val="B8C1D1"/>
                </a:solidFill>
                <a:latin typeface="Avenir Next"/>
                <a:ea typeface="Avenir Next"/>
                <a:cs typeface="Avenir Next"/>
              </a:rPr>
              <a:t>Matched two-call alignment for compatible contracts</a:t>
            </a:r>
          </a:p>
        </p:txBody>
      </p:sp>
      <p:sp>
        <p:nvSpPr>
          <p:cNvPr id="14" name="limits-open-panel">
            <a:extLst xmlns:a="http://schemas.openxmlformats.org/drawingml/2006/main">
              <a:ext uri="{FF2B5EF4-FFF2-40B4-BE49-F238E27FC236}">
                <a16:creationId xmlns:a16="http://schemas.microsoft.com/office/drawing/2014/main" id="{F4B53779-6886-49BC-AD08-3AD2FEDF2A0F}"/>
              </a:ext>
            </a:extLst>
          </p:cNvPr>
          <p:cNvSpPr>
            <a:spLocks xmlns:a="http://schemas.openxmlformats.org/drawingml/2006/main" noGrp="1"/>
          </p:cNvSpPr>
          <p:nvPr/>
        </p:nvSpPr>
        <p:spPr>
          <a:xfrm xmlns:a="http://schemas.openxmlformats.org/drawingml/2006/main">
            <a:off x="6438900" y="2524125"/>
            <a:ext cx="4953000" cy="2619375"/>
          </a:xfrm>
          <a:prstGeom xmlns:a="http://schemas.openxmlformats.org/drawingml/2006/main" prst="roundRect">
            <a:avLst>
              <a:gd name="adj" fmla="val 2909"/>
            </a:avLst>
          </a:prstGeom>
          <a:solidFill xmlns:a="http://schemas.openxmlformats.org/drawingml/2006/main">
            <a:srgbClr val="1C2638"/>
          </a:solidFill>
          <a:ln xmlns:a="http://schemas.openxmlformats.org/drawingml/2006/main" w="9525">
            <a:solidFill>
              <a:srgbClr val="343D50"/>
            </a:solidFill>
            <a:prstDash val="solid"/>
          </a:ln>
        </p:spPr>
      </p:sp>
      <p:sp>
        <p:nvSpPr>
          <p:cNvPr id="15" name="limits-open-accent">
            <a:extLst xmlns:a="http://schemas.openxmlformats.org/drawingml/2006/main">
              <a:ext uri="{FF2B5EF4-FFF2-40B4-BE49-F238E27FC236}">
                <a16:creationId xmlns:a16="http://schemas.microsoft.com/office/drawing/2014/main" id="{55EF4344-0EE8-4E67-9DB1-64F586AD4484}"/>
              </a:ext>
            </a:extLst>
          </p:cNvPr>
          <p:cNvSpPr>
            <a:spLocks xmlns:a="http://schemas.openxmlformats.org/drawingml/2006/main" noGrp="1"/>
          </p:cNvSpPr>
          <p:nvPr/>
        </p:nvSpPr>
        <p:spPr>
          <a:xfrm xmlns:a="http://schemas.openxmlformats.org/drawingml/2006/main">
            <a:off x="6438900" y="2524125"/>
            <a:ext cx="57150" cy="2619375"/>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limits-open-title">
            <a:extLst xmlns:a="http://schemas.openxmlformats.org/drawingml/2006/main">
              <a:ext uri="{FF2B5EF4-FFF2-40B4-BE49-F238E27FC236}">
                <a16:creationId xmlns:a16="http://schemas.microsoft.com/office/drawing/2014/main" id="{93453FBA-1E6E-4580-BA1A-B48D1359C6A8}"/>
              </a:ext>
            </a:extLst>
          </p:cNvPr>
          <p:cNvSpPr>
            <a:spLocks xmlns:a="http://schemas.openxmlformats.org/drawingml/2006/main" noGrp="1"/>
          </p:cNvSpPr>
          <p:nvPr/>
        </p:nvSpPr>
        <p:spPr>
          <a:xfrm xmlns:a="http://schemas.openxmlformats.org/drawingml/2006/main">
            <a:off x="6648450" y="269557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OPEN / ASSUMPTIONS</a:t>
            </a:r>
          </a:p>
        </p:txBody>
      </p:sp>
      <p:sp>
        <p:nvSpPr>
          <p:cNvPr id="17" name="limits-open-body">
            <a:extLst xmlns:a="http://schemas.openxmlformats.org/drawingml/2006/main">
              <a:ext uri="{FF2B5EF4-FFF2-40B4-BE49-F238E27FC236}">
                <a16:creationId xmlns:a16="http://schemas.microsoft.com/office/drawing/2014/main" id="{165CE4EA-7BE6-4E24-B704-D0B96D1D7A6B}"/>
              </a:ext>
            </a:extLst>
          </p:cNvPr>
          <p:cNvSpPr>
            <a:spLocks xmlns:a="http://schemas.openxmlformats.org/drawingml/2006/main" noGrp="1"/>
          </p:cNvSpPr>
          <p:nvPr/>
        </p:nvSpPr>
        <p:spPr>
          <a:xfrm xmlns:a="http://schemas.openxmlformats.org/drawingml/2006/main">
            <a:off x="6648450" y="3171825"/>
            <a:ext cx="45339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Certificate withholds workflow claim on declassification</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Full provider payload and real tokenizers</a:t>
            </a:r>
          </a:p>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Incomplete rule; three mock precision probes</a:t>
            </a:r>
          </a:p>
        </p:txBody>
      </p:sp>
      <p:sp>
        <p:nvSpPr>
          <p:cNvPr id="18" name="limits-close">
            <a:extLst xmlns:a="http://schemas.openxmlformats.org/drawingml/2006/main">
              <a:ext uri="{FF2B5EF4-FFF2-40B4-BE49-F238E27FC236}">
                <a16:creationId xmlns:a16="http://schemas.microsoft.com/office/drawing/2014/main" id="{F3ECE944-C338-47D9-950C-6C6B9915B6BF}"/>
              </a:ext>
            </a:extLst>
          </p:cNvPr>
          <p:cNvSpPr>
            <a:spLocks xmlns:a="http://schemas.openxmlformats.org/drawingml/2006/main" noGrp="1"/>
          </p:cNvSpPr>
          <p:nvPr/>
        </p:nvSpPr>
        <p:spPr>
          <a:xfrm xmlns:a="http://schemas.openxmlformats.org/drawingml/2006/main">
            <a:off x="1095375" y="53721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1" i="0">
                <a:solidFill>
                  <a:srgbClr val="F5F2EA"/>
                </a:solidFill>
                <a:latin typeface="Avenir Next"/>
                <a:ea typeface="Avenir Next"/>
                <a:cs typeface="Avenir Next"/>
              </a:defRPr>
            </a:defPPr>
          </a:lstStyle>
          <a:p xmlns:a="http://schemas.openxmlformats.org/drawingml/2006/main">
            <a:pPr algn="ctr">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A useful guarantee starts by naming exactly what is observed and compared.</a:t>
            </a:r>
          </a:p>
        </p:txBody>
      </p:sp>
    </p:spTree>
    <p:extLst>
      <p:ext uri="{BB962C8B-B14F-4D97-AF65-F5344CB8AC3E}">
        <p14:creationId xmlns:p14="http://schemas.microsoft.com/office/powerpoint/2010/main" val="2128348335"/>
      </p:ext>
    </p:extLst>
  </p:cSld>
</p:sld>
</file>

<file path=ppt/slides/slide1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s19-brand">
            <a:extLst xmlns:a="http://schemas.openxmlformats.org/drawingml/2006/main">
              <a:ext uri="{FF2B5EF4-FFF2-40B4-BE49-F238E27FC236}">
                <a16:creationId xmlns:a16="http://schemas.microsoft.com/office/drawing/2014/main" id="{56984DC7-A46E-466D-A6C5-775E75FD6F9E}"/>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9-section">
            <a:extLst xmlns:a="http://schemas.openxmlformats.org/drawingml/2006/main">
              <a:ext uri="{FF2B5EF4-FFF2-40B4-BE49-F238E27FC236}">
                <a16:creationId xmlns:a16="http://schemas.microsoft.com/office/drawing/2014/main" id="{5CD7E759-B3A8-4C12-B803-C7E248777A6D}"/>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A1</a:t>
            </a:r>
          </a:p>
        </p:txBody>
      </p:sp>
      <p:sp>
        <p:nvSpPr>
          <p:cNvPr id="3" name="s19-title">
            <a:extLst xmlns:a="http://schemas.openxmlformats.org/drawingml/2006/main">
              <a:ext uri="{FF2B5EF4-FFF2-40B4-BE49-F238E27FC236}">
                <a16:creationId xmlns:a16="http://schemas.microsoft.com/office/drawing/2014/main" id="{30D25688-6F62-477B-BC08-1BF099625F9D}"/>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Version-1 JSON graph schema</a:t>
            </a:r>
          </a:p>
        </p:txBody>
      </p:sp>
      <p:sp>
        <p:nvSpPr>
          <p:cNvPr id="4" name="s19-source-rule">
            <a:extLst xmlns:a="http://schemas.openxmlformats.org/drawingml/2006/main">
              <a:ext uri="{FF2B5EF4-FFF2-40B4-BE49-F238E27FC236}">
                <a16:creationId xmlns:a16="http://schemas.microsoft.com/office/drawing/2014/main" id="{1239F8AF-7618-40C3-8569-C993D4B4075B}"/>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19-sources">
            <a:extLst xmlns:a="http://schemas.openxmlformats.org/drawingml/2006/main">
              <a:ext uri="{FF2B5EF4-FFF2-40B4-BE49-F238E27FC236}">
                <a16:creationId xmlns:a16="http://schemas.microsoft.com/office/drawing/2014/main" id="{9AAE8A08-5B64-4C04-A8FC-880675865F46}"/>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audit/orchgraph.py; docs/CYCLIC_METHOD_REVIEW.md; examples/graphs/accepted/matched_cyclic_chain.json</a:t>
            </a:r>
          </a:p>
        </p:txBody>
      </p:sp>
      <p:sp>
        <p:nvSpPr>
          <p:cNvPr id="6" name="s19-footer-rule">
            <a:extLst xmlns:a="http://schemas.openxmlformats.org/drawingml/2006/main">
              <a:ext uri="{FF2B5EF4-FFF2-40B4-BE49-F238E27FC236}">
                <a16:creationId xmlns:a16="http://schemas.microsoft.com/office/drawing/2014/main" id="{A247C16A-0573-407A-A270-25F1D430C1AA}"/>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19-footer">
            <a:extLst xmlns:a="http://schemas.openxmlformats.org/drawingml/2006/main">
              <a:ext uri="{FF2B5EF4-FFF2-40B4-BE49-F238E27FC236}">
                <a16:creationId xmlns:a16="http://schemas.microsoft.com/office/drawing/2014/main" id="{DA00754F-6199-4AAF-8910-0A855A75E32A}"/>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19-page">
            <a:extLst xmlns:a="http://schemas.openxmlformats.org/drawingml/2006/main">
              <a:ext uri="{FF2B5EF4-FFF2-40B4-BE49-F238E27FC236}">
                <a16:creationId xmlns:a16="http://schemas.microsoft.com/office/drawing/2014/main" id="{1769AC83-CAC9-4BA0-B6D7-CE031CB9E2E6}"/>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A1</a:t>
            </a:r>
          </a:p>
        </p:txBody>
      </p:sp>
      <p:sp>
        <p:nvSpPr>
          <p:cNvPr id="9" name="app-19-0-panel">
            <a:extLst xmlns:a="http://schemas.openxmlformats.org/drawingml/2006/main">
              <a:ext uri="{FF2B5EF4-FFF2-40B4-BE49-F238E27FC236}">
                <a16:creationId xmlns:a16="http://schemas.microsoft.com/office/drawing/2014/main" id="{9FB6DF94-9145-4F47-823E-BDEFC04783A3}"/>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0" name="app-19-0-accent">
            <a:extLst xmlns:a="http://schemas.openxmlformats.org/drawingml/2006/main">
              <a:ext uri="{FF2B5EF4-FFF2-40B4-BE49-F238E27FC236}">
                <a16:creationId xmlns:a16="http://schemas.microsoft.com/office/drawing/2014/main" id="{43CD5EFD-FBD5-4416-8B65-6C57ECE15CF1}"/>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19-0-title">
            <a:extLst xmlns:a="http://schemas.openxmlformats.org/drawingml/2006/main">
              <a:ext uri="{FF2B5EF4-FFF2-40B4-BE49-F238E27FC236}">
                <a16:creationId xmlns:a16="http://schemas.microsoft.com/office/drawing/2014/main" id="{D90A7A1E-46E9-4C42-914D-41F79E112D4C}"/>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Inputs and labels</a:t>
            </a:r>
          </a:p>
        </p:txBody>
      </p:sp>
      <p:sp>
        <p:nvSpPr>
          <p:cNvPr id="12" name="app-19-0-body">
            <a:extLst xmlns:a="http://schemas.openxmlformats.org/drawingml/2006/main">
              <a:ext uri="{FF2B5EF4-FFF2-40B4-BE49-F238E27FC236}">
                <a16:creationId xmlns:a16="http://schemas.microsoft.com/office/drawing/2014/main" id="{452356FA-7BCC-4676-99DE-C6CCE9C8EC3D}"/>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Typed public/secret inputs; public identities seed R.</a:t>
            </a:r>
          </a:p>
        </p:txBody>
      </p:sp>
      <p:sp>
        <p:nvSpPr>
          <p:cNvPr id="13" name="app-19-1-panel">
            <a:extLst xmlns:a="http://schemas.openxmlformats.org/drawingml/2006/main">
              <a:ext uri="{FF2B5EF4-FFF2-40B4-BE49-F238E27FC236}">
                <a16:creationId xmlns:a16="http://schemas.microsoft.com/office/drawing/2014/main" id="{619FF058-EAB7-40C7-B200-2FB9BF6F5980}"/>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4" name="app-19-1-accent">
            <a:extLst xmlns:a="http://schemas.openxmlformats.org/drawingml/2006/main">
              <a:ext uri="{FF2B5EF4-FFF2-40B4-BE49-F238E27FC236}">
                <a16:creationId xmlns:a16="http://schemas.microsoft.com/office/drawing/2014/main" id="{E0EBCF0B-6766-4509-B3CD-55159ED854A2}"/>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19-1-title">
            <a:extLst xmlns:a="http://schemas.openxmlformats.org/drawingml/2006/main">
              <a:ext uri="{FF2B5EF4-FFF2-40B4-BE49-F238E27FC236}">
                <a16:creationId xmlns:a16="http://schemas.microsoft.com/office/drawing/2014/main" id="{278970EF-84E7-44B4-963D-02A5E28C6C32}"/>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Resolved models</a:t>
            </a:r>
          </a:p>
        </p:txBody>
      </p:sp>
      <p:sp>
        <p:nvSpPr>
          <p:cNvPr id="16" name="app-19-1-body">
            <a:extLst xmlns:a="http://schemas.openxmlformats.org/drawingml/2006/main">
              <a:ext uri="{FF2B5EF4-FFF2-40B4-BE49-F238E27FC236}">
                <a16:creationId xmlns:a16="http://schemas.microsoft.com/office/drawing/2014/main" id="{97405FF2-3A0E-4B0C-AD91-9D44C67558CD}"/>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Provider, actual model ID, cap, and optional configured price.</a:t>
            </a:r>
          </a:p>
        </p:txBody>
      </p:sp>
      <p:sp>
        <p:nvSpPr>
          <p:cNvPr id="17" name="app-19-2-panel">
            <a:extLst xmlns:a="http://schemas.openxmlformats.org/drawingml/2006/main">
              <a:ext uri="{FF2B5EF4-FFF2-40B4-BE49-F238E27FC236}">
                <a16:creationId xmlns:a16="http://schemas.microsoft.com/office/drawing/2014/main" id="{A432A892-E29F-4C1A-BCB2-5BC317724877}"/>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8" name="app-19-2-accent">
            <a:extLst xmlns:a="http://schemas.openxmlformats.org/drawingml/2006/main">
              <a:ext uri="{FF2B5EF4-FFF2-40B4-BE49-F238E27FC236}">
                <a16:creationId xmlns:a16="http://schemas.microsoft.com/office/drawing/2014/main" id="{57DDD125-1CBD-4DA5-9AC7-D44099B3C937}"/>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19-2-title">
            <a:extLst xmlns:a="http://schemas.openxmlformats.org/drawingml/2006/main">
              <a:ext uri="{FF2B5EF4-FFF2-40B4-BE49-F238E27FC236}">
                <a16:creationId xmlns:a16="http://schemas.microsoft.com/office/drawing/2014/main" id="{21F02DC1-A839-440A-8D7B-A3B68DA84305}"/>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Call nodes</a:t>
            </a:r>
          </a:p>
        </p:txBody>
      </p:sp>
      <p:sp>
        <p:nvSpPr>
          <p:cNvPr id="20" name="app-19-2-body">
            <a:extLst xmlns:a="http://schemas.openxmlformats.org/drawingml/2006/main">
              <a:ext uri="{FF2B5EF4-FFF2-40B4-BE49-F238E27FC236}">
                <a16:creationId xmlns:a16="http://schemas.microsoft.com/office/drawing/2014/main" id="{DDD07F2E-921F-425C-BFEA-33C969D11D0C}"/>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Exact template; ordered literal/public/register atoms; result register.</a:t>
            </a:r>
          </a:p>
        </p:txBody>
      </p:sp>
      <p:sp>
        <p:nvSpPr>
          <p:cNvPr id="21" name="app-19-3-panel">
            <a:extLst xmlns:a="http://schemas.openxmlformats.org/drawingml/2006/main">
              <a:ext uri="{FF2B5EF4-FFF2-40B4-BE49-F238E27FC236}">
                <a16:creationId xmlns:a16="http://schemas.microsoft.com/office/drawing/2014/main" id="{F3A706FF-F603-4AC1-9B6B-F26AF0CC7DD0}"/>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2" name="app-19-3-accent">
            <a:extLst xmlns:a="http://schemas.openxmlformats.org/drawingml/2006/main">
              <a:ext uri="{FF2B5EF4-FFF2-40B4-BE49-F238E27FC236}">
                <a16:creationId xmlns:a16="http://schemas.microsoft.com/office/drawing/2014/main" id="{2759E775-0D92-4AC9-BA48-67F1DD14EABF}"/>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19-3-title">
            <a:extLst xmlns:a="http://schemas.openxmlformats.org/drawingml/2006/main">
              <a:ext uri="{FF2B5EF4-FFF2-40B4-BE49-F238E27FC236}">
                <a16:creationId xmlns:a16="http://schemas.microsoft.com/office/drawing/2014/main" id="{6C247A2A-5C33-4FAE-B93C-B6494D8F52BD}"/>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Guard nodes</a:t>
            </a:r>
          </a:p>
        </p:txBody>
      </p:sp>
      <p:sp>
        <p:nvSpPr>
          <p:cNvPr id="24" name="app-19-3-body">
            <a:extLst xmlns:a="http://schemas.openxmlformats.org/drawingml/2006/main">
              <a:ext uri="{FF2B5EF4-FFF2-40B4-BE49-F238E27FC236}">
                <a16:creationId xmlns:a16="http://schemas.microsoft.com/office/drawing/2014/main" id="{8ECEA3A1-76B6-4F3C-AEF2-6E065B71253F}"/>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Supported public predicate or Boolean secret guard.</a:t>
            </a:r>
          </a:p>
        </p:txBody>
      </p:sp>
      <p:sp>
        <p:nvSpPr>
          <p:cNvPr id="25" name="app-19-4-panel">
            <a:extLst xmlns:a="http://schemas.openxmlformats.org/drawingml/2006/main">
              <a:ext uri="{FF2B5EF4-FFF2-40B4-BE49-F238E27FC236}">
                <a16:creationId xmlns:a16="http://schemas.microsoft.com/office/drawing/2014/main" id="{AE57C7AC-8804-490D-92AC-CC1253ADC5B5}"/>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6" name="app-19-4-accent">
            <a:extLst xmlns:a="http://schemas.openxmlformats.org/drawingml/2006/main">
              <a:ext uri="{FF2B5EF4-FFF2-40B4-BE49-F238E27FC236}">
                <a16:creationId xmlns:a16="http://schemas.microsoft.com/office/drawing/2014/main" id="{45CEFB9F-2B44-4380-9EDC-AE7FF4C18CB7}"/>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19-4-title">
            <a:extLst xmlns:a="http://schemas.openxmlformats.org/drawingml/2006/main">
              <a:ext uri="{FF2B5EF4-FFF2-40B4-BE49-F238E27FC236}">
                <a16:creationId xmlns:a16="http://schemas.microsoft.com/office/drawing/2014/main" id="{E107259C-2F11-4637-8297-9146BE1C3451}"/>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Register values</a:t>
            </a:r>
          </a:p>
        </p:txBody>
      </p:sp>
      <p:sp>
        <p:nvSpPr>
          <p:cNvPr id="28" name="app-19-4-body">
            <a:extLst xmlns:a="http://schemas.openxmlformats.org/drawingml/2006/main">
              <a:ext uri="{FF2B5EF4-FFF2-40B4-BE49-F238E27FC236}">
                <a16:creationId xmlns:a16="http://schemas.microsoft.com/office/drawing/2014/main" id="{3B1BC5BC-AD0A-4C99-B9A7-D7F33F010246}"/>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Text results carry model token-unit/cap identity; references are graph-local.</a:t>
            </a:r>
          </a:p>
        </p:txBody>
      </p:sp>
    </p:spTree>
    <p:extLst>
      <p:ext uri="{BB962C8B-B14F-4D97-AF65-F5344CB8AC3E}">
        <p14:creationId xmlns:p14="http://schemas.microsoft.com/office/powerpoint/2010/main" val="1856309078"/>
      </p:ext>
    </p:extLst>
  </p:cSld>
</p:sld>
</file>

<file path=ppt/slides/slide20.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9" name="s20-brand">
            <a:extLst xmlns:a="http://schemas.openxmlformats.org/drawingml/2006/main">
              <a:ext uri="{FF2B5EF4-FFF2-40B4-BE49-F238E27FC236}">
                <a16:creationId xmlns:a16="http://schemas.microsoft.com/office/drawing/2014/main" id="{FBC89DFB-1A22-4906-BF85-964014B6F665}"/>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0-section">
            <a:extLst xmlns:a="http://schemas.openxmlformats.org/drawingml/2006/main">
              <a:ext uri="{FF2B5EF4-FFF2-40B4-BE49-F238E27FC236}">
                <a16:creationId xmlns:a16="http://schemas.microsoft.com/office/drawing/2014/main" id="{A187EC0F-559D-4CD5-9BD8-191A53BA3650}"/>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A2</a:t>
            </a:r>
          </a:p>
        </p:txBody>
      </p:sp>
      <p:sp>
        <p:nvSpPr>
          <p:cNvPr id="3" name="s20-title">
            <a:extLst xmlns:a="http://schemas.openxmlformats.org/drawingml/2006/main">
              <a:ext uri="{FF2B5EF4-FFF2-40B4-BE49-F238E27FC236}">
                <a16:creationId xmlns:a16="http://schemas.microsoft.com/office/drawing/2014/main" id="{CF6FDAAC-0C0D-4992-AE0A-0E7DBE8E1AF4}"/>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Product worklist and cycle rules</a:t>
            </a:r>
          </a:p>
        </p:txBody>
      </p:sp>
      <p:sp>
        <p:nvSpPr>
          <p:cNvPr id="4" name="s20-source-rule">
            <a:extLst xmlns:a="http://schemas.openxmlformats.org/drawingml/2006/main">
              <a:ext uri="{FF2B5EF4-FFF2-40B4-BE49-F238E27FC236}">
                <a16:creationId xmlns:a16="http://schemas.microsoft.com/office/drawing/2014/main" id="{D7FFE823-E9BC-4B3F-A334-4932ABA4F9F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 name="s20-sources">
            <a:extLst xmlns:a="http://schemas.openxmlformats.org/drawingml/2006/main">
              <a:ext uri="{FF2B5EF4-FFF2-40B4-BE49-F238E27FC236}">
                <a16:creationId xmlns:a16="http://schemas.microsoft.com/office/drawing/2014/main" id="{41DB8D17-8939-4146-B784-559D0EA67787}"/>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audit/orchgraph.py; audit/test_orchgraph.py; docs/CYCLIC_METHOD_REVIEW.md</a:t>
            </a:r>
          </a:p>
        </p:txBody>
      </p:sp>
      <p:sp>
        <p:nvSpPr>
          <p:cNvPr id="6" name="s20-footer-rule">
            <a:extLst xmlns:a="http://schemas.openxmlformats.org/drawingml/2006/main">
              <a:ext uri="{FF2B5EF4-FFF2-40B4-BE49-F238E27FC236}">
                <a16:creationId xmlns:a16="http://schemas.microsoft.com/office/drawing/2014/main" id="{4E710672-4AFC-4ECD-9ACB-9BBD76625C42}"/>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7" name="s20-footer">
            <a:extLst xmlns:a="http://schemas.openxmlformats.org/drawingml/2006/main">
              <a:ext uri="{FF2B5EF4-FFF2-40B4-BE49-F238E27FC236}">
                <a16:creationId xmlns:a16="http://schemas.microsoft.com/office/drawing/2014/main" id="{AC5A2283-AC93-43E3-BB06-94CAF9B4FEA0}"/>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8" name="s20-page">
            <a:extLst xmlns:a="http://schemas.openxmlformats.org/drawingml/2006/main">
              <a:ext uri="{FF2B5EF4-FFF2-40B4-BE49-F238E27FC236}">
                <a16:creationId xmlns:a16="http://schemas.microsoft.com/office/drawing/2014/main" id="{0DB78567-1673-415C-A6F9-8E2A55F461D4}"/>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A2</a:t>
            </a:r>
          </a:p>
        </p:txBody>
      </p:sp>
      <p:sp>
        <p:nvSpPr>
          <p:cNvPr id="9" name="app-20-0-panel">
            <a:extLst xmlns:a="http://schemas.openxmlformats.org/drawingml/2006/main">
              <a:ext uri="{FF2B5EF4-FFF2-40B4-BE49-F238E27FC236}">
                <a16:creationId xmlns:a16="http://schemas.microsoft.com/office/drawing/2014/main" id="{C402DC6E-C1FE-47C5-94B5-1765D6DACC00}"/>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0" name="app-20-0-accent">
            <a:extLst xmlns:a="http://schemas.openxmlformats.org/drawingml/2006/main">
              <a:ext uri="{FF2B5EF4-FFF2-40B4-BE49-F238E27FC236}">
                <a16:creationId xmlns:a16="http://schemas.microsoft.com/office/drawing/2014/main" id="{E0F6D204-E6DD-48C9-BFBF-E9B24C6FBA57}"/>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0-0-title">
            <a:extLst xmlns:a="http://schemas.openxmlformats.org/drawingml/2006/main">
              <a:ext uri="{FF2B5EF4-FFF2-40B4-BE49-F238E27FC236}">
                <a16:creationId xmlns:a16="http://schemas.microsoft.com/office/drawing/2014/main" id="{B2987734-62B4-45DA-9C44-9E419A9979B3}"/>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Work item</a:t>
            </a:r>
          </a:p>
        </p:txBody>
      </p:sp>
      <p:sp>
        <p:nvSpPr>
          <p:cNvPr id="12" name="app-20-0-body">
            <a:extLst xmlns:a="http://schemas.openxmlformats.org/drawingml/2006/main">
              <a:ext uri="{FF2B5EF4-FFF2-40B4-BE49-F238E27FC236}">
                <a16:creationId xmlns:a16="http://schemas.microsoft.com/office/drawing/2014/main" id="{1814EBCD-FA64-473A-948A-0DD013C0D5CC}"/>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(pcL, pcR, R), where R contains justified equal-register pairs.</a:t>
            </a:r>
          </a:p>
        </p:txBody>
      </p:sp>
      <p:sp>
        <p:nvSpPr>
          <p:cNvPr id="13" name="app-20-1-panel">
            <a:extLst xmlns:a="http://schemas.openxmlformats.org/drawingml/2006/main">
              <a:ext uri="{FF2B5EF4-FFF2-40B4-BE49-F238E27FC236}">
                <a16:creationId xmlns:a16="http://schemas.microsoft.com/office/drawing/2014/main" id="{3A09B26A-857F-43E2-9E98-D41D8A4ED798}"/>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4" name="app-20-1-accent">
            <a:extLst xmlns:a="http://schemas.openxmlformats.org/drawingml/2006/main">
              <a:ext uri="{FF2B5EF4-FFF2-40B4-BE49-F238E27FC236}">
                <a16:creationId xmlns:a16="http://schemas.microsoft.com/office/drawing/2014/main" id="{FED28F9D-EA07-4E24-A0D8-8C2478D40B76}"/>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0-1-title">
            <a:extLst xmlns:a="http://schemas.openxmlformats.org/drawingml/2006/main">
              <a:ext uri="{FF2B5EF4-FFF2-40B4-BE49-F238E27FC236}">
                <a16:creationId xmlns:a16="http://schemas.microsoft.com/office/drawing/2014/main" id="{0876F0D8-D352-46A8-BF4A-70A5F0373FBC}"/>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Public choices</a:t>
            </a:r>
          </a:p>
        </p:txBody>
      </p:sp>
      <p:sp>
        <p:nvSpPr>
          <p:cNvPr id="16" name="app-20-1-body">
            <a:extLst xmlns:a="http://schemas.openxmlformats.org/drawingml/2006/main">
              <a:ext uri="{FF2B5EF4-FFF2-40B4-BE49-F238E27FC236}">
                <a16:creationId xmlns:a16="http://schemas.microsoft.com/office/drawing/2014/main" id="{03B4844F-F637-44C7-8DE3-1983F0612164}"/>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Same normalized predicate on R-related values takes same arm.</a:t>
            </a:r>
          </a:p>
        </p:txBody>
      </p:sp>
      <p:sp>
        <p:nvSpPr>
          <p:cNvPr id="17" name="app-20-2-panel">
            <a:extLst xmlns:a="http://schemas.openxmlformats.org/drawingml/2006/main">
              <a:ext uri="{FF2B5EF4-FFF2-40B4-BE49-F238E27FC236}">
                <a16:creationId xmlns:a16="http://schemas.microsoft.com/office/drawing/2014/main" id="{E0871FAE-4808-4C1D-886B-292E8B78E851}"/>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8" name="app-20-2-accent">
            <a:extLst xmlns:a="http://schemas.openxmlformats.org/drawingml/2006/main">
              <a:ext uri="{FF2B5EF4-FFF2-40B4-BE49-F238E27FC236}">
                <a16:creationId xmlns:a16="http://schemas.microsoft.com/office/drawing/2014/main" id="{2F99C4FA-9C7F-4605-B1C7-DDB3621CFFCB}"/>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0-2-title">
            <a:extLst xmlns:a="http://schemas.openxmlformats.org/drawingml/2006/main">
              <a:ext uri="{FF2B5EF4-FFF2-40B4-BE49-F238E27FC236}">
                <a16:creationId xmlns:a16="http://schemas.microsoft.com/office/drawing/2014/main" id="{4D5055FF-0AE6-4289-9637-CD152F0BA74D}"/>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Secret choices</a:t>
            </a:r>
          </a:p>
        </p:txBody>
      </p:sp>
      <p:sp>
        <p:nvSpPr>
          <p:cNvPr id="20" name="app-20-2-body">
            <a:extLst xmlns:a="http://schemas.openxmlformats.org/drawingml/2006/main">
              <a:ext uri="{FF2B5EF4-FFF2-40B4-BE49-F238E27FC236}">
                <a16:creationId xmlns:a16="http://schemas.microsoft.com/office/drawing/2014/main" id="{7AB0B02C-8392-4867-A376-05471A4FF74A}"/>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Universal Cartesian product of left/right successors.</a:t>
            </a:r>
          </a:p>
        </p:txBody>
      </p:sp>
      <p:sp>
        <p:nvSpPr>
          <p:cNvPr id="21" name="app-20-3-panel">
            <a:extLst xmlns:a="http://schemas.openxmlformats.org/drawingml/2006/main">
              <a:ext uri="{FF2B5EF4-FFF2-40B4-BE49-F238E27FC236}">
                <a16:creationId xmlns:a16="http://schemas.microsoft.com/office/drawing/2014/main" id="{3614BAB0-9EB3-43D4-A91D-E510B18911F7}"/>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2" name="app-20-3-accent">
            <a:extLst xmlns:a="http://schemas.openxmlformats.org/drawingml/2006/main">
              <a:ext uri="{FF2B5EF4-FFF2-40B4-BE49-F238E27FC236}">
                <a16:creationId xmlns:a16="http://schemas.microsoft.com/office/drawing/2014/main" id="{61D228DD-789E-42D8-8E9A-7F6F9D9F1FE4}"/>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0-3-title">
            <a:extLst xmlns:a="http://schemas.openxmlformats.org/drawingml/2006/main">
              <a:ext uri="{FF2B5EF4-FFF2-40B4-BE49-F238E27FC236}">
                <a16:creationId xmlns:a16="http://schemas.microsoft.com/office/drawing/2014/main" id="{AE03FC07-4D91-429F-B4E4-6352308122FA}"/>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Call choices</a:t>
            </a:r>
          </a:p>
        </p:txBody>
      </p:sp>
      <p:sp>
        <p:nvSpPr>
          <p:cNvPr id="24" name="app-20-3-body">
            <a:extLst xmlns:a="http://schemas.openxmlformats.org/drawingml/2006/main">
              <a:ext uri="{FF2B5EF4-FFF2-40B4-BE49-F238E27FC236}">
                <a16:creationId xmlns:a16="http://schemas.microsoft.com/office/drawing/2014/main" id="{3E73ABFE-7AB7-4290-AFAA-A603E0718E72}"/>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Full contract/template/ordered atoms match before result pairing.</a:t>
            </a:r>
          </a:p>
        </p:txBody>
      </p:sp>
      <p:sp>
        <p:nvSpPr>
          <p:cNvPr id="25" name="app-20-4-panel">
            <a:extLst xmlns:a="http://schemas.openxmlformats.org/drawingml/2006/main">
              <a:ext uri="{FF2B5EF4-FFF2-40B4-BE49-F238E27FC236}">
                <a16:creationId xmlns:a16="http://schemas.microsoft.com/office/drawing/2014/main" id="{CDC12CC2-C5EB-45E3-B164-034D29CA5A37}"/>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6" name="app-20-4-accent">
            <a:extLst xmlns:a="http://schemas.openxmlformats.org/drawingml/2006/main">
              <a:ext uri="{FF2B5EF4-FFF2-40B4-BE49-F238E27FC236}">
                <a16:creationId xmlns:a16="http://schemas.microsoft.com/office/drawing/2014/main" id="{6F861C6E-7274-4A5C-B3CB-D0C27E42DCDC}"/>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0-4-title">
            <a:extLst xmlns:a="http://schemas.openxmlformats.org/drawingml/2006/main">
              <a:ext uri="{FF2B5EF4-FFF2-40B4-BE49-F238E27FC236}">
                <a16:creationId xmlns:a16="http://schemas.microsoft.com/office/drawing/2014/main" id="{EE1E8381-0AA3-4B16-A8C2-123A369D10EA}"/>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Cycle cases</a:t>
            </a:r>
          </a:p>
        </p:txBody>
      </p:sp>
      <p:sp>
        <p:nvSpPr>
          <p:cNvPr id="28" name="app-20-4-body">
            <a:extLst xmlns:a="http://schemas.openxmlformats.org/drawingml/2006/main">
              <a:ext uri="{FF2B5EF4-FFF2-40B4-BE49-F238E27FC236}">
                <a16:creationId xmlns:a16="http://schemas.microsoft.com/office/drawing/2014/main" id="{393D3014-84B3-48D3-9A72-A85C03FC8AD6}"/>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Call-free cycle invalid; productive cycle closes coinductively.</a:t>
            </a:r>
          </a:p>
        </p:txBody>
      </p:sp>
    </p:spTree>
    <p:extLst>
      <p:ext uri="{BB962C8B-B14F-4D97-AF65-F5344CB8AC3E}">
        <p14:creationId xmlns:p14="http://schemas.microsoft.com/office/powerpoint/2010/main" val="2137033181"/>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s21-brand">
            <a:extLst xmlns:a="http://schemas.openxmlformats.org/drawingml/2006/main">
              <a:ext uri="{FF2B5EF4-FFF2-40B4-BE49-F238E27FC236}">
                <a16:creationId xmlns:a16="http://schemas.microsoft.com/office/drawing/2014/main" id="{B72DA6B5-61D4-4F27-B0F5-CA573DB821C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1-section">
            <a:extLst xmlns:a="http://schemas.openxmlformats.org/drawingml/2006/main">
              <a:ext uri="{FF2B5EF4-FFF2-40B4-BE49-F238E27FC236}">
                <a16:creationId xmlns:a16="http://schemas.microsoft.com/office/drawing/2014/main" id="{FD7B0353-5FA9-4C9A-9EF8-EB2FB91A0C5E}"/>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A3</a:t>
            </a:r>
          </a:p>
        </p:txBody>
      </p:sp>
      <p:sp>
        <p:nvSpPr>
          <p:cNvPr id="3" name="s21-title">
            <a:extLst xmlns:a="http://schemas.openxmlformats.org/drawingml/2006/main">
              <a:ext uri="{FF2B5EF4-FFF2-40B4-BE49-F238E27FC236}">
                <a16:creationId xmlns:a16="http://schemas.microsoft.com/office/drawing/2014/main" id="{CCEF46DE-6D15-46EE-A117-7EB404F5F77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What certificate replay verifies</a:t>
            </a:r>
          </a:p>
        </p:txBody>
      </p:sp>
      <p:sp>
        <p:nvSpPr>
          <p:cNvPr id="4" name="s21-source-rule">
            <a:extLst xmlns:a="http://schemas.openxmlformats.org/drawingml/2006/main">
              <a:ext uri="{FF2B5EF4-FFF2-40B4-BE49-F238E27FC236}">
                <a16:creationId xmlns:a16="http://schemas.microsoft.com/office/drawing/2014/main" id="{B68C3E2C-A030-4135-A2F5-35CE659A03DC}"/>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21-sources">
            <a:extLst xmlns:a="http://schemas.openxmlformats.org/drawingml/2006/main">
              <a:ext uri="{FF2B5EF4-FFF2-40B4-BE49-F238E27FC236}">
                <a16:creationId xmlns:a16="http://schemas.microsoft.com/office/drawing/2014/main" id="{C21509FF-AF05-4EF4-9743-AD5A0D70B56D}"/>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audit/replay_graph_certificate.py; audit/test_graph_replay.py; audit/reproduce_final.py</a:t>
            </a:r>
          </a:p>
        </p:txBody>
      </p:sp>
      <p:sp>
        <p:nvSpPr>
          <p:cNvPr id="6" name="s21-footer-rule">
            <a:extLst xmlns:a="http://schemas.openxmlformats.org/drawingml/2006/main">
              <a:ext uri="{FF2B5EF4-FFF2-40B4-BE49-F238E27FC236}">
                <a16:creationId xmlns:a16="http://schemas.microsoft.com/office/drawing/2014/main" id="{F080B0F5-7027-4B54-884A-B5D302367788}"/>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21-footer">
            <a:extLst xmlns:a="http://schemas.openxmlformats.org/drawingml/2006/main">
              <a:ext uri="{FF2B5EF4-FFF2-40B4-BE49-F238E27FC236}">
                <a16:creationId xmlns:a16="http://schemas.microsoft.com/office/drawing/2014/main" id="{E1E5E9CF-0E79-4D45-979B-B02CEB70B57B}"/>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21-page">
            <a:extLst xmlns:a="http://schemas.openxmlformats.org/drawingml/2006/main">
              <a:ext uri="{FF2B5EF4-FFF2-40B4-BE49-F238E27FC236}">
                <a16:creationId xmlns:a16="http://schemas.microsoft.com/office/drawing/2014/main" id="{B48989B6-5EFC-43C7-B305-682E28956186}"/>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A3</a:t>
            </a:r>
          </a:p>
        </p:txBody>
      </p:sp>
      <p:sp>
        <p:nvSpPr>
          <p:cNvPr id="9" name="app-21-0-panel">
            <a:extLst xmlns:a="http://schemas.openxmlformats.org/drawingml/2006/main">
              <a:ext uri="{FF2B5EF4-FFF2-40B4-BE49-F238E27FC236}">
                <a16:creationId xmlns:a16="http://schemas.microsoft.com/office/drawing/2014/main" id="{DCE20177-7328-4707-B77A-66651D602B55}"/>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0" name="app-21-0-accent">
            <a:extLst xmlns:a="http://schemas.openxmlformats.org/drawingml/2006/main">
              <a:ext uri="{FF2B5EF4-FFF2-40B4-BE49-F238E27FC236}">
                <a16:creationId xmlns:a16="http://schemas.microsoft.com/office/drawing/2014/main" id="{D45AFEAF-6408-425F-9DDE-4E68453771D0}"/>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1-0-title">
            <a:extLst xmlns:a="http://schemas.openxmlformats.org/drawingml/2006/main">
              <a:ext uri="{FF2B5EF4-FFF2-40B4-BE49-F238E27FC236}">
                <a16:creationId xmlns:a16="http://schemas.microsoft.com/office/drawing/2014/main" id="{4808AA90-6C4B-4E93-9EE8-E412BB99D3EE}"/>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Source binding</a:t>
            </a:r>
          </a:p>
        </p:txBody>
      </p:sp>
      <p:sp>
        <p:nvSpPr>
          <p:cNvPr id="12" name="app-21-0-body">
            <a:extLst xmlns:a="http://schemas.openxmlformats.org/drawingml/2006/main">
              <a:ext uri="{FF2B5EF4-FFF2-40B4-BE49-F238E27FC236}">
                <a16:creationId xmlns:a16="http://schemas.microsoft.com/office/drawing/2014/main" id="{190CC4D1-74E3-4E16-8BEF-93B978BC27AD}"/>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Raw graph SHA-256 and semantic version are checked.</a:t>
            </a:r>
          </a:p>
        </p:txBody>
      </p:sp>
      <p:sp>
        <p:nvSpPr>
          <p:cNvPr id="13" name="app-21-1-panel">
            <a:extLst xmlns:a="http://schemas.openxmlformats.org/drawingml/2006/main">
              <a:ext uri="{FF2B5EF4-FFF2-40B4-BE49-F238E27FC236}">
                <a16:creationId xmlns:a16="http://schemas.microsoft.com/office/drawing/2014/main" id="{8FDD6E2F-6F23-42E5-814A-6E90BD33C8E3}"/>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4" name="app-21-1-accent">
            <a:extLst xmlns:a="http://schemas.openxmlformats.org/drawingml/2006/main">
              <a:ext uri="{FF2B5EF4-FFF2-40B4-BE49-F238E27FC236}">
                <a16:creationId xmlns:a16="http://schemas.microsoft.com/office/drawing/2014/main" id="{FE2C5D74-2D9B-4C9C-9EAB-01ED48A663E5}"/>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1-1-title">
            <a:extLst xmlns:a="http://schemas.openxmlformats.org/drawingml/2006/main">
              <a:ext uri="{FF2B5EF4-FFF2-40B4-BE49-F238E27FC236}">
                <a16:creationId xmlns:a16="http://schemas.microsoft.com/office/drawing/2014/main" id="{019D3610-66DB-4185-B712-DC9A3AE86402}"/>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Closure</a:t>
            </a:r>
          </a:p>
        </p:txBody>
      </p:sp>
      <p:sp>
        <p:nvSpPr>
          <p:cNvPr id="16" name="app-21-1-body">
            <a:extLst xmlns:a="http://schemas.openxmlformats.org/drawingml/2006/main">
              <a:ext uri="{FF2B5EF4-FFF2-40B4-BE49-F238E27FC236}">
                <a16:creationId xmlns:a16="http://schemas.microsoft.com/office/drawing/2014/main" id="{BA2148E7-5838-4B1E-995A-C83DFFD8457A}"/>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Every reachable product node and required edge is reconstructed.</a:t>
            </a:r>
          </a:p>
        </p:txBody>
      </p:sp>
      <p:sp>
        <p:nvSpPr>
          <p:cNvPr id="17" name="app-21-2-panel">
            <a:extLst xmlns:a="http://schemas.openxmlformats.org/drawingml/2006/main">
              <a:ext uri="{FF2B5EF4-FFF2-40B4-BE49-F238E27FC236}">
                <a16:creationId xmlns:a16="http://schemas.microsoft.com/office/drawing/2014/main" id="{E432A9B3-A2A3-480B-905B-FB0A4ED64EBA}"/>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8" name="app-21-2-accent">
            <a:extLst xmlns:a="http://schemas.openxmlformats.org/drawingml/2006/main">
              <a:ext uri="{FF2B5EF4-FFF2-40B4-BE49-F238E27FC236}">
                <a16:creationId xmlns:a16="http://schemas.microsoft.com/office/drawing/2014/main" id="{3F0405BF-4E5D-4D34-9BF0-F109DCDFE885}"/>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1-2-title">
            <a:extLst xmlns:a="http://schemas.openxmlformats.org/drawingml/2006/main">
              <a:ext uri="{FF2B5EF4-FFF2-40B4-BE49-F238E27FC236}">
                <a16:creationId xmlns:a16="http://schemas.microsoft.com/office/drawing/2014/main" id="{198D21F8-5D0C-46C1-81C6-C22A4B41BACB}"/>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Local rules</a:t>
            </a:r>
          </a:p>
        </p:txBody>
      </p:sp>
      <p:sp>
        <p:nvSpPr>
          <p:cNvPr id="20" name="app-21-2-body">
            <a:extLst xmlns:a="http://schemas.openxmlformats.org/drawingml/2006/main">
              <a:ext uri="{FF2B5EF4-FFF2-40B4-BE49-F238E27FC236}">
                <a16:creationId xmlns:a16="http://schemas.microsoft.com/office/drawing/2014/main" id="{E88E428A-EEF8-4582-A944-FB2A2289CE7B}"/>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Public relation, calls, guards, result updates, and stop alignment.</a:t>
            </a:r>
          </a:p>
        </p:txBody>
      </p:sp>
      <p:sp>
        <p:nvSpPr>
          <p:cNvPr id="21" name="app-21-3-panel">
            <a:extLst xmlns:a="http://schemas.openxmlformats.org/drawingml/2006/main">
              <a:ext uri="{FF2B5EF4-FFF2-40B4-BE49-F238E27FC236}">
                <a16:creationId xmlns:a16="http://schemas.microsoft.com/office/drawing/2014/main" id="{6B054F0E-D54E-4B67-A01B-B063CDE66AAD}"/>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2" name="app-21-3-accent">
            <a:extLst xmlns:a="http://schemas.openxmlformats.org/drawingml/2006/main">
              <a:ext uri="{FF2B5EF4-FFF2-40B4-BE49-F238E27FC236}">
                <a16:creationId xmlns:a16="http://schemas.microsoft.com/office/drawing/2014/main" id="{81904B60-E22D-45AA-B4E9-6CA5D51955A6}"/>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1-3-title">
            <a:extLst xmlns:a="http://schemas.openxmlformats.org/drawingml/2006/main">
              <a:ext uri="{FF2B5EF4-FFF2-40B4-BE49-F238E27FC236}">
                <a16:creationId xmlns:a16="http://schemas.microsoft.com/office/drawing/2014/main" id="{2AD4235E-FAF7-4738-824E-826D04B14049}"/>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Negative tampering</a:t>
            </a:r>
          </a:p>
        </p:txBody>
      </p:sp>
      <p:sp>
        <p:nvSpPr>
          <p:cNvPr id="24" name="app-21-3-body">
            <a:extLst xmlns:a="http://schemas.openxmlformats.org/drawingml/2006/main">
              <a:ext uri="{FF2B5EF4-FFF2-40B4-BE49-F238E27FC236}">
                <a16:creationId xmlns:a16="http://schemas.microsoft.com/office/drawing/2014/main" id="{331884FE-79B1-47D4-8957-042AC1B05856}"/>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Unknown keys, omissions, extras, malformed nodes, and cap excess fail.</a:t>
            </a:r>
          </a:p>
        </p:txBody>
      </p:sp>
      <p:sp>
        <p:nvSpPr>
          <p:cNvPr id="25" name="app-21-4-panel">
            <a:extLst xmlns:a="http://schemas.openxmlformats.org/drawingml/2006/main">
              <a:ext uri="{FF2B5EF4-FFF2-40B4-BE49-F238E27FC236}">
                <a16:creationId xmlns:a16="http://schemas.microsoft.com/office/drawing/2014/main" id="{FE81001A-52B6-4810-A52C-122E29FB7E80}"/>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6" name="app-21-4-accent">
            <a:extLst xmlns:a="http://schemas.openxmlformats.org/drawingml/2006/main">
              <a:ext uri="{FF2B5EF4-FFF2-40B4-BE49-F238E27FC236}">
                <a16:creationId xmlns:a16="http://schemas.microsoft.com/office/drawing/2014/main" id="{FB9DB9B4-51BE-468A-81CB-00C9AE57B76B}"/>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1-4-title">
            <a:extLst xmlns:a="http://schemas.openxmlformats.org/drawingml/2006/main">
              <a:ext uri="{FF2B5EF4-FFF2-40B4-BE49-F238E27FC236}">
                <a16:creationId xmlns:a16="http://schemas.microsoft.com/office/drawing/2014/main" id="{F0FE6B5E-9177-4DE3-8A60-0F01C5C499FA}"/>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Remaining trust</a:t>
            </a:r>
          </a:p>
        </p:txBody>
      </p:sp>
      <p:sp>
        <p:nvSpPr>
          <p:cNvPr id="28" name="app-21-4-body">
            <a:extLst xmlns:a="http://schemas.openxmlformats.org/drawingml/2006/main">
              <a:ext uri="{FF2B5EF4-FFF2-40B4-BE49-F238E27FC236}">
                <a16:creationId xmlns:a16="http://schemas.microsoft.com/office/drawing/2014/main" id="{A6E1EABF-0E3B-4DDC-8D41-4E55A6A3C82A}"/>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No mechanized metatheory or source-to-graph fidelity proof.</a:t>
            </a:r>
          </a:p>
        </p:txBody>
      </p:sp>
    </p:spTree>
    <p:extLst>
      <p:ext uri="{BB962C8B-B14F-4D97-AF65-F5344CB8AC3E}">
        <p14:creationId xmlns:p14="http://schemas.microsoft.com/office/powerpoint/2010/main" val="1834512632"/>
      </p:ext>
    </p:extLst>
  </p:cSld>
</p:sld>
</file>

<file path=ppt/slides/slide2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9" name="s22-brand">
            <a:extLst xmlns:a="http://schemas.openxmlformats.org/drawingml/2006/main">
              <a:ext uri="{FF2B5EF4-FFF2-40B4-BE49-F238E27FC236}">
                <a16:creationId xmlns:a16="http://schemas.microsoft.com/office/drawing/2014/main" id="{72DE229E-64EA-409C-84F1-B7A528C790B2}"/>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2-section">
            <a:extLst xmlns:a="http://schemas.openxmlformats.org/drawingml/2006/main">
              <a:ext uri="{FF2B5EF4-FFF2-40B4-BE49-F238E27FC236}">
                <a16:creationId xmlns:a16="http://schemas.microsoft.com/office/drawing/2014/main" id="{2A23E0D6-344B-47DB-89E1-9A41AC1A8E65}"/>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A4</a:t>
            </a:r>
          </a:p>
        </p:txBody>
      </p:sp>
      <p:sp>
        <p:nvSpPr>
          <p:cNvPr id="3" name="s22-title">
            <a:extLst xmlns:a="http://schemas.openxmlformats.org/drawingml/2006/main">
              <a:ext uri="{FF2B5EF4-FFF2-40B4-BE49-F238E27FC236}">
                <a16:creationId xmlns:a16="http://schemas.microsoft.com/office/drawing/2014/main" id="{2BC5C985-B389-4536-819B-22313772072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Full-text stress study: denominators and oracle</a:t>
            </a:r>
          </a:p>
        </p:txBody>
      </p:sp>
      <p:sp>
        <p:nvSpPr>
          <p:cNvPr id="4" name="s22-source-rule">
            <a:extLst xmlns:a="http://schemas.openxmlformats.org/drawingml/2006/main">
              <a:ext uri="{FF2B5EF4-FFF2-40B4-BE49-F238E27FC236}">
                <a16:creationId xmlns:a16="http://schemas.microsoft.com/office/drawing/2014/main" id="{03F2256D-8248-47BE-909C-1C187A04BA3B}"/>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 name="s22-sources">
            <a:extLst xmlns:a="http://schemas.openxmlformats.org/drawingml/2006/main">
              <a:ext uri="{FF2B5EF4-FFF2-40B4-BE49-F238E27FC236}">
                <a16:creationId xmlns:a16="http://schemas.microsoft.com/office/drawing/2014/main" id="{B204DA97-1D8A-4178-AE37-74F964DFE7DE}"/>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docs/RELATIONAL_STRESS.md; audit/relational_stress.py; bench/results/relational_stress.json</a:t>
            </a:r>
          </a:p>
        </p:txBody>
      </p:sp>
      <p:sp>
        <p:nvSpPr>
          <p:cNvPr id="6" name="s22-footer-rule">
            <a:extLst xmlns:a="http://schemas.openxmlformats.org/drawingml/2006/main">
              <a:ext uri="{FF2B5EF4-FFF2-40B4-BE49-F238E27FC236}">
                <a16:creationId xmlns:a16="http://schemas.microsoft.com/office/drawing/2014/main" id="{26F539D4-3209-4784-84D0-56E0C442D9EE}"/>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7" name="s22-footer">
            <a:extLst xmlns:a="http://schemas.openxmlformats.org/drawingml/2006/main">
              <a:ext uri="{FF2B5EF4-FFF2-40B4-BE49-F238E27FC236}">
                <a16:creationId xmlns:a16="http://schemas.microsoft.com/office/drawing/2014/main" id="{F5BE0B01-C43C-4F2A-BFA9-F29D7DB6C58D}"/>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8" name="s22-page">
            <a:extLst xmlns:a="http://schemas.openxmlformats.org/drawingml/2006/main">
              <a:ext uri="{FF2B5EF4-FFF2-40B4-BE49-F238E27FC236}">
                <a16:creationId xmlns:a16="http://schemas.microsoft.com/office/drawing/2014/main" id="{42A62263-2BC9-49ED-82D0-625A7FDC0283}"/>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A4</a:t>
            </a:r>
          </a:p>
        </p:txBody>
      </p:sp>
      <p:sp>
        <p:nvSpPr>
          <p:cNvPr id="9" name="app-22-0-panel">
            <a:extLst xmlns:a="http://schemas.openxmlformats.org/drawingml/2006/main">
              <a:ext uri="{FF2B5EF4-FFF2-40B4-BE49-F238E27FC236}">
                <a16:creationId xmlns:a16="http://schemas.microsoft.com/office/drawing/2014/main" id="{D8CBFFB2-D760-4B86-B399-8330F8881E46}"/>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0" name="app-22-0-accent">
            <a:extLst xmlns:a="http://schemas.openxmlformats.org/drawingml/2006/main">
              <a:ext uri="{FF2B5EF4-FFF2-40B4-BE49-F238E27FC236}">
                <a16:creationId xmlns:a16="http://schemas.microsoft.com/office/drawing/2014/main" id="{2753B06A-8C83-4F26-BDE7-06D6E3B81F3E}"/>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2-0-title">
            <a:extLst xmlns:a="http://schemas.openxmlformats.org/drawingml/2006/main">
              <a:ext uri="{FF2B5EF4-FFF2-40B4-BE49-F238E27FC236}">
                <a16:creationId xmlns:a16="http://schemas.microsoft.com/office/drawing/2014/main" id="{B5600FB1-A028-4FF1-B9D4-2EF05B30CD09}"/>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Generated source cases</a:t>
            </a:r>
          </a:p>
        </p:txBody>
      </p:sp>
      <p:sp>
        <p:nvSpPr>
          <p:cNvPr id="12" name="app-22-0-body">
            <a:extLst xmlns:a="http://schemas.openxmlformats.org/drawingml/2006/main">
              <a:ext uri="{FF2B5EF4-FFF2-40B4-BE49-F238E27FC236}">
                <a16:creationId xmlns:a16="http://schemas.microsoft.com/office/drawing/2014/main" id="{A0FA8AE5-65F2-4335-B015-B4B9E4455545}"/>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264 C++ checks: 144 positives and 120 controlled mutations.</a:t>
            </a:r>
          </a:p>
        </p:txBody>
      </p:sp>
      <p:sp>
        <p:nvSpPr>
          <p:cNvPr id="13" name="app-22-1-panel">
            <a:extLst xmlns:a="http://schemas.openxmlformats.org/drawingml/2006/main">
              <a:ext uri="{FF2B5EF4-FFF2-40B4-BE49-F238E27FC236}">
                <a16:creationId xmlns:a16="http://schemas.microsoft.com/office/drawing/2014/main" id="{0CE98EF8-5FA3-44F0-9F59-C5E8117DD341}"/>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4" name="app-22-1-accent">
            <a:extLst xmlns:a="http://schemas.openxmlformats.org/drawingml/2006/main">
              <a:ext uri="{FF2B5EF4-FFF2-40B4-BE49-F238E27FC236}">
                <a16:creationId xmlns:a16="http://schemas.microsoft.com/office/drawing/2014/main" id="{3A251D8B-266E-4D28-B26A-AD3AD299541B}"/>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2-1-title">
            <a:extLst xmlns:a="http://schemas.openxmlformats.org/drawingml/2006/main">
              <a:ext uri="{FF2B5EF4-FFF2-40B4-BE49-F238E27FC236}">
                <a16:creationId xmlns:a16="http://schemas.microsoft.com/office/drawing/2014/main" id="{EFF0EA53-EBBA-4C19-AA76-ACE73136F9DD}"/>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Reference semantics</a:t>
            </a:r>
          </a:p>
        </p:txBody>
      </p:sp>
      <p:sp>
        <p:nvSpPr>
          <p:cNvPr id="16" name="app-22-1-body">
            <a:extLst xmlns:a="http://schemas.openxmlformats.org/drawingml/2006/main">
              <a:ext uri="{FF2B5EF4-FFF2-40B4-BE49-F238E27FC236}">
                <a16:creationId xmlns:a16="http://schemas.microsoft.com/office/drawing/2014/main" id="{B0EC82B1-2E14-450C-9D8B-11EC58755665}"/>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Python substitutes complete text; Ω(M,k,Q) hashes full request.</a:t>
            </a:r>
          </a:p>
        </p:txBody>
      </p:sp>
      <p:sp>
        <p:nvSpPr>
          <p:cNvPr id="17" name="app-22-2-panel">
            <a:extLst xmlns:a="http://schemas.openxmlformats.org/drawingml/2006/main">
              <a:ext uri="{FF2B5EF4-FFF2-40B4-BE49-F238E27FC236}">
                <a16:creationId xmlns:a16="http://schemas.microsoft.com/office/drawing/2014/main" id="{035BA9D0-7FFA-4060-9AD3-8ACCE3CA54EF}"/>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8" name="app-22-2-accent">
            <a:extLst xmlns:a="http://schemas.openxmlformats.org/drawingml/2006/main">
              <a:ext uri="{FF2B5EF4-FFF2-40B4-BE49-F238E27FC236}">
                <a16:creationId xmlns:a16="http://schemas.microsoft.com/office/drawing/2014/main" id="{D60C163F-60F6-41F2-BD88-D0D019AF11C6}"/>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2-2-title">
            <a:extLst xmlns:a="http://schemas.openxmlformats.org/drawingml/2006/main">
              <a:ext uri="{FF2B5EF4-FFF2-40B4-BE49-F238E27FC236}">
                <a16:creationId xmlns:a16="http://schemas.microsoft.com/office/drawing/2014/main" id="{8A3B463B-E80C-4917-B64E-43D247104682}"/>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Accepted grid</a:t>
            </a:r>
          </a:p>
        </p:txBody>
      </p:sp>
      <p:sp>
        <p:nvSpPr>
          <p:cNvPr id="20" name="app-22-2-body">
            <a:extLst xmlns:a="http://schemas.openxmlformats.org/drawingml/2006/main">
              <a:ext uri="{FF2B5EF4-FFF2-40B4-BE49-F238E27FC236}">
                <a16:creationId xmlns:a16="http://schemas.microsoft.com/office/drawing/2014/main" id="{651918A9-2CAC-427B-A91F-B2369142F57A}"/>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13,824 pairs; 0 request/usage mismatches; 66,240 accounting checks.</a:t>
            </a:r>
          </a:p>
        </p:txBody>
      </p:sp>
      <p:sp>
        <p:nvSpPr>
          <p:cNvPr id="21" name="app-22-3-panel">
            <a:extLst xmlns:a="http://schemas.openxmlformats.org/drawingml/2006/main">
              <a:ext uri="{FF2B5EF4-FFF2-40B4-BE49-F238E27FC236}">
                <a16:creationId xmlns:a16="http://schemas.microsoft.com/office/drawing/2014/main" id="{54657ED4-83FA-44D9-8A9D-BA5F4EE968D5}"/>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2" name="app-22-3-accent">
            <a:extLst xmlns:a="http://schemas.openxmlformats.org/drawingml/2006/main">
              <a:ext uri="{FF2B5EF4-FFF2-40B4-BE49-F238E27FC236}">
                <a16:creationId xmlns:a16="http://schemas.microsoft.com/office/drawing/2014/main" id="{A66B84C0-03A1-4FB6-905A-B2C9B4058CBC}"/>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2-3-title">
            <a:extLst xmlns:a="http://schemas.openxmlformats.org/drawingml/2006/main">
              <a:ext uri="{FF2B5EF4-FFF2-40B4-BE49-F238E27FC236}">
                <a16:creationId xmlns:a16="http://schemas.microsoft.com/office/drawing/2014/main" id="{C683BDE0-9BDF-4498-AD8A-03E093B8527F}"/>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Rejected grid</a:t>
            </a:r>
          </a:p>
        </p:txBody>
      </p:sp>
      <p:sp>
        <p:nvSpPr>
          <p:cNvPr id="24" name="app-22-3-body">
            <a:extLst xmlns:a="http://schemas.openxmlformats.org/drawingml/2006/main">
              <a:ext uri="{FF2B5EF4-FFF2-40B4-BE49-F238E27FC236}">
                <a16:creationId xmlns:a16="http://schemas.microsoft.com/office/drawing/2014/main" id="{264B1A0B-220D-4AEE-B042-A14E74FD5928}"/>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117 finite request-and-usage witnesses; 3 retry cases unknown.</a:t>
            </a:r>
          </a:p>
        </p:txBody>
      </p:sp>
      <p:sp>
        <p:nvSpPr>
          <p:cNvPr id="25" name="app-22-4-panel">
            <a:extLst xmlns:a="http://schemas.openxmlformats.org/drawingml/2006/main">
              <a:ext uri="{FF2B5EF4-FFF2-40B4-BE49-F238E27FC236}">
                <a16:creationId xmlns:a16="http://schemas.microsoft.com/office/drawing/2014/main" id="{5C9E8CA8-42E0-4FF3-9AC4-C24DDCA112DC}"/>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6" name="app-22-4-accent">
            <a:extLst xmlns:a="http://schemas.openxmlformats.org/drawingml/2006/main">
              <a:ext uri="{FF2B5EF4-FFF2-40B4-BE49-F238E27FC236}">
                <a16:creationId xmlns:a16="http://schemas.microsoft.com/office/drawing/2014/main" id="{E640AE1E-867A-4E12-A592-624F6F185A2D}"/>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2-4-title">
            <a:extLst xmlns:a="http://schemas.openxmlformats.org/drawingml/2006/main">
              <a:ext uri="{FF2B5EF4-FFF2-40B4-BE49-F238E27FC236}">
                <a16:creationId xmlns:a16="http://schemas.microsoft.com/office/drawing/2014/main" id="{9C9E8CCF-D499-4633-A674-2B82DE740F2A}"/>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Limits</a:t>
            </a:r>
          </a:p>
        </p:txBody>
      </p:sp>
      <p:sp>
        <p:nvSpPr>
          <p:cNvPr id="28" name="app-22-4-body">
            <a:extLst xmlns:a="http://schemas.openxmlformats.org/drawingml/2006/main">
              <a:ext uri="{FF2B5EF4-FFF2-40B4-BE49-F238E27FC236}">
                <a16:creationId xmlns:a16="http://schemas.microsoft.com/office/drawing/2014/main" id="{4F788D41-7192-4DB6-9884-AC2038F2D9DD}"/>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Synthetic ASTs; no real tokenizer, provider, invoice, or exhaustive grammar.</a:t>
            </a:r>
          </a:p>
        </p:txBody>
      </p:sp>
    </p:spTree>
    <p:extLst>
      <p:ext uri="{BB962C8B-B14F-4D97-AF65-F5344CB8AC3E}">
        <p14:creationId xmlns:p14="http://schemas.microsoft.com/office/powerpoint/2010/main" val="1082589860"/>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s23-brand">
            <a:extLst xmlns:a="http://schemas.openxmlformats.org/drawingml/2006/main">
              <a:ext uri="{FF2B5EF4-FFF2-40B4-BE49-F238E27FC236}">
                <a16:creationId xmlns:a16="http://schemas.microsoft.com/office/drawing/2014/main" id="{D5054845-74FC-44F8-9509-E4E98F5C1D52}"/>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3-section">
            <a:extLst xmlns:a="http://schemas.openxmlformats.org/drawingml/2006/main">
              <a:ext uri="{FF2B5EF4-FFF2-40B4-BE49-F238E27FC236}">
                <a16:creationId xmlns:a16="http://schemas.microsoft.com/office/drawing/2014/main" id="{634E7897-92C9-4E99-9ACD-D3FC3214F9E3}"/>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A5</a:t>
            </a:r>
          </a:p>
        </p:txBody>
      </p:sp>
      <p:sp>
        <p:nvSpPr>
          <p:cNvPr id="3" name="s23-title">
            <a:extLst xmlns:a="http://schemas.openxmlformats.org/drawingml/2006/main">
              <a:ext uri="{FF2B5EF4-FFF2-40B4-BE49-F238E27FC236}">
                <a16:creationId xmlns:a16="http://schemas.microsoft.com/office/drawing/2014/main" id="{EFA877E5-C256-431D-995A-BAA59DB26BED}"/>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Supplementary graph property probe</a:t>
            </a:r>
          </a:p>
        </p:txBody>
      </p:sp>
      <p:sp>
        <p:nvSpPr>
          <p:cNvPr id="4" name="s23-source-rule">
            <a:extLst xmlns:a="http://schemas.openxmlformats.org/drawingml/2006/main">
              <a:ext uri="{FF2B5EF4-FFF2-40B4-BE49-F238E27FC236}">
                <a16:creationId xmlns:a16="http://schemas.microsoft.com/office/drawing/2014/main" id="{F7429EC8-E89E-4673-BD2F-8891CE3A30C5}"/>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23-sources">
            <a:extLst xmlns:a="http://schemas.openxmlformats.org/drawingml/2006/main">
              <a:ext uri="{FF2B5EF4-FFF2-40B4-BE49-F238E27FC236}">
                <a16:creationId xmlns:a16="http://schemas.microsoft.com/office/drawing/2014/main" id="{65026DFB-7E84-4077-A1FA-41E39004ABB7}"/>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audit/graph_adversarial.py; bench/results/graph_adversarial.json</a:t>
            </a:r>
          </a:p>
        </p:txBody>
      </p:sp>
      <p:sp>
        <p:nvSpPr>
          <p:cNvPr id="6" name="s23-footer-rule">
            <a:extLst xmlns:a="http://schemas.openxmlformats.org/drawingml/2006/main">
              <a:ext uri="{FF2B5EF4-FFF2-40B4-BE49-F238E27FC236}">
                <a16:creationId xmlns:a16="http://schemas.microsoft.com/office/drawing/2014/main" id="{11080756-958D-4C15-BDD3-9E54B9A12C9B}"/>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23-footer">
            <a:extLst xmlns:a="http://schemas.openxmlformats.org/drawingml/2006/main">
              <a:ext uri="{FF2B5EF4-FFF2-40B4-BE49-F238E27FC236}">
                <a16:creationId xmlns:a16="http://schemas.microsoft.com/office/drawing/2014/main" id="{10CFB2ED-1DDA-4936-BC5D-120542F906DC}"/>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23-page">
            <a:extLst xmlns:a="http://schemas.openxmlformats.org/drawingml/2006/main">
              <a:ext uri="{FF2B5EF4-FFF2-40B4-BE49-F238E27FC236}">
                <a16:creationId xmlns:a16="http://schemas.microsoft.com/office/drawing/2014/main" id="{60E40703-B9B0-4B9C-972D-58ED190BCC94}"/>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A5</a:t>
            </a:r>
          </a:p>
        </p:txBody>
      </p:sp>
      <p:sp>
        <p:nvSpPr>
          <p:cNvPr id="9" name="adversarial-counts-panel">
            <a:extLst xmlns:a="http://schemas.openxmlformats.org/drawingml/2006/main">
              <a:ext uri="{FF2B5EF4-FFF2-40B4-BE49-F238E27FC236}">
                <a16:creationId xmlns:a16="http://schemas.microsoft.com/office/drawing/2014/main" id="{CE0C9201-6A7A-4114-BBCB-25F8EEEBBC7C}"/>
              </a:ext>
            </a:extLst>
          </p:cNvPr>
          <p:cNvSpPr>
            <a:spLocks xmlns:a="http://schemas.openxmlformats.org/drawingml/2006/main" noGrp="1"/>
          </p:cNvSpPr>
          <p:nvPr/>
        </p:nvSpPr>
        <p:spPr>
          <a:xfrm xmlns:a="http://schemas.openxmlformats.org/drawingml/2006/main">
            <a:off x="781050" y="2543175"/>
            <a:ext cx="4953000" cy="2362200"/>
          </a:xfrm>
          <a:prstGeom xmlns:a="http://schemas.openxmlformats.org/drawingml/2006/main" prst="roundRect">
            <a:avLst>
              <a:gd name="adj" fmla="val 3226"/>
            </a:avLst>
          </a:prstGeom>
          <a:solidFill xmlns:a="http://schemas.openxmlformats.org/drawingml/2006/main">
            <a:srgbClr val="1C2638"/>
          </a:solidFill>
          <a:ln xmlns:a="http://schemas.openxmlformats.org/drawingml/2006/main" w="9525">
            <a:solidFill>
              <a:srgbClr val="343D50"/>
            </a:solidFill>
            <a:prstDash val="solid"/>
          </a:ln>
        </p:spPr>
      </p:sp>
      <p:sp>
        <p:nvSpPr>
          <p:cNvPr id="10" name="adversarial-counts-accent">
            <a:extLst xmlns:a="http://schemas.openxmlformats.org/drawingml/2006/main">
              <a:ext uri="{FF2B5EF4-FFF2-40B4-BE49-F238E27FC236}">
                <a16:creationId xmlns:a16="http://schemas.microsoft.com/office/drawing/2014/main" id="{9C3336D8-0930-47F6-B155-70DE6E48EAA2}"/>
              </a:ext>
            </a:extLst>
          </p:cNvPr>
          <p:cNvSpPr>
            <a:spLocks xmlns:a="http://schemas.openxmlformats.org/drawingml/2006/main" noGrp="1"/>
          </p:cNvSpPr>
          <p:nvPr/>
        </p:nvSpPr>
        <p:spPr>
          <a:xfrm xmlns:a="http://schemas.openxmlformats.org/drawingml/2006/main">
            <a:off x="781050" y="2543175"/>
            <a:ext cx="57150" cy="2362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dversarial-counts-title">
            <a:extLst xmlns:a="http://schemas.openxmlformats.org/drawingml/2006/main">
              <a:ext uri="{FF2B5EF4-FFF2-40B4-BE49-F238E27FC236}">
                <a16:creationId xmlns:a16="http://schemas.microsoft.com/office/drawing/2014/main" id="{78186383-6A7F-4437-803B-AF1CFD7B31CF}"/>
              </a:ext>
            </a:extLst>
          </p:cNvPr>
          <p:cNvSpPr>
            <a:spLocks xmlns:a="http://schemas.openxmlformats.org/drawingml/2006/main" noGrp="1"/>
          </p:cNvSpPr>
          <p:nvPr/>
        </p:nvSpPr>
        <p:spPr>
          <a:xfrm xmlns:a="http://schemas.openxmlformats.org/drawingml/2006/main">
            <a:off x="990600" y="271462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SEEDED SMALL-GRAPH PROBE</a:t>
            </a:r>
          </a:p>
        </p:txBody>
      </p:sp>
      <p:sp>
        <p:nvSpPr>
          <p:cNvPr id="12" name="adversarial-counts-body">
            <a:extLst xmlns:a="http://schemas.openxmlformats.org/drawingml/2006/main">
              <a:ext uri="{FF2B5EF4-FFF2-40B4-BE49-F238E27FC236}">
                <a16:creationId xmlns:a16="http://schemas.microsoft.com/office/drawing/2014/main" id="{4A15609D-7A79-4974-A805-1AA4589110D1}"/>
              </a:ext>
            </a:extLst>
          </p:cNvPr>
          <p:cNvSpPr>
            <a:spLocks xmlns:a="http://schemas.openxmlformats.org/drawingml/2006/main" noGrp="1"/>
          </p:cNvSpPr>
          <p:nvPr/>
        </p:nvSpPr>
        <p:spPr>
          <a:xfrm xmlns:a="http://schemas.openxmlformats.org/drawingml/2006/main">
            <a:off x="990600" y="3248025"/>
            <a:ext cx="45339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3,000 generated graphs</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1,462 accepted</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11,696 ordered equal-public store pairs</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5,848 distinct-secret pairs</a:t>
            </a:r>
          </a:p>
        </p:txBody>
      </p:sp>
      <p:sp>
        <p:nvSpPr>
          <p:cNvPr id="13" name="adversarial-zero-panel">
            <a:extLst xmlns:a="http://schemas.openxmlformats.org/drawingml/2006/main">
              <a:ext uri="{FF2B5EF4-FFF2-40B4-BE49-F238E27FC236}">
                <a16:creationId xmlns:a16="http://schemas.microsoft.com/office/drawing/2014/main" id="{292D59B7-E1B9-44F6-8E39-CB0953030BB8}"/>
              </a:ext>
            </a:extLst>
          </p:cNvPr>
          <p:cNvSpPr>
            <a:spLocks xmlns:a="http://schemas.openxmlformats.org/drawingml/2006/main" noGrp="1"/>
          </p:cNvSpPr>
          <p:nvPr/>
        </p:nvSpPr>
        <p:spPr>
          <a:xfrm xmlns:a="http://schemas.openxmlformats.org/drawingml/2006/main">
            <a:off x="6496050" y="2543175"/>
            <a:ext cx="4953000" cy="2362200"/>
          </a:xfrm>
          <a:prstGeom xmlns:a="http://schemas.openxmlformats.org/drawingml/2006/main" prst="roundRect">
            <a:avLst>
              <a:gd name="adj" fmla="val 3226"/>
            </a:avLst>
          </a:prstGeom>
          <a:solidFill xmlns:a="http://schemas.openxmlformats.org/drawingml/2006/main">
            <a:srgbClr val="1C2638"/>
          </a:solidFill>
          <a:ln xmlns:a="http://schemas.openxmlformats.org/drawingml/2006/main" w="9525">
            <a:solidFill>
              <a:srgbClr val="343D50"/>
            </a:solidFill>
            <a:prstDash val="solid"/>
          </a:ln>
        </p:spPr>
      </p:sp>
      <p:sp>
        <p:nvSpPr>
          <p:cNvPr id="14" name="adversarial-zero-accent">
            <a:extLst xmlns:a="http://schemas.openxmlformats.org/drawingml/2006/main">
              <a:ext uri="{FF2B5EF4-FFF2-40B4-BE49-F238E27FC236}">
                <a16:creationId xmlns:a16="http://schemas.microsoft.com/office/drawing/2014/main" id="{703C875C-84DE-45A2-8050-456CB225C29C}"/>
              </a:ext>
            </a:extLst>
          </p:cNvPr>
          <p:cNvSpPr>
            <a:spLocks xmlns:a="http://schemas.openxmlformats.org/drawingml/2006/main" noGrp="1"/>
          </p:cNvSpPr>
          <p:nvPr/>
        </p:nvSpPr>
        <p:spPr>
          <a:xfrm xmlns:a="http://schemas.openxmlformats.org/drawingml/2006/main">
            <a:off x="6496050" y="2543175"/>
            <a:ext cx="57150" cy="2362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dversarial-zero-title">
            <a:extLst xmlns:a="http://schemas.openxmlformats.org/drawingml/2006/main">
              <a:ext uri="{FF2B5EF4-FFF2-40B4-BE49-F238E27FC236}">
                <a16:creationId xmlns:a16="http://schemas.microsoft.com/office/drawing/2014/main" id="{B3F739A0-4A62-457F-B524-D6BE4487BE40}"/>
              </a:ext>
            </a:extLst>
          </p:cNvPr>
          <p:cNvSpPr>
            <a:spLocks xmlns:a="http://schemas.openxmlformats.org/drawingml/2006/main" noGrp="1"/>
          </p:cNvSpPr>
          <p:nvPr/>
        </p:nvSpPr>
        <p:spPr>
          <a:xfrm xmlns:a="http://schemas.openxmlformats.org/drawingml/2006/main">
            <a:off x="6705600" y="2714625"/>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OBSERVED ON THE PROBE GRID</a:t>
            </a:r>
          </a:p>
        </p:txBody>
      </p:sp>
      <p:sp>
        <p:nvSpPr>
          <p:cNvPr id="16" name="adversarial-zero-body">
            <a:extLst xmlns:a="http://schemas.openxmlformats.org/drawingml/2006/main">
              <a:ext uri="{FF2B5EF4-FFF2-40B4-BE49-F238E27FC236}">
                <a16:creationId xmlns:a16="http://schemas.microsoft.com/office/drawing/2014/main" id="{F43A31F8-2FA2-432B-A756-9571F0502B97}"/>
              </a:ext>
            </a:extLst>
          </p:cNvPr>
          <p:cNvSpPr>
            <a:spLocks xmlns:a="http://schemas.openxmlformats.org/drawingml/2006/main" noGrp="1"/>
          </p:cNvSpPr>
          <p:nvPr/>
        </p:nvSpPr>
        <p:spPr>
          <a:xfrm xmlns:a="http://schemas.openxmlformats.org/drawingml/2006/main">
            <a:off x="6705600" y="3248025"/>
            <a:ext cx="45339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Menlo"/>
                <a:ea typeface="Menlo"/>
                <a:cs typeface="Menlo"/>
              </a:defRPr>
            </a:defPPr>
          </a:lstStyle>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0 complete-observation mismatches</a:t>
            </a:r>
          </a:p>
          <a:p xmlns:a="http://schemas.openxmlformats.org/drawingml/2006/main">
            <a:r>
              <a:t/>
            </a:r>
          </a:p>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request · input/output usage</a:t>
            </a:r>
          </a:p>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response bytes · stop/truncation status</a:t>
            </a:r>
          </a:p>
        </p:txBody>
      </p:sp>
      <p:sp>
        <p:nvSpPr>
          <p:cNvPr id="17" name="adversarial-caveat">
            <a:extLst xmlns:a="http://schemas.openxmlformats.org/drawingml/2006/main">
              <a:ext uri="{FF2B5EF4-FFF2-40B4-BE49-F238E27FC236}">
                <a16:creationId xmlns:a16="http://schemas.microsoft.com/office/drawing/2014/main" id="{DC642E8F-3FCF-49E8-B205-096456624FFA}"/>
              </a:ext>
            </a:extLst>
          </p:cNvPr>
          <p:cNvSpPr>
            <a:spLocks xmlns:a="http://schemas.openxmlformats.org/drawingml/2006/main" noGrp="1"/>
          </p:cNvSpPr>
          <p:nvPr/>
        </p:nvSpPr>
        <p:spPr>
          <a:xfrm xmlns:a="http://schemas.openxmlformats.org/drawingml/2006/main">
            <a:off x="904875" y="5267325"/>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i="0">
                <a:solidFill>
                  <a:srgbClr val="646B7A"/>
                </a:solidFill>
                <a:latin typeface="Avenir Next"/>
                <a:ea typeface="Avenir Next"/>
                <a:cs typeface="Avenir Next"/>
              </a:defRPr>
            </a:defPPr>
          </a:lstStyle>
          <a:p xmlns:a="http://schemas.openxmlformats.org/drawingml/2006/main">
            <a:pPr algn="ctr">
              <a:defRPr sz="1200" b="0" i="0">
                <a:solidFill>
                  <a:srgbClr val="646B7A"/>
                </a:solidFill>
                <a:latin typeface="Avenir Next"/>
                <a:ea typeface="Avenir Next"/>
                <a:cs typeface="Avenir Next"/>
              </a:defRPr>
            </a:pPr>
            <a:r>
              <a:rPr sz="1200" b="0" i="0">
                <a:solidFill>
                  <a:srgbClr val="646B7A"/>
                </a:solidFill>
                <a:latin typeface="Avenir Next"/>
                <a:ea typeface="Avenir Next"/>
                <a:cs typeface="Avenir Next"/>
              </a:rPr>
              <a:t>Supplementary adversarial coverage only: generator and reference use the same producer module; small Boolean/literal graph domain; prefixes capped at 20 calls.</a:t>
            </a:r>
          </a:p>
        </p:txBody>
      </p:sp>
    </p:spTree>
    <p:extLst>
      <p:ext uri="{BB962C8B-B14F-4D97-AF65-F5344CB8AC3E}">
        <p14:creationId xmlns:p14="http://schemas.microsoft.com/office/powerpoint/2010/main" val="676251658"/>
      </p:ext>
    </p:extLst>
  </p:cSld>
</p:sld>
</file>

<file path=ppt/slides/slide24.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1" name="s24-brand">
            <a:extLst xmlns:a="http://schemas.openxmlformats.org/drawingml/2006/main">
              <a:ext uri="{FF2B5EF4-FFF2-40B4-BE49-F238E27FC236}">
                <a16:creationId xmlns:a16="http://schemas.microsoft.com/office/drawing/2014/main" id="{BA752C3F-32B8-4F50-8DD3-27FAAE80A395}"/>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4-section">
            <a:extLst xmlns:a="http://schemas.openxmlformats.org/drawingml/2006/main">
              <a:ext uri="{FF2B5EF4-FFF2-40B4-BE49-F238E27FC236}">
                <a16:creationId xmlns:a16="http://schemas.microsoft.com/office/drawing/2014/main" id="{14896858-BEF3-4D7C-AEA4-A0BE84E19D8F}"/>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A6</a:t>
            </a:r>
          </a:p>
        </p:txBody>
      </p:sp>
      <p:sp>
        <p:nvSpPr>
          <p:cNvPr id="3" name="s24-title">
            <a:extLst xmlns:a="http://schemas.openxmlformats.org/drawingml/2006/main">
              <a:ext uri="{FF2B5EF4-FFF2-40B4-BE49-F238E27FC236}">
                <a16:creationId xmlns:a16="http://schemas.microsoft.com/office/drawing/2014/main" id="{A737ABA4-4F4B-4258-8884-3B523AA9AF5A}"/>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Earlier source-derived bounded-pattern study</a:t>
            </a:r>
          </a:p>
        </p:txBody>
      </p:sp>
      <p:sp>
        <p:nvSpPr>
          <p:cNvPr id="4" name="s24-subtitle">
            <a:extLst xmlns:a="http://schemas.openxmlformats.org/drawingml/2006/main">
              <a:ext uri="{FF2B5EF4-FFF2-40B4-BE49-F238E27FC236}">
                <a16:creationId xmlns:a16="http://schemas.microsoft.com/office/drawing/2014/main" id="{49063FF0-03F1-4310-8A19-408A7D1B0016}"/>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15 partial projections and 45 authored variants; the two mock modes repeat the same grid.</a:t>
            </a:r>
          </a:p>
        </p:txBody>
      </p:sp>
      <p:sp>
        <p:nvSpPr>
          <p:cNvPr id="5" name="s24-source-rule">
            <a:extLst xmlns:a="http://schemas.openxmlformats.org/drawingml/2006/main">
              <a:ext uri="{FF2B5EF4-FFF2-40B4-BE49-F238E27FC236}">
                <a16:creationId xmlns:a16="http://schemas.microsoft.com/office/drawing/2014/main" id="{CDFBF368-D9F2-4F02-B582-7F31603C2799}"/>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24-sources">
            <a:extLst xmlns:a="http://schemas.openxmlformats.org/drawingml/2006/main">
              <a:ext uri="{FF2B5EF4-FFF2-40B4-BE49-F238E27FC236}">
                <a16:creationId xmlns:a16="http://schemas.microsoft.com/office/drawing/2014/main" id="{187CC823-DFE9-405C-BD3F-38DB3C90E5E2}"/>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bench/results/sourced.json; bench/results/sourced_request_sensitive.json; bench/sourced/manifest.json</a:t>
            </a:r>
          </a:p>
        </p:txBody>
      </p:sp>
      <p:sp>
        <p:nvSpPr>
          <p:cNvPr id="7" name="s24-footer-rule">
            <a:extLst xmlns:a="http://schemas.openxmlformats.org/drawingml/2006/main">
              <a:ext uri="{FF2B5EF4-FFF2-40B4-BE49-F238E27FC236}">
                <a16:creationId xmlns:a16="http://schemas.microsoft.com/office/drawing/2014/main" id="{1465555B-2BEE-46CE-95D4-020F93CEB9C5}"/>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24-footer">
            <a:extLst xmlns:a="http://schemas.openxmlformats.org/drawingml/2006/main">
              <a:ext uri="{FF2B5EF4-FFF2-40B4-BE49-F238E27FC236}">
                <a16:creationId xmlns:a16="http://schemas.microsoft.com/office/drawing/2014/main" id="{BD66BA00-5918-4EF7-AA60-7D552567E352}"/>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24-page">
            <a:extLst xmlns:a="http://schemas.openxmlformats.org/drawingml/2006/main">
              <a:ext uri="{FF2B5EF4-FFF2-40B4-BE49-F238E27FC236}">
                <a16:creationId xmlns:a16="http://schemas.microsoft.com/office/drawing/2014/main" id="{8E09B666-9C8D-461A-935A-9FBCEE74DD29}"/>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A6</a:t>
            </a:r>
          </a:p>
        </p:txBody>
      </p:sp>
      <p:sp>
        <p:nvSpPr>
          <p:cNvPr id="10" name="metric-0-panel">
            <a:extLst xmlns:a="http://schemas.openxmlformats.org/drawingml/2006/main">
              <a:ext uri="{FF2B5EF4-FFF2-40B4-BE49-F238E27FC236}">
                <a16:creationId xmlns:a16="http://schemas.microsoft.com/office/drawing/2014/main" id="{FB371AFA-5397-4C1D-9DFD-2E6B58DA683F}"/>
              </a:ext>
            </a:extLst>
          </p:cNvPr>
          <p:cNvSpPr>
            <a:spLocks xmlns:a="http://schemas.openxmlformats.org/drawingml/2006/main" noGrp="1"/>
          </p:cNvSpPr>
          <p:nvPr/>
        </p:nvSpPr>
        <p:spPr>
          <a:xfrm xmlns:a="http://schemas.openxmlformats.org/drawingml/2006/main">
            <a:off x="781050" y="2876550"/>
            <a:ext cx="23431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11" name="metric-0-stripe">
            <a:extLst xmlns:a="http://schemas.openxmlformats.org/drawingml/2006/main">
              <a:ext uri="{FF2B5EF4-FFF2-40B4-BE49-F238E27FC236}">
                <a16:creationId xmlns:a16="http://schemas.microsoft.com/office/drawing/2014/main" id="{5B440E4A-4991-49BE-9CE4-1FFB43E233EE}"/>
              </a:ext>
            </a:extLst>
          </p:cNvPr>
          <p:cNvSpPr>
            <a:spLocks xmlns:a="http://schemas.openxmlformats.org/drawingml/2006/main" noGrp="1"/>
          </p:cNvSpPr>
          <p:nvPr/>
        </p:nvSpPr>
        <p:spPr>
          <a:xfrm xmlns:a="http://schemas.openxmlformats.org/drawingml/2006/main">
            <a:off x="781050" y="2876550"/>
            <a:ext cx="2343150" cy="762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metric-0-value">
            <a:extLst xmlns:a="http://schemas.openxmlformats.org/drawingml/2006/main">
              <a:ext uri="{FF2B5EF4-FFF2-40B4-BE49-F238E27FC236}">
                <a16:creationId xmlns:a16="http://schemas.microsoft.com/office/drawing/2014/main" id="{2B5CFF2E-B366-45D8-A2DF-111D454147DA}"/>
              </a:ext>
            </a:extLst>
          </p:cNvPr>
          <p:cNvSpPr>
            <a:spLocks xmlns:a="http://schemas.openxmlformats.org/drawingml/2006/main" noGrp="1"/>
          </p:cNvSpPr>
          <p:nvPr/>
        </p:nvSpPr>
        <p:spPr>
          <a:xfrm xmlns:a="http://schemas.openxmlformats.org/drawingml/2006/main">
            <a:off x="952500" y="323850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i="0">
                <a:solidFill>
                  <a:srgbClr val="1F6F66"/>
                </a:solidFill>
                <a:latin typeface="Avenir Next"/>
                <a:ea typeface="Avenir Next"/>
                <a:cs typeface="Avenir Next"/>
              </a:defRPr>
            </a:defPPr>
          </a:lstStyle>
          <a:p xmlns:a="http://schemas.openxmlformats.org/drawingml/2006/main">
            <a:pPr algn="ctr">
              <a:defRPr sz="2700" b="1" i="0">
                <a:solidFill>
                  <a:srgbClr val="1F6F66"/>
                </a:solidFill>
                <a:latin typeface="Avenir Next"/>
                <a:ea typeface="Avenir Next"/>
                <a:cs typeface="Avenir Next"/>
              </a:defRPr>
            </a:pPr>
            <a:r>
              <a:rPr sz="2700" b="1" i="0">
                <a:solidFill>
                  <a:srgbClr val="1F6F66"/>
                </a:solidFill>
                <a:latin typeface="Avenir Next"/>
                <a:ea typeface="Avenir Next"/>
                <a:cs typeface="Avenir Next"/>
              </a:rPr>
              <a:t>15 / 15</a:t>
            </a:r>
          </a:p>
        </p:txBody>
      </p:sp>
      <p:sp>
        <p:nvSpPr>
          <p:cNvPr id="13" name="metric-0-label">
            <a:extLst xmlns:a="http://schemas.openxmlformats.org/drawingml/2006/main">
              <a:ext uri="{FF2B5EF4-FFF2-40B4-BE49-F238E27FC236}">
                <a16:creationId xmlns:a16="http://schemas.microsoft.com/office/drawing/2014/main" id="{C84BB3D9-E568-46AA-8E46-905EE49BF5DB}"/>
              </a:ext>
            </a:extLst>
          </p:cNvPr>
          <p:cNvSpPr>
            <a:spLocks xmlns:a="http://schemas.openxmlformats.org/drawingml/2006/main" noGrp="1"/>
          </p:cNvSpPr>
          <p:nvPr/>
        </p:nvSpPr>
        <p:spPr>
          <a:xfrm xmlns:a="http://schemas.openxmlformats.org/drawingml/2006/main">
            <a:off x="952500" y="39052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141B2B"/>
                </a:solidFill>
                <a:latin typeface="Avenir Next"/>
                <a:ea typeface="Avenir Next"/>
                <a:cs typeface="Avenir Next"/>
              </a:defRPr>
            </a:defPPr>
          </a:lstStyle>
          <a:p xmlns:a="http://schemas.openxmlformats.org/drawingml/2006/main">
            <a:pPr algn="ctr">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Balanced patterns</a:t>
            </a:r>
          </a:p>
        </p:txBody>
      </p:sp>
      <p:sp>
        <p:nvSpPr>
          <p:cNvPr id="14" name="metric-0-detail">
            <a:extLst xmlns:a="http://schemas.openxmlformats.org/drawingml/2006/main">
              <a:ext uri="{FF2B5EF4-FFF2-40B4-BE49-F238E27FC236}">
                <a16:creationId xmlns:a16="http://schemas.microsoft.com/office/drawing/2014/main" id="{1DE87A9D-6F0F-4998-AD0A-1B22BCA921B1}"/>
              </a:ext>
            </a:extLst>
          </p:cNvPr>
          <p:cNvSpPr>
            <a:spLocks xmlns:a="http://schemas.openxmlformats.org/drawingml/2006/main" noGrp="1"/>
          </p:cNvSpPr>
          <p:nvPr/>
        </p:nvSpPr>
        <p:spPr>
          <a:xfrm xmlns:a="http://schemas.openxmlformats.org/drawingml/2006/main">
            <a:off x="952500" y="449580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both modes · baseline 8 / 15</a:t>
            </a:r>
          </a:p>
        </p:txBody>
      </p:sp>
      <p:sp>
        <p:nvSpPr>
          <p:cNvPr id="15" name="metric-1-panel">
            <a:extLst xmlns:a="http://schemas.openxmlformats.org/drawingml/2006/main">
              <a:ext uri="{FF2B5EF4-FFF2-40B4-BE49-F238E27FC236}">
                <a16:creationId xmlns:a16="http://schemas.microsoft.com/office/drawing/2014/main" id="{DDB0D990-CDC5-4BA2-8147-CC1087CE605F}"/>
              </a:ext>
            </a:extLst>
          </p:cNvPr>
          <p:cNvSpPr>
            <a:spLocks xmlns:a="http://schemas.openxmlformats.org/drawingml/2006/main" noGrp="1"/>
          </p:cNvSpPr>
          <p:nvPr/>
        </p:nvSpPr>
        <p:spPr>
          <a:xfrm xmlns:a="http://schemas.openxmlformats.org/drawingml/2006/main">
            <a:off x="3543300" y="2876550"/>
            <a:ext cx="23431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16" name="metric-1-stripe">
            <a:extLst xmlns:a="http://schemas.openxmlformats.org/drawingml/2006/main">
              <a:ext uri="{FF2B5EF4-FFF2-40B4-BE49-F238E27FC236}">
                <a16:creationId xmlns:a16="http://schemas.microsoft.com/office/drawing/2014/main" id="{C94C7B81-37D3-404E-BF45-D11802DE211D}"/>
              </a:ext>
            </a:extLst>
          </p:cNvPr>
          <p:cNvSpPr>
            <a:spLocks xmlns:a="http://schemas.openxmlformats.org/drawingml/2006/main" noGrp="1"/>
          </p:cNvSpPr>
          <p:nvPr/>
        </p:nvSpPr>
        <p:spPr>
          <a:xfrm xmlns:a="http://schemas.openxmlformats.org/drawingml/2006/main">
            <a:off x="3543300" y="2876550"/>
            <a:ext cx="2343150" cy="76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metric-1-value">
            <a:extLst xmlns:a="http://schemas.openxmlformats.org/drawingml/2006/main">
              <a:ext uri="{FF2B5EF4-FFF2-40B4-BE49-F238E27FC236}">
                <a16:creationId xmlns:a16="http://schemas.microsoft.com/office/drawing/2014/main" id="{FBE7803B-8FBB-4DE0-A8C0-037B0CEDED64}"/>
              </a:ext>
            </a:extLst>
          </p:cNvPr>
          <p:cNvSpPr>
            <a:spLocks xmlns:a="http://schemas.openxmlformats.org/drawingml/2006/main" noGrp="1"/>
          </p:cNvSpPr>
          <p:nvPr/>
        </p:nvSpPr>
        <p:spPr>
          <a:xfrm xmlns:a="http://schemas.openxmlformats.org/drawingml/2006/main">
            <a:off x="3714750" y="323850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i="0">
                <a:solidFill>
                  <a:srgbClr val="FF8A5C"/>
                </a:solidFill>
                <a:latin typeface="Avenir Next"/>
                <a:ea typeface="Avenir Next"/>
                <a:cs typeface="Avenir Next"/>
              </a:defRPr>
            </a:defPPr>
          </a:lstStyle>
          <a:p xmlns:a="http://schemas.openxmlformats.org/drawingml/2006/main">
            <a:pPr algn="ctr">
              <a:defRPr sz="2700" b="1" i="0">
                <a:solidFill>
                  <a:srgbClr val="FF8A5C"/>
                </a:solidFill>
                <a:latin typeface="Avenir Next"/>
                <a:ea typeface="Avenir Next"/>
                <a:cs typeface="Avenir Next"/>
              </a:defRPr>
            </a:pPr>
            <a:r>
              <a:rPr sz="2700" b="1" i="0">
                <a:solidFill>
                  <a:srgbClr val="FF8A5C"/>
                </a:solidFill>
                <a:latin typeface="Avenir Next"/>
                <a:ea typeface="Avenir Next"/>
                <a:cs typeface="Avenir Next"/>
              </a:rPr>
              <a:t>0 / 2,250</a:t>
            </a:r>
          </a:p>
        </p:txBody>
      </p:sp>
      <p:sp>
        <p:nvSpPr>
          <p:cNvPr id="18" name="metric-1-label">
            <a:extLst xmlns:a="http://schemas.openxmlformats.org/drawingml/2006/main">
              <a:ext uri="{FF2B5EF4-FFF2-40B4-BE49-F238E27FC236}">
                <a16:creationId xmlns:a16="http://schemas.microsoft.com/office/drawing/2014/main" id="{3F308539-51E1-499B-A929-D9A7ADB31FE0}"/>
              </a:ext>
            </a:extLst>
          </p:cNvPr>
          <p:cNvSpPr>
            <a:spLocks xmlns:a="http://schemas.openxmlformats.org/drawingml/2006/main" noGrp="1"/>
          </p:cNvSpPr>
          <p:nvPr/>
        </p:nvSpPr>
        <p:spPr>
          <a:xfrm xmlns:a="http://schemas.openxmlformats.org/drawingml/2006/main">
            <a:off x="3714750" y="39052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141B2B"/>
                </a:solidFill>
                <a:latin typeface="Avenir Next"/>
                <a:ea typeface="Avenir Next"/>
                <a:cs typeface="Avenir Next"/>
              </a:defRPr>
            </a:defPPr>
          </a:lstStyle>
          <a:p xmlns:a="http://schemas.openxmlformats.org/drawingml/2006/main">
            <a:pPr algn="ctr">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Balanced pairs</a:t>
            </a:r>
          </a:p>
        </p:txBody>
      </p:sp>
      <p:sp>
        <p:nvSpPr>
          <p:cNvPr id="19" name="metric-1-detail">
            <a:extLst xmlns:a="http://schemas.openxmlformats.org/drawingml/2006/main">
              <a:ext uri="{FF2B5EF4-FFF2-40B4-BE49-F238E27FC236}">
                <a16:creationId xmlns:a16="http://schemas.microsoft.com/office/drawing/2014/main" id="{58DDC10F-B663-4E70-8540-2FEE9B0F3D96}"/>
              </a:ext>
            </a:extLst>
          </p:cNvPr>
          <p:cNvSpPr>
            <a:spLocks xmlns:a="http://schemas.openxmlformats.org/drawingml/2006/main" noGrp="1"/>
          </p:cNvSpPr>
          <p:nvPr/>
        </p:nvSpPr>
        <p:spPr>
          <a:xfrm xmlns:a="http://schemas.openxmlformats.org/drawingml/2006/main">
            <a:off x="3714750" y="449580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mismatches in each mode</a:t>
            </a:r>
          </a:p>
        </p:txBody>
      </p:sp>
      <p:sp>
        <p:nvSpPr>
          <p:cNvPr id="20" name="metric-2-panel">
            <a:extLst xmlns:a="http://schemas.openxmlformats.org/drawingml/2006/main">
              <a:ext uri="{FF2B5EF4-FFF2-40B4-BE49-F238E27FC236}">
                <a16:creationId xmlns:a16="http://schemas.microsoft.com/office/drawing/2014/main" id="{E9D70D6E-1D01-417A-A64D-7A9676FCC525}"/>
              </a:ext>
            </a:extLst>
          </p:cNvPr>
          <p:cNvSpPr>
            <a:spLocks xmlns:a="http://schemas.openxmlformats.org/drawingml/2006/main" noGrp="1"/>
          </p:cNvSpPr>
          <p:nvPr/>
        </p:nvSpPr>
        <p:spPr>
          <a:xfrm xmlns:a="http://schemas.openxmlformats.org/drawingml/2006/main">
            <a:off x="6305550" y="2876550"/>
            <a:ext cx="23431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21" name="metric-2-stripe">
            <a:extLst xmlns:a="http://schemas.openxmlformats.org/drawingml/2006/main">
              <a:ext uri="{FF2B5EF4-FFF2-40B4-BE49-F238E27FC236}">
                <a16:creationId xmlns:a16="http://schemas.microsoft.com/office/drawing/2014/main" id="{7F56572F-7E95-42C5-97E1-A6DDE3605860}"/>
              </a:ext>
            </a:extLst>
          </p:cNvPr>
          <p:cNvSpPr>
            <a:spLocks xmlns:a="http://schemas.openxmlformats.org/drawingml/2006/main" noGrp="1"/>
          </p:cNvSpPr>
          <p:nvPr/>
        </p:nvSpPr>
        <p:spPr>
          <a:xfrm xmlns:a="http://schemas.openxmlformats.org/drawingml/2006/main">
            <a:off x="6305550" y="2876550"/>
            <a:ext cx="2343150" cy="76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metric-2-value">
            <a:extLst xmlns:a="http://schemas.openxmlformats.org/drawingml/2006/main">
              <a:ext uri="{FF2B5EF4-FFF2-40B4-BE49-F238E27FC236}">
                <a16:creationId xmlns:a16="http://schemas.microsoft.com/office/drawing/2014/main" id="{82F324E2-70AA-4DA2-83A7-D3F1F6463AA0}"/>
              </a:ext>
            </a:extLst>
          </p:cNvPr>
          <p:cNvSpPr>
            <a:spLocks xmlns:a="http://schemas.openxmlformats.org/drawingml/2006/main" noGrp="1"/>
          </p:cNvSpPr>
          <p:nvPr/>
        </p:nvSpPr>
        <p:spPr>
          <a:xfrm xmlns:a="http://schemas.openxmlformats.org/drawingml/2006/main">
            <a:off x="6477000" y="323850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i="0">
                <a:solidFill>
                  <a:srgbClr val="5CC8B8"/>
                </a:solidFill>
                <a:latin typeface="Avenir Next"/>
                <a:ea typeface="Avenir Next"/>
                <a:cs typeface="Avenir Next"/>
              </a:defRPr>
            </a:defPPr>
          </a:lstStyle>
          <a:p xmlns:a="http://schemas.openxmlformats.org/drawingml/2006/main">
            <a:pPr algn="ctr">
              <a:defRPr sz="2700" b="1" i="0">
                <a:solidFill>
                  <a:srgbClr val="5CC8B8"/>
                </a:solidFill>
                <a:latin typeface="Avenir Next"/>
                <a:ea typeface="Avenir Next"/>
                <a:cs typeface="Avenir Next"/>
              </a:defRPr>
            </a:pPr>
            <a:r>
              <a:rPr sz="2700" b="1" i="0">
                <a:solidFill>
                  <a:srgbClr val="5CC8B8"/>
                </a:solidFill>
                <a:latin typeface="Avenir Next"/>
                <a:ea typeface="Avenir Next"/>
                <a:cs typeface="Avenir Next"/>
              </a:rPr>
              <a:t>15 / 15</a:t>
            </a:r>
          </a:p>
        </p:txBody>
      </p:sp>
      <p:sp>
        <p:nvSpPr>
          <p:cNvPr id="23" name="metric-2-label">
            <a:extLst xmlns:a="http://schemas.openxmlformats.org/drawingml/2006/main">
              <a:ext uri="{FF2B5EF4-FFF2-40B4-BE49-F238E27FC236}">
                <a16:creationId xmlns:a16="http://schemas.microsoft.com/office/drawing/2014/main" id="{FBFE078F-9EC0-4C5B-A25F-DCC22F6D8763}"/>
              </a:ext>
            </a:extLst>
          </p:cNvPr>
          <p:cNvSpPr>
            <a:spLocks xmlns:a="http://schemas.openxmlformats.org/drawingml/2006/main" noGrp="1"/>
          </p:cNvSpPr>
          <p:nvPr/>
        </p:nvSpPr>
        <p:spPr>
          <a:xfrm xmlns:a="http://schemas.openxmlformats.org/drawingml/2006/main">
            <a:off x="6477000" y="39052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141B2B"/>
                </a:solidFill>
                <a:latin typeface="Avenir Next"/>
                <a:ea typeface="Avenir Next"/>
                <a:cs typeface="Avenir Next"/>
              </a:defRPr>
            </a:defPPr>
          </a:lstStyle>
          <a:p xmlns:a="http://schemas.openxmlformats.org/drawingml/2006/main">
            <a:pPr algn="ctr">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Mutations rejected</a:t>
            </a:r>
          </a:p>
        </p:txBody>
      </p:sp>
      <p:sp>
        <p:nvSpPr>
          <p:cNvPr id="24" name="metric-2-detail">
            <a:extLst xmlns:a="http://schemas.openxmlformats.org/drawingml/2006/main">
              <a:ext uri="{FF2B5EF4-FFF2-40B4-BE49-F238E27FC236}">
                <a16:creationId xmlns:a16="http://schemas.microsoft.com/office/drawing/2014/main" id="{211EC0D0-AF6E-4043-A16A-3B0136A3CEF7}"/>
              </a:ext>
            </a:extLst>
          </p:cNvPr>
          <p:cNvSpPr>
            <a:spLocks xmlns:a="http://schemas.openxmlformats.org/drawingml/2006/main" noGrp="1"/>
          </p:cNvSpPr>
          <p:nvPr/>
        </p:nvSpPr>
        <p:spPr>
          <a:xfrm xmlns:a="http://schemas.openxmlformats.org/drawingml/2006/main">
            <a:off x="6477000" y="449580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2,250 paired witnesses per mode</a:t>
            </a:r>
          </a:p>
        </p:txBody>
      </p:sp>
      <p:sp>
        <p:nvSpPr>
          <p:cNvPr id="25" name="metric-3-panel">
            <a:extLst xmlns:a="http://schemas.openxmlformats.org/drawingml/2006/main">
              <a:ext uri="{FF2B5EF4-FFF2-40B4-BE49-F238E27FC236}">
                <a16:creationId xmlns:a16="http://schemas.microsoft.com/office/drawing/2014/main" id="{587C3C79-4C84-410C-BFD0-454243C83129}"/>
              </a:ext>
            </a:extLst>
          </p:cNvPr>
          <p:cNvSpPr>
            <a:spLocks xmlns:a="http://schemas.openxmlformats.org/drawingml/2006/main" noGrp="1"/>
          </p:cNvSpPr>
          <p:nvPr/>
        </p:nvSpPr>
        <p:spPr>
          <a:xfrm xmlns:a="http://schemas.openxmlformats.org/drawingml/2006/main">
            <a:off x="9067800" y="2876550"/>
            <a:ext cx="2343150"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26" name="metric-3-stripe">
            <a:extLst xmlns:a="http://schemas.openxmlformats.org/drawingml/2006/main">
              <a:ext uri="{FF2B5EF4-FFF2-40B4-BE49-F238E27FC236}">
                <a16:creationId xmlns:a16="http://schemas.microsoft.com/office/drawing/2014/main" id="{3B1FCD44-B652-4FB4-B578-3123BB1A23B9}"/>
              </a:ext>
            </a:extLst>
          </p:cNvPr>
          <p:cNvSpPr>
            <a:spLocks xmlns:a="http://schemas.openxmlformats.org/drawingml/2006/main" noGrp="1"/>
          </p:cNvSpPr>
          <p:nvPr/>
        </p:nvSpPr>
        <p:spPr>
          <a:xfrm xmlns:a="http://schemas.openxmlformats.org/drawingml/2006/main">
            <a:off x="9067800" y="2876550"/>
            <a:ext cx="2343150" cy="762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7" name="metric-3-value">
            <a:extLst xmlns:a="http://schemas.openxmlformats.org/drawingml/2006/main">
              <a:ext uri="{FF2B5EF4-FFF2-40B4-BE49-F238E27FC236}">
                <a16:creationId xmlns:a16="http://schemas.microsoft.com/office/drawing/2014/main" id="{BF643A54-609C-4454-B64B-30786762D18F}"/>
              </a:ext>
            </a:extLst>
          </p:cNvPr>
          <p:cNvSpPr>
            <a:spLocks xmlns:a="http://schemas.openxmlformats.org/drawingml/2006/main" noGrp="1"/>
          </p:cNvSpPr>
          <p:nvPr/>
        </p:nvSpPr>
        <p:spPr>
          <a:xfrm xmlns:a="http://schemas.openxmlformats.org/drawingml/2006/main">
            <a:off x="9239250" y="3238500"/>
            <a:ext cx="2000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700" b="1" i="0">
                <a:solidFill>
                  <a:srgbClr val="C2461F"/>
                </a:solidFill>
                <a:latin typeface="Avenir Next"/>
                <a:ea typeface="Avenir Next"/>
                <a:cs typeface="Avenir Next"/>
              </a:defRPr>
            </a:defPPr>
          </a:lstStyle>
          <a:p xmlns:a="http://schemas.openxmlformats.org/drawingml/2006/main">
            <a:pPr algn="ctr">
              <a:defRPr sz="2700" b="1" i="0">
                <a:solidFill>
                  <a:srgbClr val="C2461F"/>
                </a:solidFill>
                <a:latin typeface="Avenir Next"/>
                <a:ea typeface="Avenir Next"/>
                <a:cs typeface="Avenir Next"/>
              </a:defRPr>
            </a:pPr>
            <a:r>
              <a:rPr sz="2700" b="1" i="0">
                <a:solidFill>
                  <a:srgbClr val="C2461F"/>
                </a:solidFill>
                <a:latin typeface="Avenir Next"/>
                <a:ea typeface="Avenir Next"/>
                <a:cs typeface="Avenir Next"/>
              </a:rPr>
              <a:t>0 / 1,500</a:t>
            </a:r>
          </a:p>
        </p:txBody>
      </p:sp>
      <p:sp>
        <p:nvSpPr>
          <p:cNvPr id="28" name="metric-3-label">
            <a:extLst xmlns:a="http://schemas.openxmlformats.org/drawingml/2006/main">
              <a:ext uri="{FF2B5EF4-FFF2-40B4-BE49-F238E27FC236}">
                <a16:creationId xmlns:a16="http://schemas.microsoft.com/office/drawing/2014/main" id="{C3080DEB-3007-462C-BC5F-8D72309044FA}"/>
              </a:ext>
            </a:extLst>
          </p:cNvPr>
          <p:cNvSpPr>
            <a:spLocks xmlns:a="http://schemas.openxmlformats.org/drawingml/2006/main" noGrp="1"/>
          </p:cNvSpPr>
          <p:nvPr/>
        </p:nvSpPr>
        <p:spPr>
          <a:xfrm xmlns:a="http://schemas.openxmlformats.org/drawingml/2006/main">
            <a:off x="9239250" y="39052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141B2B"/>
                </a:solidFill>
                <a:latin typeface="Avenir Next"/>
                <a:ea typeface="Avenir Next"/>
                <a:cs typeface="Avenir Next"/>
              </a:defRPr>
            </a:defPPr>
          </a:lstStyle>
          <a:p xmlns:a="http://schemas.openxmlformats.org/drawingml/2006/main">
            <a:pPr algn="ctr">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Bound violations</a:t>
            </a:r>
          </a:p>
        </p:txBody>
      </p:sp>
      <p:sp>
        <p:nvSpPr>
          <p:cNvPr id="29" name="metric-3-detail">
            <a:extLst xmlns:a="http://schemas.openxmlformats.org/drawingml/2006/main">
              <a:ext uri="{FF2B5EF4-FFF2-40B4-BE49-F238E27FC236}">
                <a16:creationId xmlns:a16="http://schemas.microsoft.com/office/drawing/2014/main" id="{813A9D21-4EF5-46BF-9CC4-9DAF65691036}"/>
              </a:ext>
            </a:extLst>
          </p:cNvPr>
          <p:cNvSpPr>
            <a:spLocks xmlns:a="http://schemas.openxmlformats.org/drawingml/2006/main" noGrp="1"/>
          </p:cNvSpPr>
          <p:nvPr/>
        </p:nvSpPr>
        <p:spPr>
          <a:xfrm xmlns:a="http://schemas.openxmlformats.org/drawingml/2006/main">
            <a:off x="9239250" y="4495800"/>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across base executions per mode</a:t>
            </a:r>
          </a:p>
        </p:txBody>
      </p:sp>
      <p:sp>
        <p:nvSpPr>
          <p:cNvPr id="30" name="metric-revision">
            <a:extLst xmlns:a="http://schemas.openxmlformats.org/drawingml/2006/main">
              <a:ext uri="{FF2B5EF4-FFF2-40B4-BE49-F238E27FC236}">
                <a16:creationId xmlns:a16="http://schemas.microsoft.com/office/drawing/2014/main" id="{3AE693C1-786B-496F-8493-85C0BCBE37D8}"/>
              </a:ext>
            </a:extLst>
          </p:cNvPr>
          <p:cNvSpPr>
            <a:spLocks xmlns:a="http://schemas.openxmlformats.org/drawingml/2006/main" noGrp="1"/>
          </p:cNvSpPr>
          <p:nvPr/>
        </p:nvSpPr>
        <p:spPr>
          <a:xfrm xmlns:a="http://schemas.openxmlformats.org/drawingml/2006/main">
            <a:off x="904875" y="531495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13" b="0" i="0">
                <a:solidFill>
                  <a:srgbClr val="646B7A"/>
                </a:solidFill>
                <a:latin typeface="Menlo"/>
                <a:ea typeface="Menlo"/>
                <a:cs typeface="Menlo"/>
              </a:defRPr>
            </a:defPPr>
          </a:lstStyle>
          <a:p xmlns:a="http://schemas.openxmlformats.org/drawingml/2006/main">
            <a:pPr algn="ctr">
              <a:defRPr sz="1013" b="0" i="0">
                <a:solidFill>
                  <a:srgbClr val="646B7A"/>
                </a:solidFill>
                <a:latin typeface="Menlo"/>
                <a:ea typeface="Menlo"/>
                <a:cs typeface="Menlo"/>
              </a:defRPr>
            </a:pPr>
            <a:r>
              <a:rPr sz="1013" b="0" i="0">
                <a:solidFill>
                  <a:srgbClr val="646B7A"/>
                </a:solidFill>
                <a:latin typeface="Menlo"/>
                <a:ea typeface="Menlo"/>
                <a:cs typeface="Menlo"/>
              </a:rPr>
              <a:t>30 independent source-bound reports checked  ·  compiler SHA-256 5bae3be94e9b</a:t>
            </a:r>
          </a:p>
        </p:txBody>
      </p:sp>
    </p:spTree>
    <p:extLst>
      <p:ext uri="{BB962C8B-B14F-4D97-AF65-F5344CB8AC3E}">
        <p14:creationId xmlns:p14="http://schemas.microsoft.com/office/powerpoint/2010/main" val="150522304"/>
      </p:ext>
    </p:extLst>
  </p:cSld>
</p:sld>
</file>

<file path=ppt/slides/slide25.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6" name="s25-brand">
            <a:extLst xmlns:a="http://schemas.openxmlformats.org/drawingml/2006/main">
              <a:ext uri="{FF2B5EF4-FFF2-40B4-BE49-F238E27FC236}">
                <a16:creationId xmlns:a16="http://schemas.microsoft.com/office/drawing/2014/main" id="{D26993FB-8575-4A60-8892-4F97C2D814C9}"/>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5-section">
            <a:extLst xmlns:a="http://schemas.openxmlformats.org/drawingml/2006/main">
              <a:ext uri="{FF2B5EF4-FFF2-40B4-BE49-F238E27FC236}">
                <a16:creationId xmlns:a16="http://schemas.microsoft.com/office/drawing/2014/main" id="{CA81779A-2AEA-41A2-B0DE-659A823327D4}"/>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A7</a:t>
            </a:r>
          </a:p>
        </p:txBody>
      </p:sp>
      <p:sp>
        <p:nvSpPr>
          <p:cNvPr id="3" name="s25-title">
            <a:extLst xmlns:a="http://schemas.openxmlformats.org/drawingml/2006/main">
              <a:ext uri="{FF2B5EF4-FFF2-40B4-BE49-F238E27FC236}">
                <a16:creationId xmlns:a16="http://schemas.microsoft.com/office/drawing/2014/main" id="{9C9F20BB-BA51-4D99-A032-44D0F01150FB}"/>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Likely examiner questions</a:t>
            </a:r>
          </a:p>
        </p:txBody>
      </p:sp>
      <p:sp>
        <p:nvSpPr>
          <p:cNvPr id="4" name="s25-source-rule">
            <a:extLst xmlns:a="http://schemas.openxmlformats.org/drawingml/2006/main">
              <a:ext uri="{FF2B5EF4-FFF2-40B4-BE49-F238E27FC236}">
                <a16:creationId xmlns:a16="http://schemas.microsoft.com/office/drawing/2014/main" id="{CF8A57FA-55C9-4697-A2C4-02DADB1D0301}"/>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 name="s25-sources">
            <a:extLst xmlns:a="http://schemas.openxmlformats.org/drawingml/2006/main">
              <a:ext uri="{FF2B5EF4-FFF2-40B4-BE49-F238E27FC236}">
                <a16:creationId xmlns:a16="http://schemas.microsoft.com/office/drawing/2014/main" id="{A947C647-7829-473E-A25D-0C51757DE269}"/>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docs/CYCLIC_METHOD_REVIEW.md; docs/PRIOR_ART_MATRIX.md; audit/replay_graph_certificate.py</a:t>
            </a:r>
          </a:p>
        </p:txBody>
      </p:sp>
      <p:sp>
        <p:nvSpPr>
          <p:cNvPr id="6" name="s25-footer-rule">
            <a:extLst xmlns:a="http://schemas.openxmlformats.org/drawingml/2006/main">
              <a:ext uri="{FF2B5EF4-FFF2-40B4-BE49-F238E27FC236}">
                <a16:creationId xmlns:a16="http://schemas.microsoft.com/office/drawing/2014/main" id="{BD647597-E8D0-4C7B-87B3-8F9FFCAD92E1}"/>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7" name="s25-footer">
            <a:extLst xmlns:a="http://schemas.openxmlformats.org/drawingml/2006/main">
              <a:ext uri="{FF2B5EF4-FFF2-40B4-BE49-F238E27FC236}">
                <a16:creationId xmlns:a16="http://schemas.microsoft.com/office/drawing/2014/main" id="{581D225D-1DE6-4305-AEAC-89BFF83E8BB1}"/>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8" name="s25-page">
            <a:extLst xmlns:a="http://schemas.openxmlformats.org/drawingml/2006/main">
              <a:ext uri="{FF2B5EF4-FFF2-40B4-BE49-F238E27FC236}">
                <a16:creationId xmlns:a16="http://schemas.microsoft.com/office/drawing/2014/main" id="{0835553C-335E-47F3-80E8-855DE27BBFE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A7</a:t>
            </a:r>
          </a:p>
        </p:txBody>
      </p:sp>
      <p:sp>
        <p:nvSpPr>
          <p:cNvPr id="9" name="qa-0-q">
            <a:extLst xmlns:a="http://schemas.openxmlformats.org/drawingml/2006/main">
              <a:ext uri="{FF2B5EF4-FFF2-40B4-BE49-F238E27FC236}">
                <a16:creationId xmlns:a16="http://schemas.microsoft.com/office/drawing/2014/main" id="{B8EE04E9-3873-484C-9350-A20AD486C93D}"/>
              </a:ext>
            </a:extLst>
          </p:cNvPr>
          <p:cNvSpPr>
            <a:spLocks xmlns:a="http://schemas.openxmlformats.org/drawingml/2006/main" noGrp="1"/>
          </p:cNvSpPr>
          <p:nvPr/>
        </p:nvSpPr>
        <p:spPr>
          <a:xfrm xmlns:a="http://schemas.openxmlformats.org/drawingml/2006/main">
            <a:off x="742950" y="23812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F8A5C"/>
                </a:solidFill>
                <a:latin typeface="Avenir Next"/>
                <a:ea typeface="Avenir Next"/>
                <a:cs typeface="Avenir Next"/>
              </a:defRPr>
            </a:defPPr>
          </a:lstStyle>
          <a:p xmlns:a="http://schemas.openxmlformats.org/drawingml/2006/main">
            <a:pPr algn="l">
              <a:defRPr sz="1275" b="1" i="0">
                <a:solidFill>
                  <a:srgbClr val="FF8A5C"/>
                </a:solidFill>
                <a:latin typeface="Avenir Next"/>
                <a:ea typeface="Avenir Next"/>
                <a:cs typeface="Avenir Next"/>
              </a:defRPr>
            </a:pPr>
            <a:r>
              <a:rPr sz="1275" b="1" i="0">
                <a:solidFill>
                  <a:srgbClr val="FF8A5C"/>
                </a:solidFill>
                <a:latin typeface="Avenir Next"/>
                <a:ea typeface="Avenir Next"/>
                <a:cs typeface="Avenir Next"/>
              </a:rPr>
              <a:t>What does a cycle prove?</a:t>
            </a:r>
          </a:p>
        </p:txBody>
      </p:sp>
      <p:sp>
        <p:nvSpPr>
          <p:cNvPr id="10" name="qa-0-a">
            <a:extLst xmlns:a="http://schemas.openxmlformats.org/drawingml/2006/main">
              <a:ext uri="{FF2B5EF4-FFF2-40B4-BE49-F238E27FC236}">
                <a16:creationId xmlns:a16="http://schemas.microsoft.com/office/drawing/2014/main" id="{26761700-766C-4371-BA03-38D3AA9453AD}"/>
              </a:ext>
            </a:extLst>
          </p:cNvPr>
          <p:cNvSpPr>
            <a:spLocks xmlns:a="http://schemas.openxmlformats.org/drawingml/2006/main" noGrp="1"/>
          </p:cNvSpPr>
          <p:nvPr/>
        </p:nvSpPr>
        <p:spPr>
          <a:xfrm xmlns:a="http://schemas.openxmlformats.org/drawingml/2006/main">
            <a:off x="4000500" y="2381250"/>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Prefix equality under Ω; not termination or a finite total budget.</a:t>
            </a:r>
          </a:p>
        </p:txBody>
      </p:sp>
      <p:sp>
        <p:nvSpPr>
          <p:cNvPr id="11" name="qa-0-rule">
            <a:extLst xmlns:a="http://schemas.openxmlformats.org/drawingml/2006/main">
              <a:ext uri="{FF2B5EF4-FFF2-40B4-BE49-F238E27FC236}">
                <a16:creationId xmlns:a16="http://schemas.microsoft.com/office/drawing/2014/main" id="{B9AE5EDB-E61B-4AAC-9BD3-2B2C1C4E3840}"/>
              </a:ext>
            </a:extLst>
          </p:cNvPr>
          <p:cNvSpPr>
            <a:spLocks xmlns:a="http://schemas.openxmlformats.org/drawingml/2006/main" noGrp="1"/>
          </p:cNvSpPr>
          <p:nvPr/>
        </p:nvSpPr>
        <p:spPr>
          <a:xfrm xmlns:a="http://schemas.openxmlformats.org/drawingml/2006/main">
            <a:off x="742950" y="2857500"/>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2" name="qa-1-q">
            <a:extLst xmlns:a="http://schemas.openxmlformats.org/drawingml/2006/main">
              <a:ext uri="{FF2B5EF4-FFF2-40B4-BE49-F238E27FC236}">
                <a16:creationId xmlns:a16="http://schemas.microsoft.com/office/drawing/2014/main" id="{D90AB06B-93BE-4EDB-85F2-FCE1526434EA}"/>
              </a:ext>
            </a:extLst>
          </p:cNvPr>
          <p:cNvSpPr>
            <a:spLocks xmlns:a="http://schemas.openxmlformats.org/drawingml/2006/main" noGrp="1"/>
          </p:cNvSpPr>
          <p:nvPr/>
        </p:nvSpPr>
        <p:spPr>
          <a:xfrm xmlns:a="http://schemas.openxmlformats.org/drawingml/2006/main">
            <a:off x="742950" y="29622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5CC8B8"/>
                </a:solidFill>
                <a:latin typeface="Avenir Next"/>
                <a:ea typeface="Avenir Next"/>
                <a:cs typeface="Avenir Next"/>
              </a:defRPr>
            </a:defPPr>
          </a:lstStyle>
          <a:p xmlns:a="http://schemas.openxmlformats.org/drawingml/2006/main">
            <a:pPr algn="l">
              <a:defRPr sz="1275" b="1" i="0">
                <a:solidFill>
                  <a:srgbClr val="5CC8B8"/>
                </a:solidFill>
                <a:latin typeface="Avenir Next"/>
                <a:ea typeface="Avenir Next"/>
                <a:cs typeface="Avenir Next"/>
              </a:defRPr>
            </a:pPr>
            <a:r>
              <a:rPr sz="1275" b="1" i="0">
                <a:solidFill>
                  <a:srgbClr val="5CC8B8"/>
                </a:solidFill>
                <a:latin typeface="Avenir Next"/>
                <a:ea typeface="Avenir Next"/>
                <a:cs typeface="Avenir Next"/>
              </a:rPr>
              <a:t>Is the JSON a program?</a:t>
            </a:r>
          </a:p>
        </p:txBody>
      </p:sp>
      <p:sp>
        <p:nvSpPr>
          <p:cNvPr id="13" name="qa-1-a">
            <a:extLst xmlns:a="http://schemas.openxmlformats.org/drawingml/2006/main">
              <a:ext uri="{FF2B5EF4-FFF2-40B4-BE49-F238E27FC236}">
                <a16:creationId xmlns:a16="http://schemas.microsoft.com/office/drawing/2014/main" id="{5BC26DB9-4452-4863-9DBD-F7DA66342938}"/>
              </a:ext>
            </a:extLst>
          </p:cNvPr>
          <p:cNvSpPr>
            <a:spLocks xmlns:a="http://schemas.openxmlformats.org/drawingml/2006/main" noGrp="1"/>
          </p:cNvSpPr>
          <p:nvPr/>
        </p:nvSpPr>
        <p:spPr>
          <a:xfrm xmlns:a="http://schemas.openxmlformats.org/drawingml/2006/main">
            <a:off x="4000500" y="2962275"/>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It is an explicit model; source-to-graph fidelity is not proved.</a:t>
            </a:r>
          </a:p>
        </p:txBody>
      </p:sp>
      <p:sp>
        <p:nvSpPr>
          <p:cNvPr id="14" name="qa-1-rule">
            <a:extLst xmlns:a="http://schemas.openxmlformats.org/drawingml/2006/main">
              <a:ext uri="{FF2B5EF4-FFF2-40B4-BE49-F238E27FC236}">
                <a16:creationId xmlns:a16="http://schemas.microsoft.com/office/drawing/2014/main" id="{A7168038-3513-48A2-BE64-9AACCF650721}"/>
              </a:ext>
            </a:extLst>
          </p:cNvPr>
          <p:cNvSpPr>
            <a:spLocks xmlns:a="http://schemas.openxmlformats.org/drawingml/2006/main" noGrp="1"/>
          </p:cNvSpPr>
          <p:nvPr/>
        </p:nvSpPr>
        <p:spPr>
          <a:xfrm xmlns:a="http://schemas.openxmlformats.org/drawingml/2006/main">
            <a:off x="742950" y="3438525"/>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5" name="qa-2-q">
            <a:extLst xmlns:a="http://schemas.openxmlformats.org/drawingml/2006/main">
              <a:ext uri="{FF2B5EF4-FFF2-40B4-BE49-F238E27FC236}">
                <a16:creationId xmlns:a16="http://schemas.microsoft.com/office/drawing/2014/main" id="{4566EEF4-8568-4C0D-BE32-9D030D1BA696}"/>
              </a:ext>
            </a:extLst>
          </p:cNvPr>
          <p:cNvSpPr>
            <a:spLocks xmlns:a="http://schemas.openxmlformats.org/drawingml/2006/main" noGrp="1"/>
          </p:cNvSpPr>
          <p:nvPr/>
        </p:nvSpPr>
        <p:spPr>
          <a:xfrm xmlns:a="http://schemas.openxmlformats.org/drawingml/2006/main">
            <a:off x="742950" y="354330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F8A5C"/>
                </a:solidFill>
                <a:latin typeface="Avenir Next"/>
                <a:ea typeface="Avenir Next"/>
                <a:cs typeface="Avenir Next"/>
              </a:defRPr>
            </a:defPPr>
          </a:lstStyle>
          <a:p xmlns:a="http://schemas.openxmlformats.org/drawingml/2006/main">
            <a:pPr algn="l">
              <a:defRPr sz="1275" b="1" i="0">
                <a:solidFill>
                  <a:srgbClr val="FF8A5C"/>
                </a:solidFill>
                <a:latin typeface="Avenir Next"/>
                <a:ea typeface="Avenir Next"/>
                <a:cs typeface="Avenir Next"/>
              </a:defRPr>
            </a:pPr>
            <a:r>
              <a:rPr sz="1275" b="1" i="0">
                <a:solidFill>
                  <a:srgbClr val="FF8A5C"/>
                </a:solidFill>
                <a:latin typeface="Avenir Next"/>
                <a:ea typeface="Avenir Next"/>
                <a:cs typeface="Avenir Next"/>
              </a:rPr>
              <a:t>What is shared by the runs?</a:t>
            </a:r>
          </a:p>
        </p:txBody>
      </p:sp>
      <p:sp>
        <p:nvSpPr>
          <p:cNvPr id="16" name="qa-2-a">
            <a:extLst xmlns:a="http://schemas.openxmlformats.org/drawingml/2006/main">
              <a:ext uri="{FF2B5EF4-FFF2-40B4-BE49-F238E27FC236}">
                <a16:creationId xmlns:a16="http://schemas.microsoft.com/office/drawing/2014/main" id="{6C5CD465-76E1-45FC-869C-FC524BC8C24C}"/>
              </a:ext>
            </a:extLst>
          </p:cNvPr>
          <p:cNvSpPr>
            <a:spLocks xmlns:a="http://schemas.openxmlformats.org/drawingml/2006/main" noGrp="1"/>
          </p:cNvSpPr>
          <p:nvPr/>
        </p:nvSpPr>
        <p:spPr>
          <a:xfrm xmlns:a="http://schemas.openxmlformats.org/drawingml/2006/main">
            <a:off x="4000500" y="3543300"/>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Public input identity and Ω(contract, index, exact DSL request).</a:t>
            </a:r>
          </a:p>
        </p:txBody>
      </p:sp>
      <p:sp>
        <p:nvSpPr>
          <p:cNvPr id="17" name="qa-2-rule">
            <a:extLst xmlns:a="http://schemas.openxmlformats.org/drawingml/2006/main">
              <a:ext uri="{FF2B5EF4-FFF2-40B4-BE49-F238E27FC236}">
                <a16:creationId xmlns:a16="http://schemas.microsoft.com/office/drawing/2014/main" id="{38EC8C6E-000E-4FC5-9162-9EF83AB8F8FD}"/>
              </a:ext>
            </a:extLst>
          </p:cNvPr>
          <p:cNvSpPr>
            <a:spLocks xmlns:a="http://schemas.openxmlformats.org/drawingml/2006/main" noGrp="1"/>
          </p:cNvSpPr>
          <p:nvPr/>
        </p:nvSpPr>
        <p:spPr>
          <a:xfrm xmlns:a="http://schemas.openxmlformats.org/drawingml/2006/main">
            <a:off x="742950" y="4019550"/>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8" name="qa-3-q">
            <a:extLst xmlns:a="http://schemas.openxmlformats.org/drawingml/2006/main">
              <a:ext uri="{FF2B5EF4-FFF2-40B4-BE49-F238E27FC236}">
                <a16:creationId xmlns:a16="http://schemas.microsoft.com/office/drawing/2014/main" id="{B5A6311A-B5BF-43DC-8E3A-6954DC678122}"/>
              </a:ext>
            </a:extLst>
          </p:cNvPr>
          <p:cNvSpPr>
            <a:spLocks xmlns:a="http://schemas.openxmlformats.org/drawingml/2006/main" noGrp="1"/>
          </p:cNvSpPr>
          <p:nvPr/>
        </p:nvSpPr>
        <p:spPr>
          <a:xfrm xmlns:a="http://schemas.openxmlformats.org/drawingml/2006/main">
            <a:off x="742950" y="41243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5CC8B8"/>
                </a:solidFill>
                <a:latin typeface="Avenir Next"/>
                <a:ea typeface="Avenir Next"/>
                <a:cs typeface="Avenir Next"/>
              </a:defRPr>
            </a:defPPr>
          </a:lstStyle>
          <a:p xmlns:a="http://schemas.openxmlformats.org/drawingml/2006/main">
            <a:pPr algn="l">
              <a:defRPr sz="1275" b="1" i="0">
                <a:solidFill>
                  <a:srgbClr val="5CC8B8"/>
                </a:solidFill>
                <a:latin typeface="Avenir Next"/>
                <a:ea typeface="Avenir Next"/>
                <a:cs typeface="Avenir Next"/>
              </a:defRPr>
            </a:pPr>
            <a:r>
              <a:rPr sz="1275" b="1" i="0">
                <a:solidFill>
                  <a:srgbClr val="5CC8B8"/>
                </a:solidFill>
                <a:latin typeface="Avenir Next"/>
                <a:ea typeface="Avenir Next"/>
                <a:cs typeface="Avenir Next"/>
              </a:rPr>
              <a:t>What does replay verify?</a:t>
            </a:r>
          </a:p>
        </p:txBody>
      </p:sp>
      <p:sp>
        <p:nvSpPr>
          <p:cNvPr id="19" name="qa-3-a">
            <a:extLst xmlns:a="http://schemas.openxmlformats.org/drawingml/2006/main">
              <a:ext uri="{FF2B5EF4-FFF2-40B4-BE49-F238E27FC236}">
                <a16:creationId xmlns:a16="http://schemas.microsoft.com/office/drawing/2014/main" id="{4563B3C3-733B-4763-AC37-BB104362E703}"/>
              </a:ext>
            </a:extLst>
          </p:cNvPr>
          <p:cNvSpPr>
            <a:spLocks xmlns:a="http://schemas.openxmlformats.org/drawingml/2006/main" noGrp="1"/>
          </p:cNvSpPr>
          <p:nvPr/>
        </p:nvSpPr>
        <p:spPr>
          <a:xfrm xmlns:a="http://schemas.openxmlformats.org/drawingml/2006/main">
            <a:off x="4000500" y="4124325"/>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The complete product closure under the versioned graph rules.</a:t>
            </a:r>
          </a:p>
        </p:txBody>
      </p:sp>
      <p:sp>
        <p:nvSpPr>
          <p:cNvPr id="20" name="qa-3-rule">
            <a:extLst xmlns:a="http://schemas.openxmlformats.org/drawingml/2006/main">
              <a:ext uri="{FF2B5EF4-FFF2-40B4-BE49-F238E27FC236}">
                <a16:creationId xmlns:a16="http://schemas.microsoft.com/office/drawing/2014/main" id="{BB77A1C3-CCE6-427E-85D6-D9C6CF6951D6}"/>
              </a:ext>
            </a:extLst>
          </p:cNvPr>
          <p:cNvSpPr>
            <a:spLocks xmlns:a="http://schemas.openxmlformats.org/drawingml/2006/main" noGrp="1"/>
          </p:cNvSpPr>
          <p:nvPr/>
        </p:nvSpPr>
        <p:spPr>
          <a:xfrm xmlns:a="http://schemas.openxmlformats.org/drawingml/2006/main">
            <a:off x="742950" y="4600575"/>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1" name="qa-4-q">
            <a:extLst xmlns:a="http://schemas.openxmlformats.org/drawingml/2006/main">
              <a:ext uri="{FF2B5EF4-FFF2-40B4-BE49-F238E27FC236}">
                <a16:creationId xmlns:a16="http://schemas.microsoft.com/office/drawing/2014/main" id="{3AB84CCB-DA67-494F-9EBA-FCB804D32EAD}"/>
              </a:ext>
            </a:extLst>
          </p:cNvPr>
          <p:cNvSpPr>
            <a:spLocks xmlns:a="http://schemas.openxmlformats.org/drawingml/2006/main" noGrp="1"/>
          </p:cNvSpPr>
          <p:nvPr/>
        </p:nvSpPr>
        <p:spPr>
          <a:xfrm xmlns:a="http://schemas.openxmlformats.org/drawingml/2006/main">
            <a:off x="742950" y="4705350"/>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F8A5C"/>
                </a:solidFill>
                <a:latin typeface="Avenir Next"/>
                <a:ea typeface="Avenir Next"/>
                <a:cs typeface="Avenir Next"/>
              </a:defRPr>
            </a:defPPr>
          </a:lstStyle>
          <a:p xmlns:a="http://schemas.openxmlformats.org/drawingml/2006/main">
            <a:pPr algn="l">
              <a:defRPr sz="1275" b="1" i="0">
                <a:solidFill>
                  <a:srgbClr val="FF8A5C"/>
                </a:solidFill>
                <a:latin typeface="Avenir Next"/>
                <a:ea typeface="Avenir Next"/>
                <a:cs typeface="Avenir Next"/>
              </a:defRPr>
            </a:pPr>
            <a:r>
              <a:rPr sz="1275" b="1" i="0">
                <a:solidFill>
                  <a:srgbClr val="FF8A5C"/>
                </a:solidFill>
                <a:latin typeface="Avenir Next"/>
                <a:ea typeface="Avenir Next"/>
                <a:cs typeface="Avenir Next"/>
              </a:rPr>
              <a:t>Why reject stale registers?</a:t>
            </a:r>
          </a:p>
        </p:txBody>
      </p:sp>
      <p:sp>
        <p:nvSpPr>
          <p:cNvPr id="22" name="qa-4-a">
            <a:extLst xmlns:a="http://schemas.openxmlformats.org/drawingml/2006/main">
              <a:ext uri="{FF2B5EF4-FFF2-40B4-BE49-F238E27FC236}">
                <a16:creationId xmlns:a16="http://schemas.microsoft.com/office/drawing/2014/main" id="{2B7B08A2-8952-48B9-9DA3-7F5A7A825190}"/>
              </a:ext>
            </a:extLst>
          </p:cNvPr>
          <p:cNvSpPr>
            <a:spLocks xmlns:a="http://schemas.openxmlformats.org/drawingml/2006/main" noGrp="1"/>
          </p:cNvSpPr>
          <p:nvPr/>
        </p:nvSpPr>
        <p:spPr>
          <a:xfrm xmlns:a="http://schemas.openxmlformats.org/drawingml/2006/main">
            <a:off x="4000500" y="4705350"/>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Overwriting removes the earlier justified value pair.</a:t>
            </a:r>
          </a:p>
        </p:txBody>
      </p:sp>
      <p:sp>
        <p:nvSpPr>
          <p:cNvPr id="23" name="qa-4-rule">
            <a:extLst xmlns:a="http://schemas.openxmlformats.org/drawingml/2006/main">
              <a:ext uri="{FF2B5EF4-FFF2-40B4-BE49-F238E27FC236}">
                <a16:creationId xmlns:a16="http://schemas.microsoft.com/office/drawing/2014/main" id="{ABB03936-E2E8-4F64-8415-0016D1043C92}"/>
              </a:ext>
            </a:extLst>
          </p:cNvPr>
          <p:cNvSpPr>
            <a:spLocks xmlns:a="http://schemas.openxmlformats.org/drawingml/2006/main" noGrp="1"/>
          </p:cNvSpPr>
          <p:nvPr/>
        </p:nvSpPr>
        <p:spPr>
          <a:xfrm xmlns:a="http://schemas.openxmlformats.org/drawingml/2006/main">
            <a:off x="742950" y="5181600"/>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4" name="qa-5-q">
            <a:extLst xmlns:a="http://schemas.openxmlformats.org/drawingml/2006/main">
              <a:ext uri="{FF2B5EF4-FFF2-40B4-BE49-F238E27FC236}">
                <a16:creationId xmlns:a16="http://schemas.microsoft.com/office/drawing/2014/main" id="{C844F3EB-2D92-4F50-9CC1-051E007106E9}"/>
              </a:ext>
            </a:extLst>
          </p:cNvPr>
          <p:cNvSpPr>
            <a:spLocks xmlns:a="http://schemas.openxmlformats.org/drawingml/2006/main" noGrp="1"/>
          </p:cNvSpPr>
          <p:nvPr/>
        </p:nvSpPr>
        <p:spPr>
          <a:xfrm xmlns:a="http://schemas.openxmlformats.org/drawingml/2006/main">
            <a:off x="742950" y="528637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5CC8B8"/>
                </a:solidFill>
                <a:latin typeface="Avenir Next"/>
                <a:ea typeface="Avenir Next"/>
                <a:cs typeface="Avenir Next"/>
              </a:defRPr>
            </a:defPPr>
          </a:lstStyle>
          <a:p xmlns:a="http://schemas.openxmlformats.org/drawingml/2006/main">
            <a:pPr algn="l">
              <a:defRPr sz="1275" b="1" i="0">
                <a:solidFill>
                  <a:srgbClr val="5CC8B8"/>
                </a:solidFill>
                <a:latin typeface="Avenir Next"/>
                <a:ea typeface="Avenir Next"/>
                <a:cs typeface="Avenir Next"/>
              </a:defRPr>
            </a:pPr>
            <a:r>
              <a:rPr sz="1275" b="1" i="0">
                <a:solidFill>
                  <a:srgbClr val="5CC8B8"/>
                </a:solidFill>
                <a:latin typeface="Avenir Next"/>
                <a:ea typeface="Avenir Next"/>
                <a:cs typeface="Avenir Next"/>
              </a:rPr>
              <a:t>Is product checking new theory?</a:t>
            </a:r>
          </a:p>
        </p:txBody>
      </p:sp>
      <p:sp>
        <p:nvSpPr>
          <p:cNvPr id="25" name="qa-5-a">
            <a:extLst xmlns:a="http://schemas.openxmlformats.org/drawingml/2006/main">
              <a:ext uri="{FF2B5EF4-FFF2-40B4-BE49-F238E27FC236}">
                <a16:creationId xmlns:a16="http://schemas.microsoft.com/office/drawing/2014/main" id="{48A2D4C5-644A-430C-B720-95C4E96DCEE0}"/>
              </a:ext>
            </a:extLst>
          </p:cNvPr>
          <p:cNvSpPr>
            <a:spLocks xmlns:a="http://schemas.openxmlformats.org/drawingml/2006/main" noGrp="1"/>
          </p:cNvSpPr>
          <p:nvPr/>
        </p:nvSpPr>
        <p:spPr>
          <a:xfrm xmlns:a="http://schemas.openxmlformats.org/drawingml/2006/main">
            <a:off x="4000500" y="5286375"/>
            <a:ext cx="733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F5F2EA"/>
                </a:solidFill>
                <a:latin typeface="Avenir Next"/>
                <a:ea typeface="Avenir Next"/>
                <a:cs typeface="Avenir Next"/>
              </a:defRPr>
            </a:defPPr>
          </a:lstStyle>
          <a:p xmlns:a="http://schemas.openxmlformats.org/drawingml/2006/main">
            <a:pPr algn="l">
              <a:defRPr sz="1238" b="0" i="0">
                <a:solidFill>
                  <a:srgbClr val="F5F2EA"/>
                </a:solidFill>
                <a:latin typeface="Avenir Next"/>
                <a:ea typeface="Avenir Next"/>
                <a:cs typeface="Avenir Next"/>
              </a:defRPr>
            </a:pPr>
            <a:r>
              <a:rPr sz="1238" b="0" i="0">
                <a:solidFill>
                  <a:srgbClr val="F5F2EA"/>
                </a:solidFill>
                <a:latin typeface="Avenir Next"/>
                <a:ea typeface="Avenir Next"/>
                <a:cs typeface="Avenir Next"/>
              </a:rPr>
              <a:t>No. The contribution is a workflow-specific application.</a:t>
            </a:r>
          </a:p>
        </p:txBody>
      </p:sp>
    </p:spTree>
    <p:extLst>
      <p:ext uri="{BB962C8B-B14F-4D97-AF65-F5344CB8AC3E}">
        <p14:creationId xmlns:p14="http://schemas.microsoft.com/office/powerpoint/2010/main" val="1868642206"/>
      </p:ext>
    </p:extLst>
  </p:cSld>
</p:sld>
</file>

<file path=ppt/slides/slide2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0" name="s26-brand">
            <a:extLst xmlns:a="http://schemas.openxmlformats.org/drawingml/2006/main">
              <a:ext uri="{FF2B5EF4-FFF2-40B4-BE49-F238E27FC236}">
                <a16:creationId xmlns:a16="http://schemas.microsoft.com/office/drawing/2014/main" id="{3478E7B2-B72C-4851-9C18-93C5E5CFDCE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6-section">
            <a:extLst xmlns:a="http://schemas.openxmlformats.org/drawingml/2006/main">
              <a:ext uri="{FF2B5EF4-FFF2-40B4-BE49-F238E27FC236}">
                <a16:creationId xmlns:a16="http://schemas.microsoft.com/office/drawing/2014/main" id="{D4BB6C98-2C3B-415A-A267-A02791E54D4A}"/>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A8</a:t>
            </a:r>
          </a:p>
        </p:txBody>
      </p:sp>
      <p:sp>
        <p:nvSpPr>
          <p:cNvPr id="3" name="s26-title">
            <a:extLst xmlns:a="http://schemas.openxmlformats.org/drawingml/2006/main">
              <a:ext uri="{FF2B5EF4-FFF2-40B4-BE49-F238E27FC236}">
                <a16:creationId xmlns:a16="http://schemas.microsoft.com/office/drawing/2014/main" id="{9892784F-60AF-41EC-908E-7BDDDA3BEB76}"/>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Selected references and contribution boundary</a:t>
            </a:r>
          </a:p>
        </p:txBody>
      </p:sp>
      <p:sp>
        <p:nvSpPr>
          <p:cNvPr id="4" name="s26-source-rule">
            <a:extLst xmlns:a="http://schemas.openxmlformats.org/drawingml/2006/main">
              <a:ext uri="{FF2B5EF4-FFF2-40B4-BE49-F238E27FC236}">
                <a16:creationId xmlns:a16="http://schemas.microsoft.com/office/drawing/2014/main" id="{2E2EAD8B-185D-48DE-BFD1-EE4EFF4603EF}"/>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26-sources">
            <a:extLst xmlns:a="http://schemas.openxmlformats.org/drawingml/2006/main">
              <a:ext uri="{FF2B5EF4-FFF2-40B4-BE49-F238E27FC236}">
                <a16:creationId xmlns:a16="http://schemas.microsoft.com/office/drawing/2014/main" id="{ABEAC59C-7807-4077-9597-725D560A2091}"/>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graph_candidate_sources.md; docs/CYCLIC_METHOD_REVIEW.md; docs/PRIOR_ART_MATRIX.md</a:t>
            </a:r>
          </a:p>
        </p:txBody>
      </p:sp>
      <p:sp>
        <p:nvSpPr>
          <p:cNvPr id="6" name="s26-footer-rule">
            <a:extLst xmlns:a="http://schemas.openxmlformats.org/drawingml/2006/main">
              <a:ext uri="{FF2B5EF4-FFF2-40B4-BE49-F238E27FC236}">
                <a16:creationId xmlns:a16="http://schemas.microsoft.com/office/drawing/2014/main" id="{0512A920-DF17-4B76-AB70-2269510D02A2}"/>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26-footer">
            <a:extLst xmlns:a="http://schemas.openxmlformats.org/drawingml/2006/main">
              <a:ext uri="{FF2B5EF4-FFF2-40B4-BE49-F238E27FC236}">
                <a16:creationId xmlns:a16="http://schemas.microsoft.com/office/drawing/2014/main" id="{FE047814-D057-479A-92F4-219D6860F4B4}"/>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26-page">
            <a:extLst xmlns:a="http://schemas.openxmlformats.org/drawingml/2006/main">
              <a:ext uri="{FF2B5EF4-FFF2-40B4-BE49-F238E27FC236}">
                <a16:creationId xmlns:a16="http://schemas.microsoft.com/office/drawing/2014/main" id="{4E372B22-A283-458C-8B26-087B7D2F9E13}"/>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A8</a:t>
            </a:r>
          </a:p>
        </p:txBody>
      </p:sp>
      <p:sp>
        <p:nvSpPr>
          <p:cNvPr id="9" name="graph-ref-0">
            <a:extLst xmlns:a="http://schemas.openxmlformats.org/drawingml/2006/main">
              <a:ext uri="{FF2B5EF4-FFF2-40B4-BE49-F238E27FC236}">
                <a16:creationId xmlns:a16="http://schemas.microsoft.com/office/drawing/2014/main" id="{89BBF23C-4842-49B1-94B9-E6C79A0BBB66}"/>
              </a:ext>
            </a:extLst>
          </p:cNvPr>
          <p:cNvSpPr>
            <a:spLocks xmlns:a="http://schemas.openxmlformats.org/drawingml/2006/main" noGrp="1"/>
          </p:cNvSpPr>
          <p:nvPr/>
        </p:nvSpPr>
        <p:spPr>
          <a:xfrm xmlns:a="http://schemas.openxmlformats.org/drawingml/2006/main">
            <a:off x="733425" y="2466975"/>
            <a:ext cx="649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141B2B"/>
                </a:solidFill>
                <a:latin typeface="Avenir Next"/>
                <a:ea typeface="Avenir Next"/>
                <a:cs typeface="Avenir Next"/>
              </a:defRPr>
            </a:defPPr>
          </a:lstStyle>
          <a:p xmlns:a="http://schemas.openxmlformats.org/drawingml/2006/main">
            <a:pPr algn="l">
              <a:defRPr sz="1013" b="0" i="0">
                <a:solidFill>
                  <a:srgbClr val="141B2B"/>
                </a:solidFill>
                <a:latin typeface="Avenir Next"/>
                <a:ea typeface="Avenir Next"/>
                <a:cs typeface="Avenir Next"/>
              </a:defRPr>
            </a:pPr>
            <a:r>
              <a:rPr sz="1013" b="0" i="0">
                <a:solidFill>
                  <a:srgbClr val="141B2B"/>
                </a:solidFill>
                <a:latin typeface="Avenir Next"/>
                <a:ea typeface="Avenir Next"/>
                <a:cs typeface="Avenir Next"/>
              </a:rPr>
              <a:t>[1] Barthe et al. · self-composition · IEEE CSFW 2004 · DOI 10.1109/CSFW.2004.1310735</a:t>
            </a:r>
          </a:p>
        </p:txBody>
      </p:sp>
      <p:sp>
        <p:nvSpPr>
          <p:cNvPr id="10" name="graph-ref-rule-0">
            <a:extLst xmlns:a="http://schemas.openxmlformats.org/drawingml/2006/main">
              <a:ext uri="{FF2B5EF4-FFF2-40B4-BE49-F238E27FC236}">
                <a16:creationId xmlns:a16="http://schemas.microsoft.com/office/drawing/2014/main" id="{F0E71CB2-66CF-41B7-945A-F91F1ACB354E}"/>
              </a:ext>
            </a:extLst>
          </p:cNvPr>
          <p:cNvSpPr>
            <a:spLocks xmlns:a="http://schemas.openxmlformats.org/drawingml/2006/main" noGrp="1"/>
          </p:cNvSpPr>
          <p:nvPr/>
        </p:nvSpPr>
        <p:spPr>
          <a:xfrm xmlns:a="http://schemas.openxmlformats.org/drawingml/2006/main">
            <a:off x="733425" y="2819400"/>
            <a:ext cx="64960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1" name="graph-ref-1">
            <a:extLst xmlns:a="http://schemas.openxmlformats.org/drawingml/2006/main">
              <a:ext uri="{FF2B5EF4-FFF2-40B4-BE49-F238E27FC236}">
                <a16:creationId xmlns:a16="http://schemas.microsoft.com/office/drawing/2014/main" id="{71A9B958-E1D8-42C9-BC28-295E6C0C53CF}"/>
              </a:ext>
            </a:extLst>
          </p:cNvPr>
          <p:cNvSpPr>
            <a:spLocks xmlns:a="http://schemas.openxmlformats.org/drawingml/2006/main" noGrp="1"/>
          </p:cNvSpPr>
          <p:nvPr/>
        </p:nvSpPr>
        <p:spPr>
          <a:xfrm xmlns:a="http://schemas.openxmlformats.org/drawingml/2006/main">
            <a:off x="733425" y="2857500"/>
            <a:ext cx="649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141B2B"/>
                </a:solidFill>
                <a:latin typeface="Avenir Next"/>
                <a:ea typeface="Avenir Next"/>
                <a:cs typeface="Avenir Next"/>
              </a:defRPr>
            </a:defPPr>
          </a:lstStyle>
          <a:p xmlns:a="http://schemas.openxmlformats.org/drawingml/2006/main">
            <a:pPr algn="l">
              <a:defRPr sz="1013" b="0" i="0">
                <a:solidFill>
                  <a:srgbClr val="141B2B"/>
                </a:solidFill>
                <a:latin typeface="Avenir Next"/>
                <a:ea typeface="Avenir Next"/>
                <a:cs typeface="Avenir Next"/>
              </a:defRPr>
            </a:pPr>
            <a:r>
              <a:rPr sz="1013" b="0" i="0">
                <a:solidFill>
                  <a:srgbClr val="141B2B"/>
                </a:solidFill>
                <a:latin typeface="Avenir Next"/>
                <a:ea typeface="Avenir Next"/>
                <a:cs typeface="Avenir Next"/>
              </a:rPr>
              <a:t>[2] Barthe, Crespo &amp; Kunz · product programs · JLAMP 2016 · DOI 10.1016/j.jlamp.2016.05.004</a:t>
            </a:r>
          </a:p>
        </p:txBody>
      </p:sp>
      <p:sp>
        <p:nvSpPr>
          <p:cNvPr id="12" name="graph-ref-rule-1">
            <a:extLst xmlns:a="http://schemas.openxmlformats.org/drawingml/2006/main">
              <a:ext uri="{FF2B5EF4-FFF2-40B4-BE49-F238E27FC236}">
                <a16:creationId xmlns:a16="http://schemas.microsoft.com/office/drawing/2014/main" id="{AC13A744-F177-45E4-9CEB-42C1579E80F1}"/>
              </a:ext>
            </a:extLst>
          </p:cNvPr>
          <p:cNvSpPr>
            <a:spLocks xmlns:a="http://schemas.openxmlformats.org/drawingml/2006/main" noGrp="1"/>
          </p:cNvSpPr>
          <p:nvPr/>
        </p:nvSpPr>
        <p:spPr>
          <a:xfrm xmlns:a="http://schemas.openxmlformats.org/drawingml/2006/main">
            <a:off x="733425" y="3209925"/>
            <a:ext cx="64960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3" name="graph-ref-2">
            <a:extLst xmlns:a="http://schemas.openxmlformats.org/drawingml/2006/main">
              <a:ext uri="{FF2B5EF4-FFF2-40B4-BE49-F238E27FC236}">
                <a16:creationId xmlns:a16="http://schemas.microsoft.com/office/drawing/2014/main" id="{F61F7D4F-DF6F-4E66-BA34-3996233A9E04}"/>
              </a:ext>
            </a:extLst>
          </p:cNvPr>
          <p:cNvSpPr>
            <a:spLocks xmlns:a="http://schemas.openxmlformats.org/drawingml/2006/main" noGrp="1"/>
          </p:cNvSpPr>
          <p:nvPr/>
        </p:nvSpPr>
        <p:spPr>
          <a:xfrm xmlns:a="http://schemas.openxmlformats.org/drawingml/2006/main">
            <a:off x="733425" y="3248025"/>
            <a:ext cx="649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141B2B"/>
                </a:solidFill>
                <a:latin typeface="Avenir Next"/>
                <a:ea typeface="Avenir Next"/>
                <a:cs typeface="Avenir Next"/>
              </a:defRPr>
            </a:defPPr>
          </a:lstStyle>
          <a:p xmlns:a="http://schemas.openxmlformats.org/drawingml/2006/main">
            <a:pPr algn="l">
              <a:defRPr sz="1013" b="0" i="0">
                <a:solidFill>
                  <a:srgbClr val="141B2B"/>
                </a:solidFill>
                <a:latin typeface="Avenir Next"/>
                <a:ea typeface="Avenir Next"/>
                <a:cs typeface="Avenir Next"/>
              </a:defRPr>
            </a:pPr>
            <a:r>
              <a:rPr sz="1013" b="0" i="0">
                <a:solidFill>
                  <a:srgbClr val="141B2B"/>
                </a:solidFill>
                <a:latin typeface="Avenir Next"/>
                <a:ea typeface="Avenir Next"/>
                <a:cs typeface="Avenir Next"/>
              </a:rPr>
              <a:t>[3] Ngo et al. · resource-aware IFC · IEEE S&amp;P 2017 · DOI 10.1109/SP.2017.53</a:t>
            </a:r>
          </a:p>
        </p:txBody>
      </p:sp>
      <p:sp>
        <p:nvSpPr>
          <p:cNvPr id="14" name="graph-ref-rule-2">
            <a:extLst xmlns:a="http://schemas.openxmlformats.org/drawingml/2006/main">
              <a:ext uri="{FF2B5EF4-FFF2-40B4-BE49-F238E27FC236}">
                <a16:creationId xmlns:a16="http://schemas.microsoft.com/office/drawing/2014/main" id="{B59668E3-47DD-4D2B-989D-B77C6595CFF2}"/>
              </a:ext>
            </a:extLst>
          </p:cNvPr>
          <p:cNvSpPr>
            <a:spLocks xmlns:a="http://schemas.openxmlformats.org/drawingml/2006/main" noGrp="1"/>
          </p:cNvSpPr>
          <p:nvPr/>
        </p:nvSpPr>
        <p:spPr>
          <a:xfrm xmlns:a="http://schemas.openxmlformats.org/drawingml/2006/main">
            <a:off x="733425" y="3600450"/>
            <a:ext cx="64960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5" name="graph-ref-3">
            <a:extLst xmlns:a="http://schemas.openxmlformats.org/drawingml/2006/main">
              <a:ext uri="{FF2B5EF4-FFF2-40B4-BE49-F238E27FC236}">
                <a16:creationId xmlns:a16="http://schemas.microsoft.com/office/drawing/2014/main" id="{54A8EA1B-3732-4CC9-9FAB-61AE1B16AB5B}"/>
              </a:ext>
            </a:extLst>
          </p:cNvPr>
          <p:cNvSpPr>
            <a:spLocks xmlns:a="http://schemas.openxmlformats.org/drawingml/2006/main" noGrp="1"/>
          </p:cNvSpPr>
          <p:nvPr/>
        </p:nvSpPr>
        <p:spPr>
          <a:xfrm xmlns:a="http://schemas.openxmlformats.org/drawingml/2006/main">
            <a:off x="733425" y="3638550"/>
            <a:ext cx="649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141B2B"/>
                </a:solidFill>
                <a:latin typeface="Avenir Next"/>
                <a:ea typeface="Avenir Next"/>
                <a:cs typeface="Avenir Next"/>
              </a:defRPr>
            </a:defPPr>
          </a:lstStyle>
          <a:p xmlns:a="http://schemas.openxmlformats.org/drawingml/2006/main">
            <a:pPr algn="l">
              <a:defRPr sz="1013" b="0" i="0">
                <a:solidFill>
                  <a:srgbClr val="141B2B"/>
                </a:solidFill>
                <a:latin typeface="Avenir Next"/>
                <a:ea typeface="Avenir Next"/>
                <a:cs typeface="Avenir Next"/>
              </a:defRPr>
            </a:pPr>
            <a:r>
              <a:rPr sz="1013" b="0" i="0">
                <a:solidFill>
                  <a:srgbClr val="141B2B"/>
                </a:solidFill>
                <a:latin typeface="Avenir Next"/>
                <a:ea typeface="Avenir Next"/>
                <a:cs typeface="Avenir Next"/>
              </a:rPr>
              <a:t>[4] Çiçek et al. · Relational Cost Analysis · POPL 2017 · DOI 10.1145/3009837.3009858</a:t>
            </a:r>
          </a:p>
        </p:txBody>
      </p:sp>
      <p:sp>
        <p:nvSpPr>
          <p:cNvPr id="16" name="graph-ref-rule-3">
            <a:extLst xmlns:a="http://schemas.openxmlformats.org/drawingml/2006/main">
              <a:ext uri="{FF2B5EF4-FFF2-40B4-BE49-F238E27FC236}">
                <a16:creationId xmlns:a16="http://schemas.microsoft.com/office/drawing/2014/main" id="{1C4AB546-BBC3-49A9-8379-DB0335A3974C}"/>
              </a:ext>
            </a:extLst>
          </p:cNvPr>
          <p:cNvSpPr>
            <a:spLocks xmlns:a="http://schemas.openxmlformats.org/drawingml/2006/main" noGrp="1"/>
          </p:cNvSpPr>
          <p:nvPr/>
        </p:nvSpPr>
        <p:spPr>
          <a:xfrm xmlns:a="http://schemas.openxmlformats.org/drawingml/2006/main">
            <a:off x="733425" y="3990975"/>
            <a:ext cx="64960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7" name="graph-ref-4">
            <a:extLst xmlns:a="http://schemas.openxmlformats.org/drawingml/2006/main">
              <a:ext uri="{FF2B5EF4-FFF2-40B4-BE49-F238E27FC236}">
                <a16:creationId xmlns:a16="http://schemas.microsoft.com/office/drawing/2014/main" id="{85FADE17-33A0-4A7B-B0F2-07C338C22763}"/>
              </a:ext>
            </a:extLst>
          </p:cNvPr>
          <p:cNvSpPr>
            <a:spLocks xmlns:a="http://schemas.openxmlformats.org/drawingml/2006/main" noGrp="1"/>
          </p:cNvSpPr>
          <p:nvPr/>
        </p:nvSpPr>
        <p:spPr>
          <a:xfrm xmlns:a="http://schemas.openxmlformats.org/drawingml/2006/main">
            <a:off x="733425" y="4029075"/>
            <a:ext cx="649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141B2B"/>
                </a:solidFill>
                <a:latin typeface="Avenir Next"/>
                <a:ea typeface="Avenir Next"/>
                <a:cs typeface="Avenir Next"/>
              </a:defRPr>
            </a:defPPr>
          </a:lstStyle>
          <a:p xmlns:a="http://schemas.openxmlformats.org/drawingml/2006/main">
            <a:pPr algn="l">
              <a:defRPr sz="1013" b="0" i="0">
                <a:solidFill>
                  <a:srgbClr val="141B2B"/>
                </a:solidFill>
                <a:latin typeface="Avenir Next"/>
                <a:ea typeface="Avenir Next"/>
                <a:cs typeface="Avenir Next"/>
              </a:defRPr>
            </a:pPr>
            <a:r>
              <a:rPr sz="1013" b="0" i="0">
                <a:solidFill>
                  <a:srgbClr val="141B2B"/>
                </a:solidFill>
                <a:latin typeface="Avenir Next"/>
                <a:ea typeface="Avenir Next"/>
                <a:cs typeface="Avenir Next"/>
              </a:rPr>
              <a:t>[5] Dickerson · Petri-net LLM cost bounds · Loom Research, May 2026 · author-reported, unrefereed</a:t>
            </a:r>
          </a:p>
        </p:txBody>
      </p:sp>
      <p:sp>
        <p:nvSpPr>
          <p:cNvPr id="18" name="graph-ref-rule-4">
            <a:extLst xmlns:a="http://schemas.openxmlformats.org/drawingml/2006/main">
              <a:ext uri="{FF2B5EF4-FFF2-40B4-BE49-F238E27FC236}">
                <a16:creationId xmlns:a16="http://schemas.microsoft.com/office/drawing/2014/main" id="{FC94610F-AA52-42DD-93B7-7C4251B5BF25}"/>
              </a:ext>
            </a:extLst>
          </p:cNvPr>
          <p:cNvSpPr>
            <a:spLocks xmlns:a="http://schemas.openxmlformats.org/drawingml/2006/main" noGrp="1"/>
          </p:cNvSpPr>
          <p:nvPr/>
        </p:nvSpPr>
        <p:spPr>
          <a:xfrm xmlns:a="http://schemas.openxmlformats.org/drawingml/2006/main">
            <a:off x="733425" y="4381500"/>
            <a:ext cx="64960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9" name="graph-ref-5">
            <a:extLst xmlns:a="http://schemas.openxmlformats.org/drawingml/2006/main">
              <a:ext uri="{FF2B5EF4-FFF2-40B4-BE49-F238E27FC236}">
                <a16:creationId xmlns:a16="http://schemas.microsoft.com/office/drawing/2014/main" id="{5CE24A04-B781-4FE4-8FE9-F9DDA3AB750D}"/>
              </a:ext>
            </a:extLst>
          </p:cNvPr>
          <p:cNvSpPr>
            <a:spLocks xmlns:a="http://schemas.openxmlformats.org/drawingml/2006/main" noGrp="1"/>
          </p:cNvSpPr>
          <p:nvPr/>
        </p:nvSpPr>
        <p:spPr>
          <a:xfrm xmlns:a="http://schemas.openxmlformats.org/drawingml/2006/main">
            <a:off x="733425" y="4419600"/>
            <a:ext cx="649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141B2B"/>
                </a:solidFill>
                <a:latin typeface="Avenir Next"/>
                <a:ea typeface="Avenir Next"/>
                <a:cs typeface="Avenir Next"/>
              </a:defRPr>
            </a:defPPr>
          </a:lstStyle>
          <a:p xmlns:a="http://schemas.openxmlformats.org/drawingml/2006/main">
            <a:pPr algn="l">
              <a:defRPr sz="1013" b="0" i="0">
                <a:solidFill>
                  <a:srgbClr val="141B2B"/>
                </a:solidFill>
                <a:latin typeface="Avenir Next"/>
                <a:ea typeface="Avenir Next"/>
                <a:cs typeface="Avenir Next"/>
              </a:defRPr>
            </a:pPr>
            <a:r>
              <a:rPr sz="1013" b="0" i="0">
                <a:solidFill>
                  <a:srgbClr val="141B2B"/>
                </a:solidFill>
                <a:latin typeface="Avenir Next"/>
                <a:ea typeface="Avenir Next"/>
                <a:cs typeface="Avenir Next"/>
              </a:rPr>
              <a:t>[6] Mandel et al. · PPDL · ICML 2026 · PMLR 306:86172–86197</a:t>
            </a:r>
          </a:p>
        </p:txBody>
      </p:sp>
      <p:sp>
        <p:nvSpPr>
          <p:cNvPr id="20" name="graph-ref-rule-5">
            <a:extLst xmlns:a="http://schemas.openxmlformats.org/drawingml/2006/main">
              <a:ext uri="{FF2B5EF4-FFF2-40B4-BE49-F238E27FC236}">
                <a16:creationId xmlns:a16="http://schemas.microsoft.com/office/drawing/2014/main" id="{10420370-ED83-4581-9FCA-25C5B4E87700}"/>
              </a:ext>
            </a:extLst>
          </p:cNvPr>
          <p:cNvSpPr>
            <a:spLocks xmlns:a="http://schemas.openxmlformats.org/drawingml/2006/main" noGrp="1"/>
          </p:cNvSpPr>
          <p:nvPr/>
        </p:nvSpPr>
        <p:spPr>
          <a:xfrm xmlns:a="http://schemas.openxmlformats.org/drawingml/2006/main">
            <a:off x="733425" y="4772025"/>
            <a:ext cx="64960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1" name="graph-ref-6">
            <a:extLst xmlns:a="http://schemas.openxmlformats.org/drawingml/2006/main">
              <a:ext uri="{FF2B5EF4-FFF2-40B4-BE49-F238E27FC236}">
                <a16:creationId xmlns:a16="http://schemas.microsoft.com/office/drawing/2014/main" id="{1152906D-1024-4378-962C-1584329122A8}"/>
              </a:ext>
            </a:extLst>
          </p:cNvPr>
          <p:cNvSpPr>
            <a:spLocks xmlns:a="http://schemas.openxmlformats.org/drawingml/2006/main" noGrp="1"/>
          </p:cNvSpPr>
          <p:nvPr/>
        </p:nvSpPr>
        <p:spPr>
          <a:xfrm xmlns:a="http://schemas.openxmlformats.org/drawingml/2006/main">
            <a:off x="733425" y="4810125"/>
            <a:ext cx="649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141B2B"/>
                </a:solidFill>
                <a:latin typeface="Avenir Next"/>
                <a:ea typeface="Avenir Next"/>
                <a:cs typeface="Avenir Next"/>
              </a:defRPr>
            </a:defPPr>
          </a:lstStyle>
          <a:p xmlns:a="http://schemas.openxmlformats.org/drawingml/2006/main">
            <a:pPr algn="l">
              <a:defRPr sz="1013" b="0" i="0">
                <a:solidFill>
                  <a:srgbClr val="141B2B"/>
                </a:solidFill>
                <a:latin typeface="Avenir Next"/>
                <a:ea typeface="Avenir Next"/>
                <a:cs typeface="Avenir Next"/>
              </a:defRPr>
            </a:pPr>
            <a:r>
              <a:rPr sz="1013" b="0" i="0">
                <a:solidFill>
                  <a:srgbClr val="141B2B"/>
                </a:solidFill>
                <a:latin typeface="Avenir Next"/>
                <a:ea typeface="Avenir Next"/>
                <a:cs typeface="Avenir Next"/>
              </a:rPr>
              <a:t>[7] Agentproof · arXiv:2603.20356 · preprint; AgentFlow · arXiv:2608.22868 · preprint</a:t>
            </a:r>
          </a:p>
        </p:txBody>
      </p:sp>
      <p:sp>
        <p:nvSpPr>
          <p:cNvPr id="22" name="graph-ref-rule-6">
            <a:extLst xmlns:a="http://schemas.openxmlformats.org/drawingml/2006/main">
              <a:ext uri="{FF2B5EF4-FFF2-40B4-BE49-F238E27FC236}">
                <a16:creationId xmlns:a16="http://schemas.microsoft.com/office/drawing/2014/main" id="{56C2E637-49C6-4A05-9BE3-6F1A9F753167}"/>
              </a:ext>
            </a:extLst>
          </p:cNvPr>
          <p:cNvSpPr>
            <a:spLocks xmlns:a="http://schemas.openxmlformats.org/drawingml/2006/main" noGrp="1"/>
          </p:cNvSpPr>
          <p:nvPr/>
        </p:nvSpPr>
        <p:spPr>
          <a:xfrm xmlns:a="http://schemas.openxmlformats.org/drawingml/2006/main">
            <a:off x="733425" y="5162550"/>
            <a:ext cx="64960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3" name="graph-ref-7">
            <a:extLst xmlns:a="http://schemas.openxmlformats.org/drawingml/2006/main">
              <a:ext uri="{FF2B5EF4-FFF2-40B4-BE49-F238E27FC236}">
                <a16:creationId xmlns:a16="http://schemas.microsoft.com/office/drawing/2014/main" id="{9EE70B78-3F8A-41A1-BE6D-10ECA84F3B53}"/>
              </a:ext>
            </a:extLst>
          </p:cNvPr>
          <p:cNvSpPr>
            <a:spLocks xmlns:a="http://schemas.openxmlformats.org/drawingml/2006/main" noGrp="1"/>
          </p:cNvSpPr>
          <p:nvPr/>
        </p:nvSpPr>
        <p:spPr>
          <a:xfrm xmlns:a="http://schemas.openxmlformats.org/drawingml/2006/main">
            <a:off x="733425" y="5200650"/>
            <a:ext cx="6496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141B2B"/>
                </a:solidFill>
                <a:latin typeface="Avenir Next"/>
                <a:ea typeface="Avenir Next"/>
                <a:cs typeface="Avenir Next"/>
              </a:defRPr>
            </a:defPPr>
          </a:lstStyle>
          <a:p xmlns:a="http://schemas.openxmlformats.org/drawingml/2006/main">
            <a:pPr algn="l">
              <a:defRPr sz="1013" b="0" i="0">
                <a:solidFill>
                  <a:srgbClr val="141B2B"/>
                </a:solidFill>
                <a:latin typeface="Avenir Next"/>
                <a:ea typeface="Avenir Next"/>
                <a:cs typeface="Avenir Next"/>
              </a:defRPr>
            </a:pPr>
            <a:r>
              <a:rPr sz="1013" b="0" i="0">
                <a:solidFill>
                  <a:srgbClr val="141B2B"/>
                </a:solidFill>
                <a:latin typeface="Avenir Next"/>
                <a:ea typeface="Avenir Next"/>
                <a:cs typeface="Avenir Next"/>
              </a:rPr>
              <a:t>[8] Weiss et al. · USENIX Security 2024 · token-length leakage; see sources.md for full bibliography</a:t>
            </a:r>
          </a:p>
        </p:txBody>
      </p:sp>
      <p:sp>
        <p:nvSpPr>
          <p:cNvPr id="24" name="graph-ref-heading">
            <a:extLst xmlns:a="http://schemas.openxmlformats.org/drawingml/2006/main">
              <a:ext uri="{FF2B5EF4-FFF2-40B4-BE49-F238E27FC236}">
                <a16:creationId xmlns:a16="http://schemas.microsoft.com/office/drawing/2014/main" id="{0F241213-EA83-466F-99BA-510C3596BE92}"/>
              </a:ext>
            </a:extLst>
          </p:cNvPr>
          <p:cNvSpPr>
            <a:spLocks xmlns:a="http://schemas.openxmlformats.org/drawingml/2006/main" noGrp="1"/>
          </p:cNvSpPr>
          <p:nvPr/>
        </p:nvSpPr>
        <p:spPr>
          <a:xfrm xmlns:a="http://schemas.openxmlformats.org/drawingml/2006/main">
            <a:off x="742950" y="217170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1F6F66"/>
                </a:solidFill>
                <a:latin typeface="Avenir Next"/>
                <a:ea typeface="Avenir Next"/>
                <a:cs typeface="Avenir Next"/>
              </a:defRPr>
            </a:defPPr>
          </a:lstStyle>
          <a:p xmlns:a="http://schemas.openxmlformats.org/drawingml/2006/main">
            <a:pPr algn="l">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SELECTED PRIOR WORK</a:t>
            </a:r>
          </a:p>
        </p:txBody>
      </p:sp>
      <p:sp>
        <p:nvSpPr>
          <p:cNvPr id="25" name="graph-ref-column">
            <a:extLst xmlns:a="http://schemas.openxmlformats.org/drawingml/2006/main">
              <a:ext uri="{FF2B5EF4-FFF2-40B4-BE49-F238E27FC236}">
                <a16:creationId xmlns:a16="http://schemas.microsoft.com/office/drawing/2014/main" id="{F99D2821-C206-440D-A67A-683ED6037858}"/>
              </a:ext>
            </a:extLst>
          </p:cNvPr>
          <p:cNvSpPr>
            <a:spLocks xmlns:a="http://schemas.openxmlformats.org/drawingml/2006/main" noGrp="1"/>
          </p:cNvSpPr>
          <p:nvPr/>
        </p:nvSpPr>
        <p:spPr>
          <a:xfrm xmlns:a="http://schemas.openxmlformats.org/drawingml/2006/main">
            <a:off x="7467600" y="2190750"/>
            <a:ext cx="9525" cy="36671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6" name="graph-ref-delta-panel">
            <a:extLst xmlns:a="http://schemas.openxmlformats.org/drawingml/2006/main">
              <a:ext uri="{FF2B5EF4-FFF2-40B4-BE49-F238E27FC236}">
                <a16:creationId xmlns:a16="http://schemas.microsoft.com/office/drawing/2014/main" id="{D637E0D8-A704-4050-B13E-0A76828BE611}"/>
              </a:ext>
            </a:extLst>
          </p:cNvPr>
          <p:cNvSpPr>
            <a:spLocks xmlns:a="http://schemas.openxmlformats.org/drawingml/2006/main" noGrp="1"/>
          </p:cNvSpPr>
          <p:nvPr/>
        </p:nvSpPr>
        <p:spPr>
          <a:xfrm xmlns:a="http://schemas.openxmlformats.org/drawingml/2006/main">
            <a:off x="7696200" y="2276475"/>
            <a:ext cx="3810000" cy="3524250"/>
          </a:xfrm>
          <a:prstGeom xmlns:a="http://schemas.openxmlformats.org/drawingml/2006/main" prst="roundRect">
            <a:avLst>
              <a:gd name="adj" fmla="val 2162"/>
            </a:avLst>
          </a:prstGeom>
          <a:solidFill xmlns:a="http://schemas.openxmlformats.org/drawingml/2006/main">
            <a:srgbClr val="1C2638"/>
          </a:solidFill>
          <a:ln xmlns:a="http://schemas.openxmlformats.org/drawingml/2006/main" w="9525">
            <a:solidFill>
              <a:srgbClr val="343D50"/>
            </a:solidFill>
            <a:prstDash val="solid"/>
          </a:ln>
        </p:spPr>
      </p:sp>
      <p:sp>
        <p:nvSpPr>
          <p:cNvPr id="27" name="graph-ref-delta-accent">
            <a:extLst xmlns:a="http://schemas.openxmlformats.org/drawingml/2006/main">
              <a:ext uri="{FF2B5EF4-FFF2-40B4-BE49-F238E27FC236}">
                <a16:creationId xmlns:a16="http://schemas.microsoft.com/office/drawing/2014/main" id="{EEB7C6B5-5661-4A28-8902-4EE6CF455326}"/>
              </a:ext>
            </a:extLst>
          </p:cNvPr>
          <p:cNvSpPr>
            <a:spLocks xmlns:a="http://schemas.openxmlformats.org/drawingml/2006/main" noGrp="1"/>
          </p:cNvSpPr>
          <p:nvPr/>
        </p:nvSpPr>
        <p:spPr>
          <a:xfrm xmlns:a="http://schemas.openxmlformats.org/drawingml/2006/main">
            <a:off x="7696200" y="2276475"/>
            <a:ext cx="57150" cy="35242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8" name="graph-ref-delta-title">
            <a:extLst xmlns:a="http://schemas.openxmlformats.org/drawingml/2006/main">
              <a:ext uri="{FF2B5EF4-FFF2-40B4-BE49-F238E27FC236}">
                <a16:creationId xmlns:a16="http://schemas.microsoft.com/office/drawing/2014/main" id="{63738F9F-68DB-4D2F-982B-8F6255D5F661}"/>
              </a:ext>
            </a:extLst>
          </p:cNvPr>
          <p:cNvSpPr>
            <a:spLocks xmlns:a="http://schemas.openxmlformats.org/drawingml/2006/main" noGrp="1"/>
          </p:cNvSpPr>
          <p:nvPr/>
        </p:nvSpPr>
        <p:spPr>
          <a:xfrm xmlns:a="http://schemas.openxmlformats.org/drawingml/2006/main">
            <a:off x="7905750" y="2447925"/>
            <a:ext cx="3390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CONTRIBUTION BOUNDARY</a:t>
            </a:r>
          </a:p>
        </p:txBody>
      </p:sp>
      <p:sp>
        <p:nvSpPr>
          <p:cNvPr id="29" name="graph-ref-delta-body">
            <a:extLst xmlns:a="http://schemas.openxmlformats.org/drawingml/2006/main">
              <a:ext uri="{FF2B5EF4-FFF2-40B4-BE49-F238E27FC236}">
                <a16:creationId xmlns:a16="http://schemas.microsoft.com/office/drawing/2014/main" id="{72A46478-05B8-4AA3-AD67-A815A9AB61AE}"/>
              </a:ext>
            </a:extLst>
          </p:cNvPr>
          <p:cNvSpPr>
            <a:spLocks xmlns:a="http://schemas.openxmlformats.org/drawingml/2006/main" noGrp="1"/>
          </p:cNvSpPr>
          <p:nvPr/>
        </p:nvSpPr>
        <p:spPr>
          <a:xfrm xmlns:a="http://schemas.openxmlformats.org/drawingml/2006/main">
            <a:off x="7905750" y="2962275"/>
            <a:ext cx="33909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B8C1D1"/>
                </a:solidFill>
                <a:latin typeface="Avenir Next"/>
                <a:ea typeface="Avenir Next"/>
                <a:cs typeface="Avenir Next"/>
              </a:defRPr>
            </a:defPPr>
          </a:lstStyle>
          <a:p xmlns:a="http://schemas.openxmlformats.org/drawingml/2006/main">
            <a:pPr algn="l">
              <a:defRPr sz="1238" b="0" i="0">
                <a:solidFill>
                  <a:srgbClr val="B8C1D1"/>
                </a:solidFill>
                <a:latin typeface="Avenir Next"/>
                <a:ea typeface="Avenir Next"/>
                <a:cs typeface="Avenir Next"/>
              </a:defRPr>
            </a:pPr>
            <a:r>
              <a:rPr sz="1238" b="0" i="0">
                <a:solidFill>
                  <a:srgbClr val="B8C1D1"/>
                </a:solidFill>
                <a:latin typeface="Avenir Next"/>
                <a:ea typeface="Avenir Next"/>
                <a:cs typeface="Avenir Next"/>
              </a:rPr>
              <a:t>Established: resource-aware IFC, relational cost, product programs, unary graph cost bounds.</a:t>
            </a:r>
          </a:p>
          <a:p xmlns:a="http://schemas.openxmlformats.org/drawingml/2006/main">
            <a:r>
              <a:t/>
            </a:r>
          </a:p>
          <a:p xmlns:a="http://schemas.openxmlformats.org/drawingml/2006/main">
            <a:pPr algn="l">
              <a:defRPr sz="1238" b="0" i="0">
                <a:solidFill>
                  <a:srgbClr val="B8C1D1"/>
                </a:solidFill>
                <a:latin typeface="Avenir Next"/>
                <a:ea typeface="Avenir Next"/>
                <a:cs typeface="Avenir Next"/>
              </a:defRPr>
            </a:pPr>
            <a:r>
              <a:rPr sz="1238" b="0" i="0">
                <a:solidFill>
                  <a:srgbClr val="B8C1D1"/>
                </a:solidFill>
                <a:latin typeface="Avenir Next"/>
                <a:ea typeface="Avenir Next"/>
                <a:cs typeface="Avenir Next"/>
              </a:rPr>
              <a:t>Proposed delta: model-call request/event matching in a cyclic workflow-graph product, with an independently replayed closure.</a:t>
            </a:r>
          </a:p>
          <a:p xmlns:a="http://schemas.openxmlformats.org/drawingml/2006/main">
            <a:r>
              <a:t/>
            </a:r>
          </a:p>
          <a:p xmlns:a="http://schemas.openxmlformats.org/drawingml/2006/main">
            <a:pPr algn="l">
              <a:defRPr sz="1238" b="0" i="0">
                <a:solidFill>
                  <a:srgbClr val="B8C1D1"/>
                </a:solidFill>
                <a:latin typeface="Avenir Next"/>
                <a:ea typeface="Avenir Next"/>
                <a:cs typeface="Avenir Next"/>
              </a:defRPr>
            </a:pPr>
            <a:r>
              <a:rPr sz="1238" b="0" i="0">
                <a:solidFill>
                  <a:srgbClr val="B8C1D1"/>
                </a:solidFill>
                <a:latin typeface="Avenir Next"/>
                <a:ea typeface="Avenir Next"/>
                <a:cs typeface="Avenir Next"/>
              </a:rPr>
              <a:t>No score is shown before the research assessment is frozen.</a:t>
            </a:r>
          </a:p>
        </p:txBody>
      </p:sp>
    </p:spTree>
    <p:extLst>
      <p:ext uri="{BB962C8B-B14F-4D97-AF65-F5344CB8AC3E}">
        <p14:creationId xmlns:p14="http://schemas.microsoft.com/office/powerpoint/2010/main" val="11205898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2026-10-08T21:11:13.1840000Z</dcterms:created>
  <dcterms:modified xsi:type="dcterms:W3CDTF">2026-10-08T21:11:13.1840000Z</dcterms:modified>
</coreProperties>
</file>