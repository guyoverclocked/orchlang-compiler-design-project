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494229c23f47ff" /><Relationship Type="http://schemas.openxmlformats.org/officeDocument/2006/relationships/extended-properties" Target="/docProps/app.xml" Id="Rc0889a89a7b5469d" /><Relationship Type="http://schemas.openxmlformats.org/officeDocument/2006/relationships/officeDocument" Target="/ppt/presentation.xml" Id="R972d9e129fae421b" /></Relationships>
</file>

<file path=ppt/presentation.xml><?xml version="1.0" encoding="utf-8"?>
<p:presentation xmlns:p="http://schemas.openxmlformats.org/presentationml/2006/main">
  <p:sldMasterIdLst>
    <p:sldMasterId xmlns:r="http://schemas.openxmlformats.org/officeDocument/2006/relationships" id="2147483648" r:id="R4f480bb1ba3e471c"/>
  </p:sldMasterIdLst>
  <p:notesMasterIdLst>
    <p:notesMasterId xmlns:r="http://schemas.openxmlformats.org/officeDocument/2006/relationships" r:id="R5355ee4288cb4e0b"/>
  </p:notesMasterIdLst>
  <p:sldIdLst>
    <p:sldId xmlns:r="http://schemas.openxmlformats.org/officeDocument/2006/relationships" id="256" r:id="Rea144db6f82c49ae"/>
    <p:sldId xmlns:r="http://schemas.openxmlformats.org/officeDocument/2006/relationships" id="257" r:id="Rc60b86e3715d4865"/>
    <p:sldId xmlns:r="http://schemas.openxmlformats.org/officeDocument/2006/relationships" id="258" r:id="R6b3c8f84072a46fe"/>
    <p:sldId xmlns:r="http://schemas.openxmlformats.org/officeDocument/2006/relationships" id="259" r:id="Rc9603a4ed15845a2"/>
    <p:sldId xmlns:r="http://schemas.openxmlformats.org/officeDocument/2006/relationships" id="260" r:id="R99251744581d4f3c"/>
    <p:sldId xmlns:r="http://schemas.openxmlformats.org/officeDocument/2006/relationships" id="261" r:id="R75486c31df754bac"/>
    <p:sldId xmlns:r="http://schemas.openxmlformats.org/officeDocument/2006/relationships" id="262" r:id="R7f6ebc55235d4416"/>
    <p:sldId xmlns:r="http://schemas.openxmlformats.org/officeDocument/2006/relationships" id="263" r:id="Reacc3ddc0a344fed"/>
    <p:sldId xmlns:r="http://schemas.openxmlformats.org/officeDocument/2006/relationships" id="264" r:id="R6225893d18324c0e"/>
    <p:sldId xmlns:r="http://schemas.openxmlformats.org/officeDocument/2006/relationships" id="265" r:id="R82e9614d86c649c4"/>
    <p:sldId xmlns:r="http://schemas.openxmlformats.org/officeDocument/2006/relationships" id="266" r:id="R7a0b66b1015a4355"/>
    <p:sldId xmlns:r="http://schemas.openxmlformats.org/officeDocument/2006/relationships" id="267" r:id="Rbd39fd95a9e4467d"/>
    <p:sldId xmlns:r="http://schemas.openxmlformats.org/officeDocument/2006/relationships" id="268" r:id="R378943c11fc245d1"/>
    <p:sldId xmlns:r="http://schemas.openxmlformats.org/officeDocument/2006/relationships" id="269" r:id="R185008a143d94c07"/>
    <p:sldId xmlns:r="http://schemas.openxmlformats.org/officeDocument/2006/relationships" id="270" r:id="R00d72d2c016a481d"/>
    <p:sldId xmlns:r="http://schemas.openxmlformats.org/officeDocument/2006/relationships" id="271" r:id="Rc94d6430619041cd"/>
    <p:sldId xmlns:r="http://schemas.openxmlformats.org/officeDocument/2006/relationships" id="272" r:id="R36607db6273b4c6c"/>
    <p:sldId xmlns:r="http://schemas.openxmlformats.org/officeDocument/2006/relationships" id="273" r:id="Rc55693fb66f34562"/>
    <p:sldId xmlns:r="http://schemas.openxmlformats.org/officeDocument/2006/relationships" id="274" r:id="R87b4b2e6ac094313"/>
    <p:sldId xmlns:r="http://schemas.openxmlformats.org/officeDocument/2006/relationships" id="275" r:id="R74872fd19945416e"/>
    <p:sldId xmlns:r="http://schemas.openxmlformats.org/officeDocument/2006/relationships" id="276" r:id="R78062620dad44976"/>
    <p:sldId xmlns:r="http://schemas.openxmlformats.org/officeDocument/2006/relationships" id="277" r:id="R951c8c5722a64df9"/>
    <p:sldId xmlns:r="http://schemas.openxmlformats.org/officeDocument/2006/relationships" id="278" r:id="R8143ba5cd0854034"/>
    <p:sldId xmlns:r="http://schemas.openxmlformats.org/officeDocument/2006/relationships" id="279" r:id="R4961bf02361f4f6f"/>
    <p:sldId xmlns:r="http://schemas.openxmlformats.org/officeDocument/2006/relationships" id="280" r:id="Rc01909955a024504"/>
    <p:sldId xmlns:r="http://schemas.openxmlformats.org/officeDocument/2006/relationships" id="281" r:id="R52f1434081974b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b7e516e96c4657" /><Relationship Type="http://schemas.openxmlformats.org/officeDocument/2006/relationships/slideMaster" Target="/ppt/slideMasters/slideMaster1.xml" Id="R4f480bb1ba3e471c" /><Relationship Type="http://schemas.openxmlformats.org/officeDocument/2006/relationships/notesMaster" Target="/ppt/notesMasters/notesMaster1.xml" Id="R5355ee4288cb4e0b" /><Relationship Type="http://schemas.openxmlformats.org/officeDocument/2006/relationships/presProps" Target="/ppt/presProps.xml" Id="Rc8d09651076a45b8" /><Relationship Type="http://schemas.openxmlformats.org/officeDocument/2006/relationships/tableStyles" Target="/ppt/tableStyles.xml" Id="R7b992af9dc124835" /><Relationship Type="http://schemas.openxmlformats.org/officeDocument/2006/relationships/slide" Target="/ppt/slides/slide1.xml" Id="Rea144db6f82c49ae" /><Relationship Type="http://schemas.openxmlformats.org/officeDocument/2006/relationships/slide" Target="/ppt/slides/slide2.xml" Id="Rc60b86e3715d4865" /><Relationship Type="http://schemas.openxmlformats.org/officeDocument/2006/relationships/slide" Target="/ppt/slides/slide3.xml" Id="R6b3c8f84072a46fe" /><Relationship Type="http://schemas.openxmlformats.org/officeDocument/2006/relationships/slide" Target="/ppt/slides/slide4.xml" Id="Rc9603a4ed15845a2" /><Relationship Type="http://schemas.openxmlformats.org/officeDocument/2006/relationships/slide" Target="/ppt/slides/slide5.xml" Id="R99251744581d4f3c" /><Relationship Type="http://schemas.openxmlformats.org/officeDocument/2006/relationships/slide" Target="/ppt/slides/slide6.xml" Id="R75486c31df754bac" /><Relationship Type="http://schemas.openxmlformats.org/officeDocument/2006/relationships/slide" Target="/ppt/slides/slide7.xml" Id="R7f6ebc55235d4416" /><Relationship Type="http://schemas.openxmlformats.org/officeDocument/2006/relationships/slide" Target="/ppt/slides/slide8.xml" Id="Reacc3ddc0a344fed" /><Relationship Type="http://schemas.openxmlformats.org/officeDocument/2006/relationships/slide" Target="/ppt/slides/slide9.xml" Id="R6225893d18324c0e" /><Relationship Type="http://schemas.openxmlformats.org/officeDocument/2006/relationships/slide" Target="/ppt/slides/slide10.xml" Id="R82e9614d86c649c4" /><Relationship Type="http://schemas.openxmlformats.org/officeDocument/2006/relationships/slide" Target="/ppt/slides/slide11.xml" Id="R7a0b66b1015a4355" /><Relationship Type="http://schemas.openxmlformats.org/officeDocument/2006/relationships/slide" Target="/ppt/slides/slide12.xml" Id="Rbd39fd95a9e4467d" /><Relationship Type="http://schemas.openxmlformats.org/officeDocument/2006/relationships/slide" Target="/ppt/slides/slide13.xml" Id="R378943c11fc245d1" /><Relationship Type="http://schemas.openxmlformats.org/officeDocument/2006/relationships/slide" Target="/ppt/slides/slide14.xml" Id="R185008a143d94c07" /><Relationship Type="http://schemas.openxmlformats.org/officeDocument/2006/relationships/slide" Target="/ppt/slides/slide15.xml" Id="R00d72d2c016a481d" /><Relationship Type="http://schemas.openxmlformats.org/officeDocument/2006/relationships/slide" Target="/ppt/slides/slide16.xml" Id="Rc94d6430619041cd" /><Relationship Type="http://schemas.openxmlformats.org/officeDocument/2006/relationships/slide" Target="/ppt/slides/slide17.xml" Id="R36607db6273b4c6c" /><Relationship Type="http://schemas.openxmlformats.org/officeDocument/2006/relationships/slide" Target="/ppt/slides/slide18.xml" Id="Rc55693fb66f34562" /><Relationship Type="http://schemas.openxmlformats.org/officeDocument/2006/relationships/slide" Target="/ppt/slides/slide19.xml" Id="R87b4b2e6ac094313" /><Relationship Type="http://schemas.openxmlformats.org/officeDocument/2006/relationships/slide" Target="/ppt/slides/slide20.xml" Id="R74872fd19945416e" /><Relationship Type="http://schemas.openxmlformats.org/officeDocument/2006/relationships/slide" Target="/ppt/slides/slide21.xml" Id="R78062620dad44976" /><Relationship Type="http://schemas.openxmlformats.org/officeDocument/2006/relationships/slide" Target="/ppt/slides/slide22.xml" Id="R951c8c5722a64df9" /><Relationship Type="http://schemas.openxmlformats.org/officeDocument/2006/relationships/slide" Target="/ppt/slides/slide23.xml" Id="R8143ba5cd0854034" /><Relationship Type="http://schemas.openxmlformats.org/officeDocument/2006/relationships/slide" Target="/ppt/slides/slide24.xml" Id="R4961bf02361f4f6f" /><Relationship Type="http://schemas.openxmlformats.org/officeDocument/2006/relationships/slide" Target="/ppt/slides/slide25.xml" Id="Rc01909955a024504" /><Relationship Type="http://schemas.openxmlformats.org/officeDocument/2006/relationships/slide" Target="/ppt/slides/slide26.xml" Id="R52f1434081974b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452ea9b1e14f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302197d57f46f3" /><Relationship Type="http://schemas.openxmlformats.org/officeDocument/2006/relationships/notesMaster" Target="/ppt/notesMasters/notesMaster1.xml" Id="Rb09712df185848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974ff55b284d11" /><Relationship Type="http://schemas.openxmlformats.org/officeDocument/2006/relationships/notesMaster" Target="/ppt/notesMasters/notesMaster1.xml" Id="Rac066d4794fc4a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88e548803945e9" /><Relationship Type="http://schemas.openxmlformats.org/officeDocument/2006/relationships/notesMaster" Target="/ppt/notesMasters/notesMaster1.xml" Id="Rc26442588dca42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fa9c9ee1db4ad0" /><Relationship Type="http://schemas.openxmlformats.org/officeDocument/2006/relationships/notesMaster" Target="/ppt/notesMasters/notesMaster1.xml" Id="Rf560e4e4fcbb4e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5d916ed1f04dce" /><Relationship Type="http://schemas.openxmlformats.org/officeDocument/2006/relationships/notesMaster" Target="/ppt/notesMasters/notesMaster1.xml" Id="R0a36c0decce343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2384a50a4f4a97" /><Relationship Type="http://schemas.openxmlformats.org/officeDocument/2006/relationships/notesMaster" Target="/ppt/notesMasters/notesMaster1.xml" Id="R38c572b025954b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a4e66326ac491c" /><Relationship Type="http://schemas.openxmlformats.org/officeDocument/2006/relationships/notesMaster" Target="/ppt/notesMasters/notesMaster1.xml" Id="R3e6912a213b242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e7e1c5ac9045b8" /><Relationship Type="http://schemas.openxmlformats.org/officeDocument/2006/relationships/notesMaster" Target="/ppt/notesMasters/notesMaster1.xml" Id="Rf39de62d645447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e693eb000a487b" /><Relationship Type="http://schemas.openxmlformats.org/officeDocument/2006/relationships/notesMaster" Target="/ppt/notesMasters/notesMaster1.xml" Id="R7353273e3ef641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fe9157180e4340" /><Relationship Type="http://schemas.openxmlformats.org/officeDocument/2006/relationships/notesMaster" Target="/ppt/notesMasters/notesMaster1.xml" Id="R25180d0653e746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0d1c5a7e144053" /><Relationship Type="http://schemas.openxmlformats.org/officeDocument/2006/relationships/notesMaster" Target="/ppt/notesMasters/notesMaster1.xml" Id="Rb36f96a6ff954b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ba19dbd5ba4162" /><Relationship Type="http://schemas.openxmlformats.org/officeDocument/2006/relationships/notesMaster" Target="/ppt/notesMasters/notesMaster1.xml" Id="Rd5bfaffcf5cb46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42278a761c431e" /><Relationship Type="http://schemas.openxmlformats.org/officeDocument/2006/relationships/notesMaster" Target="/ppt/notesMasters/notesMaster1.xml" Id="R332ce76d12b945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92be40adf24a51" /><Relationship Type="http://schemas.openxmlformats.org/officeDocument/2006/relationships/notesMaster" Target="/ppt/notesMasters/notesMaster1.xml" Id="Rbe72b37f25c94a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1bc9838a7a4ecf" /><Relationship Type="http://schemas.openxmlformats.org/officeDocument/2006/relationships/notesMaster" Target="/ppt/notesMasters/notesMaster1.xml" Id="R13801019259a41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96b8a5891e4c1c" /><Relationship Type="http://schemas.openxmlformats.org/officeDocument/2006/relationships/notesMaster" Target="/ppt/notesMasters/notesMaster1.xml" Id="Rc72f8fd4828544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491617b6f64289" /><Relationship Type="http://schemas.openxmlformats.org/officeDocument/2006/relationships/notesMaster" Target="/ppt/notesMasters/notesMaster1.xml" Id="Rf9eb73d2689045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724bd86a08d4a2f" /><Relationship Type="http://schemas.openxmlformats.org/officeDocument/2006/relationships/notesMaster" Target="/ppt/notesMasters/notesMaster1.xml" Id="R48ac8ddd4d2c49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18f927b4f34fb7" /><Relationship Type="http://schemas.openxmlformats.org/officeDocument/2006/relationships/notesMaster" Target="/ppt/notesMasters/notesMaster1.xml" Id="R88ddb804e08d463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9d846b879c441f7" /><Relationship Type="http://schemas.openxmlformats.org/officeDocument/2006/relationships/notesMaster" Target="/ppt/notesMasters/notesMaster1.xml" Id="Rbbddfcb70bb94f3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30326260c2424b" /><Relationship Type="http://schemas.openxmlformats.org/officeDocument/2006/relationships/notesMaster" Target="/ppt/notesMasters/notesMaster1.xml" Id="R4ba6db0aa9ac42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258daf487b846d1" /><Relationship Type="http://schemas.openxmlformats.org/officeDocument/2006/relationships/notesMaster" Target="/ppt/notesMasters/notesMaster1.xml" Id="R32356900a235421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4df37f00d8d4c7b" /><Relationship Type="http://schemas.openxmlformats.org/officeDocument/2006/relationships/notesMaster" Target="/ppt/notesMasters/notesMaster1.xml" Id="R5f43932a28a4434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b103512b7ee46ba" /><Relationship Type="http://schemas.openxmlformats.org/officeDocument/2006/relationships/notesMaster" Target="/ppt/notesMasters/notesMaster1.xml" Id="R7db4e9c72adf469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24b167f485a488f" /><Relationship Type="http://schemas.openxmlformats.org/officeDocument/2006/relationships/notesMaster" Target="/ppt/notesMasters/notesMaster1.xml" Id="Rb4d13636a3da448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1a28af13ca841a1" /><Relationship Type="http://schemas.openxmlformats.org/officeDocument/2006/relationships/notesMaster" Target="/ppt/notesMasters/notesMaster1.xml" Id="R00047c2e80ed4c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concrete risk. A workflow may keep secret values out of prompts, outputs, and tool calls while still letting a secret choose a path that changes an itemized model bill. This review asks whether a compiler can state and check that narrower property under explicit assumptions.</a:t>
            </a:r>
          </a:p>
          <a:p xmlns:a="http://schemas.openxmlformats.org/drawingml/2006/main">
            <a:r>
              <a:t/>
            </a:r>
          </a:p>
          <a:p xmlns:a="http://schemas.openxmlformats.org/drawingml/2006/main">
            <a:r>
              <a:t>Sources: PAPER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support ticket as the running example. The public ticket is identical in both executions. A secret property selects the smaller or larger model. The secret itself never needs to appear in either prompt for the invoice to reveal which branch ran.</a:t>
            </a:r>
          </a:p>
          <a:p xmlns:a="http://schemas.openxmlformats.org/drawingml/2006/main">
            <a:r>
              <a:t/>
            </a:r>
          </a:p>
          <a:p xmlns:a="http://schemas.openxmlformats.org/drawingml/2006/main">
            <a:r>
              <a:t>Sources: docs/PAPER.md §1; examples/research/rejected/equal_bounds_different_inputs.orch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two paths. The ticket flows into the prompt. The secret flows into the branch condition. The classic value sinks may be clean, yet the secret still controls the existence and identity of a billable call. The observation is the program's resource behavior.</a:t>
            </a:r>
          </a:p>
          <a:p xmlns:a="http://schemas.openxmlformats.org/drawingml/2006/main">
            <a:r>
              <a:t/>
            </a:r>
          </a:p>
          <a:p xmlns:a="http://schemas.openxmlformats.org/drawingml/2006/main">
            <a:r>
              <a:t>Sources: src/semantic_analyzer.cpp; tests/tests.cpp (flow and billing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observation precisely: per resolved model contract, input tokens, output tokens, and calls. The paper's conditional theorem uses a shared request-sensitive oracle Ω(c,k,Q), where Q is the DSL-level abstract request. The runtime implements it as an opt-in mode. The sourced harness is reported in two modes: the default contract/index oracle and the opt-in request-sensitive oracle, each on the same fixed grid. These are repeated tests, not an expanded sample. Neither is a measured provider invoice. Timing and network traffic are outside the observation.</a:t>
            </a:r>
          </a:p>
          <a:p xmlns:a="http://schemas.openxmlformats.org/drawingml/2006/main">
            <a:r>
              <a:t/>
            </a:r>
          </a:p>
          <a:p xmlns:a="http://schemas.openxmlformats.org/drawingml/2006/main">
            <a:r>
              <a:t>Sources: PAPER §4.1; src/interpreter.cpp:248-267; bench/results/sourced.json; bench/results/sourced_request_sensitive.json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OrchLang has a unary analysis that bounds one execution and a relational obligation that compares two executions. A valid upper bound does not by itself say that changing a secret leaves the modeled usage trace unchanged. Keep these guarantees separate and show their evidence separately.</a:t>
            </a:r>
          </a:p>
          <a:p xmlns:a="http://schemas.openxmlformats.org/drawingml/2006/main">
            <a:r>
              <a:t/>
            </a:r>
          </a:p>
          <a:p xmlns:a="http://schemas.openxmlformats.org/drawingml/2006/main">
            <a:r>
              <a:t>Sources: src/cost_analyzer.cpp; src/relational.cpp; tests/tests.cpp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examples/research/rejected/equal_bounds_different_inputs.orch. Both public inputs have max_tokens 32; both arms use the same model contract and template. For a fixed public fixture with token lengths n and m, the secret selects which argument is sent. Under the default contract/index mock used by this illustration, the call index and output are the same while input usage can differ. With the theorem's request-sensitive oracle, differing abstract requests need not share an output; the input charge still witnesses why equal caps do not imply equal traces. This is not a measured-provider result.</a:t>
            </a:r>
          </a:p>
          <a:p xmlns:a="http://schemas.openxmlformats.org/drawingml/2006/main">
            <a:r>
              <a:t/>
            </a:r>
          </a:p>
          <a:p xmlns:a="http://schemas.openxmlformats.org/drawingml/2006/main">
            <a:r>
              <a:t>Sources: examples/research/rejected/equal_bounds_different_inputs.orch; src/interpreter.cpp:248-267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figure from top to bottom: each arm has the same per-call envelope, input at most 35 estimated tokens, output at most 4, and one call. For a chosen public fixture, the arguments have sizes n and m; the input usage terms are 3+n and 3+m. Under the default contract/index mock used in the figure, both calls return o₀ at index zero. The formal theorem instead couples outcomes by contract, index, and abstract request; the input charge alone still shows that equal maxima do not imply equal traces. The input estimate uses the declared four-bytes-per-token assumption.</a:t>
            </a:r>
          </a:p>
          <a:p xmlns:a="http://schemas.openxmlformats.org/drawingml/2006/main">
            <a:r>
              <a:t/>
            </a:r>
          </a:p>
          <a:p xmlns:a="http://schemas.openxmlformats.org/drawingml/2006/main">
            <a:r>
              <a:t>Sources: examples/research/rejected/equal_bounds_different_inputs.orch; include/semantic_analyzer.hpp:24; src/interpreter.cpp:248-267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paired-run relation and two evaluation modes. Corresponding public inputs remain equal and the secret may differ. The paper's theorem uses the same request-sensitive oracle Ω(c,k,Q) in both executions, where Q is the DSL-level abstract request; the runtime exposes this as opt-in `--request-sensitive-oracle`. The sourced experiment repeats the fixed grid under both the default contract/index oracle and the request-sensitive oracle. Their counts are reported per mode and not added. Neither mode establishes that live providers produce identical outcomes.</a:t>
            </a:r>
          </a:p>
          <a:p xmlns:a="http://schemas.openxmlformats.org/drawingml/2006/main">
            <a:r>
              <a:t/>
            </a:r>
          </a:p>
          <a:p xmlns:a="http://schemas.openxmlformats.org/drawingml/2006/main">
            <a:r>
              <a:t>Sources: docs/PAPER.md §4.2; src/interpreter.cpp; bench/evaluate_sourced.py; both sourced result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signature as a DSL-level structural summary. A call records the resolved contract (provider, actual model ID, output cap, and configured unit price), exact decoded template bytes, and ordered argument atoms. Literals compare by exact content; outer values by lexical identity; prior results by position under the shared-oracle relation. Source templates and arguments do not certify that every provider API field, serialization option, or tariff is represented. This is a sufficient, deliberately incomplete abstraction.</a:t>
            </a:r>
          </a:p>
          <a:p xmlns:a="http://schemas.openxmlformats.org/drawingml/2006/main">
            <a:r>
              <a:t/>
            </a:r>
          </a:p>
          <a:p xmlns:a="http://schemas.openxmlformats.org/drawingml/2006/main">
            <a:r>
              <a:t>Sources: docs/PAPER.md §4.3; include/relational.hpp; src/relational.cpp; src/semantic_analyzer.cpp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actual local rule: the compiler analyzes both secret-controlled arms, rejects undefined signatures, and accepts when their signatures are equal under the selected coupling. These local obligations support a conditional billing-trace theorem in the paper. Its proof sketch is pen-and-paper, not mechanized or verified against the C++ implementation. A workflow with declassification is outside the theorem's side condition; the certificate withholds its workflow-level claim, and any release-aware extension would need paired released values to agree.</a:t>
            </a:r>
          </a:p>
          <a:p xmlns:a="http://schemas.openxmlformats.org/drawingml/2006/main">
            <a:r>
              <a:t/>
            </a:r>
          </a:p>
          <a:p xmlns:a="http://schemas.openxmlformats.org/drawingml/2006/main">
            <a:r>
              <a:t>Sources: docs/FORMAL_CONTRACT.md §4; include/relational.hpp; src/relational.cpp; tests/tests.cpp (E236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supports matched two-step chains when both arms use aligned resolved model contracts and the same call-position relation. The second request can refer to the corresponding first result. Regression tests exercise default and request-sensitive mock modes. This does not cover arbitrary provider adaptations; a chain across incompatible provider/model tokenizers fails closed with E267. Cite the matched-chain regression and state the local structural-check scope, not a standalone universal theorem.</a:t>
            </a:r>
          </a:p>
          <a:p xmlns:a="http://schemas.openxmlformats.org/drawingml/2006/main">
            <a:r>
              <a:t/>
            </a:r>
          </a:p>
          <a:p xmlns:a="http://schemas.openxmlformats.org/drawingml/2006/main">
            <a:r>
              <a:t>Sources: src/relational.cpp; src/interpreter.cpp; tests/tests.cpp (matched-chain regression); E267 cross-tokenizer rejection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language design to implementation. The front end resolves names and model contracts before semantic facts feed confidentiality/integrity, unary-cost, and relational passes. Certificate v3 binds facts to the raw source digest and records declassification/billing-claim metadata; any declassification withholds the workflow-level claim. The mock runtime records source-located branch/retry traces. --audit-unsafe is an explicit offline research-only bypass. No live provider is contacted.</a:t>
            </a:r>
          </a:p>
          <a:p xmlns:a="http://schemas.openxmlformats.org/drawingml/2006/main">
            <a:r>
              <a:t/>
            </a:r>
          </a:p>
          <a:p xmlns:a="http://schemas.openxmlformats.org/drawingml/2006/main">
            <a:r>
              <a:t>Sources: src/main.cpp; src/semantic_analyzer.cpp; src/cost_analyzer.cpp; src/relational.cpp; src/certificate.cpp; src/interpreter.cpp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final-hash compiler invocation on examples/research/rejected/equal_bounds_different_inputs.orch. Read the exact E236 diagnostic and point to the source span plus the differing outer binding identities. The build script derives the snippet and compiler output from the source tree only after the compiler hash matches the saved sourced-results report.</a:t>
            </a:r>
          </a:p>
          <a:p xmlns:a="http://schemas.openxmlformats.org/drawingml/2006/main">
            <a:r>
              <a:t/>
            </a:r>
          </a:p>
          <a:p xmlns:a="http://schemas.openxmlformats.org/drawingml/2006/main">
            <a:r>
              <a:t>Sources: examples/research/rejected/equal_bounds_different_inputs.orch; final compiler stdout/stderr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experimental design in three steps: build/compile regression suite, exercise runtime executions against unary bounds, and compare paired runs under fixed public data. The sourced harness was run once with the default contract/index oracle and once with the request-sensitive oracle. These reports repeat the same grid, rather than doubling distinct patterns. Report seeds, denominators, and exact commands in the appendix.</a:t>
            </a:r>
          </a:p>
          <a:p xmlns:a="http://schemas.openxmlformats.org/drawingml/2006/main">
            <a:r>
              <a:t/>
            </a:r>
          </a:p>
          <a:p xmlns:a="http://schemas.openxmlformats.org/drawingml/2006/main">
            <a:r>
              <a:t>Sources: Makefile; tests/tests.cpp; bench/evaluate_sourced.py; bench/generate_sourced.py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each number with its denominator and test condition. The sourced experiment uses 15 pinned examples from PDL, APPL, and LMQL and 45 authored bounded variants; these are partial projections, not complete ports or 45 independent applications. Both ordinal and request-sensitive reports independently accept the same 15 balanced variants, show 0/2,250 balanced trace differences, reject 15 mutations with 2,250/2,250 witnesses, and record 0/1,500 component bound violations. The reports repeat the same fixed grid; do not sum them as separate patterns. Base runs check components against independently source-bound reports. This is implementation evidence, not a proof or live-provider evaluation.</a:t>
            </a:r>
          </a:p>
          <a:p xmlns:a="http://schemas.openxmlformats.org/drawingml/2006/main">
            <a:r>
              <a:t/>
            </a:r>
          </a:p>
          <a:p xmlns:a="http://schemas.openxmlformats.org/drawingml/2006/main">
            <a:r>
              <a:t>Sources: bench/results/sourced.json; bench/results/sourced_request_sensitive.json; bench/sourced/manifest.json; bench/results/source_bound_reports/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first witness from the unbalanced mutation of the PDL-derived chaining pattern. The fixed public tuple is seed 1, query token length 0, and use_tool=false. In ordinal mode, secret=false/true give (calls=3, input=60, output=95) and (2,57,54). Under the request-sensitive oracle, the same fixture gives (3,20,108) and (2,17,71). These are the same authored bounded projection and mutation, not independent source examples or a live invoice.</a:t>
            </a:r>
          </a:p>
          <a:p xmlns:a="http://schemas.openxmlformats.org/drawingml/2006/main">
            <a:r>
              <a:t/>
            </a:r>
          </a:p>
          <a:p xmlns:a="http://schemas.openxmlformats.org/drawingml/2006/main">
            <a:r>
              <a:t>Sources: bench/results/sourced.json; bench/results/sourced_request_sensitive.json; bench/evaluate_sourced.py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the project carefully. Resource-aware noninterference and relational cost analysis already exist. Probabilistic resource analysis and quantitative side-channel work also exist. LLM token-count side channels have been demonstrated. This prototype's claim is the narrower compiler check and its declared assumptions, not discovery of the leakage class.</a:t>
            </a:r>
          </a:p>
          <a:p xmlns:a="http://schemas.openxmlformats.org/drawingml/2006/main">
            <a:r>
              <a:t/>
            </a:r>
          </a:p>
          <a:p xmlns:a="http://schemas.openxmlformats.org/drawingml/2006/main">
            <a:r>
              <a:t>Sources: Sources [1]–[7] in 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exact contract and one limitation. The checked observation is per-model mock token use and calls. The theorem uses request-sensitive coupling; the two sourced reports separately exercise ordinal and request-sensitive modes over the same grid, so their counts are not added as distinct patterns. Requests remain DSL templates and ordered arguments. The source-derived experiment is partial and purposive. Three authored precision probes were rejected despite no differences in 300 ordinal mock pairs; behavior under provider tokenizers is not inferred. Provider cap compliance and tokenizer estimates remain assumptions. Any workflow with declassification is outside the stated theorem and its certificate withholds the workflow-level claim; a future release-aware theorem would need paired released values to agree.</a:t>
            </a:r>
          </a:p>
          <a:p xmlns:a="http://schemas.openxmlformats.org/drawingml/2006/main">
            <a:r>
              <a:t/>
            </a:r>
          </a:p>
          <a:p xmlns:a="http://schemas.openxmlformats.org/drawingml/2006/main">
            <a:r>
              <a:t>Sources: docs/PRIOR_ART_MATRIX.md; docs/RESEARCH_REVIEW_2026-10-09.md; 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examiner questions with the exact formal relation. State which parts are definitions and assumptions. The theorem uses the same request-sensitive oracle Ω(contract, call index, DSL request) and retry schedule in both runs. The sourced reports repeat the same fixed grid under both the default contract/index oracle and request-sensitive oracle; report each separately and do not add them as distinct examples. The compiler discharges local structural obligations used by the conditional theorem. Its proof is a pen-and-paper sketch, not mechanized or verified against the C++ implementation. A workflow with declassification is outside the theorem's side condition; its certificate withholds the workflow-level claim. A release-aware extension would need paired executions to agree on released values.</a:t>
            </a:r>
          </a:p>
          <a:p xmlns:a="http://schemas.openxmlformats.org/drawingml/2006/main">
            <a:r>
              <a:t/>
            </a:r>
          </a:p>
          <a:p xmlns:a="http://schemas.openxmlformats.org/drawingml/2006/main">
            <a:r>
              <a:t>Sources: docs/PAPER.md; src/interpreter.cpp; bench/evaluate_sourced.py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if asked to explain why the abstraction is sound or incomplete. Every term constructor and event identity must match the final formal rule and implementation. The paper gives a pen-and-paper proof sketch; the C++ implementation and certificate checker are not proof-assistant verified.</a:t>
            </a:r>
          </a:p>
          <a:p xmlns:a="http://schemas.openxmlformats.org/drawingml/2006/main">
            <a:r>
              <a:t/>
            </a:r>
          </a:p>
          <a:p xmlns:a="http://schemas.openxmlformats.org/drawingml/2006/main">
            <a:r>
              <a:t>Sources: include/semantic_analyzer.hpp; include/relational.hpp; src/relational.cpp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provider-enforced output limits from estimated prompt-input tokenization. The input premise requires the additive estimate to cover the complete charged request, with no omitted system prompt, schema, provider framing, or boundary-tokenization overhead. The bytes-per-token parameter alone does not establish that premise. State what saturating arithmetic, budget checks, and tokenization settings actually guarantee.</a:t>
            </a:r>
          </a:p>
          <a:p xmlns:a="http://schemas.openxmlformats.org/drawingml/2006/main">
            <a:r>
              <a:t/>
            </a:r>
          </a:p>
          <a:p xmlns:a="http://schemas.openxmlformats.org/drawingml/2006/main">
            <a:r>
              <a:t>Sources: include/semantic_analyzer.hpp; src/semantic_analyzer.cpp; src/cost_analyzer.cpp; src/certificate.cpp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build injects the compiler SHA-256, frozen baseline commit, and seed grid from hash-checked saved results. The full reproduction manifest is quick=false and sanitizer=true; all 29 stages passed, including 111 C++ regressions and 19 independent certificate-auditor tests. Reproduce the full run with `python3 audit/reproduce_final.py --sanitize`; the auditor unit tests alone use `python3 -m unittest discover -s audit -p test_certificate_audit.py -v`. Reproduce ordinal projections with `python3 bench/evaluate_sourced.py --baseline &lt;orchc built from a49fcdbdaa99723d7b6e1913f6d01e4f88682dd9&gt;` and request-sensitive projections by adding `--request-sensitive-oracle`. Both reports use the same fixed grids; the results are not added as independent examples. The manifest pins upstream source revisions and hashes. The 15 examples are partial projections, not full ports. The repository now includes an MIT LICENSE, CITATION.cff, and upstream notices; the author's final review remains before a public immutable release.</a:t>
            </a:r>
          </a:p>
          <a:p xmlns:a="http://schemas.openxmlformats.org/drawingml/2006/main">
            <a:r>
              <a:t/>
            </a:r>
          </a:p>
          <a:p xmlns:a="http://schemas.openxmlformats.org/drawingml/2006/main">
            <a:r>
              <a:t>Saved evidence IDs: compiler SHA-256 5bae3be94e9b7d747728965e2562d06a9844d47b28f871c6fe44dcb6f0a7aa43; manifest SHA-256 02729574c91be1713e5c4fca2e4f14be41127180423e64b125ec11e2d863bf32; baseline commit a49fcdbdaa99723d7b6e1913f6d01e4f88682dd9. Report SHA-256: sourced.json a3e68bbcb0efbff416570208b4fab0e5d6f2cb3a676dfa7b4ce78d16d177fdb7; sourced_request_sensitive.json a74823a7b6309d65ce92d5959c604999bc007b5d5774ab065c9dba016a2025d0. Reports: sourced.json (ordinal) and sourced_request_sensitive.json (request-sensitive). Each mode repeats the same grid; counts are not added as independent patterns.</a:t>
            </a:r>
          </a:p>
          <a:p xmlns:a="http://schemas.openxmlformats.org/drawingml/2006/main">
            <a:r>
              <a:t/>
            </a:r>
          </a:p>
          <a:p xmlns:a="http://schemas.openxmlformats.org/drawingml/2006/main">
            <a:r>
              <a:t>Sources: audit/final/manifest.json; audit/final/auditor-tests.log; bench/sourced/manifest.json; bench/results/sourced.json; bench/results/sourced_request_sensitive.json; bench/evaluate_sourced.py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list diagnostics emitted by the final compiler. Use a short source excerpt and exact error/warning code where possible.</a:t>
            </a:r>
          </a:p>
          <a:p xmlns:a="http://schemas.openxmlformats.org/drawingml/2006/main">
            <a:r>
              <a:t/>
            </a:r>
          </a:p>
          <a:p xmlns:a="http://schemas.openxmlformats.org/drawingml/2006/main">
            <a:r>
              <a:t>Sources: src/diagnostic.cpp; src/semantic_analyzer.cpp; src/relational.cpp; tests/tests.cpp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direct, evidence-backed answers. If a proof obligation remains open, state that plainly and do not substitute benchmark results for it.</a:t>
            </a:r>
          </a:p>
          <a:p xmlns:a="http://schemas.openxmlformats.org/drawingml/2006/main">
            <a:r>
              <a:t/>
            </a:r>
          </a:p>
          <a:p xmlns:a="http://schemas.openxmlformats.org/drawingml/2006/main">
            <a:r>
              <a:t>Sources: docs/PAPER.md; docs/PRIOR_ART_MATRIX.md; bench/results/sourced.json; bench/results/sourced_request_sensitive.json; 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 is a peer-reviewed prompt programming language and runtime. CaMeL and Fides address information flow and prompt injection. Agentproof statically checks workflow graphs and policies; AgentFlow adds bounded verification and runtime enforcement. These are relevant adjacent systems. Their guarantees differ from equality of a per-model bill across paired executions under a shared oracle. Label publication status accurately.</a:t>
            </a:r>
          </a:p>
          <a:p xmlns:a="http://schemas.openxmlformats.org/drawingml/2006/main">
            <a:r>
              <a:t/>
            </a:r>
          </a:p>
          <a:p xmlns:a="http://schemas.openxmlformats.org/drawingml/2006/main">
            <a:r>
              <a:t>Sources: APPL ACL 2025; CaMeL, Fides, Agentproof, AgentFlow are preprints as of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column lists the core research references; complete bibliographic details, links, and adjacent-system citations are in sources.md. The right column gives a qualitative 0–10 assessment, not an acceptance probability: overall applied contribution 4.5 before to 5.5 now; domain-specific method 3.5 to 5.5; general theory 2.5 to 3.0. The score rises because the work now has a more precise request-coupling model, resolved identities, matched chains, expanded differential evidence, and a narrower literature-grounded claim. It does not present the method as new general theory, and the proof sketch remains unmechanized. The repository now includes an MIT LICENSE, CITATION.cff, and upstream notices; the author's final review remains before a public immutable release. The rubric and reasoning are in docs/RESEARCH_REVIEW_2026-10-09.md and docs/PRIOR_ART_MATRIX.md.</a:t>
            </a:r>
          </a:p>
          <a:p xmlns:a="http://schemas.openxmlformats.org/drawingml/2006/main">
            <a:r>
              <a:t/>
            </a:r>
          </a:p>
          <a:p xmlns:a="http://schemas.openxmlformats.org/drawingml/2006/main">
            <a:r>
              <a:t>Sources: sources.md; docs/RESEARCH_REVIEW_2026-10-09.md; docs/PRIOR_ART_MATRIX.md; LICENSE; CITATION.cff; upstream notices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62cacb959f40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61bc553c1e44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7ee74f444248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aa8ea17347c48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31e8cb5bc949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a76dbaed4e4b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6B479F-02F2-49DA-9358-D72FFFB0A3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8A0655-2C0C-4101-BC81-E114143969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DF7124-A897-4F38-93F0-9AC5EEDCD4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696DFF-B56B-44C4-ACEF-214E8F3692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FCA580-F1A9-48BF-A82F-0C7D1A2526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9DFF34-0900-4FE2-99DC-5D8FE5EB1C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BD78BA-B9BE-44C0-9312-72AD93DCF0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34C090-F923-43D7-A827-1511FA1B36D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DD1410-EFBD-4FC1-96ED-46C169DB36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B9ED25-47E5-4668-9D53-3C8B18571C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146a8abd214315" /><Relationship Type="http://schemas.openxmlformats.org/officeDocument/2006/relationships/slideLayout" Target="/ppt/slideLayouts/slideLayout1.xml" Id="R01d205be0da242d1" /><Relationship Type="http://schemas.openxmlformats.org/officeDocument/2006/relationships/slideLayout" Target="/ppt/slideLayouts/slideLayout2.xml" Id="R1d2677fae62948cc" /><Relationship Type="http://schemas.openxmlformats.org/officeDocument/2006/relationships/slideLayout" Target="/ppt/slideLayouts/slideLayout3.xml" Id="R92ddb8f2155149ef" /><Relationship Type="http://schemas.openxmlformats.org/officeDocument/2006/relationships/slideLayout" Target="/ppt/slideLayouts/slideLayout4.xml" Id="R6284505c83ee40a7" /><Relationship Type="http://schemas.openxmlformats.org/officeDocument/2006/relationships/slideLayout" Target="/ppt/slideLayouts/slideLayout5.xml" Id="Rdd956bbe79c74aa3" /><Relationship Type="http://schemas.openxmlformats.org/officeDocument/2006/relationships/slideLayout" Target="/ppt/slideLayouts/slideLayout6.xml" Id="R35960e9139aa42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d205be0da242d1"/>
    <p:sldLayoutId xmlns:r="http://schemas.openxmlformats.org/officeDocument/2006/relationships" id="2147483650" r:id="R1d2677fae62948cc"/>
    <p:sldLayoutId xmlns:r="http://schemas.openxmlformats.org/officeDocument/2006/relationships" id="2147483651" r:id="R92ddb8f2155149ef"/>
    <p:sldLayoutId xmlns:r="http://schemas.openxmlformats.org/officeDocument/2006/relationships" id="2147483652" r:id="R6284505c83ee40a7"/>
    <p:sldLayoutId xmlns:r="http://schemas.openxmlformats.org/officeDocument/2006/relationships" id="2147483653" r:id="Rdd956bbe79c74aa3"/>
    <p:sldLayoutId xmlns:r="http://schemas.openxmlformats.org/officeDocument/2006/relationships" id="2147483654" r:id="R35960e9139aa42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2cb1128f804fed" /><Relationship Type="http://schemas.openxmlformats.org/officeDocument/2006/relationships/notesSlide" Target="/ppt/notesSlides/notesSlide1.xml" Id="R1a4cd93a21f849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e2515311aea418a" /><Relationship Type="http://schemas.openxmlformats.org/officeDocument/2006/relationships/notesSlide" Target="/ppt/notesSlides/notesSlide2.xml" Id="R69803d28f81449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7321f1917fb4586" /><Relationship Type="http://schemas.openxmlformats.org/officeDocument/2006/relationships/notesSlide" Target="/ppt/notesSlides/notesSlide3.xml" Id="Rfb249ca09a3e45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cda80bb1794da4" /><Relationship Type="http://schemas.openxmlformats.org/officeDocument/2006/relationships/notesSlide" Target="/ppt/notesSlides/notesSlide4.xml" Id="Rd4dcb49e2c6d47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602af9b297645dd" /><Relationship Type="http://schemas.openxmlformats.org/officeDocument/2006/relationships/notesSlide" Target="/ppt/notesSlides/notesSlide5.xml" Id="R0a15987b4d2d40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e536b35d794228" /><Relationship Type="http://schemas.openxmlformats.org/officeDocument/2006/relationships/notesSlide" Target="/ppt/notesSlides/notesSlide6.xml" Id="Rdad5c3fb8c484d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f8915abd664f14" /><Relationship Type="http://schemas.openxmlformats.org/officeDocument/2006/relationships/notesSlide" Target="/ppt/notesSlides/notesSlide7.xml" Id="Red3c27434dc548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aa488c2d164898" /><Relationship Type="http://schemas.openxmlformats.org/officeDocument/2006/relationships/notesSlide" Target="/ppt/notesSlides/notesSlide8.xml" Id="Rcd4cb95d58bb41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0c9bd93bbd433d" /><Relationship Type="http://schemas.openxmlformats.org/officeDocument/2006/relationships/notesSlide" Target="/ppt/notesSlides/notesSlide9.xml" Id="R65d734faf8c04c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787e0c393d4f74" /><Relationship Type="http://schemas.openxmlformats.org/officeDocument/2006/relationships/notesSlide" Target="/ppt/notesSlides/notesSlide10.xml" Id="R8e4006dd737844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2233c7a36d47ca" /><Relationship Type="http://schemas.openxmlformats.org/officeDocument/2006/relationships/notesSlide" Target="/ppt/notesSlides/notesSlide11.xml" Id="R696452993c7848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46986d5387a46c8" /><Relationship Type="http://schemas.openxmlformats.org/officeDocument/2006/relationships/notesSlide" Target="/ppt/notesSlides/notesSlide12.xml" Id="R91d47daadd1e44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58245b8430645a5" /><Relationship Type="http://schemas.openxmlformats.org/officeDocument/2006/relationships/notesSlide" Target="/ppt/notesSlides/notesSlide13.xml" Id="R98202667b68f4f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3b6e812446048ba" /><Relationship Type="http://schemas.openxmlformats.org/officeDocument/2006/relationships/notesSlide" Target="/ppt/notesSlides/notesSlide14.xml" Id="Rb33d685fa30240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86ca58ec90f473b" /><Relationship Type="http://schemas.openxmlformats.org/officeDocument/2006/relationships/notesSlide" Target="/ppt/notesSlides/notesSlide15.xml" Id="R666f5d4518ec43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8fb5a1594e24c8e" /><Relationship Type="http://schemas.openxmlformats.org/officeDocument/2006/relationships/notesSlide" Target="/ppt/notesSlides/notesSlide16.xml" Id="R21e85e8b7a174a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c62c25097ab4e66" /><Relationship Type="http://schemas.openxmlformats.org/officeDocument/2006/relationships/notesSlide" Target="/ppt/notesSlides/notesSlide17.xml" Id="R810505f21dd140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d888d2bcff54c07" /><Relationship Type="http://schemas.openxmlformats.org/officeDocument/2006/relationships/notesSlide" Target="/ppt/notesSlides/notesSlide18.xml" Id="Rf259ca23df7646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4d0e0d5ceda43d1" /><Relationship Type="http://schemas.openxmlformats.org/officeDocument/2006/relationships/notesSlide" Target="/ppt/notesSlides/notesSlide19.xml" Id="Ree018ead815f46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fc64fed231848eb" /><Relationship Type="http://schemas.openxmlformats.org/officeDocument/2006/relationships/notesSlide" Target="/ppt/notesSlides/notesSlide20.xml" Id="R42e485467ca945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a498f6110344cdb" /><Relationship Type="http://schemas.openxmlformats.org/officeDocument/2006/relationships/notesSlide" Target="/ppt/notesSlides/notesSlide21.xml" Id="R396c405ddca242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781b0b44f534c42" /><Relationship Type="http://schemas.openxmlformats.org/officeDocument/2006/relationships/notesSlide" Target="/ppt/notesSlides/notesSlide22.xml" Id="Rd1a0b714434d4b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63bd108fc7c4d32" /><Relationship Type="http://schemas.openxmlformats.org/officeDocument/2006/relationships/notesSlide" Target="/ppt/notesSlides/notesSlide23.xml" Id="Rc169b3d573c84c6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f4ba434b2fe42d6" /><Relationship Type="http://schemas.openxmlformats.org/officeDocument/2006/relationships/notesSlide" Target="/ppt/notesSlides/notesSlide24.xml" Id="Ra7e008886a9e44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f8786b765834e4a" /><Relationship Type="http://schemas.openxmlformats.org/officeDocument/2006/relationships/notesSlide" Target="/ppt/notesSlides/notesSlide25.xml" Id="R4a49108b6e70415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319023b5c934ecd" /><Relationship Type="http://schemas.openxmlformats.org/officeDocument/2006/relationships/notesSlide" Target="/ppt/notesSlides/notesSlide26.xml" Id="Rfae1ab022d8d426d"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7" name="cover-coral-rail">
            <a:extLst xmlns:a="http://schemas.openxmlformats.org/drawingml/2006/main">
              <a:ext uri="{FF2B5EF4-FFF2-40B4-BE49-F238E27FC236}">
                <a16:creationId xmlns:a16="http://schemas.microsoft.com/office/drawing/2014/main" id="{50A70D1F-368B-4B59-AB09-C2CD0924797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578E77C4-1E71-4001-8F7F-51AEA76D0A67}"/>
              </a:ext>
            </a:extLst>
          </p:cNvPr>
          <p:cNvSpPr>
            <a:spLocks xmlns:a="http://schemas.openxmlformats.org/drawingml/2006/main" noGrp="1"/>
          </p:cNvSpPr>
          <p:nvPr/>
        </p:nvSpPr>
        <p:spPr>
          <a:xfrm xmlns:a="http://schemas.openxmlformats.org/drawingml/2006/main">
            <a:off x="723900" y="6096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646B7A"/>
                </a:solidFill>
                <a:latin typeface="Avenir Next"/>
                <a:ea typeface="Avenir Next"/>
                <a:cs typeface="Avenir Next"/>
              </a:defRPr>
            </a:defPPr>
          </a:lstStyle>
          <a:p xmlns:a="http://schemas.openxmlformats.org/drawingml/2006/main">
            <a:pPr algn="l">
              <a:defRPr sz="1125" b="1" i="0">
                <a:solidFill>
                  <a:srgbClr val="646B7A"/>
                </a:solidFill>
                <a:latin typeface="Avenir Next"/>
                <a:ea typeface="Avenir Next"/>
                <a:cs typeface="Avenir Next"/>
              </a:defRPr>
            </a:pPr>
            <a:r>
              <a:rPr sz="1125" b="1" i="0">
                <a:solidFill>
                  <a:srgbClr val="646B7A"/>
                </a:solidFill>
                <a:latin typeface="Avenir Next"/>
                <a:ea typeface="Avenir Next"/>
                <a:cs typeface="Avenir Next"/>
              </a:rPr>
              <a:t>ORCHLANG  /  COMPILER DESIGN REVIEW</a:t>
            </a:r>
          </a:p>
        </p:txBody>
      </p:sp>
      <p:sp>
        <p:nvSpPr>
          <p:cNvPr id="3" name="cover-title">
            <a:extLst xmlns:a="http://schemas.openxmlformats.org/drawingml/2006/main">
              <a:ext uri="{FF2B5EF4-FFF2-40B4-BE49-F238E27FC236}">
                <a16:creationId xmlns:a16="http://schemas.microsoft.com/office/drawing/2014/main" id="{E4EBC579-9E55-472C-9DB3-F0E5E09E5499}"/>
              </a:ext>
            </a:extLst>
          </p:cNvPr>
          <p:cNvSpPr>
            <a:spLocks xmlns:a="http://schemas.openxmlformats.org/drawingml/2006/main" noGrp="1"/>
          </p:cNvSpPr>
          <p:nvPr/>
        </p:nvSpPr>
        <p:spPr>
          <a:xfrm xmlns:a="http://schemas.openxmlformats.org/drawingml/2006/main">
            <a:off x="704850" y="133350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00" b="1" i="0">
                <a:solidFill>
                  <a:srgbClr val="141B2B"/>
                </a:solidFill>
                <a:latin typeface="Avenir Next"/>
                <a:ea typeface="Avenir Next"/>
                <a:cs typeface="Avenir Next"/>
              </a:defRPr>
            </a:defPPr>
          </a:lstStyle>
          <a:p xmlns:a="http://schemas.openxmlformats.org/drawingml/2006/main">
            <a:pPr algn="l">
              <a:defRPr sz="5100" b="1" i="0">
                <a:solidFill>
                  <a:srgbClr val="141B2B"/>
                </a:solidFill>
                <a:latin typeface="Avenir Next"/>
                <a:ea typeface="Avenir Next"/>
                <a:cs typeface="Avenir Next"/>
              </a:defRPr>
            </a:pPr>
            <a:r>
              <a:rPr sz="5100" b="1" i="0">
                <a:solidFill>
                  <a:srgbClr val="141B2B"/>
                </a:solidFill>
                <a:latin typeface="Avenir Next"/>
                <a:ea typeface="Avenir Next"/>
                <a:cs typeface="Avenir Next"/>
              </a:rPr>
              <a:t>The invoice can reveal the secret</a:t>
            </a:r>
          </a:p>
        </p:txBody>
      </p:sp>
      <p:sp>
        <p:nvSpPr>
          <p:cNvPr id="4" name="cover-subtitle">
            <a:extLst xmlns:a="http://schemas.openxmlformats.org/drawingml/2006/main">
              <a:ext uri="{FF2B5EF4-FFF2-40B4-BE49-F238E27FC236}">
                <a16:creationId xmlns:a16="http://schemas.microsoft.com/office/drawing/2014/main" id="{A13E018A-5204-4B8E-AD7C-FB5327629F1C}"/>
              </a:ext>
            </a:extLst>
          </p:cNvPr>
          <p:cNvSpPr>
            <a:spLocks xmlns:a="http://schemas.openxmlformats.org/drawingml/2006/main" noGrp="1"/>
          </p:cNvSpPr>
          <p:nvPr/>
        </p:nvSpPr>
        <p:spPr>
          <a:xfrm xmlns:a="http://schemas.openxmlformats.org/drawingml/2006/main">
            <a:off x="742950" y="3600450"/>
            <a:ext cx="590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i="0">
                <a:solidFill>
                  <a:srgbClr val="646B7A"/>
                </a:solidFill>
                <a:latin typeface="Avenir Next"/>
                <a:ea typeface="Avenir Next"/>
                <a:cs typeface="Avenir Next"/>
              </a:defRPr>
            </a:defPPr>
          </a:lstStyle>
          <a:p xmlns:a="http://schemas.openxmlformats.org/drawingml/2006/main">
            <a:pPr algn="l">
              <a:defRPr sz="1950" b="0" i="0">
                <a:solidFill>
                  <a:srgbClr val="646B7A"/>
                </a:solidFill>
                <a:latin typeface="Avenir Next"/>
                <a:ea typeface="Avenir Next"/>
                <a:cs typeface="Avenir Next"/>
              </a:defRPr>
            </a:pPr>
            <a:r>
              <a:rPr sz="1950" b="0" i="0">
                <a:solidFill>
                  <a:srgbClr val="646B7A"/>
                </a:solidFill>
                <a:latin typeface="Avenir Next"/>
                <a:ea typeface="Avenir Next"/>
                <a:cs typeface="Avenir Next"/>
              </a:rPr>
              <a:t>Static checks for secret-dependent per-model usage in OrchLang</a:t>
            </a:r>
          </a:p>
        </p:txBody>
      </p:sp>
      <p:sp>
        <p:nvSpPr>
          <p:cNvPr id="5" name="cover-byline">
            <a:extLst xmlns:a="http://schemas.openxmlformats.org/drawingml/2006/main">
              <a:ext uri="{FF2B5EF4-FFF2-40B4-BE49-F238E27FC236}">
                <a16:creationId xmlns:a16="http://schemas.microsoft.com/office/drawing/2014/main" id="{10DD6818-FAC0-4040-BFCC-CA32F16DEDA9}"/>
              </a:ext>
            </a:extLst>
          </p:cNvPr>
          <p:cNvSpPr>
            <a:spLocks xmlns:a="http://schemas.openxmlformats.org/drawingml/2006/main" noGrp="1"/>
          </p:cNvSpPr>
          <p:nvPr/>
        </p:nvSpPr>
        <p:spPr>
          <a:xfrm xmlns:a="http://schemas.openxmlformats.org/drawingml/2006/main">
            <a:off x="742950" y="55054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141B2B"/>
                </a:solidFill>
                <a:latin typeface="Avenir Next"/>
                <a:ea typeface="Avenir Next"/>
                <a:cs typeface="Avenir Next"/>
              </a:defRPr>
            </a:defPPr>
          </a:lstStyle>
          <a:p xmlns:a="http://schemas.openxmlformats.org/drawingml/2006/main">
            <a:pPr algn="l">
              <a:defRPr sz="1200" b="1" i="0">
                <a:solidFill>
                  <a:srgbClr val="141B2B"/>
                </a:solidFill>
                <a:latin typeface="Avenir Next"/>
                <a:ea typeface="Avenir Next"/>
                <a:cs typeface="Avenir Next"/>
              </a:defRPr>
            </a:pPr>
            <a:r>
              <a:rPr sz="1200" b="1" i="0">
                <a:solidFill>
                  <a:srgbClr val="141B2B"/>
                </a:solidFill>
                <a:latin typeface="Avenir Next"/>
                <a:ea typeface="Avenir Next"/>
                <a:cs typeface="Avenir Next"/>
              </a:rPr>
              <a:t>Nambi Rajan M · 24BAI0072 · Vellore Institute of Technology</a:t>
            </a:r>
          </a:p>
        </p:txBody>
      </p:sp>
      <p:sp>
        <p:nvSpPr>
          <p:cNvPr id="6" name="cover-evidence-panel">
            <a:extLst xmlns:a="http://schemas.openxmlformats.org/drawingml/2006/main">
              <a:ext uri="{FF2B5EF4-FFF2-40B4-BE49-F238E27FC236}">
                <a16:creationId xmlns:a16="http://schemas.microsoft.com/office/drawing/2014/main" id="{D143B953-1097-4AF4-A2EE-44ADA7F81FB8}"/>
              </a:ext>
            </a:extLst>
          </p:cNvPr>
          <p:cNvSpPr>
            <a:spLocks xmlns:a="http://schemas.openxmlformats.org/drawingml/2006/main" noGrp="1"/>
          </p:cNvSpPr>
          <p:nvPr/>
        </p:nvSpPr>
        <p:spPr>
          <a:xfrm xmlns:a="http://schemas.openxmlformats.org/drawingml/2006/main">
            <a:off x="7696200" y="666750"/>
            <a:ext cx="3848100" cy="5476875"/>
          </a:xfrm>
          <a:prstGeom xmlns:a="http://schemas.openxmlformats.org/drawingml/2006/main" prst="roundRect">
            <a:avLst>
              <a:gd name="adj" fmla="val 2970"/>
            </a:avLst>
          </a:prstGeom>
          <a:solidFill xmlns:a="http://schemas.openxmlformats.org/drawingml/2006/main">
            <a:srgbClr val="131A29"/>
          </a:solidFill>
          <a:ln xmlns:a="http://schemas.openxmlformats.org/drawingml/2006/main" w="0">
            <a:noFill/>
            <a:prstDash val="solid"/>
          </a:ln>
        </p:spPr>
      </p:sp>
      <p:sp>
        <p:nvSpPr>
          <p:cNvPr id="7" name="cover-relation-pill">
            <a:extLst xmlns:a="http://schemas.openxmlformats.org/drawingml/2006/main">
              <a:ext uri="{FF2B5EF4-FFF2-40B4-BE49-F238E27FC236}">
                <a16:creationId xmlns:a16="http://schemas.microsoft.com/office/drawing/2014/main" id="{D345D08C-ECEB-403F-8B86-69250A869178}"/>
              </a:ext>
            </a:extLst>
          </p:cNvPr>
          <p:cNvSpPr>
            <a:spLocks xmlns:a="http://schemas.openxmlformats.org/drawingml/2006/main" noGrp="1"/>
          </p:cNvSpPr>
          <p:nvPr/>
        </p:nvSpPr>
        <p:spPr>
          <a:xfrm xmlns:a="http://schemas.openxmlformats.org/drawingml/2006/main">
            <a:off x="8058150" y="952500"/>
            <a:ext cx="1809750" cy="266700"/>
          </a:xfrm>
          <a:prstGeom xmlns:a="http://schemas.openxmlformats.org/drawingml/2006/main" prst="roundRect">
            <a:avLst>
              <a:gd name="adj" fmla="val 35714"/>
            </a:avLst>
          </a:prstGeom>
          <a:solidFill xmlns:a="http://schemas.openxmlformats.org/drawingml/2006/main">
            <a:srgbClr val="343D50"/>
          </a:solidFill>
          <a:ln xmlns:a="http://schemas.openxmlformats.org/drawingml/2006/main" w="0">
            <a:noFill/>
            <a:prstDash val="solid"/>
          </a:ln>
        </p:spPr>
      </p:sp>
      <p:sp>
        <p:nvSpPr>
          <p:cNvPr id="8" name="cover-relation-text">
            <a:extLst xmlns:a="http://schemas.openxmlformats.org/drawingml/2006/main">
              <a:ext uri="{FF2B5EF4-FFF2-40B4-BE49-F238E27FC236}">
                <a16:creationId xmlns:a16="http://schemas.microsoft.com/office/drawing/2014/main" id="{413E16C5-85A2-4DAF-A2D9-278DF3A6DD83}"/>
              </a:ext>
            </a:extLst>
          </p:cNvPr>
          <p:cNvSpPr>
            <a:spLocks xmlns:a="http://schemas.openxmlformats.org/drawingml/2006/main" noGrp="1"/>
          </p:cNvSpPr>
          <p:nvPr/>
        </p:nvSpPr>
        <p:spPr>
          <a:xfrm xmlns:a="http://schemas.openxmlformats.org/drawingml/2006/main">
            <a:off x="8153400" y="10001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B8C1D1"/>
                </a:solidFill>
                <a:latin typeface="Avenir Next"/>
                <a:ea typeface="Avenir Next"/>
                <a:cs typeface="Avenir Next"/>
              </a:defRPr>
            </a:defPPr>
          </a:lstStyle>
          <a:p xmlns:a="http://schemas.openxmlformats.org/drawingml/2006/main">
            <a:pPr algn="ctr">
              <a:defRPr sz="975" b="1" i="0">
                <a:solidFill>
                  <a:srgbClr val="B8C1D1"/>
                </a:solidFill>
                <a:latin typeface="Avenir Next"/>
                <a:ea typeface="Avenir Next"/>
                <a:cs typeface="Avenir Next"/>
              </a:defRPr>
            </a:pPr>
            <a:r>
              <a:rPr sz="975" b="1" i="0">
                <a:solidFill>
                  <a:srgbClr val="B8C1D1"/>
                </a:solidFill>
                <a:latin typeface="Avenir Next"/>
                <a:ea typeface="Avenir Next"/>
                <a:cs typeface="Avenir Next"/>
              </a:rPr>
              <a:t>MODELED COMPARISON</a:t>
            </a:r>
          </a:p>
        </p:txBody>
      </p:sp>
      <p:sp>
        <p:nvSpPr>
          <p:cNvPr id="9" name="cover-cond-0-head">
            <a:extLst xmlns:a="http://schemas.openxmlformats.org/drawingml/2006/main">
              <a:ext uri="{FF2B5EF4-FFF2-40B4-BE49-F238E27FC236}">
                <a16:creationId xmlns:a16="http://schemas.microsoft.com/office/drawing/2014/main" id="{7B782D39-3FE3-4BCE-BBDE-451D47BCAA69}"/>
              </a:ext>
            </a:extLst>
          </p:cNvPr>
          <p:cNvSpPr>
            <a:spLocks xmlns:a="http://schemas.openxmlformats.org/drawingml/2006/main" noGrp="1"/>
          </p:cNvSpPr>
          <p:nvPr/>
        </p:nvSpPr>
        <p:spPr>
          <a:xfrm xmlns:a="http://schemas.openxmlformats.org/drawingml/2006/main">
            <a:off x="8058150" y="14573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OBSERVER</a:t>
            </a:r>
          </a:p>
        </p:txBody>
      </p:sp>
      <p:sp>
        <p:nvSpPr>
          <p:cNvPr id="10" name="cover-cond-0-value">
            <a:extLst xmlns:a="http://schemas.openxmlformats.org/drawingml/2006/main">
              <a:ext uri="{FF2B5EF4-FFF2-40B4-BE49-F238E27FC236}">
                <a16:creationId xmlns:a16="http://schemas.microsoft.com/office/drawing/2014/main" id="{B5D608CB-9D96-40B0-BAEA-EB383E3E4E83}"/>
              </a:ext>
            </a:extLst>
          </p:cNvPr>
          <p:cNvSpPr>
            <a:spLocks xmlns:a="http://schemas.openxmlformats.org/drawingml/2006/main" noGrp="1"/>
          </p:cNvSpPr>
          <p:nvPr/>
        </p:nvSpPr>
        <p:spPr>
          <a:xfrm xmlns:a="http://schemas.openxmlformats.org/drawingml/2006/main">
            <a:off x="9763125" y="14478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72"/>
          </a:bodyPr>
          <a:lstStyle xmlns:a="http://schemas.openxmlformats.org/drawingml/2006/main">
            <a:defPPr algn="r">
              <a:defRPr sz="1200" b="1" i="0">
                <a:solidFill>
                  <a:srgbClr val="D9CBB6"/>
                </a:solidFill>
                <a:latin typeface="Avenir Next"/>
                <a:ea typeface="Avenir Next"/>
                <a:cs typeface="Avenir Next"/>
              </a:defRPr>
            </a:defPPr>
          </a:lstStyle>
          <a:p xmlns:a="http://schemas.openxmlformats.org/drawingml/2006/main">
            <a:pPr algn="r">
              <a:defRPr sz="1200" b="1" i="0">
                <a:solidFill>
                  <a:srgbClr val="D9CBB6"/>
                </a:solidFill>
                <a:latin typeface="Avenir Next"/>
                <a:ea typeface="Avenir Next"/>
                <a:cs typeface="Avenir Next"/>
              </a:defRPr>
            </a:pPr>
            <a:r>
              <a:rPr sz="1200" b="1" i="0">
                <a:solidFill>
                  <a:srgbClr val="D9CBB6"/>
                </a:solidFill>
                <a:latin typeface="Avenir Next"/>
                <a:ea typeface="Avenir Next"/>
                <a:cs typeface="Avenir Next"/>
              </a:rPr>
              <a:t>itemized model usage</a:t>
            </a:r>
          </a:p>
        </p:txBody>
      </p:sp>
      <p:sp>
        <p:nvSpPr>
          <p:cNvPr id="11" name="cover-cond-0-rule">
            <a:extLst xmlns:a="http://schemas.openxmlformats.org/drawingml/2006/main">
              <a:ext uri="{FF2B5EF4-FFF2-40B4-BE49-F238E27FC236}">
                <a16:creationId xmlns:a16="http://schemas.microsoft.com/office/drawing/2014/main" id="{804856E3-503F-481E-BA9C-FAEB45B24D9D}"/>
              </a:ext>
            </a:extLst>
          </p:cNvPr>
          <p:cNvSpPr>
            <a:spLocks xmlns:a="http://schemas.openxmlformats.org/drawingml/2006/main" noGrp="1"/>
          </p:cNvSpPr>
          <p:nvPr/>
        </p:nvSpPr>
        <p:spPr>
          <a:xfrm xmlns:a="http://schemas.openxmlformats.org/drawingml/2006/main">
            <a:off x="8058150" y="175260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2" name="cover-cond-1-head">
            <a:extLst xmlns:a="http://schemas.openxmlformats.org/drawingml/2006/main">
              <a:ext uri="{FF2B5EF4-FFF2-40B4-BE49-F238E27FC236}">
                <a16:creationId xmlns:a16="http://schemas.microsoft.com/office/drawing/2014/main" id="{CFE2FADC-15CD-4CAB-8249-AE2A3245D087}"/>
              </a:ext>
            </a:extLst>
          </p:cNvPr>
          <p:cNvSpPr>
            <a:spLocks xmlns:a="http://schemas.openxmlformats.org/drawingml/2006/main" noGrp="1"/>
          </p:cNvSpPr>
          <p:nvPr/>
        </p:nvSpPr>
        <p:spPr>
          <a:xfrm xmlns:a="http://schemas.openxmlformats.org/drawingml/2006/main">
            <a:off x="8058150" y="1924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PUBLIC INPUTS</a:t>
            </a:r>
          </a:p>
        </p:txBody>
      </p:sp>
      <p:sp>
        <p:nvSpPr>
          <p:cNvPr id="13" name="cover-cond-1-value">
            <a:extLst xmlns:a="http://schemas.openxmlformats.org/drawingml/2006/main">
              <a:ext uri="{FF2B5EF4-FFF2-40B4-BE49-F238E27FC236}">
                <a16:creationId xmlns:a16="http://schemas.microsoft.com/office/drawing/2014/main" id="{1E866BF4-20D4-42D5-B0A4-870439E760E7}"/>
              </a:ext>
            </a:extLst>
          </p:cNvPr>
          <p:cNvSpPr>
            <a:spLocks xmlns:a="http://schemas.openxmlformats.org/drawingml/2006/main" noGrp="1"/>
          </p:cNvSpPr>
          <p:nvPr/>
        </p:nvSpPr>
        <p:spPr>
          <a:xfrm xmlns:a="http://schemas.openxmlformats.org/drawingml/2006/main">
            <a:off x="9763125" y="19145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5CC8B8"/>
                </a:solidFill>
                <a:latin typeface="Avenir Next"/>
                <a:ea typeface="Avenir Next"/>
                <a:cs typeface="Avenir Next"/>
              </a:defRPr>
            </a:defPPr>
          </a:lstStyle>
          <a:p xmlns:a="http://schemas.openxmlformats.org/drawingml/2006/main">
            <a:pPr algn="r">
              <a:defRPr sz="1200" b="1" i="0">
                <a:solidFill>
                  <a:srgbClr val="5CC8B8"/>
                </a:solidFill>
                <a:latin typeface="Avenir Next"/>
                <a:ea typeface="Avenir Next"/>
                <a:cs typeface="Avenir Next"/>
              </a:defRPr>
            </a:pPr>
            <a:r>
              <a:rPr sz="1200" b="1" i="0">
                <a:solidFill>
                  <a:srgbClr val="5CC8B8"/>
                </a:solidFill>
                <a:latin typeface="Avenir Next"/>
                <a:ea typeface="Avenir Next"/>
                <a:cs typeface="Avenir Next"/>
              </a:rPr>
              <a:t>held equal</a:t>
            </a:r>
          </a:p>
        </p:txBody>
      </p:sp>
      <p:sp>
        <p:nvSpPr>
          <p:cNvPr id="14" name="cover-cond-1-rule">
            <a:extLst xmlns:a="http://schemas.openxmlformats.org/drawingml/2006/main">
              <a:ext uri="{FF2B5EF4-FFF2-40B4-BE49-F238E27FC236}">
                <a16:creationId xmlns:a16="http://schemas.microsoft.com/office/drawing/2014/main" id="{6E877F1F-66B7-4C14-9301-BB24953BE173}"/>
              </a:ext>
            </a:extLst>
          </p:cNvPr>
          <p:cNvSpPr>
            <a:spLocks xmlns:a="http://schemas.openxmlformats.org/drawingml/2006/main" noGrp="1"/>
          </p:cNvSpPr>
          <p:nvPr/>
        </p:nvSpPr>
        <p:spPr>
          <a:xfrm xmlns:a="http://schemas.openxmlformats.org/drawingml/2006/main">
            <a:off x="8058150" y="2219325"/>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5" name="cover-cond-2-head">
            <a:extLst xmlns:a="http://schemas.openxmlformats.org/drawingml/2006/main">
              <a:ext uri="{FF2B5EF4-FFF2-40B4-BE49-F238E27FC236}">
                <a16:creationId xmlns:a16="http://schemas.microsoft.com/office/drawing/2014/main" id="{8D939BFD-AE42-4D54-89AA-467BF8BDD022}"/>
              </a:ext>
            </a:extLst>
          </p:cNvPr>
          <p:cNvSpPr>
            <a:spLocks xmlns:a="http://schemas.openxmlformats.org/drawingml/2006/main" noGrp="1"/>
          </p:cNvSpPr>
          <p:nvPr/>
        </p:nvSpPr>
        <p:spPr>
          <a:xfrm xmlns:a="http://schemas.openxmlformats.org/drawingml/2006/main">
            <a:off x="8058150" y="23907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MODEL BEHAVIOR</a:t>
            </a:r>
          </a:p>
        </p:txBody>
      </p:sp>
      <p:sp>
        <p:nvSpPr>
          <p:cNvPr id="16" name="cover-cond-2-value">
            <a:extLst xmlns:a="http://schemas.openxmlformats.org/drawingml/2006/main">
              <a:ext uri="{FF2B5EF4-FFF2-40B4-BE49-F238E27FC236}">
                <a16:creationId xmlns:a16="http://schemas.microsoft.com/office/drawing/2014/main" id="{4BDB4480-8B9D-4EAE-A840-68D0434B0BCB}"/>
              </a:ext>
            </a:extLst>
          </p:cNvPr>
          <p:cNvSpPr>
            <a:spLocks xmlns:a="http://schemas.openxmlformats.org/drawingml/2006/main" noGrp="1"/>
          </p:cNvSpPr>
          <p:nvPr/>
        </p:nvSpPr>
        <p:spPr>
          <a:xfrm xmlns:a="http://schemas.openxmlformats.org/drawingml/2006/main">
            <a:off x="9763125" y="23812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5CC8B8"/>
                </a:solidFill>
                <a:latin typeface="Avenir Next"/>
                <a:ea typeface="Avenir Next"/>
                <a:cs typeface="Avenir Next"/>
              </a:defRPr>
            </a:defPPr>
          </a:lstStyle>
          <a:p xmlns:a="http://schemas.openxmlformats.org/drawingml/2006/main">
            <a:pPr algn="r">
              <a:defRPr sz="1200" b="1" i="0">
                <a:solidFill>
                  <a:srgbClr val="5CC8B8"/>
                </a:solidFill>
                <a:latin typeface="Avenir Next"/>
                <a:ea typeface="Avenir Next"/>
                <a:cs typeface="Avenir Next"/>
              </a:defRPr>
            </a:pPr>
            <a:r>
              <a:rPr sz="1200" b="1" i="0">
                <a:solidFill>
                  <a:srgbClr val="5CC8B8"/>
                </a:solidFill>
                <a:latin typeface="Avenir Next"/>
                <a:ea typeface="Avenir Next"/>
                <a:cs typeface="Avenir Next"/>
              </a:rPr>
              <a:t>aligned by relation</a:t>
            </a:r>
          </a:p>
        </p:txBody>
      </p:sp>
      <p:sp>
        <p:nvSpPr>
          <p:cNvPr id="17" name="cover-cond-2-rule">
            <a:extLst xmlns:a="http://schemas.openxmlformats.org/drawingml/2006/main">
              <a:ext uri="{FF2B5EF4-FFF2-40B4-BE49-F238E27FC236}">
                <a16:creationId xmlns:a16="http://schemas.microsoft.com/office/drawing/2014/main" id="{D99988D9-3EFF-408E-9574-33A86C96E7B2}"/>
              </a:ext>
            </a:extLst>
          </p:cNvPr>
          <p:cNvSpPr>
            <a:spLocks xmlns:a="http://schemas.openxmlformats.org/drawingml/2006/main" noGrp="1"/>
          </p:cNvSpPr>
          <p:nvPr/>
        </p:nvSpPr>
        <p:spPr>
          <a:xfrm xmlns:a="http://schemas.openxmlformats.org/drawingml/2006/main">
            <a:off x="8058150" y="268605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8" name="cover-cond-3-head">
            <a:extLst xmlns:a="http://schemas.openxmlformats.org/drawingml/2006/main">
              <a:ext uri="{FF2B5EF4-FFF2-40B4-BE49-F238E27FC236}">
                <a16:creationId xmlns:a16="http://schemas.microsoft.com/office/drawing/2014/main" id="{B87A300C-79F5-4A05-80DC-0AFC42C5CA5B}"/>
              </a:ext>
            </a:extLst>
          </p:cNvPr>
          <p:cNvSpPr>
            <a:spLocks xmlns:a="http://schemas.openxmlformats.org/drawingml/2006/main" noGrp="1"/>
          </p:cNvSpPr>
          <p:nvPr/>
        </p:nvSpPr>
        <p:spPr>
          <a:xfrm xmlns:a="http://schemas.openxmlformats.org/drawingml/2006/main">
            <a:off x="8058150" y="28575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SECRET</a:t>
            </a:r>
          </a:p>
        </p:txBody>
      </p:sp>
      <p:sp>
        <p:nvSpPr>
          <p:cNvPr id="19" name="cover-cond-3-value">
            <a:extLst xmlns:a="http://schemas.openxmlformats.org/drawingml/2006/main">
              <a:ext uri="{FF2B5EF4-FFF2-40B4-BE49-F238E27FC236}">
                <a16:creationId xmlns:a16="http://schemas.microsoft.com/office/drawing/2014/main" id="{9A501250-6BDD-4A5A-A2E8-6F48DB4B8FEF}"/>
              </a:ext>
            </a:extLst>
          </p:cNvPr>
          <p:cNvSpPr>
            <a:spLocks xmlns:a="http://schemas.openxmlformats.org/drawingml/2006/main" noGrp="1"/>
          </p:cNvSpPr>
          <p:nvPr/>
        </p:nvSpPr>
        <p:spPr>
          <a:xfrm xmlns:a="http://schemas.openxmlformats.org/drawingml/2006/main">
            <a:off x="9763125" y="284797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FF8A5C"/>
                </a:solidFill>
                <a:latin typeface="Avenir Next"/>
                <a:ea typeface="Avenir Next"/>
                <a:cs typeface="Avenir Next"/>
              </a:defRPr>
            </a:defPPr>
          </a:lstStyle>
          <a:p xmlns:a="http://schemas.openxmlformats.org/drawingml/2006/main">
            <a:pPr algn="r">
              <a:defRPr sz="1200" b="1" i="0">
                <a:solidFill>
                  <a:srgbClr val="FF8A5C"/>
                </a:solidFill>
                <a:latin typeface="Avenir Next"/>
                <a:ea typeface="Avenir Next"/>
                <a:cs typeface="Avenir Next"/>
              </a:defRPr>
            </a:pPr>
            <a:r>
              <a:rPr sz="1200" b="1" i="0">
                <a:solidFill>
                  <a:srgbClr val="FF8A5C"/>
                </a:solidFill>
                <a:latin typeface="Avenir Next"/>
                <a:ea typeface="Avenir Next"/>
                <a:cs typeface="Avenir Next"/>
              </a:rPr>
              <a:t>varies</a:t>
            </a:r>
          </a:p>
        </p:txBody>
      </p:sp>
      <p:sp>
        <p:nvSpPr>
          <p:cNvPr id="20" name="cover-cond-3-rule">
            <a:extLst xmlns:a="http://schemas.openxmlformats.org/drawingml/2006/main">
              <a:ext uri="{FF2B5EF4-FFF2-40B4-BE49-F238E27FC236}">
                <a16:creationId xmlns:a16="http://schemas.microsoft.com/office/drawing/2014/main" id="{F247F60E-9F12-4038-9075-CB5C391B1306}"/>
              </a:ext>
            </a:extLst>
          </p:cNvPr>
          <p:cNvSpPr>
            <a:spLocks xmlns:a="http://schemas.openxmlformats.org/drawingml/2006/main" noGrp="1"/>
          </p:cNvSpPr>
          <p:nvPr/>
        </p:nvSpPr>
        <p:spPr>
          <a:xfrm xmlns:a="http://schemas.openxmlformats.org/drawingml/2006/main">
            <a:off x="8058150" y="3152775"/>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1" name="cover-invoice-title">
            <a:extLst xmlns:a="http://schemas.openxmlformats.org/drawingml/2006/main">
              <a:ext uri="{FF2B5EF4-FFF2-40B4-BE49-F238E27FC236}">
                <a16:creationId xmlns:a16="http://schemas.microsoft.com/office/drawing/2014/main" id="{3A59F2A7-EC93-4644-A65B-519D36FC795A}"/>
              </a:ext>
            </a:extLst>
          </p:cNvPr>
          <p:cNvSpPr>
            <a:spLocks xmlns:a="http://schemas.openxmlformats.org/drawingml/2006/main" noGrp="1"/>
          </p:cNvSpPr>
          <p:nvPr/>
        </p:nvSpPr>
        <p:spPr>
          <a:xfrm xmlns:a="http://schemas.openxmlformats.org/drawingml/2006/main">
            <a:off x="8058150" y="3486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MODEL USAGE TRACE</a:t>
            </a:r>
          </a:p>
        </p:txBody>
      </p:sp>
      <p:sp>
        <p:nvSpPr>
          <p:cNvPr id="22" name="cover-invoice-head">
            <a:extLst xmlns:a="http://schemas.openxmlformats.org/drawingml/2006/main">
              <a:ext uri="{FF2B5EF4-FFF2-40B4-BE49-F238E27FC236}">
                <a16:creationId xmlns:a16="http://schemas.microsoft.com/office/drawing/2014/main" id="{7DC61B63-666D-4259-9CC7-3D74E5B6ECC4}"/>
              </a:ext>
            </a:extLst>
          </p:cNvPr>
          <p:cNvSpPr>
            <a:spLocks xmlns:a="http://schemas.openxmlformats.org/drawingml/2006/main" noGrp="1"/>
          </p:cNvSpPr>
          <p:nvPr/>
        </p:nvSpPr>
        <p:spPr>
          <a:xfrm xmlns:a="http://schemas.openxmlformats.org/drawingml/2006/main">
            <a:off x="8058150" y="3838575"/>
            <a:ext cx="3219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Menlo"/>
                <a:ea typeface="Menlo"/>
                <a:cs typeface="Menlo"/>
              </a:defRPr>
            </a:defPPr>
          </a:lstStyle>
          <a:p xmlns:a="http://schemas.openxmlformats.org/drawingml/2006/main">
            <a:pPr algn="l">
              <a:defRPr sz="1050" b="1" i="0">
                <a:solidFill>
                  <a:srgbClr val="B8C1D1"/>
                </a:solidFill>
                <a:latin typeface="Menlo"/>
                <a:ea typeface="Menlo"/>
                <a:cs typeface="Menlo"/>
              </a:defRPr>
            </a:pPr>
            <a:r>
              <a:rPr sz="1050" b="1" i="0">
                <a:solidFill>
                  <a:srgbClr val="B8C1D1"/>
                </a:solidFill>
                <a:latin typeface="Menlo"/>
                <a:ea typeface="Menlo"/>
                <a:cs typeface="Menlo"/>
              </a:rPr>
              <a:t>MODEL        INVOICE ROW</a:t>
            </a:r>
          </a:p>
        </p:txBody>
      </p:sp>
      <p:sp>
        <p:nvSpPr>
          <p:cNvPr id="23" name="cover-invoice-row-a">
            <a:extLst xmlns:a="http://schemas.openxmlformats.org/drawingml/2006/main">
              <a:ext uri="{FF2B5EF4-FFF2-40B4-BE49-F238E27FC236}">
                <a16:creationId xmlns:a16="http://schemas.microsoft.com/office/drawing/2014/main" id="{291DCE84-675F-4B19-97B2-F50037594B6C}"/>
              </a:ext>
            </a:extLst>
          </p:cNvPr>
          <p:cNvSpPr>
            <a:spLocks xmlns:a="http://schemas.openxmlformats.org/drawingml/2006/main" noGrp="1"/>
          </p:cNvSpPr>
          <p:nvPr/>
        </p:nvSpPr>
        <p:spPr>
          <a:xfrm xmlns:a="http://schemas.openxmlformats.org/drawingml/2006/main">
            <a:off x="8058150" y="421957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Menlo"/>
                <a:ea typeface="Menlo"/>
                <a:cs typeface="Menlo"/>
              </a:defRPr>
            </a:defPPr>
          </a:lstStyle>
          <a:p xmlns:a="http://schemas.openxmlformats.org/drawingml/2006/main">
            <a:pPr algn="l">
              <a:defRPr sz="1350" b="0" i="0">
                <a:solidFill>
                  <a:srgbClr val="F5F2EA"/>
                </a:solidFill>
                <a:latin typeface="Menlo"/>
                <a:ea typeface="Menlo"/>
                <a:cs typeface="Menlo"/>
              </a:defRPr>
            </a:pPr>
            <a:r>
              <a:rPr sz="1350" b="0" i="0">
                <a:solidFill>
                  <a:srgbClr val="F5F2EA"/>
                </a:solidFill>
                <a:latin typeface="Menlo"/>
                <a:ea typeface="Menlo"/>
                <a:cs typeface="Menlo"/>
              </a:rPr>
              <a:t>fast         branch A</a:t>
            </a:r>
          </a:p>
        </p:txBody>
      </p:sp>
      <p:sp>
        <p:nvSpPr>
          <p:cNvPr id="24" name="cover-invoice-row-b">
            <a:extLst xmlns:a="http://schemas.openxmlformats.org/drawingml/2006/main">
              <a:ext uri="{FF2B5EF4-FFF2-40B4-BE49-F238E27FC236}">
                <a16:creationId xmlns:a16="http://schemas.microsoft.com/office/drawing/2014/main" id="{135BD77E-5243-4F6E-93AD-CE819FC84A1C}"/>
              </a:ext>
            </a:extLst>
          </p:cNvPr>
          <p:cNvSpPr>
            <a:spLocks xmlns:a="http://schemas.openxmlformats.org/drawingml/2006/main" noGrp="1"/>
          </p:cNvSpPr>
          <p:nvPr/>
        </p:nvSpPr>
        <p:spPr>
          <a:xfrm xmlns:a="http://schemas.openxmlformats.org/drawingml/2006/main">
            <a:off x="8058150" y="461962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F8A5C"/>
                </a:solidFill>
                <a:latin typeface="Menlo"/>
                <a:ea typeface="Menlo"/>
                <a:cs typeface="Menlo"/>
              </a:defRPr>
            </a:defPPr>
          </a:lstStyle>
          <a:p xmlns:a="http://schemas.openxmlformats.org/drawingml/2006/main">
            <a:pPr algn="l">
              <a:defRPr sz="1350" b="0" i="0">
                <a:solidFill>
                  <a:srgbClr val="FF8A5C"/>
                </a:solidFill>
                <a:latin typeface="Menlo"/>
                <a:ea typeface="Menlo"/>
                <a:cs typeface="Menlo"/>
              </a:defRPr>
            </a:pPr>
            <a:r>
              <a:rPr sz="1350" b="0" i="0">
                <a:solidFill>
                  <a:srgbClr val="FF8A5C"/>
                </a:solidFill>
                <a:latin typeface="Menlo"/>
                <a:ea typeface="Menlo"/>
                <a:cs typeface="Menlo"/>
              </a:rPr>
              <a:t>large        branch B</a:t>
            </a:r>
          </a:p>
        </p:txBody>
      </p:sp>
      <p:sp>
        <p:nvSpPr>
          <p:cNvPr id="25" name="cover-invoice-rule">
            <a:extLst xmlns:a="http://schemas.openxmlformats.org/drawingml/2006/main">
              <a:ext uri="{FF2B5EF4-FFF2-40B4-BE49-F238E27FC236}">
                <a16:creationId xmlns:a16="http://schemas.microsoft.com/office/drawing/2014/main" id="{5C8DD089-D6A1-47E7-B4F8-C9B0C9BCF50B}"/>
              </a:ext>
            </a:extLst>
          </p:cNvPr>
          <p:cNvSpPr>
            <a:spLocks xmlns:a="http://schemas.openxmlformats.org/drawingml/2006/main" noGrp="1"/>
          </p:cNvSpPr>
          <p:nvPr/>
        </p:nvSpPr>
        <p:spPr>
          <a:xfrm xmlns:a="http://schemas.openxmlformats.org/drawingml/2006/main">
            <a:off x="8058150" y="501015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6" name="cover-conclusion">
            <a:extLst xmlns:a="http://schemas.openxmlformats.org/drawingml/2006/main">
              <a:ext uri="{FF2B5EF4-FFF2-40B4-BE49-F238E27FC236}">
                <a16:creationId xmlns:a16="http://schemas.microsoft.com/office/drawing/2014/main" id="{A7D10A66-5127-4A58-82D5-9A42A203C14E}"/>
              </a:ext>
            </a:extLst>
          </p:cNvPr>
          <p:cNvSpPr>
            <a:spLocks xmlns:a="http://schemas.openxmlformats.org/drawingml/2006/main" noGrp="1"/>
          </p:cNvSpPr>
          <p:nvPr/>
        </p:nvSpPr>
        <p:spPr>
          <a:xfrm xmlns:a="http://schemas.openxmlformats.org/drawingml/2006/main">
            <a:off x="8058150" y="5229225"/>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5CC8B8"/>
                </a:solidFill>
                <a:latin typeface="Avenir Next"/>
                <a:ea typeface="Avenir Next"/>
                <a:cs typeface="Avenir Next"/>
              </a:defRPr>
            </a:defPPr>
          </a:lstStyle>
          <a:p xmlns:a="http://schemas.openxmlformats.org/drawingml/2006/main">
            <a:pPr algn="l">
              <a:defRPr sz="1350" b="1" i="0">
                <a:solidFill>
                  <a:srgbClr val="5CC8B8"/>
                </a:solidFill>
                <a:latin typeface="Avenir Next"/>
                <a:ea typeface="Avenir Next"/>
                <a:cs typeface="Avenir Next"/>
              </a:defRPr>
            </a:pPr>
            <a:r>
              <a:rPr sz="1350" b="1" i="0">
                <a:solidFill>
                  <a:srgbClr val="5CC8B8"/>
                </a:solidFill>
                <a:latin typeface="Avenir Next"/>
                <a:ea typeface="Avenir Next"/>
                <a:cs typeface="Avenir Next"/>
              </a:rPr>
              <a:t>If usage is itemized, the selected path is visible.</a:t>
            </a:r>
          </a:p>
        </p:txBody>
      </p:sp>
    </p:spTree>
    <p:extLst>
      <p:ext uri="{BB962C8B-B14F-4D97-AF65-F5344CB8AC3E}">
        <p14:creationId xmlns:p14="http://schemas.microsoft.com/office/powerpoint/2010/main" val="1609201178"/>
      </p:ext>
    </p:extLst>
  </p:cSld>
</p:sld>
</file>

<file path=ppt/slides/slide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ABBC9759-5F4B-44C3-9BF4-8C1F197125D2}"/>
              </a:ext>
            </a:extLst>
          </p:cNvPr>
          <p:cNvCxnSpPr>
            <a:stCxn xmlns:a="http://schemas.openxmlformats.org/drawingml/2006/main" id="15" idx="3"/>
            <a:endCxn xmlns:a="http://schemas.openxmlformats.org/drawingml/2006/main" id="23" idx="1"/>
          </p:cNvCxnSpPr>
          <p:nvPr/>
        </p:nvCxnSpPr>
        <p:spPr>
          <a:xfrm xmlns:a="http://schemas.openxmlformats.org/drawingml/2006/main">
            <a:off x="5257800" y="3633788"/>
            <a:ext cx="590550" cy="909638"/>
          </a:xfrm>
          <a:prstGeom xmlns:a="http://schemas.openxmlformats.org/drawingml/2006/main" prst="straightConnector1">
            <a:avLst/>
          </a:prstGeom>
          <a:ln xmlns:a="http://schemas.openxmlformats.org/drawingml/2006/main" w="19050">
            <a:solidFill>
              <a:srgbClr val="FF8A5C"/>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CC417AB7-244F-46DE-B4B9-367D8A750F8A}"/>
              </a:ext>
            </a:extLst>
          </p:cNvPr>
          <p:cNvCxnSpPr>
            <a:stCxn xmlns:a="http://schemas.openxmlformats.org/drawingml/2006/main" id="15" idx="3"/>
            <a:endCxn xmlns:a="http://schemas.openxmlformats.org/drawingml/2006/main" id="19" idx="1"/>
          </p:cNvCxnSpPr>
          <p:nvPr/>
        </p:nvCxnSpPr>
        <p:spPr>
          <a:xfrm xmlns:a="http://schemas.openxmlformats.org/drawingml/2006/main" flipV="1">
            <a:off x="5257800" y="2828925"/>
            <a:ext cx="590550" cy="804863"/>
          </a:xfrm>
          <a:prstGeom xmlns:a="http://schemas.openxmlformats.org/drawingml/2006/main" prst="straightConnector1">
            <a:avLst/>
          </a:prstGeom>
          <a:ln xmlns:a="http://schemas.openxmlformats.org/drawingml/2006/main" w="19050">
            <a:solidFill>
              <a:srgbClr val="FF8A5C"/>
            </a:solidFill>
            <a:prstDash val="solid"/>
            <a:tailEnd type="triangle" w="sm" len="sm"/>
          </a:ln>
        </p:spPr>
      </p:cxnSp>
      <p:sp>
        <p:nvSpPr>
          <p:cNvPr id="35" name="s2-brand">
            <a:extLst xmlns:a="http://schemas.openxmlformats.org/drawingml/2006/main">
              <a:ext uri="{FF2B5EF4-FFF2-40B4-BE49-F238E27FC236}">
                <a16:creationId xmlns:a16="http://schemas.microsoft.com/office/drawing/2014/main" id="{EA22975B-CBCD-4BE0-8E04-134D4141041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section">
            <a:extLst xmlns:a="http://schemas.openxmlformats.org/drawingml/2006/main">
              <a:ext uri="{FF2B5EF4-FFF2-40B4-BE49-F238E27FC236}">
                <a16:creationId xmlns:a16="http://schemas.microsoft.com/office/drawing/2014/main" id="{45E0ECAF-8C3D-4A9E-8D45-5810F9C8F815}"/>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THREAT MODEL</a:t>
            </a:r>
          </a:p>
        </p:txBody>
      </p:sp>
      <p:sp>
        <p:nvSpPr>
          <p:cNvPr id="3" name="s2-title">
            <a:extLst xmlns:a="http://schemas.openxmlformats.org/drawingml/2006/main">
              <a:ext uri="{FF2B5EF4-FFF2-40B4-BE49-F238E27FC236}">
                <a16:creationId xmlns:a16="http://schemas.microsoft.com/office/drawing/2014/main" id="{ED7EEADF-91BA-4BD0-A729-F654C6F1B003}"/>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One secret bit selects the model-call path</a:t>
            </a:r>
          </a:p>
        </p:txBody>
      </p:sp>
      <p:sp>
        <p:nvSpPr>
          <p:cNvPr id="4" name="s2-subtitle">
            <a:extLst xmlns:a="http://schemas.openxmlformats.org/drawingml/2006/main">
              <a:ext uri="{FF2B5EF4-FFF2-40B4-BE49-F238E27FC236}">
                <a16:creationId xmlns:a16="http://schemas.microsoft.com/office/drawing/2014/main" id="{0EAB7BB2-B621-495B-8E42-87CAE158E064}"/>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Its per-model usage trace may be visible to an invoice reader.</a:t>
            </a:r>
          </a:p>
        </p:txBody>
      </p:sp>
      <p:sp>
        <p:nvSpPr>
          <p:cNvPr id="5" name="s2-source-rule">
            <a:extLst xmlns:a="http://schemas.openxmlformats.org/drawingml/2006/main">
              <a:ext uri="{FF2B5EF4-FFF2-40B4-BE49-F238E27FC236}">
                <a16:creationId xmlns:a16="http://schemas.microsoft.com/office/drawing/2014/main" id="{8859B4E7-9AA6-44D1-888A-6265BAC5C41B}"/>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2-sources">
            <a:extLst xmlns:a="http://schemas.openxmlformats.org/drawingml/2006/main">
              <a:ext uri="{FF2B5EF4-FFF2-40B4-BE49-F238E27FC236}">
                <a16:creationId xmlns:a16="http://schemas.microsoft.com/office/drawing/2014/main" id="{2E36D0A2-6111-498E-86DE-B30F33B7CF52}"/>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docs/PAPER.md §1; examples/research/rejected/equal_bounds_different_inputs.orch</a:t>
            </a:r>
          </a:p>
        </p:txBody>
      </p:sp>
      <p:sp>
        <p:nvSpPr>
          <p:cNvPr id="7" name="s2-footer-rule">
            <a:extLst xmlns:a="http://schemas.openxmlformats.org/drawingml/2006/main">
              <a:ext uri="{FF2B5EF4-FFF2-40B4-BE49-F238E27FC236}">
                <a16:creationId xmlns:a16="http://schemas.microsoft.com/office/drawing/2014/main" id="{2CA9250A-0CF4-4497-97B8-33351009FC13}"/>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2-footer">
            <a:extLst xmlns:a="http://schemas.openxmlformats.org/drawingml/2006/main">
              <a:ext uri="{FF2B5EF4-FFF2-40B4-BE49-F238E27FC236}">
                <a16:creationId xmlns:a16="http://schemas.microsoft.com/office/drawing/2014/main" id="{58A92962-6875-4B50-A124-E42D841DD4CC}"/>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2-page">
            <a:extLst xmlns:a="http://schemas.openxmlformats.org/drawingml/2006/main">
              <a:ext uri="{FF2B5EF4-FFF2-40B4-BE49-F238E27FC236}">
                <a16:creationId xmlns:a16="http://schemas.microsoft.com/office/drawing/2014/main" id="{FCA90D93-CA93-40A2-A079-7099E78C11CA}"/>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2</a:t>
            </a:r>
          </a:p>
        </p:txBody>
      </p:sp>
      <p:sp>
        <p:nvSpPr>
          <p:cNvPr id="10" name="branch-secret-panel">
            <a:extLst xmlns:a="http://schemas.openxmlformats.org/drawingml/2006/main">
              <a:ext uri="{FF2B5EF4-FFF2-40B4-BE49-F238E27FC236}">
                <a16:creationId xmlns:a16="http://schemas.microsoft.com/office/drawing/2014/main" id="{71678E92-12F1-4C6C-80E4-38548FEE1DAA}"/>
              </a:ext>
            </a:extLst>
          </p:cNvPr>
          <p:cNvSpPr>
            <a:spLocks xmlns:a="http://schemas.openxmlformats.org/drawingml/2006/main" noGrp="1"/>
          </p:cNvSpPr>
          <p:nvPr/>
        </p:nvSpPr>
        <p:spPr>
          <a:xfrm xmlns:a="http://schemas.openxmlformats.org/drawingml/2006/main">
            <a:off x="742950" y="2990850"/>
            <a:ext cx="1952625" cy="1285875"/>
          </a:xfrm>
          <a:prstGeom xmlns:a="http://schemas.openxmlformats.org/drawingml/2006/main" prst="roundRect">
            <a:avLst>
              <a:gd name="adj" fmla="val 5926"/>
            </a:avLst>
          </a:prstGeom>
          <a:solidFill xmlns:a="http://schemas.openxmlformats.org/drawingml/2006/main">
            <a:srgbClr val="1C2638"/>
          </a:solidFill>
          <a:ln xmlns:a="http://schemas.openxmlformats.org/drawingml/2006/main" w="9525">
            <a:solidFill>
              <a:srgbClr val="343D50"/>
            </a:solidFill>
            <a:prstDash val="solid"/>
          </a:ln>
        </p:spPr>
      </p:sp>
      <p:sp>
        <p:nvSpPr>
          <p:cNvPr id="11" name="branch-secret-accent">
            <a:extLst xmlns:a="http://schemas.openxmlformats.org/drawingml/2006/main">
              <a:ext uri="{FF2B5EF4-FFF2-40B4-BE49-F238E27FC236}">
                <a16:creationId xmlns:a16="http://schemas.microsoft.com/office/drawing/2014/main" id="{7872D036-8F39-44C1-868C-23E60423F570}"/>
              </a:ext>
            </a:extLst>
          </p:cNvPr>
          <p:cNvSpPr>
            <a:spLocks xmlns:a="http://schemas.openxmlformats.org/drawingml/2006/main" noGrp="1"/>
          </p:cNvSpPr>
          <p:nvPr/>
        </p:nvSpPr>
        <p:spPr>
          <a:xfrm xmlns:a="http://schemas.openxmlformats.org/drawingml/2006/main">
            <a:off x="742950" y="2990850"/>
            <a:ext cx="57150" cy="1285875"/>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branch-secret-title">
            <a:extLst xmlns:a="http://schemas.openxmlformats.org/drawingml/2006/main">
              <a:ext uri="{FF2B5EF4-FFF2-40B4-BE49-F238E27FC236}">
                <a16:creationId xmlns:a16="http://schemas.microsoft.com/office/drawing/2014/main" id="{094560B9-42E6-4EE1-8227-5358FBD9004B}"/>
              </a:ext>
            </a:extLst>
          </p:cNvPr>
          <p:cNvSpPr>
            <a:spLocks xmlns:a="http://schemas.openxmlformats.org/drawingml/2006/main" noGrp="1"/>
          </p:cNvSpPr>
          <p:nvPr/>
        </p:nvSpPr>
        <p:spPr>
          <a:xfrm xmlns:a="http://schemas.openxmlformats.org/drawingml/2006/main">
            <a:off x="952500" y="316230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5F2EA"/>
                </a:solidFill>
                <a:latin typeface="Avenir Next"/>
                <a:ea typeface="Avenir Next"/>
                <a:cs typeface="Avenir Next"/>
              </a:defRPr>
            </a:defPPr>
          </a:lstStyle>
          <a:p xmlns:a="http://schemas.openxmlformats.org/drawingml/2006/main">
            <a:pPr algn="l">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secret flag</a:t>
            </a:r>
          </a:p>
        </p:txBody>
      </p:sp>
      <p:sp>
        <p:nvSpPr>
          <p:cNvPr id="13" name="branch-secret-body">
            <a:extLst xmlns:a="http://schemas.openxmlformats.org/drawingml/2006/main">
              <a:ext uri="{FF2B5EF4-FFF2-40B4-BE49-F238E27FC236}">
                <a16:creationId xmlns:a16="http://schemas.microsoft.com/office/drawing/2014/main" id="{43D9E02D-2DBE-4A14-BD9C-E273B71AD480}"/>
              </a:ext>
            </a:extLst>
          </p:cNvPr>
          <p:cNvSpPr>
            <a:spLocks xmlns:a="http://schemas.openxmlformats.org/drawingml/2006/main" noGrp="1"/>
          </p:cNvSpPr>
          <p:nvPr/>
        </p:nvSpPr>
        <p:spPr>
          <a:xfrm xmlns:a="http://schemas.openxmlformats.org/drawingml/2006/main">
            <a:off x="952500" y="3695700"/>
            <a:ext cx="15335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is_enterprise</a:t>
            </a:r>
          </a:p>
        </p:txBody>
      </p:sp>
      <p:sp>
        <p:nvSpPr>
          <p:cNvPr id="14" name="branch-arrow-1">
            <a:extLst xmlns:a="http://schemas.openxmlformats.org/drawingml/2006/main">
              <a:ext uri="{FF2B5EF4-FFF2-40B4-BE49-F238E27FC236}">
                <a16:creationId xmlns:a16="http://schemas.microsoft.com/office/drawing/2014/main" id="{DD8088C8-AF8F-4E7F-A3BE-BCD72DC13A07}"/>
              </a:ext>
            </a:extLst>
          </p:cNvPr>
          <p:cNvSpPr>
            <a:spLocks xmlns:a="http://schemas.openxmlformats.org/drawingml/2006/main" noGrp="1"/>
          </p:cNvSpPr>
          <p:nvPr/>
        </p:nvSpPr>
        <p:spPr>
          <a:xfrm xmlns:a="http://schemas.openxmlformats.org/drawingml/2006/main">
            <a:off x="2781300" y="338137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850" b="1" i="0">
                <a:solidFill>
                  <a:srgbClr val="FF8A5C"/>
                </a:solidFill>
                <a:latin typeface="Avenir Next"/>
                <a:ea typeface="Avenir Next"/>
                <a:cs typeface="Avenir Next"/>
              </a:defRPr>
            </a:defPPr>
          </a:lstStyle>
          <a:p xmlns:a="http://schemas.openxmlformats.org/drawingml/2006/main">
            <a:pPr algn="ctr">
              <a:defRPr sz="2850" b="1" i="0">
                <a:solidFill>
                  <a:srgbClr val="FF8A5C"/>
                </a:solidFill>
                <a:latin typeface="Avenir Next"/>
                <a:ea typeface="Avenir Next"/>
                <a:cs typeface="Avenir Next"/>
              </a:defRPr>
            </a:pPr>
            <a:r>
              <a:rPr sz="2850" b="1" i="0">
                <a:solidFill>
                  <a:srgbClr val="FF8A5C"/>
                </a:solidFill>
                <a:latin typeface="Avenir Next"/>
                <a:ea typeface="Avenir Next"/>
                <a:cs typeface="Avenir Next"/>
              </a:rPr>
              <a:t>→</a:t>
            </a:r>
          </a:p>
        </p:txBody>
      </p:sp>
      <p:sp>
        <p:nvSpPr>
          <p:cNvPr id="15" name="branch-condition-panel">
            <a:extLst xmlns:a="http://schemas.openxmlformats.org/drawingml/2006/main">
              <a:ext uri="{FF2B5EF4-FFF2-40B4-BE49-F238E27FC236}">
                <a16:creationId xmlns:a16="http://schemas.microsoft.com/office/drawing/2014/main" id="{5A54D9B1-5FE0-45D6-8AEF-8D61E1840A63}"/>
              </a:ext>
            </a:extLst>
          </p:cNvPr>
          <p:cNvSpPr>
            <a:spLocks xmlns:a="http://schemas.openxmlformats.org/drawingml/2006/main" noGrp="1"/>
          </p:cNvSpPr>
          <p:nvPr/>
        </p:nvSpPr>
        <p:spPr>
          <a:xfrm xmlns:a="http://schemas.openxmlformats.org/drawingml/2006/main">
            <a:off x="3352800" y="2990850"/>
            <a:ext cx="1905000" cy="1285875"/>
          </a:xfrm>
          <a:prstGeom xmlns:a="http://schemas.openxmlformats.org/drawingml/2006/main" prst="roundRect">
            <a:avLst>
              <a:gd name="adj" fmla="val 5926"/>
            </a:avLst>
          </a:prstGeom>
          <a:solidFill xmlns:a="http://schemas.openxmlformats.org/drawingml/2006/main">
            <a:srgbClr val="1C2638"/>
          </a:solidFill>
          <a:ln xmlns:a="http://schemas.openxmlformats.org/drawingml/2006/main" w="9525">
            <a:solidFill>
              <a:srgbClr val="343D50"/>
            </a:solidFill>
            <a:prstDash val="solid"/>
          </a:ln>
        </p:spPr>
      </p:sp>
      <p:sp>
        <p:nvSpPr>
          <p:cNvPr id="16" name="branch-condition-accent">
            <a:extLst xmlns:a="http://schemas.openxmlformats.org/drawingml/2006/main">
              <a:ext uri="{FF2B5EF4-FFF2-40B4-BE49-F238E27FC236}">
                <a16:creationId xmlns:a16="http://schemas.microsoft.com/office/drawing/2014/main" id="{E48399C7-755F-4E1C-9D5D-1907DD581191}"/>
              </a:ext>
            </a:extLst>
          </p:cNvPr>
          <p:cNvSpPr>
            <a:spLocks xmlns:a="http://schemas.openxmlformats.org/drawingml/2006/main" noGrp="1"/>
          </p:cNvSpPr>
          <p:nvPr/>
        </p:nvSpPr>
        <p:spPr>
          <a:xfrm xmlns:a="http://schemas.openxmlformats.org/drawingml/2006/main">
            <a:off x="3352800" y="2990850"/>
            <a:ext cx="57150" cy="1285875"/>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7" name="branch-condition-title">
            <a:extLst xmlns:a="http://schemas.openxmlformats.org/drawingml/2006/main">
              <a:ext uri="{FF2B5EF4-FFF2-40B4-BE49-F238E27FC236}">
                <a16:creationId xmlns:a16="http://schemas.microsoft.com/office/drawing/2014/main" id="{C6CE12BF-BAF9-425D-AF23-44368202FE79}"/>
              </a:ext>
            </a:extLst>
          </p:cNvPr>
          <p:cNvSpPr>
            <a:spLocks xmlns:a="http://schemas.openxmlformats.org/drawingml/2006/main" noGrp="1"/>
          </p:cNvSpPr>
          <p:nvPr/>
        </p:nvSpPr>
        <p:spPr>
          <a:xfrm xmlns:a="http://schemas.openxmlformats.org/drawingml/2006/main">
            <a:off x="3562350" y="31623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5F2EA"/>
                </a:solidFill>
                <a:latin typeface="Avenir Next"/>
                <a:ea typeface="Avenir Next"/>
                <a:cs typeface="Avenir Next"/>
              </a:defRPr>
            </a:defPPr>
          </a:lstStyle>
          <a:p xmlns:a="http://schemas.openxmlformats.org/drawingml/2006/main">
            <a:pPr algn="l">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if / else</a:t>
            </a:r>
          </a:p>
        </p:txBody>
      </p:sp>
      <p:sp>
        <p:nvSpPr>
          <p:cNvPr id="18" name="branch-condition-body">
            <a:extLst xmlns:a="http://schemas.openxmlformats.org/drawingml/2006/main">
              <a:ext uri="{FF2B5EF4-FFF2-40B4-BE49-F238E27FC236}">
                <a16:creationId xmlns:a16="http://schemas.microsoft.com/office/drawing/2014/main" id="{190040FB-5FC5-49BE-A9C6-98C02C85D635}"/>
              </a:ext>
            </a:extLst>
          </p:cNvPr>
          <p:cNvSpPr>
            <a:spLocks xmlns:a="http://schemas.openxmlformats.org/drawingml/2006/main" noGrp="1"/>
          </p:cNvSpPr>
          <p:nvPr/>
        </p:nvSpPr>
        <p:spPr>
          <a:xfrm xmlns:a="http://schemas.openxmlformats.org/drawingml/2006/main">
            <a:off x="3562350" y="3695700"/>
            <a:ext cx="14859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same public ticket</a:t>
            </a:r>
          </a:p>
        </p:txBody>
      </p:sp>
      <p:sp>
        <p:nvSpPr>
          <p:cNvPr id="19" name="branch-fast-panel">
            <a:extLst xmlns:a="http://schemas.openxmlformats.org/drawingml/2006/main">
              <a:ext uri="{FF2B5EF4-FFF2-40B4-BE49-F238E27FC236}">
                <a16:creationId xmlns:a16="http://schemas.microsoft.com/office/drawing/2014/main" id="{95ABA4ED-8818-4831-BF62-B4309545A360}"/>
              </a:ext>
            </a:extLst>
          </p:cNvPr>
          <p:cNvSpPr>
            <a:spLocks xmlns:a="http://schemas.openxmlformats.org/drawingml/2006/main" noGrp="1"/>
          </p:cNvSpPr>
          <p:nvPr/>
        </p:nvSpPr>
        <p:spPr>
          <a:xfrm xmlns:a="http://schemas.openxmlformats.org/drawingml/2006/main">
            <a:off x="5848350" y="2228850"/>
            <a:ext cx="2190750" cy="1200150"/>
          </a:xfrm>
          <a:prstGeom xmlns:a="http://schemas.openxmlformats.org/drawingml/2006/main" prst="roundRect">
            <a:avLst>
              <a:gd name="adj" fmla="val 6349"/>
            </a:avLst>
          </a:prstGeom>
          <a:solidFill xmlns:a="http://schemas.openxmlformats.org/drawingml/2006/main">
            <a:srgbClr val="1C2638"/>
          </a:solidFill>
          <a:ln xmlns:a="http://schemas.openxmlformats.org/drawingml/2006/main" w="9525">
            <a:solidFill>
              <a:srgbClr val="343D50"/>
            </a:solidFill>
            <a:prstDash val="solid"/>
          </a:ln>
        </p:spPr>
      </p:sp>
      <p:sp>
        <p:nvSpPr>
          <p:cNvPr id="20" name="branch-fast-accent">
            <a:extLst xmlns:a="http://schemas.openxmlformats.org/drawingml/2006/main">
              <a:ext uri="{FF2B5EF4-FFF2-40B4-BE49-F238E27FC236}">
                <a16:creationId xmlns:a16="http://schemas.microsoft.com/office/drawing/2014/main" id="{281FCC41-F527-4E5E-8B80-5DD2FF0E7437}"/>
              </a:ext>
            </a:extLst>
          </p:cNvPr>
          <p:cNvSpPr>
            <a:spLocks xmlns:a="http://schemas.openxmlformats.org/drawingml/2006/main" noGrp="1"/>
          </p:cNvSpPr>
          <p:nvPr/>
        </p:nvSpPr>
        <p:spPr>
          <a:xfrm xmlns:a="http://schemas.openxmlformats.org/drawingml/2006/main">
            <a:off x="5848350" y="2228850"/>
            <a:ext cx="57150" cy="12001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1" name="branch-fast-title">
            <a:extLst xmlns:a="http://schemas.openxmlformats.org/drawingml/2006/main">
              <a:ext uri="{FF2B5EF4-FFF2-40B4-BE49-F238E27FC236}">
                <a16:creationId xmlns:a16="http://schemas.microsoft.com/office/drawing/2014/main" id="{4CA68A1F-2D87-4749-B728-7AC2E876DB9B}"/>
              </a:ext>
            </a:extLst>
          </p:cNvPr>
          <p:cNvSpPr>
            <a:spLocks xmlns:a="http://schemas.openxmlformats.org/drawingml/2006/main" noGrp="1"/>
          </p:cNvSpPr>
          <p:nvPr/>
        </p:nvSpPr>
        <p:spPr>
          <a:xfrm xmlns:a="http://schemas.openxmlformats.org/drawingml/2006/main">
            <a:off x="6057900" y="2400300"/>
            <a:ext cx="1771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small model</a:t>
            </a:r>
          </a:p>
        </p:txBody>
      </p:sp>
      <p:sp>
        <p:nvSpPr>
          <p:cNvPr id="22" name="branch-fast-body">
            <a:extLst xmlns:a="http://schemas.openxmlformats.org/drawingml/2006/main">
              <a:ext uri="{FF2B5EF4-FFF2-40B4-BE49-F238E27FC236}">
                <a16:creationId xmlns:a16="http://schemas.microsoft.com/office/drawing/2014/main" id="{2C36BB9D-B502-4984-BCA1-6F04106CA654}"/>
              </a:ext>
            </a:extLst>
          </p:cNvPr>
          <p:cNvSpPr>
            <a:spLocks xmlns:a="http://schemas.openxmlformats.org/drawingml/2006/main" noGrp="1"/>
          </p:cNvSpPr>
          <p:nvPr/>
        </p:nvSpPr>
        <p:spPr>
          <a:xfrm xmlns:a="http://schemas.openxmlformats.org/drawingml/2006/main">
            <a:off x="6057900" y="293370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200" b="0" i="0">
                <a:solidFill>
                  <a:srgbClr val="B8C1D1"/>
                </a:solidFill>
                <a:latin typeface="Menlo"/>
                <a:ea typeface="Menlo"/>
                <a:cs typeface="Menlo"/>
              </a:defRPr>
            </a:defPPr>
          </a:lstStyle>
          <a:p xmlns:a="http://schemas.openxmlformats.org/drawingml/2006/main">
            <a:pPr algn="l">
              <a:defRPr sz="1200" b="0" i="0">
                <a:solidFill>
                  <a:srgbClr val="B8C1D1"/>
                </a:solidFill>
                <a:latin typeface="Menlo"/>
                <a:ea typeface="Menlo"/>
                <a:cs typeface="Menlo"/>
              </a:defRPr>
            </a:pPr>
            <a:r>
              <a:rPr sz="1200" b="0" i="0">
                <a:solidFill>
                  <a:srgbClr val="B8C1D1"/>
                </a:solidFill>
                <a:latin typeface="Menlo"/>
                <a:ea typeface="Menlo"/>
                <a:cs typeface="Menlo"/>
              </a:rPr>
              <a:t>call acknowledge(ticket)</a:t>
            </a:r>
          </a:p>
        </p:txBody>
      </p:sp>
      <p:sp>
        <p:nvSpPr>
          <p:cNvPr id="23" name="branch-large-panel">
            <a:extLst xmlns:a="http://schemas.openxmlformats.org/drawingml/2006/main">
              <a:ext uri="{FF2B5EF4-FFF2-40B4-BE49-F238E27FC236}">
                <a16:creationId xmlns:a16="http://schemas.microsoft.com/office/drawing/2014/main" id="{9C2FDD85-ABB4-4B2B-B2A1-4E874F4D5D28}"/>
              </a:ext>
            </a:extLst>
          </p:cNvPr>
          <p:cNvSpPr>
            <a:spLocks xmlns:a="http://schemas.openxmlformats.org/drawingml/2006/main" noGrp="1"/>
          </p:cNvSpPr>
          <p:nvPr/>
        </p:nvSpPr>
        <p:spPr>
          <a:xfrm xmlns:a="http://schemas.openxmlformats.org/drawingml/2006/main">
            <a:off x="5848350" y="3943350"/>
            <a:ext cx="2190750" cy="1200150"/>
          </a:xfrm>
          <a:prstGeom xmlns:a="http://schemas.openxmlformats.org/drawingml/2006/main" prst="roundRect">
            <a:avLst>
              <a:gd name="adj" fmla="val 6349"/>
            </a:avLst>
          </a:prstGeom>
          <a:solidFill xmlns:a="http://schemas.openxmlformats.org/drawingml/2006/main">
            <a:srgbClr val="1C2638"/>
          </a:solidFill>
          <a:ln xmlns:a="http://schemas.openxmlformats.org/drawingml/2006/main" w="9525">
            <a:solidFill>
              <a:srgbClr val="343D50"/>
            </a:solidFill>
            <a:prstDash val="solid"/>
          </a:ln>
        </p:spPr>
      </p:sp>
      <p:sp>
        <p:nvSpPr>
          <p:cNvPr id="24" name="branch-large-accent">
            <a:extLst xmlns:a="http://schemas.openxmlformats.org/drawingml/2006/main">
              <a:ext uri="{FF2B5EF4-FFF2-40B4-BE49-F238E27FC236}">
                <a16:creationId xmlns:a16="http://schemas.microsoft.com/office/drawing/2014/main" id="{DA80B5F8-E831-489F-B83A-699730FF443A}"/>
              </a:ext>
            </a:extLst>
          </p:cNvPr>
          <p:cNvSpPr>
            <a:spLocks xmlns:a="http://schemas.openxmlformats.org/drawingml/2006/main" noGrp="1"/>
          </p:cNvSpPr>
          <p:nvPr/>
        </p:nvSpPr>
        <p:spPr>
          <a:xfrm xmlns:a="http://schemas.openxmlformats.org/drawingml/2006/main">
            <a:off x="5848350" y="3943350"/>
            <a:ext cx="57150" cy="12001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5" name="branch-large-title">
            <a:extLst xmlns:a="http://schemas.openxmlformats.org/drawingml/2006/main">
              <a:ext uri="{FF2B5EF4-FFF2-40B4-BE49-F238E27FC236}">
                <a16:creationId xmlns:a16="http://schemas.microsoft.com/office/drawing/2014/main" id="{71324B85-EF0C-42C0-9052-D8689550521D}"/>
              </a:ext>
            </a:extLst>
          </p:cNvPr>
          <p:cNvSpPr>
            <a:spLocks xmlns:a="http://schemas.openxmlformats.org/drawingml/2006/main" noGrp="1"/>
          </p:cNvSpPr>
          <p:nvPr/>
        </p:nvSpPr>
        <p:spPr>
          <a:xfrm xmlns:a="http://schemas.openxmlformats.org/drawingml/2006/main">
            <a:off x="6057900" y="4114800"/>
            <a:ext cx="1771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large model</a:t>
            </a:r>
          </a:p>
        </p:txBody>
      </p:sp>
      <p:sp>
        <p:nvSpPr>
          <p:cNvPr id="26" name="branch-large-body">
            <a:extLst xmlns:a="http://schemas.openxmlformats.org/drawingml/2006/main">
              <a:ext uri="{FF2B5EF4-FFF2-40B4-BE49-F238E27FC236}">
                <a16:creationId xmlns:a16="http://schemas.microsoft.com/office/drawing/2014/main" id="{6C1F8BEE-5CA7-4D1F-B4D2-41150EAB93DC}"/>
              </a:ext>
            </a:extLst>
          </p:cNvPr>
          <p:cNvSpPr>
            <a:spLocks xmlns:a="http://schemas.openxmlformats.org/drawingml/2006/main" noGrp="1"/>
          </p:cNvSpPr>
          <p:nvPr/>
        </p:nvSpPr>
        <p:spPr>
          <a:xfrm xmlns:a="http://schemas.openxmlformats.org/drawingml/2006/main">
            <a:off x="6057900" y="464820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200" b="0" i="0">
                <a:solidFill>
                  <a:srgbClr val="B8C1D1"/>
                </a:solidFill>
                <a:latin typeface="Menlo"/>
                <a:ea typeface="Menlo"/>
                <a:cs typeface="Menlo"/>
              </a:defRPr>
            </a:defPPr>
          </a:lstStyle>
          <a:p xmlns:a="http://schemas.openxmlformats.org/drawingml/2006/main">
            <a:pPr algn="l">
              <a:defRPr sz="1200" b="0" i="0">
                <a:solidFill>
                  <a:srgbClr val="B8C1D1"/>
                </a:solidFill>
                <a:latin typeface="Menlo"/>
                <a:ea typeface="Menlo"/>
                <a:cs typeface="Menlo"/>
              </a:defRPr>
            </a:pPr>
            <a:r>
              <a:rPr sz="1200" b="0" i="0">
                <a:solidFill>
                  <a:srgbClr val="B8C1D1"/>
                </a:solidFill>
                <a:latin typeface="Menlo"/>
                <a:ea typeface="Menlo"/>
                <a:cs typeface="Menlo"/>
              </a:rPr>
              <a:t>call escalate(ticket)</a:t>
            </a:r>
          </a:p>
        </p:txBody>
      </p:sp>
      <p:sp>
        <p:nvSpPr>
          <p:cNvPr id="29" name="branch-arrow-3">
            <a:extLst xmlns:a="http://schemas.openxmlformats.org/drawingml/2006/main">
              <a:ext uri="{FF2B5EF4-FFF2-40B4-BE49-F238E27FC236}">
                <a16:creationId xmlns:a16="http://schemas.microsoft.com/office/drawing/2014/main" id="{984B3B9E-CFE4-4BBB-AA46-D8FBF8C7A2BE}"/>
              </a:ext>
            </a:extLst>
          </p:cNvPr>
          <p:cNvSpPr>
            <a:spLocks xmlns:a="http://schemas.openxmlformats.org/drawingml/2006/main" noGrp="1"/>
          </p:cNvSpPr>
          <p:nvPr/>
        </p:nvSpPr>
        <p:spPr>
          <a:xfrm xmlns:a="http://schemas.openxmlformats.org/drawingml/2006/main">
            <a:off x="8058150" y="3238500"/>
            <a:ext cx="53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5CC8B8"/>
                </a:solidFill>
                <a:latin typeface="Avenir Next"/>
                <a:ea typeface="Avenir Next"/>
                <a:cs typeface="Avenir Next"/>
              </a:defRPr>
            </a:defPPr>
          </a:lstStyle>
          <a:p xmlns:a="http://schemas.openxmlformats.org/drawingml/2006/main">
            <a:pPr algn="ctr">
              <a:defRPr sz="2700" b="1" i="0">
                <a:solidFill>
                  <a:srgbClr val="5CC8B8"/>
                </a:solidFill>
                <a:latin typeface="Avenir Next"/>
                <a:ea typeface="Avenir Next"/>
                <a:cs typeface="Avenir Next"/>
              </a:defRPr>
            </a:pPr>
            <a:r>
              <a:rPr sz="2700" b="1" i="0">
                <a:solidFill>
                  <a:srgbClr val="5CC8B8"/>
                </a:solidFill>
                <a:latin typeface="Avenir Next"/>
                <a:ea typeface="Avenir Next"/>
                <a:cs typeface="Avenir Next"/>
              </a:rPr>
              <a:t>→</a:t>
            </a:r>
          </a:p>
        </p:txBody>
      </p:sp>
      <p:sp>
        <p:nvSpPr>
          <p:cNvPr id="30" name="branch-bill-panel">
            <a:extLst xmlns:a="http://schemas.openxmlformats.org/drawingml/2006/main">
              <a:ext uri="{FF2B5EF4-FFF2-40B4-BE49-F238E27FC236}">
                <a16:creationId xmlns:a16="http://schemas.microsoft.com/office/drawing/2014/main" id="{9E111529-3E91-4F9E-807C-D9557AF582C6}"/>
              </a:ext>
            </a:extLst>
          </p:cNvPr>
          <p:cNvSpPr>
            <a:spLocks xmlns:a="http://schemas.openxmlformats.org/drawingml/2006/main" noGrp="1"/>
          </p:cNvSpPr>
          <p:nvPr/>
        </p:nvSpPr>
        <p:spPr>
          <a:xfrm xmlns:a="http://schemas.openxmlformats.org/drawingml/2006/main">
            <a:off x="8610600" y="2609850"/>
            <a:ext cx="2762250" cy="2190750"/>
          </a:xfrm>
          <a:prstGeom xmlns:a="http://schemas.openxmlformats.org/drawingml/2006/main" prst="roundRect">
            <a:avLst>
              <a:gd name="adj" fmla="val 3478"/>
            </a:avLst>
          </a:prstGeom>
          <a:solidFill xmlns:a="http://schemas.openxmlformats.org/drawingml/2006/main">
            <a:srgbClr val="1C2638"/>
          </a:solidFill>
          <a:ln xmlns:a="http://schemas.openxmlformats.org/drawingml/2006/main" w="9525">
            <a:solidFill>
              <a:srgbClr val="343D50"/>
            </a:solidFill>
            <a:prstDash val="solid"/>
          </a:ln>
        </p:spPr>
      </p:sp>
      <p:sp>
        <p:nvSpPr>
          <p:cNvPr id="31" name="branch-bill-accent">
            <a:extLst xmlns:a="http://schemas.openxmlformats.org/drawingml/2006/main">
              <a:ext uri="{FF2B5EF4-FFF2-40B4-BE49-F238E27FC236}">
                <a16:creationId xmlns:a16="http://schemas.microsoft.com/office/drawing/2014/main" id="{D91111C9-9EF3-427D-B8F5-B84C0E8906DA}"/>
              </a:ext>
            </a:extLst>
          </p:cNvPr>
          <p:cNvSpPr>
            <a:spLocks xmlns:a="http://schemas.openxmlformats.org/drawingml/2006/main" noGrp="1"/>
          </p:cNvSpPr>
          <p:nvPr/>
        </p:nvSpPr>
        <p:spPr>
          <a:xfrm xmlns:a="http://schemas.openxmlformats.org/drawingml/2006/main">
            <a:off x="8610600" y="2609850"/>
            <a:ext cx="57150" cy="21907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32" name="branch-bill-title">
            <a:extLst xmlns:a="http://schemas.openxmlformats.org/drawingml/2006/main">
              <a:ext uri="{FF2B5EF4-FFF2-40B4-BE49-F238E27FC236}">
                <a16:creationId xmlns:a16="http://schemas.microsoft.com/office/drawing/2014/main" id="{87F4999E-CE2B-4D6D-A151-FFC6E7C93652}"/>
              </a:ext>
            </a:extLst>
          </p:cNvPr>
          <p:cNvSpPr>
            <a:spLocks xmlns:a="http://schemas.openxmlformats.org/drawingml/2006/main" noGrp="1"/>
          </p:cNvSpPr>
          <p:nvPr/>
        </p:nvSpPr>
        <p:spPr>
          <a:xfrm xmlns:a="http://schemas.openxmlformats.org/drawingml/2006/main">
            <a:off x="8820150" y="2781300"/>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per-model usage ledger</a:t>
            </a:r>
          </a:p>
        </p:txBody>
      </p:sp>
      <p:sp>
        <p:nvSpPr>
          <p:cNvPr id="33" name="branch-bill-body">
            <a:extLst xmlns:a="http://schemas.openxmlformats.org/drawingml/2006/main">
              <a:ext uri="{FF2B5EF4-FFF2-40B4-BE49-F238E27FC236}">
                <a16:creationId xmlns:a16="http://schemas.microsoft.com/office/drawing/2014/main" id="{0580A082-2F39-446E-A011-9AF88F57983D}"/>
              </a:ext>
            </a:extLst>
          </p:cNvPr>
          <p:cNvSpPr>
            <a:spLocks xmlns:a="http://schemas.openxmlformats.org/drawingml/2006/main" noGrp="1"/>
          </p:cNvSpPr>
          <p:nvPr/>
        </p:nvSpPr>
        <p:spPr>
          <a:xfrm xmlns:a="http://schemas.openxmlformats.org/drawingml/2006/main">
            <a:off x="8820150" y="3257550"/>
            <a:ext cx="23431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B8C1D1"/>
                </a:solidFill>
                <a:latin typeface="Menlo"/>
                <a:ea typeface="Menlo"/>
                <a:cs typeface="Menlo"/>
              </a:defRPr>
            </a:defPPr>
          </a:lstStyle>
          <a:p xmlns:a="http://schemas.openxmlformats.org/drawingml/2006/main">
            <a:pPr algn="l">
              <a:defRPr sz="1238" b="0" i="0">
                <a:solidFill>
                  <a:srgbClr val="B8C1D1"/>
                </a:solidFill>
                <a:latin typeface="Menlo"/>
                <a:ea typeface="Menlo"/>
                <a:cs typeface="Menlo"/>
              </a:defRPr>
            </a:pPr>
            <a:r>
              <a:rPr sz="1238" b="0" i="0">
                <a:solidFill>
                  <a:srgbClr val="B8C1D1"/>
                </a:solidFill>
                <a:latin typeface="Menlo"/>
                <a:ea typeface="Menlo"/>
                <a:cs typeface="Menlo"/>
              </a:rPr>
              <a:t>branch A → small model</a:t>
            </a:r>
          </a:p>
          <a:p xmlns:a="http://schemas.openxmlformats.org/drawingml/2006/main">
            <a:pPr algn="l">
              <a:defRPr sz="1238" b="0" i="0">
                <a:solidFill>
                  <a:srgbClr val="B8C1D1"/>
                </a:solidFill>
                <a:latin typeface="Menlo"/>
                <a:ea typeface="Menlo"/>
                <a:cs typeface="Menlo"/>
              </a:defRPr>
            </a:pPr>
            <a:r>
              <a:rPr sz="1238" b="0" i="0">
                <a:solidFill>
                  <a:srgbClr val="B8C1D1"/>
                </a:solidFill>
                <a:latin typeface="Menlo"/>
                <a:ea typeface="Menlo"/>
                <a:cs typeface="Menlo"/>
              </a:rPr>
              <a:t>branch B → large model</a:t>
            </a:r>
          </a:p>
          <a:p xmlns:a="http://schemas.openxmlformats.org/drawingml/2006/main">
            <a:r>
              <a:t/>
            </a:r>
          </a:p>
          <a:p xmlns:a="http://schemas.openxmlformats.org/drawingml/2006/main">
            <a:pPr algn="l">
              <a:defRPr sz="1238" b="0" i="0">
                <a:solidFill>
                  <a:srgbClr val="B8C1D1"/>
                </a:solidFill>
                <a:latin typeface="Menlo"/>
                <a:ea typeface="Menlo"/>
                <a:cs typeface="Menlo"/>
              </a:defRPr>
            </a:pPr>
            <a:r>
              <a:rPr sz="1238" b="0" i="0">
                <a:solidFill>
                  <a:srgbClr val="B8C1D1"/>
                </a:solidFill>
                <a:latin typeface="Menlo"/>
                <a:ea typeface="Menlo"/>
                <a:cs typeface="Menlo"/>
              </a:rPr>
              <a:t>If itemized, usage reveals the path.</a:t>
            </a:r>
          </a:p>
        </p:txBody>
      </p:sp>
      <p:sp>
        <p:nvSpPr>
          <p:cNvPr id="34" name="branch-footnote">
            <a:extLst xmlns:a="http://schemas.openxmlformats.org/drawingml/2006/main">
              <a:ext uri="{FF2B5EF4-FFF2-40B4-BE49-F238E27FC236}">
                <a16:creationId xmlns:a16="http://schemas.microsoft.com/office/drawing/2014/main" id="{DAA4B998-9F8A-4E82-8164-7B122E13BF63}"/>
              </a:ext>
            </a:extLst>
          </p:cNvPr>
          <p:cNvSpPr>
            <a:spLocks xmlns:a="http://schemas.openxmlformats.org/drawingml/2006/main" noGrp="1"/>
          </p:cNvSpPr>
          <p:nvPr/>
        </p:nvSpPr>
        <p:spPr>
          <a:xfrm xmlns:a="http://schemas.openxmlformats.org/drawingml/2006/main">
            <a:off x="742950" y="5410200"/>
            <a:ext cx="10620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13" b="1" i="0">
                <a:solidFill>
                  <a:srgbClr val="FF8A5C"/>
                </a:solidFill>
                <a:latin typeface="Avenir Next"/>
                <a:ea typeface="Avenir Next"/>
                <a:cs typeface="Avenir Next"/>
              </a:defRPr>
            </a:defPPr>
          </a:lstStyle>
          <a:p xmlns:a="http://schemas.openxmlformats.org/drawingml/2006/main">
            <a:pPr algn="ctr">
              <a:defRPr sz="1313" b="1" i="0">
                <a:solidFill>
                  <a:srgbClr val="FF8A5C"/>
                </a:solidFill>
                <a:latin typeface="Avenir Next"/>
                <a:ea typeface="Avenir Next"/>
                <a:cs typeface="Avenir Next"/>
              </a:defRPr>
            </a:pPr>
            <a:r>
              <a:rPr sz="1313" b="1" i="0">
                <a:solidFill>
                  <a:srgbClr val="FF8A5C"/>
                </a:solidFill>
                <a:latin typeface="Avenir Next"/>
                <a:ea typeface="Avenir Next"/>
                <a:cs typeface="Avenir Next"/>
              </a:rPr>
              <a:t>SECRET-DEPENDENT CONTROL FLOW  →  MODELED USAGE OBSERVATION</a:t>
            </a:r>
          </a:p>
        </p:txBody>
      </p:sp>
    </p:spTree>
    <p:extLst>
      <p:ext uri="{BB962C8B-B14F-4D97-AF65-F5344CB8AC3E}">
        <p14:creationId xmlns:p14="http://schemas.microsoft.com/office/powerpoint/2010/main" val="542929294"/>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s3-brand">
            <a:extLst xmlns:a="http://schemas.openxmlformats.org/drawingml/2006/main">
              <a:ext uri="{FF2B5EF4-FFF2-40B4-BE49-F238E27FC236}">
                <a16:creationId xmlns:a16="http://schemas.microsoft.com/office/drawing/2014/main" id="{8880B63F-33FC-4D50-B855-C672AADA808F}"/>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3-section">
            <a:extLst xmlns:a="http://schemas.openxmlformats.org/drawingml/2006/main">
              <a:ext uri="{FF2B5EF4-FFF2-40B4-BE49-F238E27FC236}">
                <a16:creationId xmlns:a16="http://schemas.microsoft.com/office/drawing/2014/main" id="{02C640D8-BDCE-46DD-ADEA-0A9D61B81940}"/>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INFORMATION FLOW</a:t>
            </a:r>
          </a:p>
        </p:txBody>
      </p:sp>
      <p:sp>
        <p:nvSpPr>
          <p:cNvPr id="3" name="s3-title">
            <a:extLst xmlns:a="http://schemas.openxmlformats.org/drawingml/2006/main">
              <a:ext uri="{FF2B5EF4-FFF2-40B4-BE49-F238E27FC236}">
                <a16:creationId xmlns:a16="http://schemas.microsoft.com/office/drawing/2014/main" id="{D3DC5D6D-4B7F-456B-BD05-2FC1B63AF4EC}"/>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A secret branch can change model spend</a:t>
            </a:r>
          </a:p>
        </p:txBody>
      </p:sp>
      <p:sp>
        <p:nvSpPr>
          <p:cNvPr id="4" name="s3-subtitle">
            <a:extLst xmlns:a="http://schemas.openxmlformats.org/drawingml/2006/main">
              <a:ext uri="{FF2B5EF4-FFF2-40B4-BE49-F238E27FC236}">
                <a16:creationId xmlns:a16="http://schemas.microsoft.com/office/drawing/2014/main" id="{2EBA1B20-B080-49EC-A982-CB8C61A24997}"/>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public ticket enters the prompt; the guard only chooses a call path.</a:t>
            </a:r>
          </a:p>
        </p:txBody>
      </p:sp>
      <p:sp>
        <p:nvSpPr>
          <p:cNvPr id="5" name="s3-source-rule">
            <a:extLst xmlns:a="http://schemas.openxmlformats.org/drawingml/2006/main">
              <a:ext uri="{FF2B5EF4-FFF2-40B4-BE49-F238E27FC236}">
                <a16:creationId xmlns:a16="http://schemas.microsoft.com/office/drawing/2014/main" id="{8B7EC46E-5C04-467D-8FBE-2E969A84779B}"/>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3-sources">
            <a:extLst xmlns:a="http://schemas.openxmlformats.org/drawingml/2006/main">
              <a:ext uri="{FF2B5EF4-FFF2-40B4-BE49-F238E27FC236}">
                <a16:creationId xmlns:a16="http://schemas.microsoft.com/office/drawing/2014/main" id="{4B07F714-3496-4F91-8F54-2F989CA9137D}"/>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src/semantic_analyzer.cpp; tests/tests.cpp (flow and billing checks)</a:t>
            </a:r>
          </a:p>
        </p:txBody>
      </p:sp>
      <p:sp>
        <p:nvSpPr>
          <p:cNvPr id="7" name="s3-footer-rule">
            <a:extLst xmlns:a="http://schemas.openxmlformats.org/drawingml/2006/main">
              <a:ext uri="{FF2B5EF4-FFF2-40B4-BE49-F238E27FC236}">
                <a16:creationId xmlns:a16="http://schemas.microsoft.com/office/drawing/2014/main" id="{A63C3C9F-EFD6-45AB-935F-97DAC234CA06}"/>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3-footer">
            <a:extLst xmlns:a="http://schemas.openxmlformats.org/drawingml/2006/main">
              <a:ext uri="{FF2B5EF4-FFF2-40B4-BE49-F238E27FC236}">
                <a16:creationId xmlns:a16="http://schemas.microsoft.com/office/drawing/2014/main" id="{4B3E0FF9-E77A-4D09-B711-ED40E40BEA8B}"/>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3-page">
            <a:extLst xmlns:a="http://schemas.openxmlformats.org/drawingml/2006/main">
              <a:ext uri="{FF2B5EF4-FFF2-40B4-BE49-F238E27FC236}">
                <a16:creationId xmlns:a16="http://schemas.microsoft.com/office/drawing/2014/main" id="{4A897D18-E657-439F-A6E9-AFA528515C5B}"/>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3</a:t>
            </a:r>
          </a:p>
        </p:txBody>
      </p:sp>
      <p:sp>
        <p:nvSpPr>
          <p:cNvPr id="10" name="vf-secret-pill">
            <a:extLst xmlns:a="http://schemas.openxmlformats.org/drawingml/2006/main">
              <a:ext uri="{FF2B5EF4-FFF2-40B4-BE49-F238E27FC236}">
                <a16:creationId xmlns:a16="http://schemas.microsoft.com/office/drawing/2014/main" id="{38E40B87-BC71-49F3-8CE4-9E9656F6B1FF}"/>
              </a:ext>
            </a:extLst>
          </p:cNvPr>
          <p:cNvSpPr>
            <a:spLocks xmlns:a="http://schemas.openxmlformats.org/drawingml/2006/main" noGrp="1"/>
          </p:cNvSpPr>
          <p:nvPr/>
        </p:nvSpPr>
        <p:spPr>
          <a:xfrm xmlns:a="http://schemas.openxmlformats.org/drawingml/2006/main">
            <a:off x="781050" y="2381250"/>
            <a:ext cx="1952625" cy="266700"/>
          </a:xfrm>
          <a:prstGeom xmlns:a="http://schemas.openxmlformats.org/drawingml/2006/main" prst="roundRect">
            <a:avLst>
              <a:gd name="adj" fmla="val 35714"/>
            </a:avLst>
          </a:prstGeom>
          <a:solidFill xmlns:a="http://schemas.openxmlformats.org/drawingml/2006/main">
            <a:srgbClr val="FF8A5C"/>
          </a:solidFill>
          <a:ln xmlns:a="http://schemas.openxmlformats.org/drawingml/2006/main" w="0">
            <a:noFill/>
            <a:prstDash val="solid"/>
          </a:ln>
        </p:spPr>
      </p:sp>
      <p:sp>
        <p:nvSpPr>
          <p:cNvPr id="11" name="vf-secret-text">
            <a:extLst xmlns:a="http://schemas.openxmlformats.org/drawingml/2006/main">
              <a:ext uri="{FF2B5EF4-FFF2-40B4-BE49-F238E27FC236}">
                <a16:creationId xmlns:a16="http://schemas.microsoft.com/office/drawing/2014/main" id="{D6ACA762-384E-40B9-9E83-B29B03A64835}"/>
              </a:ext>
            </a:extLst>
          </p:cNvPr>
          <p:cNvSpPr>
            <a:spLocks xmlns:a="http://schemas.openxmlformats.org/drawingml/2006/main" noGrp="1"/>
          </p:cNvSpPr>
          <p:nvPr/>
        </p:nvSpPr>
        <p:spPr>
          <a:xfrm xmlns:a="http://schemas.openxmlformats.org/drawingml/2006/main">
            <a:off x="876300" y="2428875"/>
            <a:ext cx="1762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141B2B"/>
                </a:solidFill>
                <a:latin typeface="Avenir Next"/>
                <a:ea typeface="Avenir Next"/>
                <a:cs typeface="Avenir Next"/>
              </a:defRPr>
            </a:defPPr>
          </a:lstStyle>
          <a:p xmlns:a="http://schemas.openxmlformats.org/drawingml/2006/main">
            <a:pPr algn="ctr">
              <a:defRPr sz="975" b="1" i="0">
                <a:solidFill>
                  <a:srgbClr val="141B2B"/>
                </a:solidFill>
                <a:latin typeface="Avenir Next"/>
                <a:ea typeface="Avenir Next"/>
                <a:cs typeface="Avenir Next"/>
              </a:defRPr>
            </a:pPr>
            <a:r>
              <a:rPr sz="975" b="1" i="0">
                <a:solidFill>
                  <a:srgbClr val="141B2B"/>
                </a:solidFill>
                <a:latin typeface="Avenir Next"/>
                <a:ea typeface="Avenir Next"/>
                <a:cs typeface="Avenir Next"/>
              </a:rPr>
              <a:t>SECRET CONDITION</a:t>
            </a:r>
          </a:p>
        </p:txBody>
      </p:sp>
      <p:sp>
        <p:nvSpPr>
          <p:cNvPr id="12" name="vf-branch-panel">
            <a:extLst xmlns:a="http://schemas.openxmlformats.org/drawingml/2006/main">
              <a:ext uri="{FF2B5EF4-FFF2-40B4-BE49-F238E27FC236}">
                <a16:creationId xmlns:a16="http://schemas.microsoft.com/office/drawing/2014/main" id="{A3215C74-2227-4D2A-ADF0-EAC6611412AE}"/>
              </a:ext>
            </a:extLst>
          </p:cNvPr>
          <p:cNvSpPr>
            <a:spLocks xmlns:a="http://schemas.openxmlformats.org/drawingml/2006/main" noGrp="1"/>
          </p:cNvSpPr>
          <p:nvPr/>
        </p:nvSpPr>
        <p:spPr>
          <a:xfrm xmlns:a="http://schemas.openxmlformats.org/drawingml/2006/main">
            <a:off x="781050" y="2819400"/>
            <a:ext cx="2428875" cy="990600"/>
          </a:xfrm>
          <a:prstGeom xmlns:a="http://schemas.openxmlformats.org/drawingml/2006/main" prst="roundRect">
            <a:avLst>
              <a:gd name="adj" fmla="val 7692"/>
            </a:avLst>
          </a:prstGeom>
          <a:solidFill xmlns:a="http://schemas.openxmlformats.org/drawingml/2006/main">
            <a:srgbClr val="FFFDF8"/>
          </a:solidFill>
          <a:ln xmlns:a="http://schemas.openxmlformats.org/drawingml/2006/main" w="9525">
            <a:solidFill>
              <a:srgbClr val="D7D0C4"/>
            </a:solidFill>
            <a:prstDash val="solid"/>
          </a:ln>
        </p:spPr>
      </p:sp>
      <p:sp>
        <p:nvSpPr>
          <p:cNvPr id="13" name="vf-branch-accent">
            <a:extLst xmlns:a="http://schemas.openxmlformats.org/drawingml/2006/main">
              <a:ext uri="{FF2B5EF4-FFF2-40B4-BE49-F238E27FC236}">
                <a16:creationId xmlns:a16="http://schemas.microsoft.com/office/drawing/2014/main" id="{1307DE1F-8E16-4877-AC41-DEB776068462}"/>
              </a:ext>
            </a:extLst>
          </p:cNvPr>
          <p:cNvSpPr>
            <a:spLocks xmlns:a="http://schemas.openxmlformats.org/drawingml/2006/main" noGrp="1"/>
          </p:cNvSpPr>
          <p:nvPr/>
        </p:nvSpPr>
        <p:spPr>
          <a:xfrm xmlns:a="http://schemas.openxmlformats.org/drawingml/2006/main">
            <a:off x="781050" y="2819400"/>
            <a:ext cx="57150" cy="9906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4" name="vf-branch-title">
            <a:extLst xmlns:a="http://schemas.openxmlformats.org/drawingml/2006/main">
              <a:ext uri="{FF2B5EF4-FFF2-40B4-BE49-F238E27FC236}">
                <a16:creationId xmlns:a16="http://schemas.microsoft.com/office/drawing/2014/main" id="{1DA26CBF-01C0-4A47-8988-B614E11AA368}"/>
              </a:ext>
            </a:extLst>
          </p:cNvPr>
          <p:cNvSpPr>
            <a:spLocks xmlns:a="http://schemas.openxmlformats.org/drawingml/2006/main" noGrp="1"/>
          </p:cNvSpPr>
          <p:nvPr/>
        </p:nvSpPr>
        <p:spPr>
          <a:xfrm xmlns:a="http://schemas.openxmlformats.org/drawingml/2006/main">
            <a:off x="990600" y="2990850"/>
            <a:ext cx="20097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41B2B"/>
                </a:solidFill>
                <a:latin typeface="Avenir Next"/>
                <a:ea typeface="Avenir Next"/>
                <a:cs typeface="Avenir Next"/>
              </a:defRPr>
            </a:defPPr>
          </a:lstStyle>
          <a:p xmlns:a="http://schemas.openxmlformats.org/drawingml/2006/main">
            <a:pPr algn="l">
              <a:defRPr sz="1650" b="1" i="0">
                <a:solidFill>
                  <a:srgbClr val="141B2B"/>
                </a:solidFill>
                <a:latin typeface="Avenir Next"/>
                <a:ea typeface="Avenir Next"/>
                <a:cs typeface="Avenir Next"/>
              </a:defRPr>
            </a:pPr>
            <a:r>
              <a:rPr sz="1650" b="1" i="0">
                <a:solidFill>
                  <a:srgbClr val="141B2B"/>
                </a:solidFill>
                <a:latin typeface="Avenir Next"/>
                <a:ea typeface="Avenir Next"/>
                <a:cs typeface="Avenir Next"/>
              </a:rPr>
              <a:t>if enterprise</a:t>
            </a:r>
          </a:p>
        </p:txBody>
      </p:sp>
      <p:sp>
        <p:nvSpPr>
          <p:cNvPr id="15" name="vf-branch-body">
            <a:extLst xmlns:a="http://schemas.openxmlformats.org/drawingml/2006/main">
              <a:ext uri="{FF2B5EF4-FFF2-40B4-BE49-F238E27FC236}">
                <a16:creationId xmlns:a16="http://schemas.microsoft.com/office/drawing/2014/main" id="{9155F3F7-B1CE-4BF2-A7EA-619C2F2C70FF}"/>
              </a:ext>
            </a:extLst>
          </p:cNvPr>
          <p:cNvSpPr>
            <a:spLocks xmlns:a="http://schemas.openxmlformats.org/drawingml/2006/main" noGrp="1"/>
          </p:cNvSpPr>
          <p:nvPr/>
        </p:nvSpPr>
        <p:spPr>
          <a:xfrm xmlns:a="http://schemas.openxmlformats.org/drawingml/2006/main">
            <a:off x="990600" y="3371850"/>
            <a:ext cx="20097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646B7A"/>
                </a:solidFill>
                <a:latin typeface="Avenir Next"/>
                <a:ea typeface="Avenir Next"/>
                <a:cs typeface="Avenir Next"/>
              </a:defRPr>
            </a:defPPr>
          </a:lstStyle>
          <a:p xmlns:a="http://schemas.openxmlformats.org/drawingml/2006/main">
            <a:pPr algn="l">
              <a:defRPr sz="1350" b="0" i="0">
                <a:solidFill>
                  <a:srgbClr val="646B7A"/>
                </a:solidFill>
                <a:latin typeface="Avenir Next"/>
                <a:ea typeface="Avenir Next"/>
                <a:cs typeface="Avenir Next"/>
              </a:defRPr>
            </a:pPr>
            <a:r>
              <a:rPr sz="1350" b="0" i="0">
                <a:solidFill>
                  <a:srgbClr val="646B7A"/>
                </a:solidFill>
                <a:latin typeface="Avenir Next"/>
                <a:ea typeface="Avenir Next"/>
                <a:cs typeface="Avenir Next"/>
              </a:rPr>
              <a:t>selects one call path</a:t>
            </a:r>
          </a:p>
        </p:txBody>
      </p:sp>
      <p:sp>
        <p:nvSpPr>
          <p:cNvPr id="16" name="vf-prompt-panel">
            <a:extLst xmlns:a="http://schemas.openxmlformats.org/drawingml/2006/main">
              <a:ext uri="{FF2B5EF4-FFF2-40B4-BE49-F238E27FC236}">
                <a16:creationId xmlns:a16="http://schemas.microsoft.com/office/drawing/2014/main" id="{A93A08D7-7C68-40E7-8F66-A71E70E87290}"/>
              </a:ext>
            </a:extLst>
          </p:cNvPr>
          <p:cNvSpPr>
            <a:spLocks xmlns:a="http://schemas.openxmlformats.org/drawingml/2006/main" noGrp="1"/>
          </p:cNvSpPr>
          <p:nvPr/>
        </p:nvSpPr>
        <p:spPr>
          <a:xfrm xmlns:a="http://schemas.openxmlformats.org/drawingml/2006/main">
            <a:off x="3886200" y="2381250"/>
            <a:ext cx="3086100" cy="1428750"/>
          </a:xfrm>
          <a:prstGeom xmlns:a="http://schemas.openxmlformats.org/drawingml/2006/main" prst="roundRect">
            <a:avLst>
              <a:gd name="adj" fmla="val 5333"/>
            </a:avLst>
          </a:prstGeom>
          <a:solidFill xmlns:a="http://schemas.openxmlformats.org/drawingml/2006/main">
            <a:srgbClr val="FFFDF8"/>
          </a:solidFill>
          <a:ln xmlns:a="http://schemas.openxmlformats.org/drawingml/2006/main" w="9525">
            <a:solidFill>
              <a:srgbClr val="D7D0C4"/>
            </a:solidFill>
            <a:prstDash val="solid"/>
          </a:ln>
        </p:spPr>
      </p:sp>
      <p:sp>
        <p:nvSpPr>
          <p:cNvPr id="17" name="vf-prompt-accent">
            <a:extLst xmlns:a="http://schemas.openxmlformats.org/drawingml/2006/main">
              <a:ext uri="{FF2B5EF4-FFF2-40B4-BE49-F238E27FC236}">
                <a16:creationId xmlns:a16="http://schemas.microsoft.com/office/drawing/2014/main" id="{5044CEB3-DA46-4D1E-B31C-881758D73639}"/>
              </a:ext>
            </a:extLst>
          </p:cNvPr>
          <p:cNvSpPr>
            <a:spLocks xmlns:a="http://schemas.openxmlformats.org/drawingml/2006/main" noGrp="1"/>
          </p:cNvSpPr>
          <p:nvPr/>
        </p:nvSpPr>
        <p:spPr>
          <a:xfrm xmlns:a="http://schemas.openxmlformats.org/drawingml/2006/main">
            <a:off x="3886200" y="2381250"/>
            <a:ext cx="57150" cy="14287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8" name="vf-prompt-title">
            <a:extLst xmlns:a="http://schemas.openxmlformats.org/drawingml/2006/main">
              <a:ext uri="{FF2B5EF4-FFF2-40B4-BE49-F238E27FC236}">
                <a16:creationId xmlns:a16="http://schemas.microsoft.com/office/drawing/2014/main" id="{CB1347D0-AFE2-4A47-92E0-31F1F214E8FD}"/>
              </a:ext>
            </a:extLst>
          </p:cNvPr>
          <p:cNvSpPr>
            <a:spLocks xmlns:a="http://schemas.openxmlformats.org/drawingml/2006/main" noGrp="1"/>
          </p:cNvSpPr>
          <p:nvPr/>
        </p:nvSpPr>
        <p:spPr>
          <a:xfrm xmlns:a="http://schemas.openxmlformats.org/drawingml/2006/main">
            <a:off x="4095750" y="25527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41B2B"/>
                </a:solidFill>
                <a:latin typeface="Avenir Next"/>
                <a:ea typeface="Avenir Next"/>
                <a:cs typeface="Avenir Next"/>
              </a:defRPr>
            </a:defPPr>
          </a:lstStyle>
          <a:p xmlns:a="http://schemas.openxmlformats.org/drawingml/2006/main">
            <a:pPr algn="l">
              <a:defRPr sz="1725" b="1" i="0">
                <a:solidFill>
                  <a:srgbClr val="141B2B"/>
                </a:solidFill>
                <a:latin typeface="Avenir Next"/>
                <a:ea typeface="Avenir Next"/>
                <a:cs typeface="Avenir Next"/>
              </a:defRPr>
            </a:pPr>
            <a:r>
              <a:rPr sz="1725" b="1" i="0">
                <a:solidFill>
                  <a:srgbClr val="141B2B"/>
                </a:solidFill>
                <a:latin typeface="Avenir Next"/>
                <a:ea typeface="Avenir Next"/>
                <a:cs typeface="Avenir Next"/>
              </a:rPr>
              <a:t>prompt input</a:t>
            </a:r>
          </a:p>
        </p:txBody>
      </p:sp>
      <p:sp>
        <p:nvSpPr>
          <p:cNvPr id="19" name="vf-prompt-body">
            <a:extLst xmlns:a="http://schemas.openxmlformats.org/drawingml/2006/main">
              <a:ext uri="{FF2B5EF4-FFF2-40B4-BE49-F238E27FC236}">
                <a16:creationId xmlns:a16="http://schemas.microsoft.com/office/drawing/2014/main" id="{B91660F5-F9C2-4E3A-9F32-DF528D761EFB}"/>
              </a:ext>
            </a:extLst>
          </p:cNvPr>
          <p:cNvSpPr>
            <a:spLocks xmlns:a="http://schemas.openxmlformats.org/drawingml/2006/main" noGrp="1"/>
          </p:cNvSpPr>
          <p:nvPr/>
        </p:nvSpPr>
        <p:spPr>
          <a:xfrm xmlns:a="http://schemas.openxmlformats.org/drawingml/2006/main">
            <a:off x="4095750" y="30861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public ticket</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flows to the model</a:t>
            </a:r>
          </a:p>
        </p:txBody>
      </p:sp>
      <p:sp>
        <p:nvSpPr>
          <p:cNvPr id="20" name="vf-sinks-panel">
            <a:extLst xmlns:a="http://schemas.openxmlformats.org/drawingml/2006/main">
              <a:ext uri="{FF2B5EF4-FFF2-40B4-BE49-F238E27FC236}">
                <a16:creationId xmlns:a16="http://schemas.microsoft.com/office/drawing/2014/main" id="{84F101F0-4D32-4679-AEF6-856EE1B4AA48}"/>
              </a:ext>
            </a:extLst>
          </p:cNvPr>
          <p:cNvSpPr>
            <a:spLocks xmlns:a="http://schemas.openxmlformats.org/drawingml/2006/main" noGrp="1"/>
          </p:cNvSpPr>
          <p:nvPr/>
        </p:nvSpPr>
        <p:spPr>
          <a:xfrm xmlns:a="http://schemas.openxmlformats.org/drawingml/2006/main">
            <a:off x="7705725" y="2381250"/>
            <a:ext cx="3238500" cy="1428750"/>
          </a:xfrm>
          <a:prstGeom xmlns:a="http://schemas.openxmlformats.org/drawingml/2006/main" prst="roundRect">
            <a:avLst>
              <a:gd name="adj" fmla="val 5333"/>
            </a:avLst>
          </a:prstGeom>
          <a:solidFill xmlns:a="http://schemas.openxmlformats.org/drawingml/2006/main">
            <a:srgbClr val="FFFDF8"/>
          </a:solidFill>
          <a:ln xmlns:a="http://schemas.openxmlformats.org/drawingml/2006/main" w="9525">
            <a:solidFill>
              <a:srgbClr val="D7D0C4"/>
            </a:solidFill>
            <a:prstDash val="solid"/>
          </a:ln>
        </p:spPr>
      </p:sp>
      <p:sp>
        <p:nvSpPr>
          <p:cNvPr id="21" name="vf-sinks-accent">
            <a:extLst xmlns:a="http://schemas.openxmlformats.org/drawingml/2006/main">
              <a:ext uri="{FF2B5EF4-FFF2-40B4-BE49-F238E27FC236}">
                <a16:creationId xmlns:a16="http://schemas.microsoft.com/office/drawing/2014/main" id="{46231E9E-03FA-422C-8F01-7E04A7959914}"/>
              </a:ext>
            </a:extLst>
          </p:cNvPr>
          <p:cNvSpPr>
            <a:spLocks xmlns:a="http://schemas.openxmlformats.org/drawingml/2006/main" noGrp="1"/>
          </p:cNvSpPr>
          <p:nvPr/>
        </p:nvSpPr>
        <p:spPr>
          <a:xfrm xmlns:a="http://schemas.openxmlformats.org/drawingml/2006/main">
            <a:off x="7705725" y="2381250"/>
            <a:ext cx="57150" cy="14287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vf-sinks-title">
            <a:extLst xmlns:a="http://schemas.openxmlformats.org/drawingml/2006/main">
              <a:ext uri="{FF2B5EF4-FFF2-40B4-BE49-F238E27FC236}">
                <a16:creationId xmlns:a16="http://schemas.microsoft.com/office/drawing/2014/main" id="{4FAABCB9-0D9B-4ADD-89E8-5ABC6B70459A}"/>
              </a:ext>
            </a:extLst>
          </p:cNvPr>
          <p:cNvSpPr>
            <a:spLocks xmlns:a="http://schemas.openxmlformats.org/drawingml/2006/main" noGrp="1"/>
          </p:cNvSpPr>
          <p:nvPr/>
        </p:nvSpPr>
        <p:spPr>
          <a:xfrm xmlns:a="http://schemas.openxmlformats.org/drawingml/2006/main">
            <a:off x="7915275" y="2552700"/>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41B2B"/>
                </a:solidFill>
                <a:latin typeface="Avenir Next"/>
                <a:ea typeface="Avenir Next"/>
                <a:cs typeface="Avenir Next"/>
              </a:defRPr>
            </a:defPPr>
          </a:lstStyle>
          <a:p xmlns:a="http://schemas.openxmlformats.org/drawingml/2006/main">
            <a:pPr algn="l">
              <a:defRPr sz="1725" b="1" i="0">
                <a:solidFill>
                  <a:srgbClr val="141B2B"/>
                </a:solidFill>
                <a:latin typeface="Avenir Next"/>
                <a:ea typeface="Avenir Next"/>
                <a:cs typeface="Avenir Next"/>
              </a:defRPr>
            </a:pPr>
            <a:r>
              <a:rPr sz="1725" b="1" i="0">
                <a:solidFill>
                  <a:srgbClr val="141B2B"/>
                </a:solidFill>
                <a:latin typeface="Avenir Next"/>
                <a:ea typeface="Avenir Next"/>
                <a:cs typeface="Avenir Next"/>
              </a:rPr>
              <a:t>value sinks</a:t>
            </a:r>
          </a:p>
        </p:txBody>
      </p:sp>
      <p:sp>
        <p:nvSpPr>
          <p:cNvPr id="23" name="vf-sinks-body">
            <a:extLst xmlns:a="http://schemas.openxmlformats.org/drawingml/2006/main">
              <a:ext uri="{FF2B5EF4-FFF2-40B4-BE49-F238E27FC236}">
                <a16:creationId xmlns:a16="http://schemas.microsoft.com/office/drawing/2014/main" id="{8294B3BB-4954-489A-B6A6-4664C92908C7}"/>
              </a:ext>
            </a:extLst>
          </p:cNvPr>
          <p:cNvSpPr>
            <a:spLocks xmlns:a="http://schemas.openxmlformats.org/drawingml/2006/main" noGrp="1"/>
          </p:cNvSpPr>
          <p:nvPr/>
        </p:nvSpPr>
        <p:spPr>
          <a:xfrm xmlns:a="http://schemas.openxmlformats.org/drawingml/2006/main">
            <a:off x="7915275" y="3086100"/>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79"/>
          </a:bodyPr>
          <a:lstStyle xmlns:a="http://schemas.openxmlformats.org/drawingml/2006/main">
            <a:defPPr algn="l">
              <a:defRPr sz="1350" b="0" i="0">
                <a:solidFill>
                  <a:srgbClr val="646B7A"/>
                </a:solidFill>
                <a:latin typeface="Avenir Next"/>
                <a:ea typeface="Avenir Next"/>
                <a:cs typeface="Avenir Next"/>
              </a:defRPr>
            </a:defPPr>
          </a:lstStyle>
          <a:p xmlns:a="http://schemas.openxmlformats.org/drawingml/2006/main">
            <a:pPr algn="l">
              <a:defRPr sz="1350" b="0" i="0">
                <a:solidFill>
                  <a:srgbClr val="646B7A"/>
                </a:solidFill>
                <a:latin typeface="Avenir Next"/>
                <a:ea typeface="Avenir Next"/>
                <a:cs typeface="Avenir Next"/>
              </a:defRPr>
            </a:pPr>
            <a:r>
              <a:rPr sz="1350" b="0" i="0">
                <a:solidFill>
                  <a:srgbClr val="646B7A"/>
                </a:solidFill>
                <a:latin typeface="Avenir Next"/>
                <a:ea typeface="Avenir Next"/>
                <a:cs typeface="Avenir Next"/>
              </a:rPr>
              <a:t>no secret argument</a:t>
            </a:r>
          </a:p>
          <a:p xmlns:a="http://schemas.openxmlformats.org/drawingml/2006/main">
            <a:pPr algn="l">
              <a:defRPr sz="1350" b="0" i="0">
                <a:solidFill>
                  <a:srgbClr val="646B7A"/>
                </a:solidFill>
                <a:latin typeface="Avenir Next"/>
                <a:ea typeface="Avenir Next"/>
                <a:cs typeface="Avenir Next"/>
              </a:defRPr>
            </a:pPr>
            <a:r>
              <a:rPr sz="1350" b="0" i="0">
                <a:solidFill>
                  <a:srgbClr val="646B7A"/>
                </a:solidFill>
                <a:latin typeface="Avenir Next"/>
                <a:ea typeface="Avenir Next"/>
                <a:cs typeface="Avenir Next"/>
              </a:rPr>
              <a:t>no secret output</a:t>
            </a:r>
          </a:p>
          <a:p xmlns:a="http://schemas.openxmlformats.org/drawingml/2006/main">
            <a:pPr algn="l">
              <a:defRPr sz="1350" b="0" i="0">
                <a:solidFill>
                  <a:srgbClr val="646B7A"/>
                </a:solidFill>
                <a:latin typeface="Avenir Next"/>
                <a:ea typeface="Avenir Next"/>
                <a:cs typeface="Avenir Next"/>
              </a:defRPr>
            </a:pPr>
            <a:r>
              <a:rPr sz="1350" b="0" i="0">
                <a:solidFill>
                  <a:srgbClr val="646B7A"/>
                </a:solidFill>
                <a:latin typeface="Avenir Next"/>
                <a:ea typeface="Avenir Next"/>
                <a:cs typeface="Avenir Next"/>
              </a:rPr>
              <a:t>no secret tool effect</a:t>
            </a:r>
          </a:p>
        </p:txBody>
      </p:sp>
      <p:sp>
        <p:nvSpPr>
          <p:cNvPr id="24" name="vf-arrow-secret">
            <a:extLst xmlns:a="http://schemas.openxmlformats.org/drawingml/2006/main">
              <a:ext uri="{FF2B5EF4-FFF2-40B4-BE49-F238E27FC236}">
                <a16:creationId xmlns:a16="http://schemas.microsoft.com/office/drawing/2014/main" id="{9A44971F-60E5-4D30-B49F-8CF0BF9EA156}"/>
              </a:ext>
            </a:extLst>
          </p:cNvPr>
          <p:cNvSpPr>
            <a:spLocks xmlns:a="http://schemas.openxmlformats.org/drawingml/2006/main" noGrp="1"/>
          </p:cNvSpPr>
          <p:nvPr/>
        </p:nvSpPr>
        <p:spPr>
          <a:xfrm xmlns:a="http://schemas.openxmlformats.org/drawingml/2006/main">
            <a:off x="3276600" y="30670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defPPr algn="ctr">
              <a:defRPr sz="2625" b="1" i="0">
                <a:solidFill>
                  <a:srgbClr val="FF8A5C"/>
                </a:solidFill>
                <a:latin typeface="Avenir Next"/>
                <a:ea typeface="Avenir Next"/>
                <a:cs typeface="Avenir Next"/>
              </a:defRPr>
            </a:defPPr>
          </a:lstStyle>
          <a:p xmlns:a="http://schemas.openxmlformats.org/drawingml/2006/main">
            <a:pPr algn="ctr">
              <a:defRPr sz="2625" b="1" i="0">
                <a:solidFill>
                  <a:srgbClr val="FF8A5C"/>
                </a:solidFill>
                <a:latin typeface="Avenir Next"/>
                <a:ea typeface="Avenir Next"/>
                <a:cs typeface="Avenir Next"/>
              </a:defRPr>
            </a:pPr>
            <a:r>
              <a:rPr sz="2625" b="1" i="0">
                <a:solidFill>
                  <a:srgbClr val="FF8A5C"/>
                </a:solidFill>
                <a:latin typeface="Avenir Next"/>
                <a:ea typeface="Avenir Next"/>
                <a:cs typeface="Avenir Next"/>
              </a:rPr>
              <a:t>→</a:t>
            </a:r>
          </a:p>
        </p:txBody>
      </p:sp>
      <p:sp>
        <p:nvSpPr>
          <p:cNvPr id="25" name="vf-arrow-public">
            <a:extLst xmlns:a="http://schemas.openxmlformats.org/drawingml/2006/main">
              <a:ext uri="{FF2B5EF4-FFF2-40B4-BE49-F238E27FC236}">
                <a16:creationId xmlns:a16="http://schemas.microsoft.com/office/drawing/2014/main" id="{5121CCAC-3D03-4BAC-B5E4-9BEB599EAB30}"/>
              </a:ext>
            </a:extLst>
          </p:cNvPr>
          <p:cNvSpPr>
            <a:spLocks xmlns:a="http://schemas.openxmlformats.org/drawingml/2006/main" noGrp="1"/>
          </p:cNvSpPr>
          <p:nvPr/>
        </p:nvSpPr>
        <p:spPr>
          <a:xfrm xmlns:a="http://schemas.openxmlformats.org/drawingml/2006/main">
            <a:off x="7058025" y="2943225"/>
            <a:ext cx="647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33"/>
          </a:bodyPr>
          <a:lstStyle xmlns:a="http://schemas.openxmlformats.org/drawingml/2006/main">
            <a:defPPr algn="ctr">
              <a:defRPr sz="1500" b="1" i="0">
                <a:solidFill>
                  <a:srgbClr val="1F6F66"/>
                </a:solidFill>
                <a:latin typeface="Avenir Next"/>
                <a:ea typeface="Avenir Next"/>
                <a:cs typeface="Avenir Next"/>
              </a:defRPr>
            </a:defPPr>
          </a:lstStyle>
          <a:p xmlns:a="http://schemas.openxmlformats.org/drawingml/2006/main">
            <a:pPr algn="ctr">
              <a:defRPr sz="1500" b="1" i="0">
                <a:solidFill>
                  <a:srgbClr val="1F6F66"/>
                </a:solidFill>
                <a:latin typeface="Avenir Next"/>
                <a:ea typeface="Avenir Next"/>
                <a:cs typeface="Avenir Next"/>
              </a:defRPr>
            </a:pPr>
            <a:r>
              <a:rPr sz="1500" b="1" i="0">
                <a:solidFill>
                  <a:srgbClr val="1F6F66"/>
                </a:solidFill>
                <a:latin typeface="Avenir Next"/>
                <a:ea typeface="Avenir Next"/>
                <a:cs typeface="Avenir Next"/>
              </a:rPr>
              <a:t>ticket →</a:t>
            </a:r>
          </a:p>
        </p:txBody>
      </p:sp>
      <p:sp>
        <p:nvSpPr>
          <p:cNvPr id="26" name="vf-separator">
            <a:extLst xmlns:a="http://schemas.openxmlformats.org/drawingml/2006/main">
              <a:ext uri="{FF2B5EF4-FFF2-40B4-BE49-F238E27FC236}">
                <a16:creationId xmlns:a16="http://schemas.microsoft.com/office/drawing/2014/main" id="{44617363-5E7A-4F05-9D9C-8B4C24F60940}"/>
              </a:ext>
            </a:extLst>
          </p:cNvPr>
          <p:cNvSpPr>
            <a:spLocks xmlns:a="http://schemas.openxmlformats.org/drawingml/2006/main" noGrp="1"/>
          </p:cNvSpPr>
          <p:nvPr/>
        </p:nvSpPr>
        <p:spPr>
          <a:xfrm xmlns:a="http://schemas.openxmlformats.org/drawingml/2006/main">
            <a:off x="781050" y="4238625"/>
            <a:ext cx="10163175"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7" name="vf-resource-observation">
            <a:extLst xmlns:a="http://schemas.openxmlformats.org/drawingml/2006/main">
              <a:ext uri="{FF2B5EF4-FFF2-40B4-BE49-F238E27FC236}">
                <a16:creationId xmlns:a16="http://schemas.microsoft.com/office/drawing/2014/main" id="{492B79DC-463E-44BD-9845-B269094849D0}"/>
              </a:ext>
            </a:extLst>
          </p:cNvPr>
          <p:cNvSpPr>
            <a:spLocks xmlns:a="http://schemas.openxmlformats.org/drawingml/2006/main" noGrp="1"/>
          </p:cNvSpPr>
          <p:nvPr/>
        </p:nvSpPr>
        <p:spPr>
          <a:xfrm xmlns:a="http://schemas.openxmlformats.org/drawingml/2006/main">
            <a:off x="781050" y="4524375"/>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RESOURCE OBSERVATION</a:t>
            </a:r>
          </a:p>
        </p:txBody>
      </p:sp>
      <p:sp>
        <p:nvSpPr>
          <p:cNvPr id="28" name="vf-bill-claim">
            <a:extLst xmlns:a="http://schemas.openxmlformats.org/drawingml/2006/main">
              <a:ext uri="{FF2B5EF4-FFF2-40B4-BE49-F238E27FC236}">
                <a16:creationId xmlns:a16="http://schemas.microsoft.com/office/drawing/2014/main" id="{CB451983-1B7B-48D4-A48C-C79BB33DFFD6}"/>
              </a:ext>
            </a:extLst>
          </p:cNvPr>
          <p:cNvSpPr>
            <a:spLocks xmlns:a="http://schemas.openxmlformats.org/drawingml/2006/main" noGrp="1"/>
          </p:cNvSpPr>
          <p:nvPr/>
        </p:nvSpPr>
        <p:spPr>
          <a:xfrm xmlns:a="http://schemas.openxmlformats.org/drawingml/2006/main">
            <a:off x="781050" y="489585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41B2B"/>
                </a:solidFill>
                <a:latin typeface="Avenir Next"/>
                <a:ea typeface="Avenir Next"/>
                <a:cs typeface="Avenir Next"/>
              </a:defRPr>
            </a:defPPr>
          </a:lstStyle>
          <a:p xmlns:a="http://schemas.openxmlformats.org/drawingml/2006/main">
            <a:pPr algn="l">
              <a:defRPr sz="1800" b="1" i="0">
                <a:solidFill>
                  <a:srgbClr val="141B2B"/>
                </a:solidFill>
                <a:latin typeface="Avenir Next"/>
                <a:ea typeface="Avenir Next"/>
                <a:cs typeface="Avenir Next"/>
              </a:defRPr>
            </a:pPr>
            <a:r>
              <a:rPr sz="1800" b="1" i="0">
                <a:solidFill>
                  <a:srgbClr val="141B2B"/>
                </a:solidFill>
                <a:latin typeface="Avenir Next"/>
                <a:ea typeface="Avenir Next"/>
                <a:cs typeface="Avenir Next"/>
              </a:rPr>
              <a:t>The branch changes whether a model is called and what appears on the invoice.</a:t>
            </a:r>
          </a:p>
        </p:txBody>
      </p:sp>
    </p:spTree>
    <p:extLst>
      <p:ext uri="{BB962C8B-B14F-4D97-AF65-F5344CB8AC3E}">
        <p14:creationId xmlns:p14="http://schemas.microsoft.com/office/powerpoint/2010/main" val="958292876"/>
      </p:ext>
    </p:extLst>
  </p:cSld>
</p:sld>
</file>

<file path=ppt/slides/slide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4" name="s4-brand">
            <a:extLst xmlns:a="http://schemas.openxmlformats.org/drawingml/2006/main">
              <a:ext uri="{FF2B5EF4-FFF2-40B4-BE49-F238E27FC236}">
                <a16:creationId xmlns:a16="http://schemas.microsoft.com/office/drawing/2014/main" id="{DFF33296-351E-4006-978C-8570AE41E1F3}"/>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4-section">
            <a:extLst xmlns:a="http://schemas.openxmlformats.org/drawingml/2006/main">
              <a:ext uri="{FF2B5EF4-FFF2-40B4-BE49-F238E27FC236}">
                <a16:creationId xmlns:a16="http://schemas.microsoft.com/office/drawing/2014/main" id="{467FE29C-7D28-4700-BA4A-C524B7252FF9}"/>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OBSERVATION</a:t>
            </a:r>
          </a:p>
        </p:txBody>
      </p:sp>
      <p:sp>
        <p:nvSpPr>
          <p:cNvPr id="3" name="s4-title">
            <a:extLst xmlns:a="http://schemas.openxmlformats.org/drawingml/2006/main">
              <a:ext uri="{FF2B5EF4-FFF2-40B4-BE49-F238E27FC236}">
                <a16:creationId xmlns:a16="http://schemas.microsoft.com/office/drawing/2014/main" id="{D6E685CD-673F-416C-BD56-B411EF494208}"/>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Define usage before claiming independence</a:t>
            </a:r>
          </a:p>
        </p:txBody>
      </p:sp>
      <p:sp>
        <p:nvSpPr>
          <p:cNvPr id="4" name="s4-subtitle">
            <a:extLst xmlns:a="http://schemas.openxmlformats.org/drawingml/2006/main">
              <a:ext uri="{FF2B5EF4-FFF2-40B4-BE49-F238E27FC236}">
                <a16:creationId xmlns:a16="http://schemas.microsoft.com/office/drawing/2014/main" id="{A8C06725-C447-4E99-933B-FCE6599C6EDD}"/>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Per-model usage is measured; exact request identity appears in the proof coupling.</a:t>
            </a:r>
          </a:p>
        </p:txBody>
      </p:sp>
      <p:sp>
        <p:nvSpPr>
          <p:cNvPr id="5" name="s4-source-rule">
            <a:extLst xmlns:a="http://schemas.openxmlformats.org/drawingml/2006/main">
              <a:ext uri="{FF2B5EF4-FFF2-40B4-BE49-F238E27FC236}">
                <a16:creationId xmlns:a16="http://schemas.microsoft.com/office/drawing/2014/main" id="{88C8B90C-4E66-4B7C-A6CF-4111DD9746FB}"/>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4-sources">
            <a:extLst xmlns:a="http://schemas.openxmlformats.org/drawingml/2006/main">
              <a:ext uri="{FF2B5EF4-FFF2-40B4-BE49-F238E27FC236}">
                <a16:creationId xmlns:a16="http://schemas.microsoft.com/office/drawing/2014/main" id="{90E3F5D9-B4CD-43BB-98B8-EF37E0A51D11}"/>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PAPER §4.1; src/interpreter.cpp:248-267; bench/results/sourced.json; bench/results/sourced_request_sensitive.json</a:t>
            </a:r>
          </a:p>
        </p:txBody>
      </p:sp>
      <p:sp>
        <p:nvSpPr>
          <p:cNvPr id="7" name="s4-footer-rule">
            <a:extLst xmlns:a="http://schemas.openxmlformats.org/drawingml/2006/main">
              <a:ext uri="{FF2B5EF4-FFF2-40B4-BE49-F238E27FC236}">
                <a16:creationId xmlns:a16="http://schemas.microsoft.com/office/drawing/2014/main" id="{A12D0612-7569-4C9C-8BC3-87076F89ADF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4-footer">
            <a:extLst xmlns:a="http://schemas.openxmlformats.org/drawingml/2006/main">
              <a:ext uri="{FF2B5EF4-FFF2-40B4-BE49-F238E27FC236}">
                <a16:creationId xmlns:a16="http://schemas.microsoft.com/office/drawing/2014/main" id="{607F93D1-D955-43EC-BACF-BAEE6DCCD4EA}"/>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4-page">
            <a:extLst xmlns:a="http://schemas.openxmlformats.org/drawingml/2006/main">
              <a:ext uri="{FF2B5EF4-FFF2-40B4-BE49-F238E27FC236}">
                <a16:creationId xmlns:a16="http://schemas.microsoft.com/office/drawing/2014/main" id="{421EEBAF-C6BD-43AF-81AF-5CC9D1FB7115}"/>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4</a:t>
            </a:r>
          </a:p>
        </p:txBody>
      </p:sp>
      <p:sp>
        <p:nvSpPr>
          <p:cNvPr id="10" name="obs-equation">
            <a:extLst xmlns:a="http://schemas.openxmlformats.org/drawingml/2006/main">
              <a:ext uri="{FF2B5EF4-FFF2-40B4-BE49-F238E27FC236}">
                <a16:creationId xmlns:a16="http://schemas.microsoft.com/office/drawing/2014/main" id="{71543377-AFF7-45EA-8C5F-25BC8BCC7902}"/>
              </a:ext>
            </a:extLst>
          </p:cNvPr>
          <p:cNvSpPr>
            <a:spLocks xmlns:a="http://schemas.openxmlformats.org/drawingml/2006/main" noGrp="1"/>
          </p:cNvSpPr>
          <p:nvPr/>
        </p:nvSpPr>
        <p:spPr>
          <a:xfrm xmlns:a="http://schemas.openxmlformats.org/drawingml/2006/main">
            <a:off x="904875" y="2543175"/>
            <a:ext cx="10334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F5F2EA"/>
                </a:solidFill>
                <a:latin typeface="Menlo"/>
                <a:ea typeface="Menlo"/>
                <a:cs typeface="Menlo"/>
              </a:defRPr>
            </a:defPPr>
          </a:lstStyle>
          <a:p xmlns:a="http://schemas.openxmlformats.org/drawingml/2006/main">
            <a:pPr algn="ctr">
              <a:defRPr sz="2550" b="1" i="0">
                <a:solidFill>
                  <a:srgbClr val="F5F2EA"/>
                </a:solidFill>
                <a:latin typeface="Menlo"/>
                <a:ea typeface="Menlo"/>
                <a:cs typeface="Menlo"/>
              </a:defRPr>
            </a:pPr>
            <a:r>
              <a:rPr sz="2550" b="1" i="0">
                <a:solidFill>
                  <a:srgbClr val="F5F2EA"/>
                </a:solidFill>
                <a:latin typeface="Menlo"/>
                <a:ea typeface="Menlo"/>
                <a:cs typeface="Menlo"/>
              </a:rPr>
              <a:t>Obs(e)[model] = (input, output, calls)</a:t>
            </a:r>
          </a:p>
        </p:txBody>
      </p:sp>
      <p:sp>
        <p:nvSpPr>
          <p:cNvPr id="11" name="obs-field-0-panel">
            <a:extLst xmlns:a="http://schemas.openxmlformats.org/drawingml/2006/main">
              <a:ext uri="{FF2B5EF4-FFF2-40B4-BE49-F238E27FC236}">
                <a16:creationId xmlns:a16="http://schemas.microsoft.com/office/drawing/2014/main" id="{1FA7BE39-1886-4114-A6A9-F057DB06DEA7}"/>
              </a:ext>
            </a:extLst>
          </p:cNvPr>
          <p:cNvSpPr>
            <a:spLocks xmlns:a="http://schemas.openxmlformats.org/drawingml/2006/main" noGrp="1"/>
          </p:cNvSpPr>
          <p:nvPr/>
        </p:nvSpPr>
        <p:spPr>
          <a:xfrm xmlns:a="http://schemas.openxmlformats.org/drawingml/2006/main">
            <a:off x="1143000" y="3705225"/>
            <a:ext cx="2857500" cy="1219200"/>
          </a:xfrm>
          <a:prstGeom xmlns:a="http://schemas.openxmlformats.org/drawingml/2006/main" prst="roundRect">
            <a:avLst>
              <a:gd name="adj" fmla="val 6250"/>
            </a:avLst>
          </a:prstGeom>
          <a:solidFill xmlns:a="http://schemas.openxmlformats.org/drawingml/2006/main">
            <a:srgbClr val="1C2638"/>
          </a:solidFill>
          <a:ln xmlns:a="http://schemas.openxmlformats.org/drawingml/2006/main" w="9525">
            <a:solidFill>
              <a:srgbClr val="343D50"/>
            </a:solidFill>
            <a:prstDash val="solid"/>
          </a:ln>
        </p:spPr>
      </p:sp>
      <p:sp>
        <p:nvSpPr>
          <p:cNvPr id="12" name="obs-field-0-accent">
            <a:extLst xmlns:a="http://schemas.openxmlformats.org/drawingml/2006/main">
              <a:ext uri="{FF2B5EF4-FFF2-40B4-BE49-F238E27FC236}">
                <a16:creationId xmlns:a16="http://schemas.microsoft.com/office/drawing/2014/main" id="{5CE6C3C4-4FA0-43A7-8251-DD660BEBDD91}"/>
              </a:ext>
            </a:extLst>
          </p:cNvPr>
          <p:cNvSpPr>
            <a:spLocks xmlns:a="http://schemas.openxmlformats.org/drawingml/2006/main" noGrp="1"/>
          </p:cNvSpPr>
          <p:nvPr/>
        </p:nvSpPr>
        <p:spPr>
          <a:xfrm xmlns:a="http://schemas.openxmlformats.org/drawingml/2006/main">
            <a:off x="1143000" y="3705225"/>
            <a:ext cx="57150" cy="1219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3" name="obs-field-0-title">
            <a:extLst xmlns:a="http://schemas.openxmlformats.org/drawingml/2006/main">
              <a:ext uri="{FF2B5EF4-FFF2-40B4-BE49-F238E27FC236}">
                <a16:creationId xmlns:a16="http://schemas.microsoft.com/office/drawing/2014/main" id="{C056309A-2B22-4768-9B73-6F1CF483A2B6}"/>
              </a:ext>
            </a:extLst>
          </p:cNvPr>
          <p:cNvSpPr>
            <a:spLocks xmlns:a="http://schemas.openxmlformats.org/drawingml/2006/main" noGrp="1"/>
          </p:cNvSpPr>
          <p:nvPr/>
        </p:nvSpPr>
        <p:spPr>
          <a:xfrm xmlns:a="http://schemas.openxmlformats.org/drawingml/2006/main">
            <a:off x="1352550" y="3876675"/>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input tokens</a:t>
            </a:r>
          </a:p>
        </p:txBody>
      </p:sp>
      <p:sp>
        <p:nvSpPr>
          <p:cNvPr id="14" name="obs-field-0-body">
            <a:extLst xmlns:a="http://schemas.openxmlformats.org/drawingml/2006/main">
              <a:ext uri="{FF2B5EF4-FFF2-40B4-BE49-F238E27FC236}">
                <a16:creationId xmlns:a16="http://schemas.microsoft.com/office/drawing/2014/main" id="{65EDF907-D3A9-44B1-BE1B-F34A3B24CA13}"/>
              </a:ext>
            </a:extLst>
          </p:cNvPr>
          <p:cNvSpPr>
            <a:spLocks xmlns:a="http://schemas.openxmlformats.org/drawingml/2006/main" noGrp="1"/>
          </p:cNvSpPr>
          <p:nvPr/>
        </p:nvSpPr>
        <p:spPr>
          <a:xfrm xmlns:a="http://schemas.openxmlformats.org/drawingml/2006/main">
            <a:off x="1352550" y="4371975"/>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measured per model</a:t>
            </a:r>
          </a:p>
        </p:txBody>
      </p:sp>
      <p:sp>
        <p:nvSpPr>
          <p:cNvPr id="15" name="obs-field-1-panel">
            <a:extLst xmlns:a="http://schemas.openxmlformats.org/drawingml/2006/main">
              <a:ext uri="{FF2B5EF4-FFF2-40B4-BE49-F238E27FC236}">
                <a16:creationId xmlns:a16="http://schemas.microsoft.com/office/drawing/2014/main" id="{1799F0A7-C24B-416A-A9B9-DBA0A8C94214}"/>
              </a:ext>
            </a:extLst>
          </p:cNvPr>
          <p:cNvSpPr>
            <a:spLocks xmlns:a="http://schemas.openxmlformats.org/drawingml/2006/main" noGrp="1"/>
          </p:cNvSpPr>
          <p:nvPr/>
        </p:nvSpPr>
        <p:spPr>
          <a:xfrm xmlns:a="http://schemas.openxmlformats.org/drawingml/2006/main">
            <a:off x="4524375" y="3705225"/>
            <a:ext cx="2857500" cy="1219200"/>
          </a:xfrm>
          <a:prstGeom xmlns:a="http://schemas.openxmlformats.org/drawingml/2006/main" prst="roundRect">
            <a:avLst>
              <a:gd name="adj" fmla="val 6250"/>
            </a:avLst>
          </a:prstGeom>
          <a:solidFill xmlns:a="http://schemas.openxmlformats.org/drawingml/2006/main">
            <a:srgbClr val="1C2638"/>
          </a:solidFill>
          <a:ln xmlns:a="http://schemas.openxmlformats.org/drawingml/2006/main" w="9525">
            <a:solidFill>
              <a:srgbClr val="343D50"/>
            </a:solidFill>
            <a:prstDash val="solid"/>
          </a:ln>
        </p:spPr>
      </p:sp>
      <p:sp>
        <p:nvSpPr>
          <p:cNvPr id="16" name="obs-field-1-accent">
            <a:extLst xmlns:a="http://schemas.openxmlformats.org/drawingml/2006/main">
              <a:ext uri="{FF2B5EF4-FFF2-40B4-BE49-F238E27FC236}">
                <a16:creationId xmlns:a16="http://schemas.microsoft.com/office/drawing/2014/main" id="{52197203-87A6-42C9-BF26-663DAC9D1EDB}"/>
              </a:ext>
            </a:extLst>
          </p:cNvPr>
          <p:cNvSpPr>
            <a:spLocks xmlns:a="http://schemas.openxmlformats.org/drawingml/2006/main" noGrp="1"/>
          </p:cNvSpPr>
          <p:nvPr/>
        </p:nvSpPr>
        <p:spPr>
          <a:xfrm xmlns:a="http://schemas.openxmlformats.org/drawingml/2006/main">
            <a:off x="4524375" y="3705225"/>
            <a:ext cx="57150" cy="1219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obs-field-1-title">
            <a:extLst xmlns:a="http://schemas.openxmlformats.org/drawingml/2006/main">
              <a:ext uri="{FF2B5EF4-FFF2-40B4-BE49-F238E27FC236}">
                <a16:creationId xmlns:a16="http://schemas.microsoft.com/office/drawing/2014/main" id="{6EBCD95D-F3D0-4C58-BB12-EE3A34002873}"/>
              </a:ext>
            </a:extLst>
          </p:cNvPr>
          <p:cNvSpPr>
            <a:spLocks xmlns:a="http://schemas.openxmlformats.org/drawingml/2006/main" noGrp="1"/>
          </p:cNvSpPr>
          <p:nvPr/>
        </p:nvSpPr>
        <p:spPr>
          <a:xfrm xmlns:a="http://schemas.openxmlformats.org/drawingml/2006/main">
            <a:off x="4733925" y="3876675"/>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output tokens</a:t>
            </a:r>
          </a:p>
        </p:txBody>
      </p:sp>
      <p:sp>
        <p:nvSpPr>
          <p:cNvPr id="18" name="obs-field-1-body">
            <a:extLst xmlns:a="http://schemas.openxmlformats.org/drawingml/2006/main">
              <a:ext uri="{FF2B5EF4-FFF2-40B4-BE49-F238E27FC236}">
                <a16:creationId xmlns:a16="http://schemas.microsoft.com/office/drawing/2014/main" id="{44357125-A7F7-4C12-964B-8C189C3C8279}"/>
              </a:ext>
            </a:extLst>
          </p:cNvPr>
          <p:cNvSpPr>
            <a:spLocks xmlns:a="http://schemas.openxmlformats.org/drawingml/2006/main" noGrp="1"/>
          </p:cNvSpPr>
          <p:nvPr/>
        </p:nvSpPr>
        <p:spPr>
          <a:xfrm xmlns:a="http://schemas.openxmlformats.org/drawingml/2006/main">
            <a:off x="4733925" y="4371975"/>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measured per model</a:t>
            </a:r>
          </a:p>
        </p:txBody>
      </p:sp>
      <p:sp>
        <p:nvSpPr>
          <p:cNvPr id="19" name="obs-field-2-panel">
            <a:extLst xmlns:a="http://schemas.openxmlformats.org/drawingml/2006/main">
              <a:ext uri="{FF2B5EF4-FFF2-40B4-BE49-F238E27FC236}">
                <a16:creationId xmlns:a16="http://schemas.microsoft.com/office/drawing/2014/main" id="{F7453712-2A5A-43E0-9575-31045A58786F}"/>
              </a:ext>
            </a:extLst>
          </p:cNvPr>
          <p:cNvSpPr>
            <a:spLocks xmlns:a="http://schemas.openxmlformats.org/drawingml/2006/main" noGrp="1"/>
          </p:cNvSpPr>
          <p:nvPr/>
        </p:nvSpPr>
        <p:spPr>
          <a:xfrm xmlns:a="http://schemas.openxmlformats.org/drawingml/2006/main">
            <a:off x="7905750" y="3705225"/>
            <a:ext cx="2857500" cy="1219200"/>
          </a:xfrm>
          <a:prstGeom xmlns:a="http://schemas.openxmlformats.org/drawingml/2006/main" prst="roundRect">
            <a:avLst>
              <a:gd name="adj" fmla="val 6250"/>
            </a:avLst>
          </a:prstGeom>
          <a:solidFill xmlns:a="http://schemas.openxmlformats.org/drawingml/2006/main">
            <a:srgbClr val="1C2638"/>
          </a:solidFill>
          <a:ln xmlns:a="http://schemas.openxmlformats.org/drawingml/2006/main" w="9525">
            <a:solidFill>
              <a:srgbClr val="343D50"/>
            </a:solidFill>
            <a:prstDash val="solid"/>
          </a:ln>
        </p:spPr>
      </p:sp>
      <p:sp>
        <p:nvSpPr>
          <p:cNvPr id="20" name="obs-field-2-accent">
            <a:extLst xmlns:a="http://schemas.openxmlformats.org/drawingml/2006/main">
              <a:ext uri="{FF2B5EF4-FFF2-40B4-BE49-F238E27FC236}">
                <a16:creationId xmlns:a16="http://schemas.microsoft.com/office/drawing/2014/main" id="{C62D4EEB-1B8D-49CB-B71E-5206F2748B72}"/>
              </a:ext>
            </a:extLst>
          </p:cNvPr>
          <p:cNvSpPr>
            <a:spLocks xmlns:a="http://schemas.openxmlformats.org/drawingml/2006/main" noGrp="1"/>
          </p:cNvSpPr>
          <p:nvPr/>
        </p:nvSpPr>
        <p:spPr>
          <a:xfrm xmlns:a="http://schemas.openxmlformats.org/drawingml/2006/main">
            <a:off x="7905750" y="3705225"/>
            <a:ext cx="57150" cy="121920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21" name="obs-field-2-title">
            <a:extLst xmlns:a="http://schemas.openxmlformats.org/drawingml/2006/main">
              <a:ext uri="{FF2B5EF4-FFF2-40B4-BE49-F238E27FC236}">
                <a16:creationId xmlns:a16="http://schemas.microsoft.com/office/drawing/2014/main" id="{4F2A75D1-C76A-4DB8-AEFF-0BE5B77DE6D6}"/>
              </a:ext>
            </a:extLst>
          </p:cNvPr>
          <p:cNvSpPr>
            <a:spLocks xmlns:a="http://schemas.openxmlformats.org/drawingml/2006/main" noGrp="1"/>
          </p:cNvSpPr>
          <p:nvPr/>
        </p:nvSpPr>
        <p:spPr>
          <a:xfrm xmlns:a="http://schemas.openxmlformats.org/drawingml/2006/main">
            <a:off x="8115300" y="3876675"/>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call count</a:t>
            </a:r>
          </a:p>
        </p:txBody>
      </p:sp>
      <p:sp>
        <p:nvSpPr>
          <p:cNvPr id="22" name="obs-field-2-body">
            <a:extLst xmlns:a="http://schemas.openxmlformats.org/drawingml/2006/main">
              <a:ext uri="{FF2B5EF4-FFF2-40B4-BE49-F238E27FC236}">
                <a16:creationId xmlns:a16="http://schemas.microsoft.com/office/drawing/2014/main" id="{0BEFDFA2-878C-4A02-8423-12D0B3DBD4C5}"/>
              </a:ext>
            </a:extLst>
          </p:cNvPr>
          <p:cNvSpPr>
            <a:spLocks xmlns:a="http://schemas.openxmlformats.org/drawingml/2006/main" noGrp="1"/>
          </p:cNvSpPr>
          <p:nvPr/>
        </p:nvSpPr>
        <p:spPr>
          <a:xfrm xmlns:a="http://schemas.openxmlformats.org/drawingml/2006/main">
            <a:off x="8115300" y="4371975"/>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measured per model</a:t>
            </a:r>
          </a:p>
        </p:txBody>
      </p:sp>
      <p:sp>
        <p:nvSpPr>
          <p:cNvPr id="23" name="obs-scope">
            <a:extLst xmlns:a="http://schemas.openxmlformats.org/drawingml/2006/main">
              <a:ext uri="{FF2B5EF4-FFF2-40B4-BE49-F238E27FC236}">
                <a16:creationId xmlns:a16="http://schemas.microsoft.com/office/drawing/2014/main" id="{A0712E97-8717-49DF-BAD5-910593260715}"/>
              </a:ext>
            </a:extLst>
          </p:cNvPr>
          <p:cNvSpPr>
            <a:spLocks xmlns:a="http://schemas.openxmlformats.org/drawingml/2006/main" noGrp="1"/>
          </p:cNvSpPr>
          <p:nvPr/>
        </p:nvSpPr>
        <p:spPr>
          <a:xfrm xmlns:a="http://schemas.openxmlformats.org/drawingml/2006/main">
            <a:off x="1333500" y="530542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i="0">
                <a:solidFill>
                  <a:srgbClr val="B8C1D1"/>
                </a:solidFill>
                <a:latin typeface="Avenir Next"/>
                <a:ea typeface="Avenir Next"/>
                <a:cs typeface="Avenir Next"/>
              </a:defRPr>
            </a:defPPr>
          </a:lstStyle>
          <a:p xmlns:a="http://schemas.openxmlformats.org/drawingml/2006/main">
            <a:pPr algn="ctr">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The mock model defines this trace; no live-provider invoice was measured.</a:t>
            </a:r>
          </a:p>
        </p:txBody>
      </p:sp>
    </p:spTree>
    <p:extLst>
      <p:ext uri="{BB962C8B-B14F-4D97-AF65-F5344CB8AC3E}">
        <p14:creationId xmlns:p14="http://schemas.microsoft.com/office/powerpoint/2010/main" val="1275989674"/>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s5-brand">
            <a:extLst xmlns:a="http://schemas.openxmlformats.org/drawingml/2006/main">
              <a:ext uri="{FF2B5EF4-FFF2-40B4-BE49-F238E27FC236}">
                <a16:creationId xmlns:a16="http://schemas.microsoft.com/office/drawing/2014/main" id="{92FDED13-004A-4E3B-A449-06C7FF150DEF}"/>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5-section">
            <a:extLst xmlns:a="http://schemas.openxmlformats.org/drawingml/2006/main">
              <a:ext uri="{FF2B5EF4-FFF2-40B4-BE49-F238E27FC236}">
                <a16:creationId xmlns:a16="http://schemas.microsoft.com/office/drawing/2014/main" id="{3859FB10-7BB7-4AA5-AD2F-C7C90ACD5E32}"/>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TWO GUARANTEES</a:t>
            </a:r>
          </a:p>
        </p:txBody>
      </p:sp>
      <p:sp>
        <p:nvSpPr>
          <p:cNvPr id="3" name="s5-title">
            <a:extLst xmlns:a="http://schemas.openxmlformats.org/drawingml/2006/main">
              <a:ext uri="{FF2B5EF4-FFF2-40B4-BE49-F238E27FC236}">
                <a16:creationId xmlns:a16="http://schemas.microsoft.com/office/drawing/2014/main" id="{281546DD-B693-477B-A981-309CE9B1A63A}"/>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Bounds and secrecy answer different questions</a:t>
            </a:r>
          </a:p>
        </p:txBody>
      </p:sp>
      <p:sp>
        <p:nvSpPr>
          <p:cNvPr id="4" name="s5-subtitle">
            <a:extLst xmlns:a="http://schemas.openxmlformats.org/drawingml/2006/main">
              <a:ext uri="{FF2B5EF4-FFF2-40B4-BE49-F238E27FC236}">
                <a16:creationId xmlns:a16="http://schemas.microsoft.com/office/drawing/2014/main" id="{7541A162-9BD0-43D4-9B70-97C9A43D1E55}"/>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Keep one-run resource safety separate from two-run relational safety.</a:t>
            </a:r>
          </a:p>
        </p:txBody>
      </p:sp>
      <p:sp>
        <p:nvSpPr>
          <p:cNvPr id="5" name="s5-source-rule">
            <a:extLst xmlns:a="http://schemas.openxmlformats.org/drawingml/2006/main">
              <a:ext uri="{FF2B5EF4-FFF2-40B4-BE49-F238E27FC236}">
                <a16:creationId xmlns:a16="http://schemas.microsoft.com/office/drawing/2014/main" id="{ED998A19-8A33-4DEC-8A6D-0D34DD4F49F8}"/>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5-sources">
            <a:extLst xmlns:a="http://schemas.openxmlformats.org/drawingml/2006/main">
              <a:ext uri="{FF2B5EF4-FFF2-40B4-BE49-F238E27FC236}">
                <a16:creationId xmlns:a16="http://schemas.microsoft.com/office/drawing/2014/main" id="{E1610DD0-1579-4237-88FD-B5E4F72E4216}"/>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src/cost_analyzer.cpp; src/relational.cpp; tests/tests.cpp</a:t>
            </a:r>
          </a:p>
        </p:txBody>
      </p:sp>
      <p:sp>
        <p:nvSpPr>
          <p:cNvPr id="7" name="s5-footer-rule">
            <a:extLst xmlns:a="http://schemas.openxmlformats.org/drawingml/2006/main">
              <a:ext uri="{FF2B5EF4-FFF2-40B4-BE49-F238E27FC236}">
                <a16:creationId xmlns:a16="http://schemas.microsoft.com/office/drawing/2014/main" id="{C4990B04-DB34-4CFC-A977-93E679626C33}"/>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5-footer">
            <a:extLst xmlns:a="http://schemas.openxmlformats.org/drawingml/2006/main">
              <a:ext uri="{FF2B5EF4-FFF2-40B4-BE49-F238E27FC236}">
                <a16:creationId xmlns:a16="http://schemas.microsoft.com/office/drawing/2014/main" id="{0B5DF2D7-6571-4D81-980A-33A6520A381F}"/>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5-page">
            <a:extLst xmlns:a="http://schemas.openxmlformats.org/drawingml/2006/main">
              <a:ext uri="{FF2B5EF4-FFF2-40B4-BE49-F238E27FC236}">
                <a16:creationId xmlns:a16="http://schemas.microsoft.com/office/drawing/2014/main" id="{02DECEF8-7E6B-46F0-9C12-F2C3382B90C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5</a:t>
            </a:r>
          </a:p>
        </p:txBody>
      </p:sp>
      <p:sp>
        <p:nvSpPr>
          <p:cNvPr id="10" name="guarantee-unary-panel">
            <a:extLst xmlns:a="http://schemas.openxmlformats.org/drawingml/2006/main">
              <a:ext uri="{FF2B5EF4-FFF2-40B4-BE49-F238E27FC236}">
                <a16:creationId xmlns:a16="http://schemas.microsoft.com/office/drawing/2014/main" id="{5F4A4F3F-6FD1-4EE1-891E-3D1921E3BC13}"/>
              </a:ext>
            </a:extLst>
          </p:cNvPr>
          <p:cNvSpPr>
            <a:spLocks xmlns:a="http://schemas.openxmlformats.org/drawingml/2006/main" noGrp="1"/>
          </p:cNvSpPr>
          <p:nvPr/>
        </p:nvSpPr>
        <p:spPr>
          <a:xfrm xmlns:a="http://schemas.openxmlformats.org/drawingml/2006/main">
            <a:off x="819150" y="2514600"/>
            <a:ext cx="5000625" cy="2857500"/>
          </a:xfrm>
          <a:prstGeom xmlns:a="http://schemas.openxmlformats.org/drawingml/2006/main" prst="roundRect">
            <a:avLst>
              <a:gd name="adj" fmla="val 2667"/>
            </a:avLst>
          </a:prstGeom>
          <a:solidFill xmlns:a="http://schemas.openxmlformats.org/drawingml/2006/main">
            <a:srgbClr val="FFFDF8"/>
          </a:solidFill>
          <a:ln xmlns:a="http://schemas.openxmlformats.org/drawingml/2006/main" w="9525">
            <a:solidFill>
              <a:srgbClr val="D7D0C4"/>
            </a:solidFill>
            <a:prstDash val="solid"/>
          </a:ln>
        </p:spPr>
      </p:sp>
      <p:sp>
        <p:nvSpPr>
          <p:cNvPr id="11" name="guarantee-unary-accent">
            <a:extLst xmlns:a="http://schemas.openxmlformats.org/drawingml/2006/main">
              <a:ext uri="{FF2B5EF4-FFF2-40B4-BE49-F238E27FC236}">
                <a16:creationId xmlns:a16="http://schemas.microsoft.com/office/drawing/2014/main" id="{63AC9F3C-2D16-41B4-BF5A-F00D238AF019}"/>
              </a:ext>
            </a:extLst>
          </p:cNvPr>
          <p:cNvSpPr>
            <a:spLocks xmlns:a="http://schemas.openxmlformats.org/drawingml/2006/main" noGrp="1"/>
          </p:cNvSpPr>
          <p:nvPr/>
        </p:nvSpPr>
        <p:spPr>
          <a:xfrm xmlns:a="http://schemas.openxmlformats.org/drawingml/2006/main">
            <a:off x="819150" y="2514600"/>
            <a:ext cx="57150" cy="28575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guarantee-unary-title">
            <a:extLst xmlns:a="http://schemas.openxmlformats.org/drawingml/2006/main">
              <a:ext uri="{FF2B5EF4-FFF2-40B4-BE49-F238E27FC236}">
                <a16:creationId xmlns:a16="http://schemas.microsoft.com/office/drawing/2014/main" id="{21F219DA-A6E0-4E2F-87D6-176D70408C52}"/>
              </a:ext>
            </a:extLst>
          </p:cNvPr>
          <p:cNvSpPr>
            <a:spLocks xmlns:a="http://schemas.openxmlformats.org/drawingml/2006/main" noGrp="1"/>
          </p:cNvSpPr>
          <p:nvPr/>
        </p:nvSpPr>
        <p:spPr>
          <a:xfrm xmlns:a="http://schemas.openxmlformats.org/drawingml/2006/main">
            <a:off x="1028700" y="2686050"/>
            <a:ext cx="4581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41B2B"/>
                </a:solidFill>
                <a:latin typeface="Avenir Next"/>
                <a:ea typeface="Avenir Next"/>
                <a:cs typeface="Avenir Next"/>
              </a:defRPr>
            </a:defPPr>
          </a:lstStyle>
          <a:p xmlns:a="http://schemas.openxmlformats.org/drawingml/2006/main">
            <a:pPr algn="l">
              <a:defRPr sz="1725" b="1" i="0">
                <a:solidFill>
                  <a:srgbClr val="141B2B"/>
                </a:solidFill>
                <a:latin typeface="Avenir Next"/>
                <a:ea typeface="Avenir Next"/>
                <a:cs typeface="Avenir Next"/>
              </a:defRPr>
            </a:pPr>
            <a:r>
              <a:rPr sz="1725" b="1" i="0">
                <a:solidFill>
                  <a:srgbClr val="141B2B"/>
                </a:solidFill>
                <a:latin typeface="Avenir Next"/>
                <a:ea typeface="Avenir Next"/>
                <a:cs typeface="Avenir Next"/>
              </a:rPr>
              <a:t>ONE EXECUTION</a:t>
            </a:r>
          </a:p>
        </p:txBody>
      </p:sp>
      <p:sp>
        <p:nvSpPr>
          <p:cNvPr id="13" name="guarantee-unary-body">
            <a:extLst xmlns:a="http://schemas.openxmlformats.org/drawingml/2006/main">
              <a:ext uri="{FF2B5EF4-FFF2-40B4-BE49-F238E27FC236}">
                <a16:creationId xmlns:a16="http://schemas.microsoft.com/office/drawing/2014/main" id="{54B98797-73CD-4541-AC82-30040101D2AB}"/>
              </a:ext>
            </a:extLst>
          </p:cNvPr>
          <p:cNvSpPr>
            <a:spLocks xmlns:a="http://schemas.openxmlformats.org/drawingml/2006/main" noGrp="1"/>
          </p:cNvSpPr>
          <p:nvPr/>
        </p:nvSpPr>
        <p:spPr>
          <a:xfrm xmlns:a="http://schemas.openxmlformats.org/drawingml/2006/main">
            <a:off x="1028700" y="3124200"/>
            <a:ext cx="4581525"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Question</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How much can this workflow consume?</a:t>
            </a:r>
          </a:p>
          <a:p xmlns:a="http://schemas.openxmlformats.org/drawingml/2006/main">
            <a:r>
              <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Claim</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Cost(e) ≤ B</a:t>
            </a:r>
          </a:p>
          <a:p xmlns:a="http://schemas.openxmlformats.org/drawingml/2006/main">
            <a:r>
              <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Evidence</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Structural worst-case bound</a:t>
            </a:r>
          </a:p>
        </p:txBody>
      </p:sp>
      <p:sp>
        <p:nvSpPr>
          <p:cNvPr id="14" name="guarantee-relational-panel">
            <a:extLst xmlns:a="http://schemas.openxmlformats.org/drawingml/2006/main">
              <a:ext uri="{FF2B5EF4-FFF2-40B4-BE49-F238E27FC236}">
                <a16:creationId xmlns:a16="http://schemas.microsoft.com/office/drawing/2014/main" id="{1D32C415-05F6-4B7E-A09C-797E60FF47D1}"/>
              </a:ext>
            </a:extLst>
          </p:cNvPr>
          <p:cNvSpPr>
            <a:spLocks xmlns:a="http://schemas.openxmlformats.org/drawingml/2006/main" noGrp="1"/>
          </p:cNvSpPr>
          <p:nvPr/>
        </p:nvSpPr>
        <p:spPr>
          <a:xfrm xmlns:a="http://schemas.openxmlformats.org/drawingml/2006/main">
            <a:off x="6362700" y="2514600"/>
            <a:ext cx="5000625" cy="2857500"/>
          </a:xfrm>
          <a:prstGeom xmlns:a="http://schemas.openxmlformats.org/drawingml/2006/main" prst="roundRect">
            <a:avLst>
              <a:gd name="adj" fmla="val 2667"/>
            </a:avLst>
          </a:prstGeom>
          <a:solidFill xmlns:a="http://schemas.openxmlformats.org/drawingml/2006/main">
            <a:srgbClr val="FFFDF8"/>
          </a:solidFill>
          <a:ln xmlns:a="http://schemas.openxmlformats.org/drawingml/2006/main" w="9525">
            <a:solidFill>
              <a:srgbClr val="D7D0C4"/>
            </a:solidFill>
            <a:prstDash val="solid"/>
          </a:ln>
        </p:spPr>
      </p:sp>
      <p:sp>
        <p:nvSpPr>
          <p:cNvPr id="15" name="guarantee-relational-accent">
            <a:extLst xmlns:a="http://schemas.openxmlformats.org/drawingml/2006/main">
              <a:ext uri="{FF2B5EF4-FFF2-40B4-BE49-F238E27FC236}">
                <a16:creationId xmlns:a16="http://schemas.microsoft.com/office/drawing/2014/main" id="{AA0415D7-027C-4753-BB88-903F99D81529}"/>
              </a:ext>
            </a:extLst>
          </p:cNvPr>
          <p:cNvSpPr>
            <a:spLocks xmlns:a="http://schemas.openxmlformats.org/drawingml/2006/main" noGrp="1"/>
          </p:cNvSpPr>
          <p:nvPr/>
        </p:nvSpPr>
        <p:spPr>
          <a:xfrm xmlns:a="http://schemas.openxmlformats.org/drawingml/2006/main">
            <a:off x="6362700" y="2514600"/>
            <a:ext cx="57150" cy="28575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guarantee-relational-title">
            <a:extLst xmlns:a="http://schemas.openxmlformats.org/drawingml/2006/main">
              <a:ext uri="{FF2B5EF4-FFF2-40B4-BE49-F238E27FC236}">
                <a16:creationId xmlns:a16="http://schemas.microsoft.com/office/drawing/2014/main" id="{A196F04F-1365-426D-8E9E-2AB12A21A548}"/>
              </a:ext>
            </a:extLst>
          </p:cNvPr>
          <p:cNvSpPr>
            <a:spLocks xmlns:a="http://schemas.openxmlformats.org/drawingml/2006/main" noGrp="1"/>
          </p:cNvSpPr>
          <p:nvPr/>
        </p:nvSpPr>
        <p:spPr>
          <a:xfrm xmlns:a="http://schemas.openxmlformats.org/drawingml/2006/main">
            <a:off x="6572250" y="2686050"/>
            <a:ext cx="4581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41B2B"/>
                </a:solidFill>
                <a:latin typeface="Avenir Next"/>
                <a:ea typeface="Avenir Next"/>
                <a:cs typeface="Avenir Next"/>
              </a:defRPr>
            </a:defPPr>
          </a:lstStyle>
          <a:p xmlns:a="http://schemas.openxmlformats.org/drawingml/2006/main">
            <a:pPr algn="l">
              <a:defRPr sz="1725" b="1" i="0">
                <a:solidFill>
                  <a:srgbClr val="141B2B"/>
                </a:solidFill>
                <a:latin typeface="Avenir Next"/>
                <a:ea typeface="Avenir Next"/>
                <a:cs typeface="Avenir Next"/>
              </a:defRPr>
            </a:pPr>
            <a:r>
              <a:rPr sz="1725" b="1" i="0">
                <a:solidFill>
                  <a:srgbClr val="141B2B"/>
                </a:solidFill>
                <a:latin typeface="Avenir Next"/>
                <a:ea typeface="Avenir Next"/>
                <a:cs typeface="Avenir Next"/>
              </a:rPr>
              <a:t>PAIRED EXECUTIONS</a:t>
            </a:r>
          </a:p>
        </p:txBody>
      </p:sp>
      <p:sp>
        <p:nvSpPr>
          <p:cNvPr id="17" name="guarantee-relational-body">
            <a:extLst xmlns:a="http://schemas.openxmlformats.org/drawingml/2006/main">
              <a:ext uri="{FF2B5EF4-FFF2-40B4-BE49-F238E27FC236}">
                <a16:creationId xmlns:a16="http://schemas.microsoft.com/office/drawing/2014/main" id="{C3C1D786-8319-434F-BDB9-3667C4D7A280}"/>
              </a:ext>
            </a:extLst>
          </p:cNvPr>
          <p:cNvSpPr>
            <a:spLocks xmlns:a="http://schemas.openxmlformats.org/drawingml/2006/main" noGrp="1"/>
          </p:cNvSpPr>
          <p:nvPr/>
        </p:nvSpPr>
        <p:spPr>
          <a:xfrm xmlns:a="http://schemas.openxmlformats.org/drawingml/2006/main">
            <a:off x="6572250" y="3124200"/>
            <a:ext cx="4581525"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Question</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Can changing the secret change the bill?</a:t>
            </a:r>
          </a:p>
          <a:p xmlns:a="http://schemas.openxmlformats.org/drawingml/2006/main">
            <a:r>
              <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Claim</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Obs(e₀) = Obs(e₁)</a:t>
            </a:r>
          </a:p>
          <a:p xmlns:a="http://schemas.openxmlformats.org/drawingml/2006/main">
            <a:r>
              <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Evidence</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Paired-run check under declared relation</a:t>
            </a:r>
          </a:p>
        </p:txBody>
      </p:sp>
    </p:spTree>
    <p:extLst>
      <p:ext uri="{BB962C8B-B14F-4D97-AF65-F5344CB8AC3E}">
        <p14:creationId xmlns:p14="http://schemas.microsoft.com/office/powerpoint/2010/main" val="991212187"/>
      </p:ext>
    </p:extLst>
  </p:cSld>
</p:sld>
</file>

<file path=ppt/slides/slide6.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19" name="s6-brand">
            <a:extLst xmlns:a="http://schemas.openxmlformats.org/drawingml/2006/main">
              <a:ext uri="{FF2B5EF4-FFF2-40B4-BE49-F238E27FC236}">
                <a16:creationId xmlns:a16="http://schemas.microsoft.com/office/drawing/2014/main" id="{49DC04AB-77A5-4D37-A512-6F481636C24C}"/>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6-section">
            <a:extLst xmlns:a="http://schemas.openxmlformats.org/drawingml/2006/main">
              <a:ext uri="{FF2B5EF4-FFF2-40B4-BE49-F238E27FC236}">
                <a16:creationId xmlns:a16="http://schemas.microsoft.com/office/drawing/2014/main" id="{EE8A4FB9-E1F5-4442-99B0-BB5E0E070510}"/>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COUNTEREXAMPLE</a:t>
            </a:r>
          </a:p>
        </p:txBody>
      </p:sp>
      <p:sp>
        <p:nvSpPr>
          <p:cNvPr id="3" name="s6-title">
            <a:extLst xmlns:a="http://schemas.openxmlformats.org/drawingml/2006/main">
              <a:ext uri="{FF2B5EF4-FFF2-40B4-BE49-F238E27FC236}">
                <a16:creationId xmlns:a16="http://schemas.microsoft.com/office/drawing/2014/main" id="{9374B4DA-031F-4B76-B8CD-B810E51DBC6A}"/>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Equal caps do not certify equal usage traces</a:t>
            </a:r>
          </a:p>
        </p:txBody>
      </p:sp>
      <p:sp>
        <p:nvSpPr>
          <p:cNvPr id="4" name="s6-subtitle">
            <a:extLst xmlns:a="http://schemas.openxmlformats.org/drawingml/2006/main">
              <a:ext uri="{FF2B5EF4-FFF2-40B4-BE49-F238E27FC236}">
                <a16:creationId xmlns:a16="http://schemas.microsoft.com/office/drawing/2014/main" id="{6DDED860-2F11-4445-885C-232DB3B0BEF0}"/>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A secret can choose between two fixed public values with the same declared cap.</a:t>
            </a:r>
          </a:p>
        </p:txBody>
      </p:sp>
      <p:sp>
        <p:nvSpPr>
          <p:cNvPr id="5" name="s6-source-rule">
            <a:extLst xmlns:a="http://schemas.openxmlformats.org/drawingml/2006/main">
              <a:ext uri="{FF2B5EF4-FFF2-40B4-BE49-F238E27FC236}">
                <a16:creationId xmlns:a16="http://schemas.microsoft.com/office/drawing/2014/main" id="{1FF9910D-B786-4A44-9B84-7204340FCA47}"/>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6-sources">
            <a:extLst xmlns:a="http://schemas.openxmlformats.org/drawingml/2006/main">
              <a:ext uri="{FF2B5EF4-FFF2-40B4-BE49-F238E27FC236}">
                <a16:creationId xmlns:a16="http://schemas.microsoft.com/office/drawing/2014/main" id="{FB0B9564-8D12-460A-9868-C498F9D8B69E}"/>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examples/research/rejected/equal_bounds_different_inputs.orch; src/interpreter.cpp:248-267</a:t>
            </a:r>
          </a:p>
        </p:txBody>
      </p:sp>
      <p:sp>
        <p:nvSpPr>
          <p:cNvPr id="7" name="s6-footer-rule">
            <a:extLst xmlns:a="http://schemas.openxmlformats.org/drawingml/2006/main">
              <a:ext uri="{FF2B5EF4-FFF2-40B4-BE49-F238E27FC236}">
                <a16:creationId xmlns:a16="http://schemas.microsoft.com/office/drawing/2014/main" id="{63A7E957-3C03-4DAF-B1A6-BDABC9DE4789}"/>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6-footer">
            <a:extLst xmlns:a="http://schemas.openxmlformats.org/drawingml/2006/main">
              <a:ext uri="{FF2B5EF4-FFF2-40B4-BE49-F238E27FC236}">
                <a16:creationId xmlns:a16="http://schemas.microsoft.com/office/drawing/2014/main" id="{258DC4AD-64BE-4D8F-A819-27960D7F023B}"/>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6-page">
            <a:extLst xmlns:a="http://schemas.openxmlformats.org/drawingml/2006/main">
              <a:ext uri="{FF2B5EF4-FFF2-40B4-BE49-F238E27FC236}">
                <a16:creationId xmlns:a16="http://schemas.microsoft.com/office/drawing/2014/main" id="{85074203-6BEA-4284-86A4-4B409D2D7B08}"/>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6</a:t>
            </a:r>
          </a:p>
        </p:txBody>
      </p:sp>
      <p:sp>
        <p:nvSpPr>
          <p:cNvPr id="10" name="counter-left-panel">
            <a:extLst xmlns:a="http://schemas.openxmlformats.org/drawingml/2006/main">
              <a:ext uri="{FF2B5EF4-FFF2-40B4-BE49-F238E27FC236}">
                <a16:creationId xmlns:a16="http://schemas.microsoft.com/office/drawing/2014/main" id="{1EAC0F26-7DD6-4586-9700-DE5EDFEE6E71}"/>
              </a:ext>
            </a:extLst>
          </p:cNvPr>
          <p:cNvSpPr>
            <a:spLocks xmlns:a="http://schemas.openxmlformats.org/drawingml/2006/main" noGrp="1"/>
          </p:cNvSpPr>
          <p:nvPr/>
        </p:nvSpPr>
        <p:spPr>
          <a:xfrm xmlns:a="http://schemas.openxmlformats.org/drawingml/2006/main">
            <a:off x="857250" y="2524125"/>
            <a:ext cx="4857750" cy="2762250"/>
          </a:xfrm>
          <a:prstGeom xmlns:a="http://schemas.openxmlformats.org/drawingml/2006/main" prst="roundRect">
            <a:avLst>
              <a:gd name="adj" fmla="val 2759"/>
            </a:avLst>
          </a:prstGeom>
          <a:solidFill xmlns:a="http://schemas.openxmlformats.org/drawingml/2006/main">
            <a:srgbClr val="1C2638"/>
          </a:solidFill>
          <a:ln xmlns:a="http://schemas.openxmlformats.org/drawingml/2006/main" w="9525">
            <a:solidFill>
              <a:srgbClr val="343D50"/>
            </a:solidFill>
            <a:prstDash val="solid"/>
          </a:ln>
        </p:spPr>
      </p:sp>
      <p:sp>
        <p:nvSpPr>
          <p:cNvPr id="11" name="counter-left-accent">
            <a:extLst xmlns:a="http://schemas.openxmlformats.org/drawingml/2006/main">
              <a:ext uri="{FF2B5EF4-FFF2-40B4-BE49-F238E27FC236}">
                <a16:creationId xmlns:a16="http://schemas.microsoft.com/office/drawing/2014/main" id="{B4518C56-565F-4588-A294-265BFF204EA9}"/>
              </a:ext>
            </a:extLst>
          </p:cNvPr>
          <p:cNvSpPr>
            <a:spLocks xmlns:a="http://schemas.openxmlformats.org/drawingml/2006/main" noGrp="1"/>
          </p:cNvSpPr>
          <p:nvPr/>
        </p:nvSpPr>
        <p:spPr>
          <a:xfrm xmlns:a="http://schemas.openxmlformats.org/drawingml/2006/main">
            <a:off x="857250" y="2524125"/>
            <a:ext cx="57150" cy="27622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counter-left-title">
            <a:extLst xmlns:a="http://schemas.openxmlformats.org/drawingml/2006/main">
              <a:ext uri="{FF2B5EF4-FFF2-40B4-BE49-F238E27FC236}">
                <a16:creationId xmlns:a16="http://schemas.microsoft.com/office/drawing/2014/main" id="{1FE4C2F7-734A-4BE3-A5AC-2E56128B9107}"/>
              </a:ext>
            </a:extLst>
          </p:cNvPr>
          <p:cNvSpPr>
            <a:spLocks xmlns:a="http://schemas.openxmlformats.org/drawingml/2006/main" noGrp="1"/>
          </p:cNvSpPr>
          <p:nvPr/>
        </p:nvSpPr>
        <p:spPr>
          <a:xfrm xmlns:a="http://schemas.openxmlformats.org/drawingml/2006/main">
            <a:off x="1066800" y="26955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SECRET = 0</a:t>
            </a:r>
          </a:p>
        </p:txBody>
      </p:sp>
      <p:sp>
        <p:nvSpPr>
          <p:cNvPr id="13" name="counter-left-body">
            <a:extLst xmlns:a="http://schemas.openxmlformats.org/drawingml/2006/main">
              <a:ext uri="{FF2B5EF4-FFF2-40B4-BE49-F238E27FC236}">
                <a16:creationId xmlns:a16="http://schemas.microsoft.com/office/drawing/2014/main" id="{D4DE532D-CDE4-4609-B8A6-68A598C3D93B}"/>
              </a:ext>
            </a:extLst>
          </p:cNvPr>
          <p:cNvSpPr>
            <a:spLocks xmlns:a="http://schemas.openxmlformats.org/drawingml/2006/main" noGrp="1"/>
          </p:cNvSpPr>
          <p:nvPr/>
        </p:nvSpPr>
        <p:spPr>
          <a:xfrm xmlns:a="http://schemas.openxmlformats.org/drawingml/2006/main">
            <a:off x="1066800" y="3248025"/>
            <a:ext cx="4438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B8C1D1"/>
                </a:solidFill>
                <a:latin typeface="Menlo"/>
                <a:ea typeface="Menlo"/>
                <a:cs typeface="Menlo"/>
              </a:defRPr>
            </a:defPPr>
          </a:lstStyle>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fixed public value: left_source</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cap = 32 tokens</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realized length = n</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input usage = 3 + n</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shared-oracle output = o₀</a:t>
            </a:r>
          </a:p>
        </p:txBody>
      </p:sp>
      <p:sp>
        <p:nvSpPr>
          <p:cNvPr id="14" name="counter-right-panel">
            <a:extLst xmlns:a="http://schemas.openxmlformats.org/drawingml/2006/main">
              <a:ext uri="{FF2B5EF4-FFF2-40B4-BE49-F238E27FC236}">
                <a16:creationId xmlns:a16="http://schemas.microsoft.com/office/drawing/2014/main" id="{ACF5D1E5-26D1-4694-8098-C7F3B9249761}"/>
              </a:ext>
            </a:extLst>
          </p:cNvPr>
          <p:cNvSpPr>
            <a:spLocks xmlns:a="http://schemas.openxmlformats.org/drawingml/2006/main" noGrp="1"/>
          </p:cNvSpPr>
          <p:nvPr/>
        </p:nvSpPr>
        <p:spPr>
          <a:xfrm xmlns:a="http://schemas.openxmlformats.org/drawingml/2006/main">
            <a:off x="6477000" y="2524125"/>
            <a:ext cx="4857750" cy="2762250"/>
          </a:xfrm>
          <a:prstGeom xmlns:a="http://schemas.openxmlformats.org/drawingml/2006/main" prst="roundRect">
            <a:avLst>
              <a:gd name="adj" fmla="val 2759"/>
            </a:avLst>
          </a:prstGeom>
          <a:solidFill xmlns:a="http://schemas.openxmlformats.org/drawingml/2006/main">
            <a:srgbClr val="1C2638"/>
          </a:solidFill>
          <a:ln xmlns:a="http://schemas.openxmlformats.org/drawingml/2006/main" w="9525">
            <a:solidFill>
              <a:srgbClr val="343D50"/>
            </a:solidFill>
            <a:prstDash val="solid"/>
          </a:ln>
        </p:spPr>
      </p:sp>
      <p:sp>
        <p:nvSpPr>
          <p:cNvPr id="15" name="counter-right-accent">
            <a:extLst xmlns:a="http://schemas.openxmlformats.org/drawingml/2006/main">
              <a:ext uri="{FF2B5EF4-FFF2-40B4-BE49-F238E27FC236}">
                <a16:creationId xmlns:a16="http://schemas.microsoft.com/office/drawing/2014/main" id="{A7C745F8-77EC-4F7C-B8ED-89C82B8E8E4A}"/>
              </a:ext>
            </a:extLst>
          </p:cNvPr>
          <p:cNvSpPr>
            <a:spLocks xmlns:a="http://schemas.openxmlformats.org/drawingml/2006/main" noGrp="1"/>
          </p:cNvSpPr>
          <p:nvPr/>
        </p:nvSpPr>
        <p:spPr>
          <a:xfrm xmlns:a="http://schemas.openxmlformats.org/drawingml/2006/main">
            <a:off x="6477000" y="2524125"/>
            <a:ext cx="57150" cy="27622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counter-right-title">
            <a:extLst xmlns:a="http://schemas.openxmlformats.org/drawingml/2006/main">
              <a:ext uri="{FF2B5EF4-FFF2-40B4-BE49-F238E27FC236}">
                <a16:creationId xmlns:a16="http://schemas.microsoft.com/office/drawing/2014/main" id="{39923117-1357-4FEE-8F62-350089E6BFE8}"/>
              </a:ext>
            </a:extLst>
          </p:cNvPr>
          <p:cNvSpPr>
            <a:spLocks xmlns:a="http://schemas.openxmlformats.org/drawingml/2006/main" noGrp="1"/>
          </p:cNvSpPr>
          <p:nvPr/>
        </p:nvSpPr>
        <p:spPr>
          <a:xfrm xmlns:a="http://schemas.openxmlformats.org/drawingml/2006/main">
            <a:off x="6686550" y="26955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SECRET = 1</a:t>
            </a:r>
          </a:p>
        </p:txBody>
      </p:sp>
      <p:sp>
        <p:nvSpPr>
          <p:cNvPr id="17" name="counter-right-body">
            <a:extLst xmlns:a="http://schemas.openxmlformats.org/drawingml/2006/main">
              <a:ext uri="{FF2B5EF4-FFF2-40B4-BE49-F238E27FC236}">
                <a16:creationId xmlns:a16="http://schemas.microsoft.com/office/drawing/2014/main" id="{242DC802-0F54-4AEE-A1CD-D0254CFD168D}"/>
              </a:ext>
            </a:extLst>
          </p:cNvPr>
          <p:cNvSpPr>
            <a:spLocks xmlns:a="http://schemas.openxmlformats.org/drawingml/2006/main" noGrp="1"/>
          </p:cNvSpPr>
          <p:nvPr/>
        </p:nvSpPr>
        <p:spPr>
          <a:xfrm xmlns:a="http://schemas.openxmlformats.org/drawingml/2006/main">
            <a:off x="6686550" y="3248025"/>
            <a:ext cx="4438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B8C1D1"/>
                </a:solidFill>
                <a:latin typeface="Menlo"/>
                <a:ea typeface="Menlo"/>
                <a:cs typeface="Menlo"/>
              </a:defRPr>
            </a:defPPr>
          </a:lstStyle>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fixed public value: right_source</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cap = 32 tokens</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realized length = m</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input usage = 3 + m</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shared-oracle output = o₀</a:t>
            </a:r>
          </a:p>
        </p:txBody>
      </p:sp>
      <p:sp>
        <p:nvSpPr>
          <p:cNvPr id="18" name="counter-equal-caps">
            <a:extLst xmlns:a="http://schemas.openxmlformats.org/drawingml/2006/main">
              <a:ext uri="{FF2B5EF4-FFF2-40B4-BE49-F238E27FC236}">
                <a16:creationId xmlns:a16="http://schemas.microsoft.com/office/drawing/2014/main" id="{9C80D842-AEF1-45B5-96FE-726B484BAB2E}"/>
              </a:ext>
            </a:extLst>
          </p:cNvPr>
          <p:cNvSpPr>
            <a:spLocks xmlns:a="http://schemas.openxmlformats.org/drawingml/2006/main" noGrp="1"/>
          </p:cNvSpPr>
          <p:nvPr/>
        </p:nvSpPr>
        <p:spPr>
          <a:xfrm xmlns:a="http://schemas.openxmlformats.org/drawingml/2006/main">
            <a:off x="1143000" y="54768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D9CBB6"/>
                </a:solidFill>
                <a:latin typeface="Avenir Next"/>
                <a:ea typeface="Avenir Next"/>
                <a:cs typeface="Avenir Next"/>
              </a:defRPr>
            </a:defPPr>
          </a:lstStyle>
          <a:p xmlns:a="http://schemas.openxmlformats.org/drawingml/2006/main">
            <a:pPr algn="ctr">
              <a:defRPr sz="1350" b="1" i="0">
                <a:solidFill>
                  <a:srgbClr val="D9CBB6"/>
                </a:solidFill>
                <a:latin typeface="Avenir Next"/>
                <a:ea typeface="Avenir Next"/>
                <a:cs typeface="Avenir Next"/>
              </a:defRPr>
            </a:pPr>
            <a:r>
              <a:rPr sz="1350" b="1" i="0">
                <a:solidFill>
                  <a:srgbClr val="D9CBB6"/>
                </a:solidFill>
                <a:latin typeface="Avenir Next"/>
                <a:ea typeface="Avenir Next"/>
                <a:cs typeface="Avenir Next"/>
              </a:rPr>
              <a:t>same per-call envelope: input ≤ 35 · output ≤ 4 · calls = 1</a:t>
            </a:r>
          </a:p>
        </p:txBody>
      </p:sp>
    </p:spTree>
    <p:extLst>
      <p:ext uri="{BB962C8B-B14F-4D97-AF65-F5344CB8AC3E}">
        <p14:creationId xmlns:p14="http://schemas.microsoft.com/office/powerpoint/2010/main" val="905054597"/>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s7-brand">
            <a:extLst xmlns:a="http://schemas.openxmlformats.org/drawingml/2006/main">
              <a:ext uri="{FF2B5EF4-FFF2-40B4-BE49-F238E27FC236}">
                <a16:creationId xmlns:a16="http://schemas.microsoft.com/office/drawing/2014/main" id="{02862316-AAB1-4B28-BC5D-096D2C599A56}"/>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7-section">
            <a:extLst xmlns:a="http://schemas.openxmlformats.org/drawingml/2006/main">
              <a:ext uri="{FF2B5EF4-FFF2-40B4-BE49-F238E27FC236}">
                <a16:creationId xmlns:a16="http://schemas.microsoft.com/office/drawing/2014/main" id="{7FFE8FA5-CE5F-46D6-AC1E-21140A55170B}"/>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WHY THE RULE FAILS</a:t>
            </a:r>
          </a:p>
        </p:txBody>
      </p:sp>
      <p:sp>
        <p:nvSpPr>
          <p:cNvPr id="3" name="s7-title">
            <a:extLst xmlns:a="http://schemas.openxmlformats.org/drawingml/2006/main">
              <a:ext uri="{FF2B5EF4-FFF2-40B4-BE49-F238E27FC236}">
                <a16:creationId xmlns:a16="http://schemas.microsoft.com/office/drawing/2014/main" id="{DF80BF00-7A59-4BDB-83E6-57DBE250E0A1}"/>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A shared ceiling says nothing about the realized pair</a:t>
            </a:r>
          </a:p>
        </p:txBody>
      </p:sp>
      <p:sp>
        <p:nvSpPr>
          <p:cNvPr id="4" name="s7-subtitle">
            <a:extLst xmlns:a="http://schemas.openxmlformats.org/drawingml/2006/main">
              <a:ext uri="{FF2B5EF4-FFF2-40B4-BE49-F238E27FC236}">
                <a16:creationId xmlns:a16="http://schemas.microsoft.com/office/drawing/2014/main" id="{93D0F5AB-355B-4AEF-AD58-3405FCB36EC6}"/>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public fixture stays fixed; only the secret changes the selected value.</a:t>
            </a:r>
          </a:p>
        </p:txBody>
      </p:sp>
      <p:sp>
        <p:nvSpPr>
          <p:cNvPr id="5" name="s7-source-rule">
            <a:extLst xmlns:a="http://schemas.openxmlformats.org/drawingml/2006/main">
              <a:ext uri="{FF2B5EF4-FFF2-40B4-BE49-F238E27FC236}">
                <a16:creationId xmlns:a16="http://schemas.microsoft.com/office/drawing/2014/main" id="{DAF9B63E-D6FE-45D9-BCAF-E987AB16EA8A}"/>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7-sources">
            <a:extLst xmlns:a="http://schemas.openxmlformats.org/drawingml/2006/main">
              <a:ext uri="{FF2B5EF4-FFF2-40B4-BE49-F238E27FC236}">
                <a16:creationId xmlns:a16="http://schemas.microsoft.com/office/drawing/2014/main" id="{469FD48A-6A69-4FA8-AAD3-A09FF6F08456}"/>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examples/research/rejected/equal_bounds_different_inputs.orch; include/semantic_analyzer.hpp:24; src/interpreter.cpp:248-267</a:t>
            </a:r>
          </a:p>
        </p:txBody>
      </p:sp>
      <p:sp>
        <p:nvSpPr>
          <p:cNvPr id="7" name="s7-footer-rule">
            <a:extLst xmlns:a="http://schemas.openxmlformats.org/drawingml/2006/main">
              <a:ext uri="{FF2B5EF4-FFF2-40B4-BE49-F238E27FC236}">
                <a16:creationId xmlns:a16="http://schemas.microsoft.com/office/drawing/2014/main" id="{0375BAB7-DE11-414D-9EE8-A6D053313328}"/>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7-footer">
            <a:extLst xmlns:a="http://schemas.openxmlformats.org/drawingml/2006/main">
              <a:ext uri="{FF2B5EF4-FFF2-40B4-BE49-F238E27FC236}">
                <a16:creationId xmlns:a16="http://schemas.microsoft.com/office/drawing/2014/main" id="{873E2C0E-F2A8-4A14-B6A9-BEED05172F87}"/>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7-page">
            <a:extLst xmlns:a="http://schemas.openxmlformats.org/drawingml/2006/main">
              <a:ext uri="{FF2B5EF4-FFF2-40B4-BE49-F238E27FC236}">
                <a16:creationId xmlns:a16="http://schemas.microsoft.com/office/drawing/2014/main" id="{F7D3F42D-12A4-42AF-8294-BEC5AD190DC3}"/>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7</a:t>
            </a:r>
          </a:p>
        </p:txBody>
      </p:sp>
      <p:sp>
        <p:nvSpPr>
          <p:cNvPr id="10" name="cap-envelope-panel">
            <a:extLst xmlns:a="http://schemas.openxmlformats.org/drawingml/2006/main">
              <a:ext uri="{FF2B5EF4-FFF2-40B4-BE49-F238E27FC236}">
                <a16:creationId xmlns:a16="http://schemas.microsoft.com/office/drawing/2014/main" id="{1C35CB11-2E15-431E-88A6-095BCEBEE504}"/>
              </a:ext>
            </a:extLst>
          </p:cNvPr>
          <p:cNvSpPr>
            <a:spLocks xmlns:a="http://schemas.openxmlformats.org/drawingml/2006/main" noGrp="1"/>
          </p:cNvSpPr>
          <p:nvPr/>
        </p:nvSpPr>
        <p:spPr>
          <a:xfrm xmlns:a="http://schemas.openxmlformats.org/drawingml/2006/main">
            <a:off x="1257300" y="2438400"/>
            <a:ext cx="9677400" cy="904875"/>
          </a:xfrm>
          <a:prstGeom xmlns:a="http://schemas.openxmlformats.org/drawingml/2006/main" prst="roundRect">
            <a:avLst>
              <a:gd name="adj" fmla="val 8421"/>
            </a:avLst>
          </a:prstGeom>
          <a:solidFill xmlns:a="http://schemas.openxmlformats.org/drawingml/2006/main">
            <a:srgbClr val="FFFDF8"/>
          </a:solidFill>
          <a:ln xmlns:a="http://schemas.openxmlformats.org/drawingml/2006/main" w="9525">
            <a:solidFill>
              <a:srgbClr val="D7D0C4"/>
            </a:solidFill>
            <a:prstDash val="solid"/>
          </a:ln>
        </p:spPr>
      </p:sp>
      <p:sp>
        <p:nvSpPr>
          <p:cNvPr id="11" name="cap-envelope-accent">
            <a:extLst xmlns:a="http://schemas.openxmlformats.org/drawingml/2006/main">
              <a:ext uri="{FF2B5EF4-FFF2-40B4-BE49-F238E27FC236}">
                <a16:creationId xmlns:a16="http://schemas.microsoft.com/office/drawing/2014/main" id="{7804A14F-9CDB-43A1-BB25-E454A08A4F84}"/>
              </a:ext>
            </a:extLst>
          </p:cNvPr>
          <p:cNvSpPr>
            <a:spLocks xmlns:a="http://schemas.openxmlformats.org/drawingml/2006/main" noGrp="1"/>
          </p:cNvSpPr>
          <p:nvPr/>
        </p:nvSpPr>
        <p:spPr>
          <a:xfrm xmlns:a="http://schemas.openxmlformats.org/drawingml/2006/main">
            <a:off x="1257300" y="2438400"/>
            <a:ext cx="57150" cy="904875"/>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cap-envelope-title">
            <a:extLst xmlns:a="http://schemas.openxmlformats.org/drawingml/2006/main">
              <a:ext uri="{FF2B5EF4-FFF2-40B4-BE49-F238E27FC236}">
                <a16:creationId xmlns:a16="http://schemas.microsoft.com/office/drawing/2014/main" id="{33641B48-5CF7-47A4-B654-CFF427ED5A43}"/>
              </a:ext>
            </a:extLst>
          </p:cNvPr>
          <p:cNvSpPr>
            <a:spLocks xmlns:a="http://schemas.openxmlformats.org/drawingml/2006/main" noGrp="1"/>
          </p:cNvSpPr>
          <p:nvPr/>
        </p:nvSpPr>
        <p:spPr>
          <a:xfrm xmlns:a="http://schemas.openxmlformats.org/drawingml/2006/main">
            <a:off x="1466850" y="2609850"/>
            <a:ext cx="925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BOTH ARMS HAVE THE SAME DECLARED ENVELOPE</a:t>
            </a:r>
          </a:p>
        </p:txBody>
      </p:sp>
      <p:sp>
        <p:nvSpPr>
          <p:cNvPr id="13" name="cap-envelope-body">
            <a:extLst xmlns:a="http://schemas.openxmlformats.org/drawingml/2006/main">
              <a:ext uri="{FF2B5EF4-FFF2-40B4-BE49-F238E27FC236}">
                <a16:creationId xmlns:a16="http://schemas.microsoft.com/office/drawing/2014/main" id="{366A0B74-4431-4633-BC9B-8095A57F898B}"/>
              </a:ext>
            </a:extLst>
          </p:cNvPr>
          <p:cNvSpPr>
            <a:spLocks xmlns:a="http://schemas.openxmlformats.org/drawingml/2006/main" noGrp="1"/>
          </p:cNvSpPr>
          <p:nvPr/>
        </p:nvSpPr>
        <p:spPr>
          <a:xfrm xmlns:a="http://schemas.openxmlformats.org/drawingml/2006/main">
            <a:off x="1466850" y="2943225"/>
            <a:ext cx="925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646B7A"/>
                </a:solidFill>
                <a:latin typeface="Menlo"/>
                <a:ea typeface="Menlo"/>
                <a:cs typeface="Menlo"/>
              </a:defRPr>
            </a:defPPr>
          </a:lstStyle>
          <a:p xmlns:a="http://schemas.openxmlformats.org/drawingml/2006/main">
            <a:pPr algn="l">
              <a:defRPr sz="1500" b="0" i="0">
                <a:solidFill>
                  <a:srgbClr val="646B7A"/>
                </a:solidFill>
                <a:latin typeface="Menlo"/>
                <a:ea typeface="Menlo"/>
                <a:cs typeface="Menlo"/>
              </a:defRPr>
            </a:pPr>
            <a:r>
              <a:rPr sz="1500" b="0" i="0">
                <a:solidFill>
                  <a:srgbClr val="646B7A"/>
                </a:solidFill>
                <a:latin typeface="Menlo"/>
                <a:ea typeface="Menlo"/>
                <a:cs typeface="Menlo"/>
              </a:rPr>
              <a:t>input ≤ 35 estimated tokens   ·   output ≤ 4 tokens   ·   calls = 1</a:t>
            </a:r>
          </a:p>
        </p:txBody>
      </p:sp>
      <p:sp>
        <p:nvSpPr>
          <p:cNvPr id="14" name="cap-branch-a-panel">
            <a:extLst xmlns:a="http://schemas.openxmlformats.org/drawingml/2006/main">
              <a:ext uri="{FF2B5EF4-FFF2-40B4-BE49-F238E27FC236}">
                <a16:creationId xmlns:a16="http://schemas.microsoft.com/office/drawing/2014/main" id="{CCF074B9-1F25-40E1-BD46-37BC6084329B}"/>
              </a:ext>
            </a:extLst>
          </p:cNvPr>
          <p:cNvSpPr>
            <a:spLocks xmlns:a="http://schemas.openxmlformats.org/drawingml/2006/main" noGrp="1"/>
          </p:cNvSpPr>
          <p:nvPr/>
        </p:nvSpPr>
        <p:spPr>
          <a:xfrm xmlns:a="http://schemas.openxmlformats.org/drawingml/2006/main">
            <a:off x="1238250" y="3695700"/>
            <a:ext cx="4552950" cy="1162050"/>
          </a:xfrm>
          <a:prstGeom xmlns:a="http://schemas.openxmlformats.org/drawingml/2006/main" prst="roundRect">
            <a:avLst>
              <a:gd name="adj" fmla="val 6557"/>
            </a:avLst>
          </a:prstGeom>
          <a:solidFill xmlns:a="http://schemas.openxmlformats.org/drawingml/2006/main">
            <a:srgbClr val="FFFDF8"/>
          </a:solidFill>
          <a:ln xmlns:a="http://schemas.openxmlformats.org/drawingml/2006/main" w="9525">
            <a:solidFill>
              <a:srgbClr val="D7D0C4"/>
            </a:solidFill>
            <a:prstDash val="solid"/>
          </a:ln>
        </p:spPr>
      </p:sp>
      <p:sp>
        <p:nvSpPr>
          <p:cNvPr id="15" name="cap-branch-a-accent">
            <a:extLst xmlns:a="http://schemas.openxmlformats.org/drawingml/2006/main">
              <a:ext uri="{FF2B5EF4-FFF2-40B4-BE49-F238E27FC236}">
                <a16:creationId xmlns:a16="http://schemas.microsoft.com/office/drawing/2014/main" id="{2FBF9046-C5AB-4EFD-822F-DBE7590431E8}"/>
              </a:ext>
            </a:extLst>
          </p:cNvPr>
          <p:cNvSpPr>
            <a:spLocks xmlns:a="http://schemas.openxmlformats.org/drawingml/2006/main" noGrp="1"/>
          </p:cNvSpPr>
          <p:nvPr/>
        </p:nvSpPr>
        <p:spPr>
          <a:xfrm xmlns:a="http://schemas.openxmlformats.org/drawingml/2006/main">
            <a:off x="1238250" y="3695700"/>
            <a:ext cx="57150" cy="11620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cap-branch-a-title">
            <a:extLst xmlns:a="http://schemas.openxmlformats.org/drawingml/2006/main">
              <a:ext uri="{FF2B5EF4-FFF2-40B4-BE49-F238E27FC236}">
                <a16:creationId xmlns:a16="http://schemas.microsoft.com/office/drawing/2014/main" id="{9A7FA44E-DC1B-4D00-9875-47AC9489C83C}"/>
              </a:ext>
            </a:extLst>
          </p:cNvPr>
          <p:cNvSpPr>
            <a:spLocks xmlns:a="http://schemas.openxmlformats.org/drawingml/2006/main" noGrp="1"/>
          </p:cNvSpPr>
          <p:nvPr/>
        </p:nvSpPr>
        <p:spPr>
          <a:xfrm xmlns:a="http://schemas.openxmlformats.org/drawingml/2006/main">
            <a:off x="1447800" y="3867150"/>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41B2B"/>
                </a:solidFill>
                <a:latin typeface="Avenir Next"/>
                <a:ea typeface="Avenir Next"/>
                <a:cs typeface="Avenir Next"/>
              </a:defRPr>
            </a:defPPr>
          </a:lstStyle>
          <a:p xmlns:a="http://schemas.openxmlformats.org/drawingml/2006/main">
            <a:pPr algn="l">
              <a:defRPr sz="1575" b="1" i="0">
                <a:solidFill>
                  <a:srgbClr val="141B2B"/>
                </a:solidFill>
                <a:latin typeface="Avenir Next"/>
                <a:ea typeface="Avenir Next"/>
                <a:cs typeface="Avenir Next"/>
              </a:defRPr>
            </a:pPr>
            <a:r>
              <a:rPr sz="1575" b="1" i="0">
                <a:solidFill>
                  <a:srgbClr val="141B2B"/>
                </a:solidFill>
                <a:latin typeface="Avenir Next"/>
                <a:ea typeface="Avenir Next"/>
                <a:cs typeface="Avenir Next"/>
              </a:rPr>
              <a:t>SECRET = 0</a:t>
            </a:r>
          </a:p>
        </p:txBody>
      </p:sp>
      <p:sp>
        <p:nvSpPr>
          <p:cNvPr id="17" name="cap-branch-a-body">
            <a:extLst xmlns:a="http://schemas.openxmlformats.org/drawingml/2006/main">
              <a:ext uri="{FF2B5EF4-FFF2-40B4-BE49-F238E27FC236}">
                <a16:creationId xmlns:a16="http://schemas.microsoft.com/office/drawing/2014/main" id="{518A892A-F91E-44DE-AB28-A07168AA3F55}"/>
              </a:ext>
            </a:extLst>
          </p:cNvPr>
          <p:cNvSpPr>
            <a:spLocks xmlns:a="http://schemas.openxmlformats.org/drawingml/2006/main" noGrp="1"/>
          </p:cNvSpPr>
          <p:nvPr/>
        </p:nvSpPr>
        <p:spPr>
          <a:xfrm xmlns:a="http://schemas.openxmlformats.org/drawingml/2006/main">
            <a:off x="1447800" y="4200525"/>
            <a:ext cx="41338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Menlo"/>
                <a:ea typeface="Menlo"/>
                <a:cs typeface="Menlo"/>
              </a:defRPr>
            </a:defPPr>
          </a:lstStyle>
          <a:p xmlns:a="http://schemas.openxmlformats.org/drawingml/2006/main">
            <a:pPr algn="l">
              <a:defRPr sz="1313" b="0" i="0">
                <a:solidFill>
                  <a:srgbClr val="646B7A"/>
                </a:solidFill>
                <a:latin typeface="Menlo"/>
                <a:ea typeface="Menlo"/>
                <a:cs typeface="Menlo"/>
              </a:defRPr>
            </a:pPr>
            <a:r>
              <a:rPr sz="1313" b="0" i="0">
                <a:solidFill>
                  <a:srgbClr val="646B7A"/>
                </a:solidFill>
                <a:latin typeface="Menlo"/>
                <a:ea typeface="Menlo"/>
                <a:cs typeface="Menlo"/>
              </a:rPr>
              <a:t>input usage = 3 + n</a:t>
            </a:r>
          </a:p>
          <a:p xmlns:a="http://schemas.openxmlformats.org/drawingml/2006/main">
            <a:pPr algn="l">
              <a:defRPr sz="1313" b="0" i="0">
                <a:solidFill>
                  <a:srgbClr val="646B7A"/>
                </a:solidFill>
                <a:latin typeface="Menlo"/>
                <a:ea typeface="Menlo"/>
                <a:cs typeface="Menlo"/>
              </a:defRPr>
            </a:pPr>
            <a:r>
              <a:rPr sz="1313" b="0" i="0">
                <a:solidFill>
                  <a:srgbClr val="646B7A"/>
                </a:solidFill>
                <a:latin typeface="Menlo"/>
                <a:ea typeface="Menlo"/>
                <a:cs typeface="Menlo"/>
              </a:rPr>
              <a:t>output = o₀  ·  default oracle at i=0</a:t>
            </a:r>
          </a:p>
        </p:txBody>
      </p:sp>
      <p:sp>
        <p:nvSpPr>
          <p:cNvPr id="18" name="cap-branch-b-panel">
            <a:extLst xmlns:a="http://schemas.openxmlformats.org/drawingml/2006/main">
              <a:ext uri="{FF2B5EF4-FFF2-40B4-BE49-F238E27FC236}">
                <a16:creationId xmlns:a16="http://schemas.microsoft.com/office/drawing/2014/main" id="{FB481A7D-C0BE-4E92-902E-F9062220A6CC}"/>
              </a:ext>
            </a:extLst>
          </p:cNvPr>
          <p:cNvSpPr>
            <a:spLocks xmlns:a="http://schemas.openxmlformats.org/drawingml/2006/main" noGrp="1"/>
          </p:cNvSpPr>
          <p:nvPr/>
        </p:nvSpPr>
        <p:spPr>
          <a:xfrm xmlns:a="http://schemas.openxmlformats.org/drawingml/2006/main">
            <a:off x="6400800" y="3695700"/>
            <a:ext cx="4552950" cy="1162050"/>
          </a:xfrm>
          <a:prstGeom xmlns:a="http://schemas.openxmlformats.org/drawingml/2006/main" prst="roundRect">
            <a:avLst>
              <a:gd name="adj" fmla="val 6557"/>
            </a:avLst>
          </a:prstGeom>
          <a:solidFill xmlns:a="http://schemas.openxmlformats.org/drawingml/2006/main">
            <a:srgbClr val="FFFDF8"/>
          </a:solidFill>
          <a:ln xmlns:a="http://schemas.openxmlformats.org/drawingml/2006/main" w="9525">
            <a:solidFill>
              <a:srgbClr val="D7D0C4"/>
            </a:solidFill>
            <a:prstDash val="solid"/>
          </a:ln>
        </p:spPr>
      </p:sp>
      <p:sp>
        <p:nvSpPr>
          <p:cNvPr id="19" name="cap-branch-b-accent">
            <a:extLst xmlns:a="http://schemas.openxmlformats.org/drawingml/2006/main">
              <a:ext uri="{FF2B5EF4-FFF2-40B4-BE49-F238E27FC236}">
                <a16:creationId xmlns:a16="http://schemas.microsoft.com/office/drawing/2014/main" id="{7016C333-F773-4022-9A72-61756C827909}"/>
              </a:ext>
            </a:extLst>
          </p:cNvPr>
          <p:cNvSpPr>
            <a:spLocks xmlns:a="http://schemas.openxmlformats.org/drawingml/2006/main" noGrp="1"/>
          </p:cNvSpPr>
          <p:nvPr/>
        </p:nvSpPr>
        <p:spPr>
          <a:xfrm xmlns:a="http://schemas.openxmlformats.org/drawingml/2006/main">
            <a:off x="6400800" y="3695700"/>
            <a:ext cx="57150" cy="11620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0" name="cap-branch-b-title">
            <a:extLst xmlns:a="http://schemas.openxmlformats.org/drawingml/2006/main">
              <a:ext uri="{FF2B5EF4-FFF2-40B4-BE49-F238E27FC236}">
                <a16:creationId xmlns:a16="http://schemas.microsoft.com/office/drawing/2014/main" id="{7AAD5BC1-9A1A-4E7C-8E08-09B2C63554CD}"/>
              </a:ext>
            </a:extLst>
          </p:cNvPr>
          <p:cNvSpPr>
            <a:spLocks xmlns:a="http://schemas.openxmlformats.org/drawingml/2006/main" noGrp="1"/>
          </p:cNvSpPr>
          <p:nvPr/>
        </p:nvSpPr>
        <p:spPr>
          <a:xfrm xmlns:a="http://schemas.openxmlformats.org/drawingml/2006/main">
            <a:off x="6610350" y="3867150"/>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41B2B"/>
                </a:solidFill>
                <a:latin typeface="Avenir Next"/>
                <a:ea typeface="Avenir Next"/>
                <a:cs typeface="Avenir Next"/>
              </a:defRPr>
            </a:defPPr>
          </a:lstStyle>
          <a:p xmlns:a="http://schemas.openxmlformats.org/drawingml/2006/main">
            <a:pPr algn="l">
              <a:defRPr sz="1575" b="1" i="0">
                <a:solidFill>
                  <a:srgbClr val="141B2B"/>
                </a:solidFill>
                <a:latin typeface="Avenir Next"/>
                <a:ea typeface="Avenir Next"/>
                <a:cs typeface="Avenir Next"/>
              </a:defRPr>
            </a:pPr>
            <a:r>
              <a:rPr sz="1575" b="1" i="0">
                <a:solidFill>
                  <a:srgbClr val="141B2B"/>
                </a:solidFill>
                <a:latin typeface="Avenir Next"/>
                <a:ea typeface="Avenir Next"/>
                <a:cs typeface="Avenir Next"/>
              </a:rPr>
              <a:t>SECRET = 1</a:t>
            </a:r>
          </a:p>
        </p:txBody>
      </p:sp>
      <p:sp>
        <p:nvSpPr>
          <p:cNvPr id="21" name="cap-branch-b-body">
            <a:extLst xmlns:a="http://schemas.openxmlformats.org/drawingml/2006/main">
              <a:ext uri="{FF2B5EF4-FFF2-40B4-BE49-F238E27FC236}">
                <a16:creationId xmlns:a16="http://schemas.microsoft.com/office/drawing/2014/main" id="{37F4D7FB-B6A8-4CAF-AF9D-6406B52ED25F}"/>
              </a:ext>
            </a:extLst>
          </p:cNvPr>
          <p:cNvSpPr>
            <a:spLocks xmlns:a="http://schemas.openxmlformats.org/drawingml/2006/main" noGrp="1"/>
          </p:cNvSpPr>
          <p:nvPr/>
        </p:nvSpPr>
        <p:spPr>
          <a:xfrm xmlns:a="http://schemas.openxmlformats.org/drawingml/2006/main">
            <a:off x="6610350" y="4200525"/>
            <a:ext cx="41338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Menlo"/>
                <a:ea typeface="Menlo"/>
                <a:cs typeface="Menlo"/>
              </a:defRPr>
            </a:defPPr>
          </a:lstStyle>
          <a:p xmlns:a="http://schemas.openxmlformats.org/drawingml/2006/main">
            <a:pPr algn="l">
              <a:defRPr sz="1313" b="0" i="0">
                <a:solidFill>
                  <a:srgbClr val="646B7A"/>
                </a:solidFill>
                <a:latin typeface="Menlo"/>
                <a:ea typeface="Menlo"/>
                <a:cs typeface="Menlo"/>
              </a:defRPr>
            </a:pPr>
            <a:r>
              <a:rPr sz="1313" b="0" i="0">
                <a:solidFill>
                  <a:srgbClr val="646B7A"/>
                </a:solidFill>
                <a:latin typeface="Menlo"/>
                <a:ea typeface="Menlo"/>
                <a:cs typeface="Menlo"/>
              </a:rPr>
              <a:t>input usage = 3 + m</a:t>
            </a:r>
          </a:p>
          <a:p xmlns:a="http://schemas.openxmlformats.org/drawingml/2006/main">
            <a:pPr algn="l">
              <a:defRPr sz="1313" b="0" i="0">
                <a:solidFill>
                  <a:srgbClr val="646B7A"/>
                </a:solidFill>
                <a:latin typeface="Menlo"/>
                <a:ea typeface="Menlo"/>
                <a:cs typeface="Menlo"/>
              </a:defRPr>
            </a:pPr>
            <a:r>
              <a:rPr sz="1313" b="0" i="0">
                <a:solidFill>
                  <a:srgbClr val="646B7A"/>
                </a:solidFill>
                <a:latin typeface="Menlo"/>
                <a:ea typeface="Menlo"/>
                <a:cs typeface="Menlo"/>
              </a:rPr>
              <a:t>output = o₀  ·  default oracle at i=0</a:t>
            </a:r>
          </a:p>
        </p:txBody>
      </p:sp>
      <p:sp>
        <p:nvSpPr>
          <p:cNvPr id="22" name="cap-lesson">
            <a:extLst xmlns:a="http://schemas.openxmlformats.org/drawingml/2006/main">
              <a:ext uri="{FF2B5EF4-FFF2-40B4-BE49-F238E27FC236}">
                <a16:creationId xmlns:a16="http://schemas.microsoft.com/office/drawing/2014/main" id="{6E049FAD-E2BB-408D-B25F-C5D0F7B3D912}"/>
              </a:ext>
            </a:extLst>
          </p:cNvPr>
          <p:cNvSpPr>
            <a:spLocks xmlns:a="http://schemas.openxmlformats.org/drawingml/2006/main" noGrp="1"/>
          </p:cNvSpPr>
          <p:nvPr/>
        </p:nvSpPr>
        <p:spPr>
          <a:xfrm xmlns:a="http://schemas.openxmlformats.org/drawingml/2006/main">
            <a:off x="1123950" y="5257800"/>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i="0">
                <a:solidFill>
                  <a:srgbClr val="141B2B"/>
                </a:solidFill>
                <a:latin typeface="Avenir Next"/>
                <a:ea typeface="Avenir Next"/>
                <a:cs typeface="Avenir Next"/>
              </a:defRPr>
            </a:defPPr>
          </a:lstStyle>
          <a:p xmlns:a="http://schemas.openxmlformats.org/drawingml/2006/main">
            <a:pPr algn="ctr">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For a fixed public fixture where n ≠ m, the shared cap does not make the traces equal.</a:t>
            </a:r>
          </a:p>
        </p:txBody>
      </p:sp>
    </p:spTree>
    <p:extLst>
      <p:ext uri="{BB962C8B-B14F-4D97-AF65-F5344CB8AC3E}">
        <p14:creationId xmlns:p14="http://schemas.microsoft.com/office/powerpoint/2010/main" val="1377693625"/>
      </p:ext>
    </p:extLst>
  </p:cSld>
</p:sld>
</file>

<file path=ppt/slides/slide8.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19333D7F-59D0-46AA-819D-597079F06136}"/>
              </a:ext>
            </a:extLst>
          </p:cNvPr>
          <p:cNvCxnSpPr>
            <a:stCxn xmlns:a="http://schemas.openxmlformats.org/drawingml/2006/main" id="14" idx="1"/>
            <a:endCxn xmlns:a="http://schemas.openxmlformats.org/drawingml/2006/main" id="10" idx="3"/>
          </p:cNvCxnSpPr>
          <p:nvPr/>
        </p:nvCxnSpPr>
        <p:spPr>
          <a:xfrm xmlns:a="http://schemas.openxmlformats.org/drawingml/2006/main" flipH="1">
            <a:off x="4514850" y="3771900"/>
            <a:ext cx="3162300" cy="0"/>
          </a:xfrm>
          <a:prstGeom xmlns:a="http://schemas.openxmlformats.org/drawingml/2006/main" prst="straightConnector1">
            <a:avLst/>
          </a:prstGeom>
          <a:ln xmlns:a="http://schemas.openxmlformats.org/drawingml/2006/main" w="19050">
            <a:solidFill>
              <a:srgbClr val="D9CBB6"/>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94D3318A-A90F-47EA-89AD-9C9B11177A0D}"/>
              </a:ext>
            </a:extLst>
          </p:cNvPr>
          <p:cNvCxnSpPr>
            <a:stCxn xmlns:a="http://schemas.openxmlformats.org/drawingml/2006/main" id="10" idx="3"/>
            <a:endCxn xmlns:a="http://schemas.openxmlformats.org/drawingml/2006/main" id="14" idx="1"/>
          </p:cNvCxnSpPr>
          <p:nvPr/>
        </p:nvCxnSpPr>
        <p:spPr>
          <a:xfrm xmlns:a="http://schemas.openxmlformats.org/drawingml/2006/main">
            <a:off x="4514850" y="3771900"/>
            <a:ext cx="3162300" cy="0"/>
          </a:xfrm>
          <a:prstGeom xmlns:a="http://schemas.openxmlformats.org/drawingml/2006/main" prst="straightConnector1">
            <a:avLst/>
          </a:prstGeom>
          <a:ln xmlns:a="http://schemas.openxmlformats.org/drawingml/2006/main" w="19050">
            <a:solidFill>
              <a:srgbClr val="D9CBB6"/>
            </a:solidFill>
            <a:prstDash val="solid"/>
            <a:tailEnd type="triangle" w="sm" len="sm"/>
          </a:ln>
        </p:spPr>
      </p:cxnSp>
      <p:sp>
        <p:nvSpPr>
          <p:cNvPr id="22" name="s8-brand">
            <a:extLst xmlns:a="http://schemas.openxmlformats.org/drawingml/2006/main">
              <a:ext uri="{FF2B5EF4-FFF2-40B4-BE49-F238E27FC236}">
                <a16:creationId xmlns:a16="http://schemas.microsoft.com/office/drawing/2014/main" id="{A253D4C1-E815-4391-80C3-9788AC67361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8-section">
            <a:extLst xmlns:a="http://schemas.openxmlformats.org/drawingml/2006/main">
              <a:ext uri="{FF2B5EF4-FFF2-40B4-BE49-F238E27FC236}">
                <a16:creationId xmlns:a16="http://schemas.microsoft.com/office/drawing/2014/main" id="{B85DE1F4-A186-4743-A48E-957BBC0E192C}"/>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COMPARISON MODEL</a:t>
            </a:r>
          </a:p>
        </p:txBody>
      </p:sp>
      <p:sp>
        <p:nvSpPr>
          <p:cNvPr id="3" name="s8-title">
            <a:extLst xmlns:a="http://schemas.openxmlformats.org/drawingml/2006/main">
              <a:ext uri="{FF2B5EF4-FFF2-40B4-BE49-F238E27FC236}">
                <a16:creationId xmlns:a16="http://schemas.microsoft.com/office/drawing/2014/main" id="{9AA943C8-0925-4754-8E08-46F349854E0A}"/>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Pair executions under a declared relation</a:t>
            </a:r>
          </a:p>
        </p:txBody>
      </p:sp>
      <p:sp>
        <p:nvSpPr>
          <p:cNvPr id="4" name="s8-subtitle">
            <a:extLst xmlns:a="http://schemas.openxmlformats.org/drawingml/2006/main">
              <a:ext uri="{FF2B5EF4-FFF2-40B4-BE49-F238E27FC236}">
                <a16:creationId xmlns:a16="http://schemas.microsoft.com/office/drawing/2014/main" id="{CAE3DDED-35D1-4EA2-A63A-EDBA3E21461B}"/>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Sourced tests use contract/index; the theorem couples contract, index, and request.</a:t>
            </a:r>
          </a:p>
        </p:txBody>
      </p:sp>
      <p:sp>
        <p:nvSpPr>
          <p:cNvPr id="5" name="s8-source-rule">
            <a:extLst xmlns:a="http://schemas.openxmlformats.org/drawingml/2006/main">
              <a:ext uri="{FF2B5EF4-FFF2-40B4-BE49-F238E27FC236}">
                <a16:creationId xmlns:a16="http://schemas.microsoft.com/office/drawing/2014/main" id="{E99FA54B-F41A-4478-97E4-DD4A0B37ABC6}"/>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8-sources">
            <a:extLst xmlns:a="http://schemas.openxmlformats.org/drawingml/2006/main">
              <a:ext uri="{FF2B5EF4-FFF2-40B4-BE49-F238E27FC236}">
                <a16:creationId xmlns:a16="http://schemas.microsoft.com/office/drawing/2014/main" id="{2AD96A47-188B-4611-B1CC-65EB20697DE4}"/>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docs/PAPER.md §4.2; src/interpreter.cpp; bench/evaluate_sourced.py; both sourced result files</a:t>
            </a:r>
          </a:p>
        </p:txBody>
      </p:sp>
      <p:sp>
        <p:nvSpPr>
          <p:cNvPr id="7" name="s8-footer-rule">
            <a:extLst xmlns:a="http://schemas.openxmlformats.org/drawingml/2006/main">
              <a:ext uri="{FF2B5EF4-FFF2-40B4-BE49-F238E27FC236}">
                <a16:creationId xmlns:a16="http://schemas.microsoft.com/office/drawing/2014/main" id="{23EE403B-AEE4-40D5-AE6C-8C9AEE386918}"/>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8-footer">
            <a:extLst xmlns:a="http://schemas.openxmlformats.org/drawingml/2006/main">
              <a:ext uri="{FF2B5EF4-FFF2-40B4-BE49-F238E27FC236}">
                <a16:creationId xmlns:a16="http://schemas.microsoft.com/office/drawing/2014/main" id="{BF2D0E7D-3B97-4D87-A95B-39A5EEC8CE08}"/>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8-page">
            <a:extLst xmlns:a="http://schemas.openxmlformats.org/drawingml/2006/main">
              <a:ext uri="{FF2B5EF4-FFF2-40B4-BE49-F238E27FC236}">
                <a16:creationId xmlns:a16="http://schemas.microsoft.com/office/drawing/2014/main" id="{350EC2DB-E6FE-4C44-B4FD-633A291DCF5F}"/>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8</a:t>
            </a:r>
          </a:p>
        </p:txBody>
      </p:sp>
      <p:sp>
        <p:nvSpPr>
          <p:cNvPr id="10" name="couple-a-panel">
            <a:extLst xmlns:a="http://schemas.openxmlformats.org/drawingml/2006/main">
              <a:ext uri="{FF2B5EF4-FFF2-40B4-BE49-F238E27FC236}">
                <a16:creationId xmlns:a16="http://schemas.microsoft.com/office/drawing/2014/main" id="{4A49EBB8-173F-4CB4-A288-21F439D58E14}"/>
              </a:ext>
            </a:extLst>
          </p:cNvPr>
          <p:cNvSpPr>
            <a:spLocks xmlns:a="http://schemas.openxmlformats.org/drawingml/2006/main" noGrp="1"/>
          </p:cNvSpPr>
          <p:nvPr/>
        </p:nvSpPr>
        <p:spPr>
          <a:xfrm xmlns:a="http://schemas.openxmlformats.org/drawingml/2006/main">
            <a:off x="800100" y="2647950"/>
            <a:ext cx="3714750" cy="2247900"/>
          </a:xfrm>
          <a:prstGeom xmlns:a="http://schemas.openxmlformats.org/drawingml/2006/main" prst="roundRect">
            <a:avLst>
              <a:gd name="adj" fmla="val 3390"/>
            </a:avLst>
          </a:prstGeom>
          <a:solidFill xmlns:a="http://schemas.openxmlformats.org/drawingml/2006/main">
            <a:srgbClr val="1C2638"/>
          </a:solidFill>
          <a:ln xmlns:a="http://schemas.openxmlformats.org/drawingml/2006/main" w="9525">
            <a:solidFill>
              <a:srgbClr val="343D50"/>
            </a:solidFill>
            <a:prstDash val="solid"/>
          </a:ln>
        </p:spPr>
      </p:sp>
      <p:sp>
        <p:nvSpPr>
          <p:cNvPr id="11" name="couple-a-accent">
            <a:extLst xmlns:a="http://schemas.openxmlformats.org/drawingml/2006/main">
              <a:ext uri="{FF2B5EF4-FFF2-40B4-BE49-F238E27FC236}">
                <a16:creationId xmlns:a16="http://schemas.microsoft.com/office/drawing/2014/main" id="{294E18A4-09EF-47B3-A1EA-B74057D8C176}"/>
              </a:ext>
            </a:extLst>
          </p:cNvPr>
          <p:cNvSpPr>
            <a:spLocks xmlns:a="http://schemas.openxmlformats.org/drawingml/2006/main" noGrp="1"/>
          </p:cNvSpPr>
          <p:nvPr/>
        </p:nvSpPr>
        <p:spPr>
          <a:xfrm xmlns:a="http://schemas.openxmlformats.org/drawingml/2006/main">
            <a:off x="800100" y="2647950"/>
            <a:ext cx="57150" cy="22479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couple-a-title">
            <a:extLst xmlns:a="http://schemas.openxmlformats.org/drawingml/2006/main">
              <a:ext uri="{FF2B5EF4-FFF2-40B4-BE49-F238E27FC236}">
                <a16:creationId xmlns:a16="http://schemas.microsoft.com/office/drawing/2014/main" id="{973F190D-8AF2-4543-9D16-091AF0E1FFBB}"/>
              </a:ext>
            </a:extLst>
          </p:cNvPr>
          <p:cNvSpPr>
            <a:spLocks xmlns:a="http://schemas.openxmlformats.org/drawingml/2006/main" noGrp="1"/>
          </p:cNvSpPr>
          <p:nvPr/>
        </p:nvSpPr>
        <p:spPr>
          <a:xfrm xmlns:a="http://schemas.openxmlformats.org/drawingml/2006/main">
            <a:off x="1009650" y="2819400"/>
            <a:ext cx="3295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EXECUTION A</a:t>
            </a:r>
          </a:p>
        </p:txBody>
      </p:sp>
      <p:sp>
        <p:nvSpPr>
          <p:cNvPr id="13" name="couple-a-body">
            <a:extLst xmlns:a="http://schemas.openxmlformats.org/drawingml/2006/main">
              <a:ext uri="{FF2B5EF4-FFF2-40B4-BE49-F238E27FC236}">
                <a16:creationId xmlns:a16="http://schemas.microsoft.com/office/drawing/2014/main" id="{3A1543E2-590C-4613-8DB7-24C49D311E86}"/>
              </a:ext>
            </a:extLst>
          </p:cNvPr>
          <p:cNvSpPr>
            <a:spLocks xmlns:a="http://schemas.openxmlformats.org/drawingml/2006/main" noGrp="1"/>
          </p:cNvSpPr>
          <p:nvPr/>
        </p:nvSpPr>
        <p:spPr>
          <a:xfrm xmlns:a="http://schemas.openxmlformats.org/drawingml/2006/main">
            <a:off x="1009650" y="3390900"/>
            <a:ext cx="32956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public inputs = p</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secret = s₀</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sourced test: ω(K, i)</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theorem mode: Ω(K, i, Q)</a:t>
            </a:r>
          </a:p>
        </p:txBody>
      </p:sp>
      <p:sp>
        <p:nvSpPr>
          <p:cNvPr id="14" name="couple-b-panel">
            <a:extLst xmlns:a="http://schemas.openxmlformats.org/drawingml/2006/main">
              <a:ext uri="{FF2B5EF4-FFF2-40B4-BE49-F238E27FC236}">
                <a16:creationId xmlns:a16="http://schemas.microsoft.com/office/drawing/2014/main" id="{36698E51-E063-4FA5-95E5-181C2FD49FAB}"/>
              </a:ext>
            </a:extLst>
          </p:cNvPr>
          <p:cNvSpPr>
            <a:spLocks xmlns:a="http://schemas.openxmlformats.org/drawingml/2006/main" noGrp="1"/>
          </p:cNvSpPr>
          <p:nvPr/>
        </p:nvSpPr>
        <p:spPr>
          <a:xfrm xmlns:a="http://schemas.openxmlformats.org/drawingml/2006/main">
            <a:off x="7677150" y="2647950"/>
            <a:ext cx="3714750" cy="2247900"/>
          </a:xfrm>
          <a:prstGeom xmlns:a="http://schemas.openxmlformats.org/drawingml/2006/main" prst="roundRect">
            <a:avLst>
              <a:gd name="adj" fmla="val 3390"/>
            </a:avLst>
          </a:prstGeom>
          <a:solidFill xmlns:a="http://schemas.openxmlformats.org/drawingml/2006/main">
            <a:srgbClr val="1C2638"/>
          </a:solidFill>
          <a:ln xmlns:a="http://schemas.openxmlformats.org/drawingml/2006/main" w="9525">
            <a:solidFill>
              <a:srgbClr val="343D50"/>
            </a:solidFill>
            <a:prstDash val="solid"/>
          </a:ln>
        </p:spPr>
      </p:sp>
      <p:sp>
        <p:nvSpPr>
          <p:cNvPr id="15" name="couple-b-accent">
            <a:extLst xmlns:a="http://schemas.openxmlformats.org/drawingml/2006/main">
              <a:ext uri="{FF2B5EF4-FFF2-40B4-BE49-F238E27FC236}">
                <a16:creationId xmlns:a16="http://schemas.microsoft.com/office/drawing/2014/main" id="{EFC0329D-1977-446A-98D7-B986B857AD5C}"/>
              </a:ext>
            </a:extLst>
          </p:cNvPr>
          <p:cNvSpPr>
            <a:spLocks xmlns:a="http://schemas.openxmlformats.org/drawingml/2006/main" noGrp="1"/>
          </p:cNvSpPr>
          <p:nvPr/>
        </p:nvSpPr>
        <p:spPr>
          <a:xfrm xmlns:a="http://schemas.openxmlformats.org/drawingml/2006/main">
            <a:off x="7677150" y="2647950"/>
            <a:ext cx="57150" cy="22479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couple-b-title">
            <a:extLst xmlns:a="http://schemas.openxmlformats.org/drawingml/2006/main">
              <a:ext uri="{FF2B5EF4-FFF2-40B4-BE49-F238E27FC236}">
                <a16:creationId xmlns:a16="http://schemas.microsoft.com/office/drawing/2014/main" id="{9A05A497-02D8-4B25-8A2A-ED0FE78E6D80}"/>
              </a:ext>
            </a:extLst>
          </p:cNvPr>
          <p:cNvSpPr>
            <a:spLocks xmlns:a="http://schemas.openxmlformats.org/drawingml/2006/main" noGrp="1"/>
          </p:cNvSpPr>
          <p:nvPr/>
        </p:nvSpPr>
        <p:spPr>
          <a:xfrm xmlns:a="http://schemas.openxmlformats.org/drawingml/2006/main">
            <a:off x="7886700" y="2819400"/>
            <a:ext cx="3295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EXECUTION B</a:t>
            </a:r>
          </a:p>
        </p:txBody>
      </p:sp>
      <p:sp>
        <p:nvSpPr>
          <p:cNvPr id="17" name="couple-b-body">
            <a:extLst xmlns:a="http://schemas.openxmlformats.org/drawingml/2006/main">
              <a:ext uri="{FF2B5EF4-FFF2-40B4-BE49-F238E27FC236}">
                <a16:creationId xmlns:a16="http://schemas.microsoft.com/office/drawing/2014/main" id="{9980679E-9FD4-49C1-BC96-E3E55AF6E328}"/>
              </a:ext>
            </a:extLst>
          </p:cNvPr>
          <p:cNvSpPr>
            <a:spLocks xmlns:a="http://schemas.openxmlformats.org/drawingml/2006/main" noGrp="1"/>
          </p:cNvSpPr>
          <p:nvPr/>
        </p:nvSpPr>
        <p:spPr>
          <a:xfrm xmlns:a="http://schemas.openxmlformats.org/drawingml/2006/main">
            <a:off x="7886700" y="3390900"/>
            <a:ext cx="32956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public inputs = p</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secret = s₁</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sourced test: ω(K, i)</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theorem mode: Ω(K, i, Q)</a:t>
            </a:r>
          </a:p>
        </p:txBody>
      </p:sp>
      <p:sp>
        <p:nvSpPr>
          <p:cNvPr id="20" name="couple-fixed">
            <a:extLst xmlns:a="http://schemas.openxmlformats.org/drawingml/2006/main">
              <a:ext uri="{FF2B5EF4-FFF2-40B4-BE49-F238E27FC236}">
                <a16:creationId xmlns:a16="http://schemas.microsoft.com/office/drawing/2014/main" id="{207648D3-E704-4537-96C3-477F0379658C}"/>
              </a:ext>
            </a:extLst>
          </p:cNvPr>
          <p:cNvSpPr>
            <a:spLocks xmlns:a="http://schemas.openxmlformats.org/drawingml/2006/main" noGrp="1"/>
          </p:cNvSpPr>
          <p:nvPr/>
        </p:nvSpPr>
        <p:spPr>
          <a:xfrm xmlns:a="http://schemas.openxmlformats.org/drawingml/2006/main">
            <a:off x="5191125" y="2933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5CC8B8"/>
                </a:solidFill>
                <a:latin typeface="Avenir Next"/>
                <a:ea typeface="Avenir Next"/>
                <a:cs typeface="Avenir Next"/>
              </a:defRPr>
            </a:defPPr>
          </a:lstStyle>
          <a:p xmlns:a="http://schemas.openxmlformats.org/drawingml/2006/main">
            <a:pPr algn="ct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FIXED</a:t>
            </a:r>
          </a:p>
        </p:txBody>
      </p:sp>
      <p:sp>
        <p:nvSpPr>
          <p:cNvPr id="21" name="couple-result">
            <a:extLst xmlns:a="http://schemas.openxmlformats.org/drawingml/2006/main">
              <a:ext uri="{FF2B5EF4-FFF2-40B4-BE49-F238E27FC236}">
                <a16:creationId xmlns:a16="http://schemas.microsoft.com/office/drawing/2014/main" id="{68AEB582-07D7-44B9-994C-9AFF67BD4723}"/>
              </a:ext>
            </a:extLst>
          </p:cNvPr>
          <p:cNvSpPr>
            <a:spLocks xmlns:a="http://schemas.openxmlformats.org/drawingml/2006/main" noGrp="1"/>
          </p:cNvSpPr>
          <p:nvPr/>
        </p:nvSpPr>
        <p:spPr>
          <a:xfrm xmlns:a="http://schemas.openxmlformats.org/drawingml/2006/main">
            <a:off x="1524000" y="531495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K = resolved contract   ·   i = per-contract call index   ·   Q = DSL abstract request</a:t>
            </a:r>
          </a:p>
        </p:txBody>
      </p:sp>
    </p:spTree>
    <p:extLst>
      <p:ext uri="{BB962C8B-B14F-4D97-AF65-F5344CB8AC3E}">
        <p14:creationId xmlns:p14="http://schemas.microsoft.com/office/powerpoint/2010/main" val="1844781587"/>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s9-brand">
            <a:extLst xmlns:a="http://schemas.openxmlformats.org/drawingml/2006/main">
              <a:ext uri="{FF2B5EF4-FFF2-40B4-BE49-F238E27FC236}">
                <a16:creationId xmlns:a16="http://schemas.microsoft.com/office/drawing/2014/main" id="{C7E38E34-405E-423C-A30E-6DCE39C18D3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9-section">
            <a:extLst xmlns:a="http://schemas.openxmlformats.org/drawingml/2006/main">
              <a:ext uri="{FF2B5EF4-FFF2-40B4-BE49-F238E27FC236}">
                <a16:creationId xmlns:a16="http://schemas.microsoft.com/office/drawing/2014/main" id="{989D572A-15EC-424B-89B5-A94921B4667A}"/>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ABSTRACTION</a:t>
            </a:r>
          </a:p>
        </p:txBody>
      </p:sp>
      <p:sp>
        <p:nvSpPr>
          <p:cNvPr id="3" name="s9-title">
            <a:extLst xmlns:a="http://schemas.openxmlformats.org/drawingml/2006/main">
              <a:ext uri="{FF2B5EF4-FFF2-40B4-BE49-F238E27FC236}">
                <a16:creationId xmlns:a16="http://schemas.microsoft.com/office/drawing/2014/main" id="{0B6A39E4-AAAF-4339-AF58-C74EF146BFF1}"/>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Match the DSL request to a resolved model</a:t>
            </a:r>
          </a:p>
        </p:txBody>
      </p:sp>
      <p:sp>
        <p:nvSpPr>
          <p:cNvPr id="4" name="s9-subtitle">
            <a:extLst xmlns:a="http://schemas.openxmlformats.org/drawingml/2006/main">
              <a:ext uri="{FF2B5EF4-FFF2-40B4-BE49-F238E27FC236}">
                <a16:creationId xmlns:a16="http://schemas.microsoft.com/office/drawing/2014/main" id="{D15A0492-CD9E-4AC6-8F05-23841113E183}"/>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Exact template bytes and ordered argument relations; provider payload details stay outside scope.</a:t>
            </a:r>
          </a:p>
        </p:txBody>
      </p:sp>
      <p:sp>
        <p:nvSpPr>
          <p:cNvPr id="5" name="s9-source-rule">
            <a:extLst xmlns:a="http://schemas.openxmlformats.org/drawingml/2006/main">
              <a:ext uri="{FF2B5EF4-FFF2-40B4-BE49-F238E27FC236}">
                <a16:creationId xmlns:a16="http://schemas.microsoft.com/office/drawing/2014/main" id="{98153573-CCC2-489D-B5A2-E50942C7CE3E}"/>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9-sources">
            <a:extLst xmlns:a="http://schemas.openxmlformats.org/drawingml/2006/main">
              <a:ext uri="{FF2B5EF4-FFF2-40B4-BE49-F238E27FC236}">
                <a16:creationId xmlns:a16="http://schemas.microsoft.com/office/drawing/2014/main" id="{8551E855-F867-4AAA-8D69-49E7C62AFED5}"/>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docs/PAPER.md §4.3; include/relational.hpp; src/relational.cpp; src/semantic_analyzer.cpp</a:t>
            </a:r>
          </a:p>
        </p:txBody>
      </p:sp>
      <p:sp>
        <p:nvSpPr>
          <p:cNvPr id="7" name="s9-footer-rule">
            <a:extLst xmlns:a="http://schemas.openxmlformats.org/drawingml/2006/main">
              <a:ext uri="{FF2B5EF4-FFF2-40B4-BE49-F238E27FC236}">
                <a16:creationId xmlns:a16="http://schemas.microsoft.com/office/drawing/2014/main" id="{E9F94D44-CD5C-4BB7-977B-EA90D9AE8FCA}"/>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9-footer">
            <a:extLst xmlns:a="http://schemas.openxmlformats.org/drawingml/2006/main">
              <a:ext uri="{FF2B5EF4-FFF2-40B4-BE49-F238E27FC236}">
                <a16:creationId xmlns:a16="http://schemas.microsoft.com/office/drawing/2014/main" id="{3D2599D3-A14A-4731-BE1A-3A936BED3223}"/>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9-page">
            <a:extLst xmlns:a="http://schemas.openxmlformats.org/drawingml/2006/main">
              <a:ext uri="{FF2B5EF4-FFF2-40B4-BE49-F238E27FC236}">
                <a16:creationId xmlns:a16="http://schemas.microsoft.com/office/drawing/2014/main" id="{43C9099F-FB25-424A-9FB5-5F844283122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9</a:t>
            </a:r>
          </a:p>
        </p:txBody>
      </p:sp>
      <p:sp>
        <p:nvSpPr>
          <p:cNvPr id="10" name="sig-left-label-pill">
            <a:extLst xmlns:a="http://schemas.openxmlformats.org/drawingml/2006/main">
              <a:ext uri="{FF2B5EF4-FFF2-40B4-BE49-F238E27FC236}">
                <a16:creationId xmlns:a16="http://schemas.microsoft.com/office/drawing/2014/main" id="{7D002C45-2572-4E26-8989-7B1FA3F8498C}"/>
              </a:ext>
            </a:extLst>
          </p:cNvPr>
          <p:cNvSpPr>
            <a:spLocks xmlns:a="http://schemas.openxmlformats.org/drawingml/2006/main" noGrp="1"/>
          </p:cNvSpPr>
          <p:nvPr/>
        </p:nvSpPr>
        <p:spPr>
          <a:xfrm xmlns:a="http://schemas.openxmlformats.org/drawingml/2006/main">
            <a:off x="876300" y="2400300"/>
            <a:ext cx="1047750" cy="266700"/>
          </a:xfrm>
          <a:prstGeom xmlns:a="http://schemas.openxmlformats.org/drawingml/2006/main" prst="roundRect">
            <a:avLst>
              <a:gd name="adj" fmla="val 35714"/>
            </a:avLst>
          </a:prstGeom>
          <a:solidFill xmlns:a="http://schemas.openxmlformats.org/drawingml/2006/main">
            <a:srgbClr val="D9CBB6"/>
          </a:solidFill>
          <a:ln xmlns:a="http://schemas.openxmlformats.org/drawingml/2006/main" w="0">
            <a:noFill/>
            <a:prstDash val="solid"/>
          </a:ln>
        </p:spPr>
      </p:sp>
      <p:sp>
        <p:nvSpPr>
          <p:cNvPr id="11" name="sig-left-label-text">
            <a:extLst xmlns:a="http://schemas.openxmlformats.org/drawingml/2006/main">
              <a:ext uri="{FF2B5EF4-FFF2-40B4-BE49-F238E27FC236}">
                <a16:creationId xmlns:a16="http://schemas.microsoft.com/office/drawing/2014/main" id="{3940EEF4-41F8-4224-9026-515ED670B2C9}"/>
              </a:ext>
            </a:extLst>
          </p:cNvPr>
          <p:cNvSpPr>
            <a:spLocks xmlns:a="http://schemas.openxmlformats.org/drawingml/2006/main" noGrp="1"/>
          </p:cNvSpPr>
          <p:nvPr/>
        </p:nvSpPr>
        <p:spPr>
          <a:xfrm xmlns:a="http://schemas.openxmlformats.org/drawingml/2006/main">
            <a:off x="971550" y="24479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141B2B"/>
                </a:solidFill>
                <a:latin typeface="Avenir Next"/>
                <a:ea typeface="Avenir Next"/>
                <a:cs typeface="Avenir Next"/>
              </a:defRPr>
            </a:defPPr>
          </a:lstStyle>
          <a:p xmlns:a="http://schemas.openxmlformats.org/drawingml/2006/main">
            <a:pPr algn="ctr">
              <a:defRPr sz="975" b="1" i="0">
                <a:solidFill>
                  <a:srgbClr val="141B2B"/>
                </a:solidFill>
                <a:latin typeface="Avenir Next"/>
                <a:ea typeface="Avenir Next"/>
                <a:cs typeface="Avenir Next"/>
              </a:defRPr>
            </a:pPr>
            <a:r>
              <a:rPr sz="975" b="1" i="0">
                <a:solidFill>
                  <a:srgbClr val="141B2B"/>
                </a:solidFill>
                <a:latin typeface="Avenir Next"/>
                <a:ea typeface="Avenir Next"/>
                <a:cs typeface="Avenir Next"/>
              </a:rPr>
              <a:t>ARM 0</a:t>
            </a:r>
          </a:p>
        </p:txBody>
      </p:sp>
      <p:sp>
        <p:nvSpPr>
          <p:cNvPr id="12" name="sig-right-label-pill">
            <a:extLst xmlns:a="http://schemas.openxmlformats.org/drawingml/2006/main">
              <a:ext uri="{FF2B5EF4-FFF2-40B4-BE49-F238E27FC236}">
                <a16:creationId xmlns:a16="http://schemas.microsoft.com/office/drawing/2014/main" id="{F71AAC41-F4C8-45BB-9B94-8B78FC407BEE}"/>
              </a:ext>
            </a:extLst>
          </p:cNvPr>
          <p:cNvSpPr>
            <a:spLocks xmlns:a="http://schemas.openxmlformats.org/drawingml/2006/main" noGrp="1"/>
          </p:cNvSpPr>
          <p:nvPr/>
        </p:nvSpPr>
        <p:spPr>
          <a:xfrm xmlns:a="http://schemas.openxmlformats.org/drawingml/2006/main">
            <a:off x="876300" y="4057650"/>
            <a:ext cx="1047750" cy="266700"/>
          </a:xfrm>
          <a:prstGeom xmlns:a="http://schemas.openxmlformats.org/drawingml/2006/main" prst="roundRect">
            <a:avLst>
              <a:gd name="adj" fmla="val 35714"/>
            </a:avLst>
          </a:prstGeom>
          <a:solidFill xmlns:a="http://schemas.openxmlformats.org/drawingml/2006/main">
            <a:srgbClr val="5CC8B8"/>
          </a:solidFill>
          <a:ln xmlns:a="http://schemas.openxmlformats.org/drawingml/2006/main" w="0">
            <a:noFill/>
            <a:prstDash val="solid"/>
          </a:ln>
        </p:spPr>
      </p:sp>
      <p:sp>
        <p:nvSpPr>
          <p:cNvPr id="13" name="sig-right-label-text">
            <a:extLst xmlns:a="http://schemas.openxmlformats.org/drawingml/2006/main">
              <a:ext uri="{FF2B5EF4-FFF2-40B4-BE49-F238E27FC236}">
                <a16:creationId xmlns:a16="http://schemas.microsoft.com/office/drawing/2014/main" id="{A61F39AE-5F98-4AA2-8F35-77CD8C18CD41}"/>
              </a:ext>
            </a:extLst>
          </p:cNvPr>
          <p:cNvSpPr>
            <a:spLocks xmlns:a="http://schemas.openxmlformats.org/drawingml/2006/main" noGrp="1"/>
          </p:cNvSpPr>
          <p:nvPr/>
        </p:nvSpPr>
        <p:spPr>
          <a:xfrm xmlns:a="http://schemas.openxmlformats.org/drawingml/2006/main">
            <a:off x="971550" y="41052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141B2B"/>
                </a:solidFill>
                <a:latin typeface="Avenir Next"/>
                <a:ea typeface="Avenir Next"/>
                <a:cs typeface="Avenir Next"/>
              </a:defRPr>
            </a:defPPr>
          </a:lstStyle>
          <a:p xmlns:a="http://schemas.openxmlformats.org/drawingml/2006/main">
            <a:pPr algn="ctr">
              <a:defRPr sz="975" b="1" i="0">
                <a:solidFill>
                  <a:srgbClr val="141B2B"/>
                </a:solidFill>
                <a:latin typeface="Avenir Next"/>
                <a:ea typeface="Avenir Next"/>
                <a:cs typeface="Avenir Next"/>
              </a:defRPr>
            </a:pPr>
            <a:r>
              <a:rPr sz="975" b="1" i="0">
                <a:solidFill>
                  <a:srgbClr val="141B2B"/>
                </a:solidFill>
                <a:latin typeface="Avenir Next"/>
                <a:ea typeface="Avenir Next"/>
                <a:cs typeface="Avenir Next"/>
              </a:rPr>
              <a:t>ARM 1</a:t>
            </a:r>
          </a:p>
        </p:txBody>
      </p:sp>
      <p:sp>
        <p:nvSpPr>
          <p:cNvPr id="14" name="sig-arm0-panel">
            <a:extLst xmlns:a="http://schemas.openxmlformats.org/drawingml/2006/main">
              <a:ext uri="{FF2B5EF4-FFF2-40B4-BE49-F238E27FC236}">
                <a16:creationId xmlns:a16="http://schemas.microsoft.com/office/drawing/2014/main" id="{C555EB8E-FF3E-443B-8B1E-1ED30F77C4A2}"/>
              </a:ext>
            </a:extLst>
          </p:cNvPr>
          <p:cNvSpPr>
            <a:spLocks xmlns:a="http://schemas.openxmlformats.org/drawingml/2006/main" noGrp="1"/>
          </p:cNvSpPr>
          <p:nvPr/>
        </p:nvSpPr>
        <p:spPr>
          <a:xfrm xmlns:a="http://schemas.openxmlformats.org/drawingml/2006/main">
            <a:off x="2171700" y="2305050"/>
            <a:ext cx="91249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9525">
            <a:solidFill>
              <a:srgbClr val="D7D0C4"/>
            </a:solidFill>
            <a:prstDash val="solid"/>
          </a:ln>
        </p:spPr>
      </p:sp>
      <p:sp>
        <p:nvSpPr>
          <p:cNvPr id="15" name="sig-arm0-accent">
            <a:extLst xmlns:a="http://schemas.openxmlformats.org/drawingml/2006/main">
              <a:ext uri="{FF2B5EF4-FFF2-40B4-BE49-F238E27FC236}">
                <a16:creationId xmlns:a16="http://schemas.microsoft.com/office/drawing/2014/main" id="{E600877F-17BF-46E8-A2F7-0A675AB6C85E}"/>
              </a:ext>
            </a:extLst>
          </p:cNvPr>
          <p:cNvSpPr>
            <a:spLocks xmlns:a="http://schemas.openxmlformats.org/drawingml/2006/main" noGrp="1"/>
          </p:cNvSpPr>
          <p:nvPr/>
        </p:nvSpPr>
        <p:spPr>
          <a:xfrm xmlns:a="http://schemas.openxmlformats.org/drawingml/2006/main">
            <a:off x="2171700" y="2305050"/>
            <a:ext cx="57150" cy="10668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6" name="sig-arm0-title">
            <a:extLst xmlns:a="http://schemas.openxmlformats.org/drawingml/2006/main">
              <a:ext uri="{FF2B5EF4-FFF2-40B4-BE49-F238E27FC236}">
                <a16:creationId xmlns:a16="http://schemas.microsoft.com/office/drawing/2014/main" id="{92FE0815-7C87-4765-B154-CC685241BD4B}"/>
              </a:ext>
            </a:extLst>
          </p:cNvPr>
          <p:cNvSpPr>
            <a:spLocks xmlns:a="http://schemas.openxmlformats.org/drawingml/2006/main" noGrp="1"/>
          </p:cNvSpPr>
          <p:nvPr/>
        </p:nvSpPr>
        <p:spPr>
          <a:xfrm xmlns:a="http://schemas.openxmlformats.org/drawingml/2006/main">
            <a:off x="2381250" y="2476500"/>
            <a:ext cx="870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call event</a:t>
            </a:r>
          </a:p>
        </p:txBody>
      </p:sp>
      <p:sp>
        <p:nvSpPr>
          <p:cNvPr id="17" name="sig-arm0-body">
            <a:extLst xmlns:a="http://schemas.openxmlformats.org/drawingml/2006/main">
              <a:ext uri="{FF2B5EF4-FFF2-40B4-BE49-F238E27FC236}">
                <a16:creationId xmlns:a16="http://schemas.microsoft.com/office/drawing/2014/main" id="{FE92C7C4-8B52-47E0-B2F3-311842763170}"/>
              </a:ext>
            </a:extLst>
          </p:cNvPr>
          <p:cNvSpPr>
            <a:spLocks xmlns:a="http://schemas.openxmlformats.org/drawingml/2006/main" noGrp="1"/>
          </p:cNvSpPr>
          <p:nvPr/>
        </p:nvSpPr>
        <p:spPr>
          <a:xfrm xmlns:a="http://schemas.openxmlformats.org/drawingml/2006/main">
            <a:off x="2381250" y="2771775"/>
            <a:ext cx="87058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646B7A"/>
                </a:solidFill>
                <a:latin typeface="Menlo"/>
                <a:ea typeface="Menlo"/>
                <a:cs typeface="Menlo"/>
              </a:defRPr>
            </a:defPPr>
          </a:lstStyle>
          <a:p xmlns:a="http://schemas.openxmlformats.org/drawingml/2006/main">
            <a:pPr algn="l">
              <a:defRPr sz="1425" b="0" i="0">
                <a:solidFill>
                  <a:srgbClr val="646B7A"/>
                </a:solidFill>
                <a:latin typeface="Menlo"/>
                <a:ea typeface="Menlo"/>
                <a:cs typeface="Menlo"/>
              </a:defRPr>
            </a:pPr>
            <a:r>
              <a:rPr sz="1425" b="0" i="0">
                <a:solidFill>
                  <a:srgbClr val="646B7A"/>
                </a:solidFill>
                <a:latin typeface="Menlo"/>
                <a:ea typeface="Menlo"/>
                <a:cs typeface="Menlo"/>
              </a:rPr>
              <a:t>contract=K  ·  template="reply {ticket}"  ·  args=[outer(ticket#7)]</a:t>
            </a:r>
          </a:p>
        </p:txBody>
      </p:sp>
      <p:sp>
        <p:nvSpPr>
          <p:cNvPr id="18" name="sig-arm1-panel">
            <a:extLst xmlns:a="http://schemas.openxmlformats.org/drawingml/2006/main">
              <a:ext uri="{FF2B5EF4-FFF2-40B4-BE49-F238E27FC236}">
                <a16:creationId xmlns:a16="http://schemas.microsoft.com/office/drawing/2014/main" id="{923DC6EE-79EC-4DD8-AE78-1A088A8E9CBE}"/>
              </a:ext>
            </a:extLst>
          </p:cNvPr>
          <p:cNvSpPr>
            <a:spLocks xmlns:a="http://schemas.openxmlformats.org/drawingml/2006/main" noGrp="1"/>
          </p:cNvSpPr>
          <p:nvPr/>
        </p:nvSpPr>
        <p:spPr>
          <a:xfrm xmlns:a="http://schemas.openxmlformats.org/drawingml/2006/main">
            <a:off x="2171700" y="3962400"/>
            <a:ext cx="91249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9525">
            <a:solidFill>
              <a:srgbClr val="D7D0C4"/>
            </a:solidFill>
            <a:prstDash val="solid"/>
          </a:ln>
        </p:spPr>
      </p:sp>
      <p:sp>
        <p:nvSpPr>
          <p:cNvPr id="19" name="sig-arm1-accent">
            <a:extLst xmlns:a="http://schemas.openxmlformats.org/drawingml/2006/main">
              <a:ext uri="{FF2B5EF4-FFF2-40B4-BE49-F238E27FC236}">
                <a16:creationId xmlns:a16="http://schemas.microsoft.com/office/drawing/2014/main" id="{BD06B49E-02F3-4B50-8E96-B2009A3679E7}"/>
              </a:ext>
            </a:extLst>
          </p:cNvPr>
          <p:cNvSpPr>
            <a:spLocks xmlns:a="http://schemas.openxmlformats.org/drawingml/2006/main" noGrp="1"/>
          </p:cNvSpPr>
          <p:nvPr/>
        </p:nvSpPr>
        <p:spPr>
          <a:xfrm xmlns:a="http://schemas.openxmlformats.org/drawingml/2006/main">
            <a:off x="2171700" y="3962400"/>
            <a:ext cx="57150" cy="10668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0" name="sig-arm1-title">
            <a:extLst xmlns:a="http://schemas.openxmlformats.org/drawingml/2006/main">
              <a:ext uri="{FF2B5EF4-FFF2-40B4-BE49-F238E27FC236}">
                <a16:creationId xmlns:a16="http://schemas.microsoft.com/office/drawing/2014/main" id="{DFB239A2-3A65-4549-BA8C-B51672968A48}"/>
              </a:ext>
            </a:extLst>
          </p:cNvPr>
          <p:cNvSpPr>
            <a:spLocks xmlns:a="http://schemas.openxmlformats.org/drawingml/2006/main" noGrp="1"/>
          </p:cNvSpPr>
          <p:nvPr/>
        </p:nvSpPr>
        <p:spPr>
          <a:xfrm xmlns:a="http://schemas.openxmlformats.org/drawingml/2006/main">
            <a:off x="2381250" y="4133850"/>
            <a:ext cx="870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call event</a:t>
            </a:r>
          </a:p>
        </p:txBody>
      </p:sp>
      <p:sp>
        <p:nvSpPr>
          <p:cNvPr id="21" name="sig-arm1-body">
            <a:extLst xmlns:a="http://schemas.openxmlformats.org/drawingml/2006/main">
              <a:ext uri="{FF2B5EF4-FFF2-40B4-BE49-F238E27FC236}">
                <a16:creationId xmlns:a16="http://schemas.microsoft.com/office/drawing/2014/main" id="{939A6CC3-66CC-4129-B2D0-90851D0F6A97}"/>
              </a:ext>
            </a:extLst>
          </p:cNvPr>
          <p:cNvSpPr>
            <a:spLocks xmlns:a="http://schemas.openxmlformats.org/drawingml/2006/main" noGrp="1"/>
          </p:cNvSpPr>
          <p:nvPr/>
        </p:nvSpPr>
        <p:spPr>
          <a:xfrm xmlns:a="http://schemas.openxmlformats.org/drawingml/2006/main">
            <a:off x="2381250" y="4429125"/>
            <a:ext cx="87058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646B7A"/>
                </a:solidFill>
                <a:latin typeface="Menlo"/>
                <a:ea typeface="Menlo"/>
                <a:cs typeface="Menlo"/>
              </a:defRPr>
            </a:defPPr>
          </a:lstStyle>
          <a:p xmlns:a="http://schemas.openxmlformats.org/drawingml/2006/main">
            <a:pPr algn="l">
              <a:defRPr sz="1425" b="0" i="0">
                <a:solidFill>
                  <a:srgbClr val="646B7A"/>
                </a:solidFill>
                <a:latin typeface="Menlo"/>
                <a:ea typeface="Menlo"/>
                <a:cs typeface="Menlo"/>
              </a:defRPr>
            </a:pPr>
            <a:r>
              <a:rPr sz="1425" b="0" i="0">
                <a:solidFill>
                  <a:srgbClr val="646B7A"/>
                </a:solidFill>
                <a:latin typeface="Menlo"/>
                <a:ea typeface="Menlo"/>
                <a:cs typeface="Menlo"/>
              </a:rPr>
              <a:t>contract=K  ·  template="reply {ticket}"  ·  args=[outer(ticket#7)]</a:t>
            </a:r>
          </a:p>
        </p:txBody>
      </p:sp>
      <p:sp>
        <p:nvSpPr>
          <p:cNvPr id="22" name="sig-equal">
            <a:extLst xmlns:a="http://schemas.openxmlformats.org/drawingml/2006/main">
              <a:ext uri="{FF2B5EF4-FFF2-40B4-BE49-F238E27FC236}">
                <a16:creationId xmlns:a16="http://schemas.microsoft.com/office/drawing/2014/main" id="{933DEF49-270F-42F5-B9BA-31857A44EE96}"/>
              </a:ext>
            </a:extLst>
          </p:cNvPr>
          <p:cNvSpPr>
            <a:spLocks xmlns:a="http://schemas.openxmlformats.org/drawingml/2006/main" noGrp="1"/>
          </p:cNvSpPr>
          <p:nvPr/>
        </p:nvSpPr>
        <p:spPr>
          <a:xfrm xmlns:a="http://schemas.openxmlformats.org/drawingml/2006/main">
            <a:off x="2857500" y="531495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i="0">
                <a:solidFill>
                  <a:srgbClr val="1F6F66"/>
                </a:solidFill>
                <a:latin typeface="Avenir Next"/>
                <a:ea typeface="Avenir Next"/>
                <a:cs typeface="Avenir Next"/>
              </a:defRPr>
            </a:defPPr>
          </a:lstStyle>
          <a:p xmlns:a="http://schemas.openxmlformats.org/drawingml/2006/main">
            <a:pPr algn="ctr">
              <a:defRPr sz="1500" b="1" i="0">
                <a:solidFill>
                  <a:srgbClr val="1F6F66"/>
                </a:solidFill>
                <a:latin typeface="Avenir Next"/>
                <a:ea typeface="Avenir Next"/>
                <a:cs typeface="Avenir Next"/>
              </a:defRPr>
            </a:pPr>
            <a:r>
              <a:rPr sz="1500" b="1" i="0">
                <a:solidFill>
                  <a:srgbClr val="1F6F66"/>
                </a:solidFill>
                <a:latin typeface="Avenir Next"/>
                <a:ea typeface="Avenir Next"/>
                <a:cs typeface="Avenir Next"/>
              </a:rPr>
              <a:t>same ordered request-and-billing structure</a:t>
            </a:r>
          </a:p>
        </p:txBody>
      </p:sp>
    </p:spTree>
    <p:extLst>
      <p:ext uri="{BB962C8B-B14F-4D97-AF65-F5344CB8AC3E}">
        <p14:creationId xmlns:p14="http://schemas.microsoft.com/office/powerpoint/2010/main" val="1872601760"/>
      </p:ext>
    </p:extLst>
  </p:cSld>
</p:sld>
</file>

<file path=ppt/slides/slide10.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19" name="s10-brand">
            <a:extLst xmlns:a="http://schemas.openxmlformats.org/drawingml/2006/main">
              <a:ext uri="{FF2B5EF4-FFF2-40B4-BE49-F238E27FC236}">
                <a16:creationId xmlns:a16="http://schemas.microsoft.com/office/drawing/2014/main" id="{B29FE278-926F-47A8-8F77-BAA05B5BDF2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0-section">
            <a:extLst xmlns:a="http://schemas.openxmlformats.org/drawingml/2006/main">
              <a:ext uri="{FF2B5EF4-FFF2-40B4-BE49-F238E27FC236}">
                <a16:creationId xmlns:a16="http://schemas.microsoft.com/office/drawing/2014/main" id="{370AA2D2-9A20-4350-91A6-32115BF99A7F}"/>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CHECKING RULE</a:t>
            </a:r>
          </a:p>
        </p:txBody>
      </p:sp>
      <p:sp>
        <p:nvSpPr>
          <p:cNvPr id="3" name="s10-title">
            <a:extLst xmlns:a="http://schemas.openxmlformats.org/drawingml/2006/main">
              <a:ext uri="{FF2B5EF4-FFF2-40B4-BE49-F238E27FC236}">
                <a16:creationId xmlns:a16="http://schemas.microsoft.com/office/drawing/2014/main" id="{768A1BBE-A60A-4617-99E7-4AB9D45B7798}"/>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secret branch passes only when its signatures align</a:t>
            </a:r>
          </a:p>
        </p:txBody>
      </p:sp>
      <p:sp>
        <p:nvSpPr>
          <p:cNvPr id="4" name="s10-subtitle">
            <a:extLst xmlns:a="http://schemas.openxmlformats.org/drawingml/2006/main">
              <a:ext uri="{FF2B5EF4-FFF2-40B4-BE49-F238E27FC236}">
                <a16:creationId xmlns:a16="http://schemas.microsoft.com/office/drawing/2014/main" id="{68BCC1B5-48F3-4FE9-964A-85CE2E35E4F8}"/>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The rule checks equality under the declared shared-oracle contract.</a:t>
            </a:r>
          </a:p>
        </p:txBody>
      </p:sp>
      <p:sp>
        <p:nvSpPr>
          <p:cNvPr id="5" name="s10-source-rule">
            <a:extLst xmlns:a="http://schemas.openxmlformats.org/drawingml/2006/main">
              <a:ext uri="{FF2B5EF4-FFF2-40B4-BE49-F238E27FC236}">
                <a16:creationId xmlns:a16="http://schemas.microsoft.com/office/drawing/2014/main" id="{12519A8A-B03E-4FDF-BBE8-6354EF0FB89F}"/>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0-sources">
            <a:extLst xmlns:a="http://schemas.openxmlformats.org/drawingml/2006/main">
              <a:ext uri="{FF2B5EF4-FFF2-40B4-BE49-F238E27FC236}">
                <a16:creationId xmlns:a16="http://schemas.microsoft.com/office/drawing/2014/main" id="{EC4F16AA-E276-40D9-A5F9-9AB6C469F9BB}"/>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docs/FORMAL_CONTRACT.md §4; include/relational.hpp; src/relational.cpp; tests/tests.cpp (E236 cases)</a:t>
            </a:r>
          </a:p>
        </p:txBody>
      </p:sp>
      <p:sp>
        <p:nvSpPr>
          <p:cNvPr id="7" name="s10-footer-rule">
            <a:extLst xmlns:a="http://schemas.openxmlformats.org/drawingml/2006/main">
              <a:ext uri="{FF2B5EF4-FFF2-40B4-BE49-F238E27FC236}">
                <a16:creationId xmlns:a16="http://schemas.microsoft.com/office/drawing/2014/main" id="{553AD6EC-EFF2-43C3-B112-E40EDF2801BC}"/>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0-footer">
            <a:extLst xmlns:a="http://schemas.openxmlformats.org/drawingml/2006/main">
              <a:ext uri="{FF2B5EF4-FFF2-40B4-BE49-F238E27FC236}">
                <a16:creationId xmlns:a16="http://schemas.microsoft.com/office/drawing/2014/main" id="{5399A4E0-8B41-47EE-BD97-95A1A6F26B8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0-page">
            <a:extLst xmlns:a="http://schemas.openxmlformats.org/drawingml/2006/main">
              <a:ext uri="{FF2B5EF4-FFF2-40B4-BE49-F238E27FC236}">
                <a16:creationId xmlns:a16="http://schemas.microsoft.com/office/drawing/2014/main" id="{A6EFDA86-9DF8-4D34-9249-1E1A03A968A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10</a:t>
            </a:r>
          </a:p>
        </p:txBody>
      </p:sp>
      <p:sp>
        <p:nvSpPr>
          <p:cNvPr id="10" name="rule-accept-panel">
            <a:extLst xmlns:a="http://schemas.openxmlformats.org/drawingml/2006/main">
              <a:ext uri="{FF2B5EF4-FFF2-40B4-BE49-F238E27FC236}">
                <a16:creationId xmlns:a16="http://schemas.microsoft.com/office/drawing/2014/main" id="{9CA2BF5E-B8D5-403C-83A9-9232CEE75746}"/>
              </a:ext>
            </a:extLst>
          </p:cNvPr>
          <p:cNvSpPr>
            <a:spLocks xmlns:a="http://schemas.openxmlformats.org/drawingml/2006/main" noGrp="1"/>
          </p:cNvSpPr>
          <p:nvPr/>
        </p:nvSpPr>
        <p:spPr>
          <a:xfrm xmlns:a="http://schemas.openxmlformats.org/drawingml/2006/main">
            <a:off x="819150" y="2571750"/>
            <a:ext cx="5000625" cy="2857500"/>
          </a:xfrm>
          <a:prstGeom xmlns:a="http://schemas.openxmlformats.org/drawingml/2006/main" prst="roundRect">
            <a:avLst>
              <a:gd name="adj" fmla="val 2667"/>
            </a:avLst>
          </a:prstGeom>
          <a:solidFill xmlns:a="http://schemas.openxmlformats.org/drawingml/2006/main">
            <a:srgbClr val="1C2638"/>
          </a:solidFill>
          <a:ln xmlns:a="http://schemas.openxmlformats.org/drawingml/2006/main" w="9525">
            <a:solidFill>
              <a:srgbClr val="343D50"/>
            </a:solidFill>
            <a:prstDash val="solid"/>
          </a:ln>
        </p:spPr>
      </p:sp>
      <p:sp>
        <p:nvSpPr>
          <p:cNvPr id="11" name="rule-accept-accent">
            <a:extLst xmlns:a="http://schemas.openxmlformats.org/drawingml/2006/main">
              <a:ext uri="{FF2B5EF4-FFF2-40B4-BE49-F238E27FC236}">
                <a16:creationId xmlns:a16="http://schemas.microsoft.com/office/drawing/2014/main" id="{414E0023-0D86-43A9-9D4B-2F1C13DEDAED}"/>
              </a:ext>
            </a:extLst>
          </p:cNvPr>
          <p:cNvSpPr>
            <a:spLocks xmlns:a="http://schemas.openxmlformats.org/drawingml/2006/main" noGrp="1"/>
          </p:cNvSpPr>
          <p:nvPr/>
        </p:nvSpPr>
        <p:spPr>
          <a:xfrm xmlns:a="http://schemas.openxmlformats.org/drawingml/2006/main">
            <a:off x="819150" y="2571750"/>
            <a:ext cx="57150" cy="28575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rule-accept-title">
            <a:extLst xmlns:a="http://schemas.openxmlformats.org/drawingml/2006/main">
              <a:ext uri="{FF2B5EF4-FFF2-40B4-BE49-F238E27FC236}">
                <a16:creationId xmlns:a16="http://schemas.microsoft.com/office/drawing/2014/main" id="{DA857603-6A0D-43F6-9E35-286B59BBC006}"/>
              </a:ext>
            </a:extLst>
          </p:cNvPr>
          <p:cNvSpPr>
            <a:spLocks xmlns:a="http://schemas.openxmlformats.org/drawingml/2006/main" noGrp="1"/>
          </p:cNvSpPr>
          <p:nvPr/>
        </p:nvSpPr>
        <p:spPr>
          <a:xfrm xmlns:a="http://schemas.openxmlformats.org/drawingml/2006/main">
            <a:off x="1028700" y="2743200"/>
            <a:ext cx="4581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5CC8B8"/>
                </a:solidFill>
                <a:latin typeface="Avenir Next"/>
                <a:ea typeface="Avenir Next"/>
                <a:cs typeface="Avenir Next"/>
              </a:defRPr>
            </a:defPPr>
          </a:lstStyle>
          <a:p xmlns:a="http://schemas.openxmlformats.org/drawingml/2006/main">
            <a:pPr algn="l">
              <a:defRPr sz="1800" b="1" i="0">
                <a:solidFill>
                  <a:srgbClr val="5CC8B8"/>
                </a:solidFill>
                <a:latin typeface="Avenir Next"/>
                <a:ea typeface="Avenir Next"/>
                <a:cs typeface="Avenir Next"/>
              </a:defRPr>
            </a:pPr>
            <a:r>
              <a:rPr sz="1800" b="1" i="0">
                <a:solidFill>
                  <a:srgbClr val="5CC8B8"/>
                </a:solidFill>
                <a:latin typeface="Avenir Next"/>
                <a:ea typeface="Avenir Next"/>
                <a:cs typeface="Avenir Next"/>
              </a:rPr>
              <a:t>✓  ACCEPT</a:t>
            </a:r>
          </a:p>
        </p:txBody>
      </p:sp>
      <p:sp>
        <p:nvSpPr>
          <p:cNvPr id="13" name="rule-accept-body">
            <a:extLst xmlns:a="http://schemas.openxmlformats.org/drawingml/2006/main">
              <a:ext uri="{FF2B5EF4-FFF2-40B4-BE49-F238E27FC236}">
                <a16:creationId xmlns:a16="http://schemas.microsoft.com/office/drawing/2014/main" id="{9624C08A-6FD7-4553-90E7-87DCCA7C11C3}"/>
              </a:ext>
            </a:extLst>
          </p:cNvPr>
          <p:cNvSpPr>
            <a:spLocks xmlns:a="http://schemas.openxmlformats.org/drawingml/2006/main" noGrp="1"/>
          </p:cNvSpPr>
          <p:nvPr/>
        </p:nvSpPr>
        <p:spPr>
          <a:xfrm xmlns:a="http://schemas.openxmlformats.org/drawingml/2006/main">
            <a:off x="1028700" y="3314700"/>
            <a:ext cx="4581525"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arm 0: Call(m, τ + |ticket|)</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arm 1: Call(m, τ + |ticket|)</a:t>
            </a:r>
          </a:p>
          <a:p xmlns:a="http://schemas.openxmlformats.org/drawingml/2006/main">
            <a:r>
              <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resolved events are equal</a:t>
            </a:r>
          </a:p>
        </p:txBody>
      </p:sp>
      <p:sp>
        <p:nvSpPr>
          <p:cNvPr id="14" name="rule-reject-panel">
            <a:extLst xmlns:a="http://schemas.openxmlformats.org/drawingml/2006/main">
              <a:ext uri="{FF2B5EF4-FFF2-40B4-BE49-F238E27FC236}">
                <a16:creationId xmlns:a16="http://schemas.microsoft.com/office/drawing/2014/main" id="{D4B52EBC-9AEA-48AB-A028-678E28D8F938}"/>
              </a:ext>
            </a:extLst>
          </p:cNvPr>
          <p:cNvSpPr>
            <a:spLocks xmlns:a="http://schemas.openxmlformats.org/drawingml/2006/main" noGrp="1"/>
          </p:cNvSpPr>
          <p:nvPr/>
        </p:nvSpPr>
        <p:spPr>
          <a:xfrm xmlns:a="http://schemas.openxmlformats.org/drawingml/2006/main">
            <a:off x="6362700" y="2571750"/>
            <a:ext cx="5000625" cy="2857500"/>
          </a:xfrm>
          <a:prstGeom xmlns:a="http://schemas.openxmlformats.org/drawingml/2006/main" prst="roundRect">
            <a:avLst>
              <a:gd name="adj" fmla="val 2667"/>
            </a:avLst>
          </a:prstGeom>
          <a:solidFill xmlns:a="http://schemas.openxmlformats.org/drawingml/2006/main">
            <a:srgbClr val="1C2638"/>
          </a:solidFill>
          <a:ln xmlns:a="http://schemas.openxmlformats.org/drawingml/2006/main" w="9525">
            <a:solidFill>
              <a:srgbClr val="343D50"/>
            </a:solidFill>
            <a:prstDash val="solid"/>
          </a:ln>
        </p:spPr>
      </p:sp>
      <p:sp>
        <p:nvSpPr>
          <p:cNvPr id="15" name="rule-reject-accent">
            <a:extLst xmlns:a="http://schemas.openxmlformats.org/drawingml/2006/main">
              <a:ext uri="{FF2B5EF4-FFF2-40B4-BE49-F238E27FC236}">
                <a16:creationId xmlns:a16="http://schemas.microsoft.com/office/drawing/2014/main" id="{C4C7F2DC-D4BC-4BD6-A429-7A4BB3FC4762}"/>
              </a:ext>
            </a:extLst>
          </p:cNvPr>
          <p:cNvSpPr>
            <a:spLocks xmlns:a="http://schemas.openxmlformats.org/drawingml/2006/main" noGrp="1"/>
          </p:cNvSpPr>
          <p:nvPr/>
        </p:nvSpPr>
        <p:spPr>
          <a:xfrm xmlns:a="http://schemas.openxmlformats.org/drawingml/2006/main">
            <a:off x="6362700" y="2571750"/>
            <a:ext cx="57150" cy="28575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rule-reject-title">
            <a:extLst xmlns:a="http://schemas.openxmlformats.org/drawingml/2006/main">
              <a:ext uri="{FF2B5EF4-FFF2-40B4-BE49-F238E27FC236}">
                <a16:creationId xmlns:a16="http://schemas.microsoft.com/office/drawing/2014/main" id="{B2CC3968-B302-4831-9E17-EC919D8A6BC0}"/>
              </a:ext>
            </a:extLst>
          </p:cNvPr>
          <p:cNvSpPr>
            <a:spLocks xmlns:a="http://schemas.openxmlformats.org/drawingml/2006/main" noGrp="1"/>
          </p:cNvSpPr>
          <p:nvPr/>
        </p:nvSpPr>
        <p:spPr>
          <a:xfrm xmlns:a="http://schemas.openxmlformats.org/drawingml/2006/main">
            <a:off x="6572250" y="2743200"/>
            <a:ext cx="4581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FF8A5C"/>
                </a:solidFill>
                <a:latin typeface="Avenir Next"/>
                <a:ea typeface="Avenir Next"/>
                <a:cs typeface="Avenir Next"/>
              </a:defRPr>
            </a:defPPr>
          </a:lstStyle>
          <a:p xmlns:a="http://schemas.openxmlformats.org/drawingml/2006/main">
            <a:pPr algn="l">
              <a:defRPr sz="1800" b="1" i="0">
                <a:solidFill>
                  <a:srgbClr val="FF8A5C"/>
                </a:solidFill>
                <a:latin typeface="Avenir Next"/>
                <a:ea typeface="Avenir Next"/>
                <a:cs typeface="Avenir Next"/>
              </a:defRPr>
            </a:pPr>
            <a:r>
              <a:rPr sz="1800" b="1" i="0">
                <a:solidFill>
                  <a:srgbClr val="FF8A5C"/>
                </a:solidFill>
                <a:latin typeface="Avenir Next"/>
                <a:ea typeface="Avenir Next"/>
                <a:cs typeface="Avenir Next"/>
              </a:rPr>
              <a:t>×  REJECT</a:t>
            </a:r>
          </a:p>
        </p:txBody>
      </p:sp>
      <p:sp>
        <p:nvSpPr>
          <p:cNvPr id="17" name="rule-reject-body">
            <a:extLst xmlns:a="http://schemas.openxmlformats.org/drawingml/2006/main">
              <a:ext uri="{FF2B5EF4-FFF2-40B4-BE49-F238E27FC236}">
                <a16:creationId xmlns:a16="http://schemas.microsoft.com/office/drawing/2014/main" id="{4C8E3469-54F6-4129-B159-B50664F48383}"/>
              </a:ext>
            </a:extLst>
          </p:cNvPr>
          <p:cNvSpPr>
            <a:spLocks xmlns:a="http://schemas.openxmlformats.org/drawingml/2006/main" noGrp="1"/>
          </p:cNvSpPr>
          <p:nvPr/>
        </p:nvSpPr>
        <p:spPr>
          <a:xfrm xmlns:a="http://schemas.openxmlformats.org/drawingml/2006/main">
            <a:off x="6572250" y="3314700"/>
            <a:ext cx="4581525"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arm 0: Call(m, τ + |x|)</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arm 1: Call(m, τ + |y|)</a:t>
            </a:r>
          </a:p>
          <a:p xmlns:a="http://schemas.openxmlformats.org/drawingml/2006/main">
            <a:r>
              <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terms are not known to agree</a:t>
            </a:r>
          </a:p>
        </p:txBody>
      </p:sp>
      <p:sp>
        <p:nvSpPr>
          <p:cNvPr id="18" name="rule-scope">
            <a:extLst xmlns:a="http://schemas.openxmlformats.org/drawingml/2006/main">
              <a:ext uri="{FF2B5EF4-FFF2-40B4-BE49-F238E27FC236}">
                <a16:creationId xmlns:a16="http://schemas.microsoft.com/office/drawing/2014/main" id="{F05807A4-C0AB-437E-A321-65EFD30ACA3B}"/>
              </a:ext>
            </a:extLst>
          </p:cNvPr>
          <p:cNvSpPr>
            <a:spLocks xmlns:a="http://schemas.openxmlformats.org/drawingml/2006/main" noGrp="1"/>
          </p:cNvSpPr>
          <p:nvPr/>
        </p:nvSpPr>
        <p:spPr>
          <a:xfrm xmlns:a="http://schemas.openxmlformats.org/drawingml/2006/main">
            <a:off x="1600200" y="5572125"/>
            <a:ext cx="9048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i="0">
                <a:solidFill>
                  <a:srgbClr val="B8C1D1"/>
                </a:solidFill>
                <a:latin typeface="Avenir Next"/>
                <a:ea typeface="Avenir Next"/>
                <a:cs typeface="Avenir Next"/>
              </a:defRPr>
            </a:defPPr>
          </a:lstStyle>
          <a:p xmlns:a="http://schemas.openxmlformats.org/drawingml/2006/main">
            <a:pPr algn="ctr">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Sufficient and deliberately incomplete for the declared observation.</a:t>
            </a:r>
          </a:p>
        </p:txBody>
      </p:sp>
    </p:spTree>
    <p:extLst>
      <p:ext uri="{BB962C8B-B14F-4D97-AF65-F5344CB8AC3E}">
        <p14:creationId xmlns:p14="http://schemas.microsoft.com/office/powerpoint/2010/main" val="510530615"/>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5B069505-4D5E-42B4-9177-5A3DBD2DC225}"/>
              </a:ext>
            </a:extLst>
          </p:cNvPr>
          <p:cNvCxnSpPr>
            <a:stCxn xmlns:a="http://schemas.openxmlformats.org/drawingml/2006/main" id="19" idx="1"/>
            <a:endCxn xmlns:a="http://schemas.openxmlformats.org/drawingml/2006/main" id="15" idx="3"/>
          </p:cNvCxnSpPr>
          <p:nvPr/>
        </p:nvCxnSpPr>
        <p:spPr>
          <a:xfrm xmlns:a="http://schemas.openxmlformats.org/drawingml/2006/main" flipH="1">
            <a:off x="7010400" y="3171825"/>
            <a:ext cx="1066800" cy="0"/>
          </a:xfrm>
          <a:prstGeom xmlns:a="http://schemas.openxmlformats.org/drawingml/2006/main" prst="straightConnector1">
            <a:avLst/>
          </a:prstGeom>
          <a:ln xmlns:a="http://schemas.openxmlformats.org/drawingml/2006/main" w="19050">
            <a:solidFill>
              <a:srgbClr val="FF8A5C"/>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A9E26CAF-D54E-455E-8EB0-1CADC32DEA71}"/>
              </a:ext>
            </a:extLst>
          </p:cNvPr>
          <p:cNvCxnSpPr>
            <a:stCxn xmlns:a="http://schemas.openxmlformats.org/drawingml/2006/main" id="15" idx="3"/>
            <a:endCxn xmlns:a="http://schemas.openxmlformats.org/drawingml/2006/main" id="19" idx="1"/>
          </p:cNvCxnSpPr>
          <p:nvPr/>
        </p:nvCxnSpPr>
        <p:spPr>
          <a:xfrm xmlns:a="http://schemas.openxmlformats.org/drawingml/2006/main">
            <a:off x="7010400" y="3171825"/>
            <a:ext cx="1066800" cy="0"/>
          </a:xfrm>
          <a:prstGeom xmlns:a="http://schemas.openxmlformats.org/drawingml/2006/main" prst="straightConnector1">
            <a:avLst/>
          </a:prstGeom>
          <a:ln xmlns:a="http://schemas.openxmlformats.org/drawingml/2006/main" w="19050">
            <a:solidFill>
              <a:srgbClr val="FF8A5C"/>
            </a:solidFill>
            <a:prstDash val="solid"/>
            <a:tailEnd type="triangle" w="sm" len="sm"/>
          </a:ln>
        </p:spPr>
      </p:cxnSp>
      <p:sp>
        <p:nvSpPr>
          <p:cNvPr id="29" name="s11-brand">
            <a:extLst xmlns:a="http://schemas.openxmlformats.org/drawingml/2006/main">
              <a:ext uri="{FF2B5EF4-FFF2-40B4-BE49-F238E27FC236}">
                <a16:creationId xmlns:a16="http://schemas.microsoft.com/office/drawing/2014/main" id="{C3EBA429-6BCF-4777-903E-33A2C94A71B8}"/>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1-section">
            <a:extLst xmlns:a="http://schemas.openxmlformats.org/drawingml/2006/main">
              <a:ext uri="{FF2B5EF4-FFF2-40B4-BE49-F238E27FC236}">
                <a16:creationId xmlns:a16="http://schemas.microsoft.com/office/drawing/2014/main" id="{3B67FC4E-CC10-44FF-8D64-EBD8D5A6EFBE}"/>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COMPOSITION</a:t>
            </a:r>
          </a:p>
        </p:txBody>
      </p:sp>
      <p:sp>
        <p:nvSpPr>
          <p:cNvPr id="3" name="s11-title">
            <a:extLst xmlns:a="http://schemas.openxmlformats.org/drawingml/2006/main">
              <a:ext uri="{FF2B5EF4-FFF2-40B4-BE49-F238E27FC236}">
                <a16:creationId xmlns:a16="http://schemas.microsoft.com/office/drawing/2014/main" id="{186D4A56-C1E1-4192-9BFD-D0245058F7BB}"/>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Matched results can feed a later call</a:t>
            </a:r>
          </a:p>
        </p:txBody>
      </p:sp>
      <p:sp>
        <p:nvSpPr>
          <p:cNvPr id="4" name="s11-subtitle">
            <a:extLst xmlns:a="http://schemas.openxmlformats.org/drawingml/2006/main">
              <a:ext uri="{FF2B5EF4-FFF2-40B4-BE49-F238E27FC236}">
                <a16:creationId xmlns:a16="http://schemas.microsoft.com/office/drawing/2014/main" id="{32C671F1-3B99-4814-A394-39C30BA8177B}"/>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Balanced chains preserve resolved identities and per-contract call positions.</a:t>
            </a:r>
          </a:p>
        </p:txBody>
      </p:sp>
      <p:sp>
        <p:nvSpPr>
          <p:cNvPr id="5" name="s11-source-rule">
            <a:extLst xmlns:a="http://schemas.openxmlformats.org/drawingml/2006/main">
              <a:ext uri="{FF2B5EF4-FFF2-40B4-BE49-F238E27FC236}">
                <a16:creationId xmlns:a16="http://schemas.microsoft.com/office/drawing/2014/main" id="{8AE82E42-F4C9-4A94-AC0F-F1B9030B130C}"/>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1-sources">
            <a:extLst xmlns:a="http://schemas.openxmlformats.org/drawingml/2006/main">
              <a:ext uri="{FF2B5EF4-FFF2-40B4-BE49-F238E27FC236}">
                <a16:creationId xmlns:a16="http://schemas.microsoft.com/office/drawing/2014/main" id="{677F24AB-24B1-49AD-8BC8-FE099C9B86AE}"/>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src/relational.cpp; src/interpreter.cpp; tests/tests.cpp (matched-chain regression); E267 cross-tokenizer rejection</a:t>
            </a:r>
          </a:p>
        </p:txBody>
      </p:sp>
      <p:sp>
        <p:nvSpPr>
          <p:cNvPr id="7" name="s11-footer-rule">
            <a:extLst xmlns:a="http://schemas.openxmlformats.org/drawingml/2006/main">
              <a:ext uri="{FF2B5EF4-FFF2-40B4-BE49-F238E27FC236}">
                <a16:creationId xmlns:a16="http://schemas.microsoft.com/office/drawing/2014/main" id="{486C7FF7-AA63-4F7A-A3A7-117ECE1611FE}"/>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1-footer">
            <a:extLst xmlns:a="http://schemas.openxmlformats.org/drawingml/2006/main">
              <a:ext uri="{FF2B5EF4-FFF2-40B4-BE49-F238E27FC236}">
                <a16:creationId xmlns:a16="http://schemas.microsoft.com/office/drawing/2014/main" id="{0EB2CB2C-3E34-47BE-955A-B6F62DAB21FF}"/>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1-page">
            <a:extLst xmlns:a="http://schemas.openxmlformats.org/drawingml/2006/main">
              <a:ext uri="{FF2B5EF4-FFF2-40B4-BE49-F238E27FC236}">
                <a16:creationId xmlns:a16="http://schemas.microsoft.com/office/drawing/2014/main" id="{81D27F68-154D-41AE-8DDB-67F4D944EFFB}"/>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11</a:t>
            </a:r>
          </a:p>
        </p:txBody>
      </p:sp>
      <p:sp>
        <p:nvSpPr>
          <p:cNvPr id="10" name="chain-a1-panel">
            <a:extLst xmlns:a="http://schemas.openxmlformats.org/drawingml/2006/main">
              <a:ext uri="{FF2B5EF4-FFF2-40B4-BE49-F238E27FC236}">
                <a16:creationId xmlns:a16="http://schemas.microsoft.com/office/drawing/2014/main" id="{BE36FF6A-3F53-4A97-8A7B-5D94777F648E}"/>
              </a:ext>
            </a:extLst>
          </p:cNvPr>
          <p:cNvSpPr>
            <a:spLocks xmlns:a="http://schemas.openxmlformats.org/drawingml/2006/main" noGrp="1"/>
          </p:cNvSpPr>
          <p:nvPr/>
        </p:nvSpPr>
        <p:spPr>
          <a:xfrm xmlns:a="http://schemas.openxmlformats.org/drawingml/2006/main">
            <a:off x="809625" y="2524125"/>
            <a:ext cx="2762250" cy="1295400"/>
          </a:xfrm>
          <a:prstGeom xmlns:a="http://schemas.openxmlformats.org/drawingml/2006/main" prst="roundRect">
            <a:avLst>
              <a:gd name="adj" fmla="val 5882"/>
            </a:avLst>
          </a:prstGeom>
          <a:solidFill xmlns:a="http://schemas.openxmlformats.org/drawingml/2006/main">
            <a:srgbClr val="FFFDF8"/>
          </a:solidFill>
          <a:ln xmlns:a="http://schemas.openxmlformats.org/drawingml/2006/main" w="9525">
            <a:solidFill>
              <a:srgbClr val="D7D0C4"/>
            </a:solidFill>
            <a:prstDash val="solid"/>
          </a:ln>
        </p:spPr>
      </p:sp>
      <p:sp>
        <p:nvSpPr>
          <p:cNvPr id="11" name="chain-a1-accent">
            <a:extLst xmlns:a="http://schemas.openxmlformats.org/drawingml/2006/main">
              <a:ext uri="{FF2B5EF4-FFF2-40B4-BE49-F238E27FC236}">
                <a16:creationId xmlns:a16="http://schemas.microsoft.com/office/drawing/2014/main" id="{DBA14BEF-099A-460C-A316-D69254AD4711}"/>
              </a:ext>
            </a:extLst>
          </p:cNvPr>
          <p:cNvSpPr>
            <a:spLocks xmlns:a="http://schemas.openxmlformats.org/drawingml/2006/main" noGrp="1"/>
          </p:cNvSpPr>
          <p:nvPr/>
        </p:nvSpPr>
        <p:spPr>
          <a:xfrm xmlns:a="http://schemas.openxmlformats.org/drawingml/2006/main">
            <a:off x="809625" y="2524125"/>
            <a:ext cx="57150" cy="12954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chain-a1-title">
            <a:extLst xmlns:a="http://schemas.openxmlformats.org/drawingml/2006/main">
              <a:ext uri="{FF2B5EF4-FFF2-40B4-BE49-F238E27FC236}">
                <a16:creationId xmlns:a16="http://schemas.microsoft.com/office/drawing/2014/main" id="{D31571D1-29AE-430A-851D-AC9C53CB846A}"/>
              </a:ext>
            </a:extLst>
          </p:cNvPr>
          <p:cNvSpPr>
            <a:spLocks xmlns:a="http://schemas.openxmlformats.org/drawingml/2006/main" noGrp="1"/>
          </p:cNvSpPr>
          <p:nvPr/>
        </p:nvSpPr>
        <p:spPr>
          <a:xfrm xmlns:a="http://schemas.openxmlformats.org/drawingml/2006/main">
            <a:off x="1019175" y="26955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41B2B"/>
                </a:solidFill>
                <a:latin typeface="Avenir Next"/>
                <a:ea typeface="Avenir Next"/>
                <a:cs typeface="Avenir Next"/>
              </a:defRPr>
            </a:defPPr>
          </a:lstStyle>
          <a:p xmlns:a="http://schemas.openxmlformats.org/drawingml/2006/main">
            <a:pPr algn="l">
              <a:defRPr sz="1650" b="1" i="0">
                <a:solidFill>
                  <a:srgbClr val="141B2B"/>
                </a:solidFill>
                <a:latin typeface="Avenir Next"/>
                <a:ea typeface="Avenir Next"/>
                <a:cs typeface="Avenir Next"/>
              </a:defRPr>
            </a:pPr>
            <a:r>
              <a:rPr sz="1650" b="1" i="0">
                <a:solidFill>
                  <a:srgbClr val="141B2B"/>
                </a:solidFill>
                <a:latin typeface="Avenir Next"/>
                <a:ea typeface="Avenir Next"/>
                <a:cs typeface="Avenir Next"/>
              </a:rPr>
              <a:t>first call</a:t>
            </a:r>
          </a:p>
        </p:txBody>
      </p:sp>
      <p:sp>
        <p:nvSpPr>
          <p:cNvPr id="13" name="chain-a1-body">
            <a:extLst xmlns:a="http://schemas.openxmlformats.org/drawingml/2006/main">
              <a:ext uri="{FF2B5EF4-FFF2-40B4-BE49-F238E27FC236}">
                <a16:creationId xmlns:a16="http://schemas.microsoft.com/office/drawing/2014/main" id="{457B9D01-D57A-430F-994C-D045B253428C}"/>
              </a:ext>
            </a:extLst>
          </p:cNvPr>
          <p:cNvSpPr>
            <a:spLocks xmlns:a="http://schemas.openxmlformats.org/drawingml/2006/main" noGrp="1"/>
          </p:cNvSpPr>
          <p:nvPr/>
        </p:nvSpPr>
        <p:spPr>
          <a:xfrm xmlns:a="http://schemas.openxmlformats.org/drawingml/2006/main">
            <a:off x="1019175" y="32289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646B7A"/>
                </a:solidFill>
                <a:latin typeface="Menlo"/>
                <a:ea typeface="Menlo"/>
                <a:cs typeface="Menlo"/>
              </a:defRPr>
            </a:defPPr>
          </a:lstStyle>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resolved model M₁</a:t>
            </a:r>
          </a:p>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request R₁</a:t>
            </a:r>
          </a:p>
        </p:txBody>
      </p:sp>
      <p:sp>
        <p:nvSpPr>
          <p:cNvPr id="14" name="chain-arrow-a">
            <a:extLst xmlns:a="http://schemas.openxmlformats.org/drawingml/2006/main">
              <a:ext uri="{FF2B5EF4-FFF2-40B4-BE49-F238E27FC236}">
                <a16:creationId xmlns:a16="http://schemas.microsoft.com/office/drawing/2014/main" id="{B8677B35-AB5A-4A9D-92C0-F5836E42FEF0}"/>
              </a:ext>
            </a:extLst>
          </p:cNvPr>
          <p:cNvSpPr>
            <a:spLocks xmlns:a="http://schemas.openxmlformats.org/drawingml/2006/main" noGrp="1"/>
          </p:cNvSpPr>
          <p:nvPr/>
        </p:nvSpPr>
        <p:spPr>
          <a:xfrm xmlns:a="http://schemas.openxmlformats.org/drawingml/2006/main">
            <a:off x="3619500" y="29337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defPPr algn="ctr">
              <a:defRPr sz="2550" b="1" i="0">
                <a:solidFill>
                  <a:srgbClr val="1F6F66"/>
                </a:solidFill>
                <a:latin typeface="Avenir Next"/>
                <a:ea typeface="Avenir Next"/>
                <a:cs typeface="Avenir Next"/>
              </a:defRPr>
            </a:defPPr>
          </a:lstStyle>
          <a:p xmlns:a="http://schemas.openxmlformats.org/drawingml/2006/main">
            <a:pPr algn="ctr">
              <a:defRPr sz="2550" b="1" i="0">
                <a:solidFill>
                  <a:srgbClr val="1F6F66"/>
                </a:solidFill>
                <a:latin typeface="Avenir Next"/>
                <a:ea typeface="Avenir Next"/>
                <a:cs typeface="Avenir Next"/>
              </a:defRPr>
            </a:pPr>
            <a:r>
              <a:rPr sz="2550" b="1" i="0">
                <a:solidFill>
                  <a:srgbClr val="1F6F66"/>
                </a:solidFill>
                <a:latin typeface="Avenir Next"/>
                <a:ea typeface="Avenir Next"/>
                <a:cs typeface="Avenir Next"/>
              </a:rPr>
              <a:t>→</a:t>
            </a:r>
          </a:p>
        </p:txBody>
      </p:sp>
      <p:sp>
        <p:nvSpPr>
          <p:cNvPr id="15" name="chain-a2-panel">
            <a:extLst xmlns:a="http://schemas.openxmlformats.org/drawingml/2006/main">
              <a:ext uri="{FF2B5EF4-FFF2-40B4-BE49-F238E27FC236}">
                <a16:creationId xmlns:a16="http://schemas.microsoft.com/office/drawing/2014/main" id="{A431E2C9-DFAB-45DF-B6CF-EE9801E1F1CB}"/>
              </a:ext>
            </a:extLst>
          </p:cNvPr>
          <p:cNvSpPr>
            <a:spLocks xmlns:a="http://schemas.openxmlformats.org/drawingml/2006/main" noGrp="1"/>
          </p:cNvSpPr>
          <p:nvPr/>
        </p:nvSpPr>
        <p:spPr>
          <a:xfrm xmlns:a="http://schemas.openxmlformats.org/drawingml/2006/main">
            <a:off x="4248150" y="2524125"/>
            <a:ext cx="2762250" cy="1295400"/>
          </a:xfrm>
          <a:prstGeom xmlns:a="http://schemas.openxmlformats.org/drawingml/2006/main" prst="roundRect">
            <a:avLst>
              <a:gd name="adj" fmla="val 5882"/>
            </a:avLst>
          </a:prstGeom>
          <a:solidFill xmlns:a="http://schemas.openxmlformats.org/drawingml/2006/main">
            <a:srgbClr val="FFFDF8"/>
          </a:solidFill>
          <a:ln xmlns:a="http://schemas.openxmlformats.org/drawingml/2006/main" w="9525">
            <a:solidFill>
              <a:srgbClr val="D7D0C4"/>
            </a:solidFill>
            <a:prstDash val="solid"/>
          </a:ln>
        </p:spPr>
      </p:sp>
      <p:sp>
        <p:nvSpPr>
          <p:cNvPr id="16" name="chain-a2-accent">
            <a:extLst xmlns:a="http://schemas.openxmlformats.org/drawingml/2006/main">
              <a:ext uri="{FF2B5EF4-FFF2-40B4-BE49-F238E27FC236}">
                <a16:creationId xmlns:a16="http://schemas.microsoft.com/office/drawing/2014/main" id="{96176724-1FF0-473F-B9ED-29992C2AFE59}"/>
              </a:ext>
            </a:extLst>
          </p:cNvPr>
          <p:cNvSpPr>
            <a:spLocks xmlns:a="http://schemas.openxmlformats.org/drawingml/2006/main" noGrp="1"/>
          </p:cNvSpPr>
          <p:nvPr/>
        </p:nvSpPr>
        <p:spPr>
          <a:xfrm xmlns:a="http://schemas.openxmlformats.org/drawingml/2006/main">
            <a:off x="4248150" y="2524125"/>
            <a:ext cx="57150" cy="12954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7" name="chain-a2-title">
            <a:extLst xmlns:a="http://schemas.openxmlformats.org/drawingml/2006/main">
              <a:ext uri="{FF2B5EF4-FFF2-40B4-BE49-F238E27FC236}">
                <a16:creationId xmlns:a16="http://schemas.microsoft.com/office/drawing/2014/main" id="{3CB4691C-8A6E-4856-A214-68428217E4BB}"/>
              </a:ext>
            </a:extLst>
          </p:cNvPr>
          <p:cNvSpPr>
            <a:spLocks xmlns:a="http://schemas.openxmlformats.org/drawingml/2006/main" noGrp="1"/>
          </p:cNvSpPr>
          <p:nvPr/>
        </p:nvSpPr>
        <p:spPr>
          <a:xfrm xmlns:a="http://schemas.openxmlformats.org/drawingml/2006/main">
            <a:off x="4457700" y="26955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41B2B"/>
                </a:solidFill>
                <a:latin typeface="Avenir Next"/>
                <a:ea typeface="Avenir Next"/>
                <a:cs typeface="Avenir Next"/>
              </a:defRPr>
            </a:defPPr>
          </a:lstStyle>
          <a:p xmlns:a="http://schemas.openxmlformats.org/drawingml/2006/main">
            <a:pPr algn="l">
              <a:defRPr sz="1650" b="1" i="0">
                <a:solidFill>
                  <a:srgbClr val="141B2B"/>
                </a:solidFill>
                <a:latin typeface="Avenir Next"/>
                <a:ea typeface="Avenir Next"/>
                <a:cs typeface="Avenir Next"/>
              </a:defRPr>
            </a:pPr>
            <a:r>
              <a:rPr sz="1650" b="1" i="0">
                <a:solidFill>
                  <a:srgbClr val="141B2B"/>
                </a:solidFill>
                <a:latin typeface="Avenir Next"/>
                <a:ea typeface="Avenir Next"/>
                <a:cs typeface="Avenir Next"/>
              </a:rPr>
              <a:t>second call</a:t>
            </a:r>
          </a:p>
        </p:txBody>
      </p:sp>
      <p:sp>
        <p:nvSpPr>
          <p:cNvPr id="18" name="chain-a2-body">
            <a:extLst xmlns:a="http://schemas.openxmlformats.org/drawingml/2006/main">
              <a:ext uri="{FF2B5EF4-FFF2-40B4-BE49-F238E27FC236}">
                <a16:creationId xmlns:a16="http://schemas.microsoft.com/office/drawing/2014/main" id="{3912C129-3B69-4B0F-BDB4-F814828DFD70}"/>
              </a:ext>
            </a:extLst>
          </p:cNvPr>
          <p:cNvSpPr>
            <a:spLocks xmlns:a="http://schemas.openxmlformats.org/drawingml/2006/main" noGrp="1"/>
          </p:cNvSpPr>
          <p:nvPr/>
        </p:nvSpPr>
        <p:spPr>
          <a:xfrm xmlns:a="http://schemas.openxmlformats.org/drawingml/2006/main">
            <a:off x="4457700" y="32289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646B7A"/>
                </a:solidFill>
                <a:latin typeface="Menlo"/>
                <a:ea typeface="Menlo"/>
                <a:cs typeface="Menlo"/>
              </a:defRPr>
            </a:defPPr>
          </a:lstStyle>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resolved model M₂</a:t>
            </a:r>
          </a:p>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request R₂(result₁)</a:t>
            </a:r>
          </a:p>
        </p:txBody>
      </p:sp>
      <p:sp>
        <p:nvSpPr>
          <p:cNvPr id="19" name="chain-b-panel">
            <a:extLst xmlns:a="http://schemas.openxmlformats.org/drawingml/2006/main">
              <a:ext uri="{FF2B5EF4-FFF2-40B4-BE49-F238E27FC236}">
                <a16:creationId xmlns:a16="http://schemas.microsoft.com/office/drawing/2014/main" id="{8D83EB56-8DAE-4D27-BCD0-E65F1D7A5D86}"/>
              </a:ext>
            </a:extLst>
          </p:cNvPr>
          <p:cNvSpPr>
            <a:spLocks xmlns:a="http://schemas.openxmlformats.org/drawingml/2006/main" noGrp="1"/>
          </p:cNvSpPr>
          <p:nvPr/>
        </p:nvSpPr>
        <p:spPr>
          <a:xfrm xmlns:a="http://schemas.openxmlformats.org/drawingml/2006/main">
            <a:off x="8077200" y="2524125"/>
            <a:ext cx="3257550" cy="1295400"/>
          </a:xfrm>
          <a:prstGeom xmlns:a="http://schemas.openxmlformats.org/drawingml/2006/main" prst="roundRect">
            <a:avLst>
              <a:gd name="adj" fmla="val 5882"/>
            </a:avLst>
          </a:prstGeom>
          <a:solidFill xmlns:a="http://schemas.openxmlformats.org/drawingml/2006/main">
            <a:srgbClr val="FFFDF8"/>
          </a:solidFill>
          <a:ln xmlns:a="http://schemas.openxmlformats.org/drawingml/2006/main" w="9525">
            <a:solidFill>
              <a:srgbClr val="D7D0C4"/>
            </a:solidFill>
            <a:prstDash val="solid"/>
          </a:ln>
        </p:spPr>
      </p:sp>
      <p:sp>
        <p:nvSpPr>
          <p:cNvPr id="20" name="chain-b-accent">
            <a:extLst xmlns:a="http://schemas.openxmlformats.org/drawingml/2006/main">
              <a:ext uri="{FF2B5EF4-FFF2-40B4-BE49-F238E27FC236}">
                <a16:creationId xmlns:a16="http://schemas.microsoft.com/office/drawing/2014/main" id="{1329A957-CBBC-4EBD-A4D6-52D29D9F3983}"/>
              </a:ext>
            </a:extLst>
          </p:cNvPr>
          <p:cNvSpPr>
            <a:spLocks xmlns:a="http://schemas.openxmlformats.org/drawingml/2006/main" noGrp="1"/>
          </p:cNvSpPr>
          <p:nvPr/>
        </p:nvSpPr>
        <p:spPr>
          <a:xfrm xmlns:a="http://schemas.openxmlformats.org/drawingml/2006/main">
            <a:off x="8077200" y="2524125"/>
            <a:ext cx="57150" cy="12954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1" name="chain-b-title">
            <a:extLst xmlns:a="http://schemas.openxmlformats.org/drawingml/2006/main">
              <a:ext uri="{FF2B5EF4-FFF2-40B4-BE49-F238E27FC236}">
                <a16:creationId xmlns:a16="http://schemas.microsoft.com/office/drawing/2014/main" id="{7E43416F-CEC2-4CCB-8873-409EEC4B8C60}"/>
              </a:ext>
            </a:extLst>
          </p:cNvPr>
          <p:cNvSpPr>
            <a:spLocks xmlns:a="http://schemas.openxmlformats.org/drawingml/2006/main" noGrp="1"/>
          </p:cNvSpPr>
          <p:nvPr/>
        </p:nvSpPr>
        <p:spPr>
          <a:xfrm xmlns:a="http://schemas.openxmlformats.org/drawingml/2006/main">
            <a:off x="8286750" y="2695575"/>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41B2B"/>
                </a:solidFill>
                <a:latin typeface="Avenir Next"/>
                <a:ea typeface="Avenir Next"/>
                <a:cs typeface="Avenir Next"/>
              </a:defRPr>
            </a:defPPr>
          </a:lstStyle>
          <a:p xmlns:a="http://schemas.openxmlformats.org/drawingml/2006/main">
            <a:pPr algn="l">
              <a:defRPr sz="1650" b="1" i="0">
                <a:solidFill>
                  <a:srgbClr val="141B2B"/>
                </a:solidFill>
                <a:latin typeface="Avenir Next"/>
                <a:ea typeface="Avenir Next"/>
                <a:cs typeface="Avenir Next"/>
              </a:defRPr>
            </a:pPr>
            <a:r>
              <a:rPr sz="1650" b="1" i="0">
                <a:solidFill>
                  <a:srgbClr val="141B2B"/>
                </a:solidFill>
                <a:latin typeface="Avenir Next"/>
                <a:ea typeface="Avenir Next"/>
                <a:cs typeface="Avenir Next"/>
              </a:rPr>
              <a:t>paired trace</a:t>
            </a:r>
          </a:p>
        </p:txBody>
      </p:sp>
      <p:sp>
        <p:nvSpPr>
          <p:cNvPr id="22" name="chain-b-body">
            <a:extLst xmlns:a="http://schemas.openxmlformats.org/drawingml/2006/main">
              <a:ext uri="{FF2B5EF4-FFF2-40B4-BE49-F238E27FC236}">
                <a16:creationId xmlns:a16="http://schemas.microsoft.com/office/drawing/2014/main" id="{4F42604F-22FA-41DC-B91D-A10399DAA037}"/>
              </a:ext>
            </a:extLst>
          </p:cNvPr>
          <p:cNvSpPr>
            <a:spLocks xmlns:a="http://schemas.openxmlformats.org/drawingml/2006/main" noGrp="1"/>
          </p:cNvSpPr>
          <p:nvPr/>
        </p:nvSpPr>
        <p:spPr>
          <a:xfrm xmlns:a="http://schemas.openxmlformats.org/drawingml/2006/main">
            <a:off x="8286750" y="3228975"/>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646B7A"/>
                </a:solidFill>
                <a:latin typeface="Menlo"/>
                <a:ea typeface="Menlo"/>
                <a:cs typeface="Menlo"/>
              </a:defRPr>
            </a:defPPr>
          </a:lstStyle>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same identities</a:t>
            </a:r>
          </a:p>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same aligned result₁</a:t>
            </a:r>
          </a:p>
        </p:txBody>
      </p:sp>
      <p:sp>
        <p:nvSpPr>
          <p:cNvPr id="25" name="chain-proof-panel">
            <a:extLst xmlns:a="http://schemas.openxmlformats.org/drawingml/2006/main">
              <a:ext uri="{FF2B5EF4-FFF2-40B4-BE49-F238E27FC236}">
                <a16:creationId xmlns:a16="http://schemas.microsoft.com/office/drawing/2014/main" id="{1C5F4B37-784F-4718-9118-4635428623A1}"/>
              </a:ext>
            </a:extLst>
          </p:cNvPr>
          <p:cNvSpPr>
            <a:spLocks xmlns:a="http://schemas.openxmlformats.org/drawingml/2006/main" noGrp="1"/>
          </p:cNvSpPr>
          <p:nvPr/>
        </p:nvSpPr>
        <p:spPr>
          <a:xfrm xmlns:a="http://schemas.openxmlformats.org/drawingml/2006/main">
            <a:off x="1676400" y="4238625"/>
            <a:ext cx="8839200" cy="104775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D7D0C4"/>
            </a:solidFill>
            <a:prstDash val="solid"/>
          </a:ln>
        </p:spPr>
      </p:sp>
      <p:sp>
        <p:nvSpPr>
          <p:cNvPr id="26" name="chain-proof-accent">
            <a:extLst xmlns:a="http://schemas.openxmlformats.org/drawingml/2006/main">
              <a:ext uri="{FF2B5EF4-FFF2-40B4-BE49-F238E27FC236}">
                <a16:creationId xmlns:a16="http://schemas.microsoft.com/office/drawing/2014/main" id="{1E52697E-A037-4B03-8881-D664E81472D0}"/>
              </a:ext>
            </a:extLst>
          </p:cNvPr>
          <p:cNvSpPr>
            <a:spLocks xmlns:a="http://schemas.openxmlformats.org/drawingml/2006/main" noGrp="1"/>
          </p:cNvSpPr>
          <p:nvPr/>
        </p:nvSpPr>
        <p:spPr>
          <a:xfrm xmlns:a="http://schemas.openxmlformats.org/drawingml/2006/main">
            <a:off x="1676400" y="4238625"/>
            <a:ext cx="57150" cy="10477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27" name="chain-proof-title">
            <a:extLst xmlns:a="http://schemas.openxmlformats.org/drawingml/2006/main">
              <a:ext uri="{FF2B5EF4-FFF2-40B4-BE49-F238E27FC236}">
                <a16:creationId xmlns:a16="http://schemas.microsoft.com/office/drawing/2014/main" id="{D30714AA-A254-4BAF-9838-2909FEE26C0B}"/>
              </a:ext>
            </a:extLst>
          </p:cNvPr>
          <p:cNvSpPr>
            <a:spLocks xmlns:a="http://schemas.openxmlformats.org/drawingml/2006/main" noGrp="1"/>
          </p:cNvSpPr>
          <p:nvPr/>
        </p:nvSpPr>
        <p:spPr>
          <a:xfrm xmlns:a="http://schemas.openxmlformats.org/drawingml/2006/main">
            <a:off x="1885950" y="4410075"/>
            <a:ext cx="842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41B2B"/>
                </a:solidFill>
                <a:latin typeface="Avenir Next"/>
                <a:ea typeface="Avenir Next"/>
                <a:cs typeface="Avenir Next"/>
              </a:defRPr>
            </a:defPPr>
          </a:lstStyle>
          <a:p xmlns:a="http://schemas.openxmlformats.org/drawingml/2006/main">
            <a:pPr algn="l">
              <a:defRPr sz="1575" b="1" i="0">
                <a:solidFill>
                  <a:srgbClr val="141B2B"/>
                </a:solidFill>
                <a:latin typeface="Avenir Next"/>
                <a:ea typeface="Avenir Next"/>
                <a:cs typeface="Avenir Next"/>
              </a:defRPr>
            </a:pPr>
            <a:r>
              <a:rPr sz="1575" b="1" i="0">
                <a:solidFill>
                  <a:srgbClr val="141B2B"/>
                </a:solidFill>
                <a:latin typeface="Avenir Next"/>
                <a:ea typeface="Avenir Next"/>
                <a:cs typeface="Avenir Next"/>
              </a:rPr>
              <a:t>Required evidence</a:t>
            </a:r>
          </a:p>
        </p:txBody>
      </p:sp>
      <p:sp>
        <p:nvSpPr>
          <p:cNvPr id="28" name="chain-proof-body">
            <a:extLst xmlns:a="http://schemas.openxmlformats.org/drawingml/2006/main">
              <a:ext uri="{FF2B5EF4-FFF2-40B4-BE49-F238E27FC236}">
                <a16:creationId xmlns:a16="http://schemas.microsoft.com/office/drawing/2014/main" id="{2CA972DB-9C87-4979-8199-D5C177296353}"/>
              </a:ext>
            </a:extLst>
          </p:cNvPr>
          <p:cNvSpPr>
            <a:spLocks xmlns:a="http://schemas.openxmlformats.org/drawingml/2006/main" noGrp="1"/>
          </p:cNvSpPr>
          <p:nvPr/>
        </p:nvSpPr>
        <p:spPr>
          <a:xfrm xmlns:a="http://schemas.openxmlformats.org/drawingml/2006/main">
            <a:off x="1885950" y="4772025"/>
            <a:ext cx="8420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646B7A"/>
                </a:solidFill>
                <a:latin typeface="Avenir Next"/>
                <a:ea typeface="Avenir Next"/>
                <a:cs typeface="Avenir Next"/>
              </a:defRPr>
            </a:defPPr>
          </a:lstStyle>
          <a:p xmlns:a="http://schemas.openxmlformats.org/drawingml/2006/main">
            <a:pPr algn="l">
              <a:defRPr sz="1425" b="0" i="0">
                <a:solidFill>
                  <a:srgbClr val="646B7A"/>
                </a:solidFill>
                <a:latin typeface="Avenir Next"/>
                <a:ea typeface="Avenir Next"/>
                <a:cs typeface="Avenir Next"/>
              </a:defRPr>
            </a:pPr>
            <a:r>
              <a:rPr sz="1425" b="0" i="0">
                <a:solidFill>
                  <a:srgbClr val="646B7A"/>
                </a:solidFill>
                <a:latin typeface="Avenir Next"/>
                <a:ea typeface="Avenir Next"/>
                <a:cs typeface="Avenir Next"/>
              </a:rPr>
              <a:t>Final rule must explain why both second requests and their resulting bills align.</a:t>
            </a:r>
          </a:p>
        </p:txBody>
      </p:sp>
    </p:spTree>
    <p:extLst>
      <p:ext uri="{BB962C8B-B14F-4D97-AF65-F5344CB8AC3E}">
        <p14:creationId xmlns:p14="http://schemas.microsoft.com/office/powerpoint/2010/main" val="1994739725"/>
      </p:ext>
    </p:extLst>
  </p:cSld>
</p:sld>
</file>

<file path=ppt/slides/slide1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5" name="s12-brand">
            <a:extLst xmlns:a="http://schemas.openxmlformats.org/drawingml/2006/main">
              <a:ext uri="{FF2B5EF4-FFF2-40B4-BE49-F238E27FC236}">
                <a16:creationId xmlns:a16="http://schemas.microsoft.com/office/drawing/2014/main" id="{C585A097-51A7-442B-B998-05C704C8410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2-section">
            <a:extLst xmlns:a="http://schemas.openxmlformats.org/drawingml/2006/main">
              <a:ext uri="{FF2B5EF4-FFF2-40B4-BE49-F238E27FC236}">
                <a16:creationId xmlns:a16="http://schemas.microsoft.com/office/drawing/2014/main" id="{149BB3D9-B413-451F-B7EB-BC225366D1A4}"/>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COMPILER</a:t>
            </a:r>
          </a:p>
        </p:txBody>
      </p:sp>
      <p:sp>
        <p:nvSpPr>
          <p:cNvPr id="3" name="s12-title">
            <a:extLst xmlns:a="http://schemas.openxmlformats.org/drawingml/2006/main">
              <a:ext uri="{FF2B5EF4-FFF2-40B4-BE49-F238E27FC236}">
                <a16:creationId xmlns:a16="http://schemas.microsoft.com/office/drawing/2014/main" id="{D39032C5-FDE3-48FD-9F85-AE590334FB28}"/>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The guarantee lives in an ordinary compiler pipeline</a:t>
            </a:r>
          </a:p>
        </p:txBody>
      </p:sp>
      <p:sp>
        <p:nvSpPr>
          <p:cNvPr id="4" name="s12-subtitle">
            <a:extLst xmlns:a="http://schemas.openxmlformats.org/drawingml/2006/main">
              <a:ext uri="{FF2B5EF4-FFF2-40B4-BE49-F238E27FC236}">
                <a16:creationId xmlns:a16="http://schemas.microsoft.com/office/drawing/2014/main" id="{0ACA243D-E3CC-4522-9CC9-6E82460F6B70}"/>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From source locations to diagnostics, certificates, and offline checks.</a:t>
            </a:r>
          </a:p>
        </p:txBody>
      </p:sp>
      <p:sp>
        <p:nvSpPr>
          <p:cNvPr id="5" name="s12-source-rule">
            <a:extLst xmlns:a="http://schemas.openxmlformats.org/drawingml/2006/main">
              <a:ext uri="{FF2B5EF4-FFF2-40B4-BE49-F238E27FC236}">
                <a16:creationId xmlns:a16="http://schemas.microsoft.com/office/drawing/2014/main" id="{E655B6AB-80F8-4E54-A7F0-709A486CEC6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2-sources">
            <a:extLst xmlns:a="http://schemas.openxmlformats.org/drawingml/2006/main">
              <a:ext uri="{FF2B5EF4-FFF2-40B4-BE49-F238E27FC236}">
                <a16:creationId xmlns:a16="http://schemas.microsoft.com/office/drawing/2014/main" id="{01AC59A5-DB3A-42A1-89DE-9BF1A6BBD74D}"/>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src/main.cpp; src/semantic_analyzer.cpp; src/cost_analyzer.cpp; src/relational.cpp; src/certificate.cpp; src/interpreter.cpp</a:t>
            </a:r>
          </a:p>
        </p:txBody>
      </p:sp>
      <p:sp>
        <p:nvSpPr>
          <p:cNvPr id="7" name="s12-footer-rule">
            <a:extLst xmlns:a="http://schemas.openxmlformats.org/drawingml/2006/main">
              <a:ext uri="{FF2B5EF4-FFF2-40B4-BE49-F238E27FC236}">
                <a16:creationId xmlns:a16="http://schemas.microsoft.com/office/drawing/2014/main" id="{704000CD-14BE-4201-8F07-1F219B4C912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2-footer">
            <a:extLst xmlns:a="http://schemas.openxmlformats.org/drawingml/2006/main">
              <a:ext uri="{FF2B5EF4-FFF2-40B4-BE49-F238E27FC236}">
                <a16:creationId xmlns:a16="http://schemas.microsoft.com/office/drawing/2014/main" id="{A3783569-68F9-46BE-B49B-AEA2D93FBDFE}"/>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2-page">
            <a:extLst xmlns:a="http://schemas.openxmlformats.org/drawingml/2006/main">
              <a:ext uri="{FF2B5EF4-FFF2-40B4-BE49-F238E27FC236}">
                <a16:creationId xmlns:a16="http://schemas.microsoft.com/office/drawing/2014/main" id="{A4B5BEAE-F3C2-43A4-9CD8-6D5BB670F18F}"/>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12</a:t>
            </a:r>
          </a:p>
        </p:txBody>
      </p:sp>
      <p:sp>
        <p:nvSpPr>
          <p:cNvPr id="10" name="pipe-0-panel">
            <a:extLst xmlns:a="http://schemas.openxmlformats.org/drawingml/2006/main">
              <a:ext uri="{FF2B5EF4-FFF2-40B4-BE49-F238E27FC236}">
                <a16:creationId xmlns:a16="http://schemas.microsoft.com/office/drawing/2014/main" id="{80B37671-53C1-4850-80FC-D5D4DD76E805}"/>
              </a:ext>
            </a:extLst>
          </p:cNvPr>
          <p:cNvSpPr>
            <a:spLocks xmlns:a="http://schemas.openxmlformats.org/drawingml/2006/main" noGrp="1"/>
          </p:cNvSpPr>
          <p:nvPr/>
        </p:nvSpPr>
        <p:spPr>
          <a:xfrm xmlns:a="http://schemas.openxmlformats.org/drawingml/2006/main">
            <a:off x="742950"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11" name="pipe-0-accent">
            <a:extLst xmlns:a="http://schemas.openxmlformats.org/drawingml/2006/main">
              <a:ext uri="{FF2B5EF4-FFF2-40B4-BE49-F238E27FC236}">
                <a16:creationId xmlns:a16="http://schemas.microsoft.com/office/drawing/2014/main" id="{583521C7-2BFB-4604-A076-6299ABBD89BE}"/>
              </a:ext>
            </a:extLst>
          </p:cNvPr>
          <p:cNvSpPr>
            <a:spLocks xmlns:a="http://schemas.openxmlformats.org/drawingml/2006/main" noGrp="1"/>
          </p:cNvSpPr>
          <p:nvPr/>
        </p:nvSpPr>
        <p:spPr>
          <a:xfrm xmlns:a="http://schemas.openxmlformats.org/drawingml/2006/main">
            <a:off x="742950" y="2895600"/>
            <a:ext cx="57150" cy="16954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2" name="pipe-0-title">
            <a:extLst xmlns:a="http://schemas.openxmlformats.org/drawingml/2006/main">
              <a:ext uri="{FF2B5EF4-FFF2-40B4-BE49-F238E27FC236}">
                <a16:creationId xmlns:a16="http://schemas.microsoft.com/office/drawing/2014/main" id="{1CA9B04B-A721-4E36-A149-B3B5359BF8AF}"/>
              </a:ext>
            </a:extLst>
          </p:cNvPr>
          <p:cNvSpPr>
            <a:spLocks xmlns:a="http://schemas.openxmlformats.org/drawingml/2006/main" noGrp="1"/>
          </p:cNvSpPr>
          <p:nvPr/>
        </p:nvSpPr>
        <p:spPr>
          <a:xfrm xmlns:a="http://schemas.openxmlformats.org/drawingml/2006/main">
            <a:off x="952500"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SOURCE</a:t>
            </a:r>
          </a:p>
        </p:txBody>
      </p:sp>
      <p:sp>
        <p:nvSpPr>
          <p:cNvPr id="13" name="pipe-0-body">
            <a:extLst xmlns:a="http://schemas.openxmlformats.org/drawingml/2006/main">
              <a:ext uri="{FF2B5EF4-FFF2-40B4-BE49-F238E27FC236}">
                <a16:creationId xmlns:a16="http://schemas.microsoft.com/office/drawing/2014/main" id="{13A51FA0-A992-4FD1-A6EE-F049983486CB}"/>
              </a:ext>
            </a:extLst>
          </p:cNvPr>
          <p:cNvSpPr>
            <a:spLocks xmlns:a="http://schemas.openxmlformats.org/drawingml/2006/main" noGrp="1"/>
          </p:cNvSpPr>
          <p:nvPr/>
        </p:nvSpPr>
        <p:spPr>
          <a:xfrm xmlns:a="http://schemas.openxmlformats.org/drawingml/2006/main">
            <a:off x="952500"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lexer + parser</a:t>
            </a:r>
          </a:p>
        </p:txBody>
      </p:sp>
      <p:sp>
        <p:nvSpPr>
          <p:cNvPr id="14" name="pipe-arrow-0">
            <a:extLst xmlns:a="http://schemas.openxmlformats.org/drawingml/2006/main">
              <a:ext uri="{FF2B5EF4-FFF2-40B4-BE49-F238E27FC236}">
                <a16:creationId xmlns:a16="http://schemas.microsoft.com/office/drawing/2014/main" id="{12E06A94-2C43-422F-AFEB-5BF28E5A56FF}"/>
              </a:ext>
            </a:extLst>
          </p:cNvPr>
          <p:cNvSpPr>
            <a:spLocks xmlns:a="http://schemas.openxmlformats.org/drawingml/2006/main" noGrp="1"/>
          </p:cNvSpPr>
          <p:nvPr/>
        </p:nvSpPr>
        <p:spPr>
          <a:xfrm xmlns:a="http://schemas.openxmlformats.org/drawingml/2006/main">
            <a:off x="2695575" y="3409950"/>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48"/>
          </a:bodyPr>
          <a:lstStyle xmlns:a="http://schemas.openxmlformats.org/drawingml/2006/main">
            <a:defPPr algn="ctr">
              <a:defRPr sz="1950" b="1" i="0">
                <a:solidFill>
                  <a:srgbClr val="B8C1D1"/>
                </a:solidFill>
                <a:latin typeface="Avenir Next"/>
                <a:ea typeface="Avenir Next"/>
                <a:cs typeface="Avenir Next"/>
              </a:defRPr>
            </a:defPPr>
          </a:lstStyle>
          <a:p xmlns:a="http://schemas.openxmlformats.org/drawingml/2006/main">
            <a:pPr algn="ctr">
              <a:defRPr sz="1950" b="1" i="0">
                <a:solidFill>
                  <a:srgbClr val="B8C1D1"/>
                </a:solidFill>
                <a:latin typeface="Avenir Next"/>
                <a:ea typeface="Avenir Next"/>
                <a:cs typeface="Avenir Next"/>
              </a:defRPr>
            </a:pPr>
            <a:r>
              <a:rPr sz="1950" b="1" i="0">
                <a:solidFill>
                  <a:srgbClr val="B8C1D1"/>
                </a:solidFill>
                <a:latin typeface="Avenir Next"/>
                <a:ea typeface="Avenir Next"/>
                <a:cs typeface="Avenir Next"/>
              </a:rPr>
              <a:t>→</a:t>
            </a:r>
          </a:p>
        </p:txBody>
      </p:sp>
      <p:sp>
        <p:nvSpPr>
          <p:cNvPr id="15" name="pipe-1-panel">
            <a:extLst xmlns:a="http://schemas.openxmlformats.org/drawingml/2006/main">
              <a:ext uri="{FF2B5EF4-FFF2-40B4-BE49-F238E27FC236}">
                <a16:creationId xmlns:a16="http://schemas.microsoft.com/office/drawing/2014/main" id="{7D5F2081-D06F-448C-8E09-7C7891C9A98E}"/>
              </a:ext>
            </a:extLst>
          </p:cNvPr>
          <p:cNvSpPr>
            <a:spLocks xmlns:a="http://schemas.openxmlformats.org/drawingml/2006/main" noGrp="1"/>
          </p:cNvSpPr>
          <p:nvPr/>
        </p:nvSpPr>
        <p:spPr>
          <a:xfrm xmlns:a="http://schemas.openxmlformats.org/drawingml/2006/main">
            <a:off x="2867025"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16" name="pipe-1-accent">
            <a:extLst xmlns:a="http://schemas.openxmlformats.org/drawingml/2006/main">
              <a:ext uri="{FF2B5EF4-FFF2-40B4-BE49-F238E27FC236}">
                <a16:creationId xmlns:a16="http://schemas.microsoft.com/office/drawing/2014/main" id="{6D3330CF-55A9-459E-B214-27B1FB8C253D}"/>
              </a:ext>
            </a:extLst>
          </p:cNvPr>
          <p:cNvSpPr>
            <a:spLocks xmlns:a="http://schemas.openxmlformats.org/drawingml/2006/main" noGrp="1"/>
          </p:cNvSpPr>
          <p:nvPr/>
        </p:nvSpPr>
        <p:spPr>
          <a:xfrm xmlns:a="http://schemas.openxmlformats.org/drawingml/2006/main">
            <a:off x="2867025" y="2895600"/>
            <a:ext cx="57150" cy="16954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7" name="pipe-1-title">
            <a:extLst xmlns:a="http://schemas.openxmlformats.org/drawingml/2006/main">
              <a:ext uri="{FF2B5EF4-FFF2-40B4-BE49-F238E27FC236}">
                <a16:creationId xmlns:a16="http://schemas.microsoft.com/office/drawing/2014/main" id="{EAFEA23D-E080-4449-9C0B-9ABF8884D647}"/>
              </a:ext>
            </a:extLst>
          </p:cNvPr>
          <p:cNvSpPr>
            <a:spLocks xmlns:a="http://schemas.openxmlformats.org/drawingml/2006/main" noGrp="1"/>
          </p:cNvSpPr>
          <p:nvPr/>
        </p:nvSpPr>
        <p:spPr>
          <a:xfrm xmlns:a="http://schemas.openxmlformats.org/drawingml/2006/main">
            <a:off x="3076575"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SCOPES</a:t>
            </a:r>
          </a:p>
        </p:txBody>
      </p:sp>
      <p:sp>
        <p:nvSpPr>
          <p:cNvPr id="18" name="pipe-1-body">
            <a:extLst xmlns:a="http://schemas.openxmlformats.org/drawingml/2006/main">
              <a:ext uri="{FF2B5EF4-FFF2-40B4-BE49-F238E27FC236}">
                <a16:creationId xmlns:a16="http://schemas.microsoft.com/office/drawing/2014/main" id="{4814176C-8DCB-4B48-94B4-D9C22020311C}"/>
              </a:ext>
            </a:extLst>
          </p:cNvPr>
          <p:cNvSpPr>
            <a:spLocks xmlns:a="http://schemas.openxmlformats.org/drawingml/2006/main" noGrp="1"/>
          </p:cNvSpPr>
          <p:nvPr/>
        </p:nvSpPr>
        <p:spPr>
          <a:xfrm xmlns:a="http://schemas.openxmlformats.org/drawingml/2006/main">
            <a:off x="3076575"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resolved names</a:t>
            </a:r>
          </a:p>
        </p:txBody>
      </p:sp>
      <p:sp>
        <p:nvSpPr>
          <p:cNvPr id="19" name="pipe-arrow-1">
            <a:extLst xmlns:a="http://schemas.openxmlformats.org/drawingml/2006/main">
              <a:ext uri="{FF2B5EF4-FFF2-40B4-BE49-F238E27FC236}">
                <a16:creationId xmlns:a16="http://schemas.microsoft.com/office/drawing/2014/main" id="{782BBCC3-740C-4BB8-8555-F41AF2F9C04D}"/>
              </a:ext>
            </a:extLst>
          </p:cNvPr>
          <p:cNvSpPr>
            <a:spLocks xmlns:a="http://schemas.openxmlformats.org/drawingml/2006/main" noGrp="1"/>
          </p:cNvSpPr>
          <p:nvPr/>
        </p:nvSpPr>
        <p:spPr>
          <a:xfrm xmlns:a="http://schemas.openxmlformats.org/drawingml/2006/main">
            <a:off x="4819650" y="3409950"/>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48"/>
          </a:bodyPr>
          <a:lstStyle xmlns:a="http://schemas.openxmlformats.org/drawingml/2006/main">
            <a:defPPr algn="ctr">
              <a:defRPr sz="1950" b="1" i="0">
                <a:solidFill>
                  <a:srgbClr val="B8C1D1"/>
                </a:solidFill>
                <a:latin typeface="Avenir Next"/>
                <a:ea typeface="Avenir Next"/>
                <a:cs typeface="Avenir Next"/>
              </a:defRPr>
            </a:defPPr>
          </a:lstStyle>
          <a:p xmlns:a="http://schemas.openxmlformats.org/drawingml/2006/main">
            <a:pPr algn="ctr">
              <a:defRPr sz="1950" b="1" i="0">
                <a:solidFill>
                  <a:srgbClr val="B8C1D1"/>
                </a:solidFill>
                <a:latin typeface="Avenir Next"/>
                <a:ea typeface="Avenir Next"/>
                <a:cs typeface="Avenir Next"/>
              </a:defRPr>
            </a:pPr>
            <a:r>
              <a:rPr sz="1950" b="1" i="0">
                <a:solidFill>
                  <a:srgbClr val="B8C1D1"/>
                </a:solidFill>
                <a:latin typeface="Avenir Next"/>
                <a:ea typeface="Avenir Next"/>
                <a:cs typeface="Avenir Next"/>
              </a:rPr>
              <a:t>→</a:t>
            </a:r>
          </a:p>
        </p:txBody>
      </p:sp>
      <p:sp>
        <p:nvSpPr>
          <p:cNvPr id="20" name="pipe-2-panel">
            <a:extLst xmlns:a="http://schemas.openxmlformats.org/drawingml/2006/main">
              <a:ext uri="{FF2B5EF4-FFF2-40B4-BE49-F238E27FC236}">
                <a16:creationId xmlns:a16="http://schemas.microsoft.com/office/drawing/2014/main" id="{5CFB7710-268A-462B-B668-FC2C359BB885}"/>
              </a:ext>
            </a:extLst>
          </p:cNvPr>
          <p:cNvSpPr>
            <a:spLocks xmlns:a="http://schemas.openxmlformats.org/drawingml/2006/main" noGrp="1"/>
          </p:cNvSpPr>
          <p:nvPr/>
        </p:nvSpPr>
        <p:spPr>
          <a:xfrm xmlns:a="http://schemas.openxmlformats.org/drawingml/2006/main">
            <a:off x="4991100"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21" name="pipe-2-accent">
            <a:extLst xmlns:a="http://schemas.openxmlformats.org/drawingml/2006/main">
              <a:ext uri="{FF2B5EF4-FFF2-40B4-BE49-F238E27FC236}">
                <a16:creationId xmlns:a16="http://schemas.microsoft.com/office/drawing/2014/main" id="{987F21DD-F6EB-44D4-A169-853852CAC03F}"/>
              </a:ext>
            </a:extLst>
          </p:cNvPr>
          <p:cNvSpPr>
            <a:spLocks xmlns:a="http://schemas.openxmlformats.org/drawingml/2006/main" noGrp="1"/>
          </p:cNvSpPr>
          <p:nvPr/>
        </p:nvSpPr>
        <p:spPr>
          <a:xfrm xmlns:a="http://schemas.openxmlformats.org/drawingml/2006/main">
            <a:off x="4991100" y="2895600"/>
            <a:ext cx="57150" cy="16954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2" name="pipe-2-title">
            <a:extLst xmlns:a="http://schemas.openxmlformats.org/drawingml/2006/main">
              <a:ext uri="{FF2B5EF4-FFF2-40B4-BE49-F238E27FC236}">
                <a16:creationId xmlns:a16="http://schemas.microsoft.com/office/drawing/2014/main" id="{05FE1D09-0848-424E-8B44-60F589CF9E13}"/>
              </a:ext>
            </a:extLst>
          </p:cNvPr>
          <p:cNvSpPr>
            <a:spLocks xmlns:a="http://schemas.openxmlformats.org/drawingml/2006/main" noGrp="1"/>
          </p:cNvSpPr>
          <p:nvPr/>
        </p:nvSpPr>
        <p:spPr>
          <a:xfrm xmlns:a="http://schemas.openxmlformats.org/drawingml/2006/main">
            <a:off x="5200650"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ANALYSES</a:t>
            </a:r>
          </a:p>
        </p:txBody>
      </p:sp>
      <p:sp>
        <p:nvSpPr>
          <p:cNvPr id="23" name="pipe-2-body">
            <a:extLst xmlns:a="http://schemas.openxmlformats.org/drawingml/2006/main">
              <a:ext uri="{FF2B5EF4-FFF2-40B4-BE49-F238E27FC236}">
                <a16:creationId xmlns:a16="http://schemas.microsoft.com/office/drawing/2014/main" id="{A4AFF096-C50C-4DAC-AC64-BDDB20E9607F}"/>
              </a:ext>
            </a:extLst>
          </p:cNvPr>
          <p:cNvSpPr>
            <a:spLocks xmlns:a="http://schemas.openxmlformats.org/drawingml/2006/main" noGrp="1"/>
          </p:cNvSpPr>
          <p:nvPr/>
        </p:nvSpPr>
        <p:spPr>
          <a:xfrm xmlns:a="http://schemas.openxmlformats.org/drawingml/2006/main">
            <a:off x="5200650"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flow + bound + relation</a:t>
            </a:r>
          </a:p>
        </p:txBody>
      </p:sp>
      <p:sp>
        <p:nvSpPr>
          <p:cNvPr id="24" name="pipe-arrow-2">
            <a:extLst xmlns:a="http://schemas.openxmlformats.org/drawingml/2006/main">
              <a:ext uri="{FF2B5EF4-FFF2-40B4-BE49-F238E27FC236}">
                <a16:creationId xmlns:a16="http://schemas.microsoft.com/office/drawing/2014/main" id="{A6FEC7B2-9B7C-4939-9485-F01A0715F854}"/>
              </a:ext>
            </a:extLst>
          </p:cNvPr>
          <p:cNvSpPr>
            <a:spLocks xmlns:a="http://schemas.openxmlformats.org/drawingml/2006/main" noGrp="1"/>
          </p:cNvSpPr>
          <p:nvPr/>
        </p:nvSpPr>
        <p:spPr>
          <a:xfrm xmlns:a="http://schemas.openxmlformats.org/drawingml/2006/main">
            <a:off x="6943725" y="3409950"/>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48"/>
          </a:bodyPr>
          <a:lstStyle xmlns:a="http://schemas.openxmlformats.org/drawingml/2006/main">
            <a:defPPr algn="ctr">
              <a:defRPr sz="1950" b="1" i="0">
                <a:solidFill>
                  <a:srgbClr val="B8C1D1"/>
                </a:solidFill>
                <a:latin typeface="Avenir Next"/>
                <a:ea typeface="Avenir Next"/>
                <a:cs typeface="Avenir Next"/>
              </a:defRPr>
            </a:defPPr>
          </a:lstStyle>
          <a:p xmlns:a="http://schemas.openxmlformats.org/drawingml/2006/main">
            <a:pPr algn="ctr">
              <a:defRPr sz="1950" b="1" i="0">
                <a:solidFill>
                  <a:srgbClr val="B8C1D1"/>
                </a:solidFill>
                <a:latin typeface="Avenir Next"/>
                <a:ea typeface="Avenir Next"/>
                <a:cs typeface="Avenir Next"/>
              </a:defRPr>
            </a:pPr>
            <a:r>
              <a:rPr sz="1950" b="1" i="0">
                <a:solidFill>
                  <a:srgbClr val="B8C1D1"/>
                </a:solidFill>
                <a:latin typeface="Avenir Next"/>
                <a:ea typeface="Avenir Next"/>
                <a:cs typeface="Avenir Next"/>
              </a:rPr>
              <a:t>→</a:t>
            </a:r>
          </a:p>
        </p:txBody>
      </p:sp>
      <p:sp>
        <p:nvSpPr>
          <p:cNvPr id="25" name="pipe-3-panel">
            <a:extLst xmlns:a="http://schemas.openxmlformats.org/drawingml/2006/main">
              <a:ext uri="{FF2B5EF4-FFF2-40B4-BE49-F238E27FC236}">
                <a16:creationId xmlns:a16="http://schemas.microsoft.com/office/drawing/2014/main" id="{6BADE600-092B-483A-9292-96C767D3B002}"/>
              </a:ext>
            </a:extLst>
          </p:cNvPr>
          <p:cNvSpPr>
            <a:spLocks xmlns:a="http://schemas.openxmlformats.org/drawingml/2006/main" noGrp="1"/>
          </p:cNvSpPr>
          <p:nvPr/>
        </p:nvSpPr>
        <p:spPr>
          <a:xfrm xmlns:a="http://schemas.openxmlformats.org/drawingml/2006/main">
            <a:off x="7115175"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26" name="pipe-3-accent">
            <a:extLst xmlns:a="http://schemas.openxmlformats.org/drawingml/2006/main">
              <a:ext uri="{FF2B5EF4-FFF2-40B4-BE49-F238E27FC236}">
                <a16:creationId xmlns:a16="http://schemas.microsoft.com/office/drawing/2014/main" id="{4ADED6E1-266F-4088-B5CA-0EB858B16AB6}"/>
              </a:ext>
            </a:extLst>
          </p:cNvPr>
          <p:cNvSpPr>
            <a:spLocks xmlns:a="http://schemas.openxmlformats.org/drawingml/2006/main" noGrp="1"/>
          </p:cNvSpPr>
          <p:nvPr/>
        </p:nvSpPr>
        <p:spPr>
          <a:xfrm xmlns:a="http://schemas.openxmlformats.org/drawingml/2006/main">
            <a:off x="7115175" y="2895600"/>
            <a:ext cx="57150" cy="16954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27" name="pipe-3-title">
            <a:extLst xmlns:a="http://schemas.openxmlformats.org/drawingml/2006/main">
              <a:ext uri="{FF2B5EF4-FFF2-40B4-BE49-F238E27FC236}">
                <a16:creationId xmlns:a16="http://schemas.microsoft.com/office/drawing/2014/main" id="{488115D4-8D36-4474-BAD7-D155F7883FF7}"/>
              </a:ext>
            </a:extLst>
          </p:cNvPr>
          <p:cNvSpPr>
            <a:spLocks xmlns:a="http://schemas.openxmlformats.org/drawingml/2006/main" noGrp="1"/>
          </p:cNvSpPr>
          <p:nvPr/>
        </p:nvSpPr>
        <p:spPr>
          <a:xfrm xmlns:a="http://schemas.openxmlformats.org/drawingml/2006/main">
            <a:off x="7324725"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IR</a:t>
            </a:r>
          </a:p>
        </p:txBody>
      </p:sp>
      <p:sp>
        <p:nvSpPr>
          <p:cNvPr id="28" name="pipe-3-body">
            <a:extLst xmlns:a="http://schemas.openxmlformats.org/drawingml/2006/main">
              <a:ext uri="{FF2B5EF4-FFF2-40B4-BE49-F238E27FC236}">
                <a16:creationId xmlns:a16="http://schemas.microsoft.com/office/drawing/2014/main" id="{98369AAD-30D4-409E-9248-F1108427263A}"/>
              </a:ext>
            </a:extLst>
          </p:cNvPr>
          <p:cNvSpPr>
            <a:spLocks xmlns:a="http://schemas.openxmlformats.org/drawingml/2006/main" noGrp="1"/>
          </p:cNvSpPr>
          <p:nvPr/>
        </p:nvSpPr>
        <p:spPr>
          <a:xfrm xmlns:a="http://schemas.openxmlformats.org/drawingml/2006/main">
            <a:off x="7324725"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regions + certificate</a:t>
            </a:r>
          </a:p>
        </p:txBody>
      </p:sp>
      <p:sp>
        <p:nvSpPr>
          <p:cNvPr id="29" name="pipe-arrow-3">
            <a:extLst xmlns:a="http://schemas.openxmlformats.org/drawingml/2006/main">
              <a:ext uri="{FF2B5EF4-FFF2-40B4-BE49-F238E27FC236}">
                <a16:creationId xmlns:a16="http://schemas.microsoft.com/office/drawing/2014/main" id="{39C8DDD8-0375-4661-A82C-FCCDD8038983}"/>
              </a:ext>
            </a:extLst>
          </p:cNvPr>
          <p:cNvSpPr>
            <a:spLocks xmlns:a="http://schemas.openxmlformats.org/drawingml/2006/main" noGrp="1"/>
          </p:cNvSpPr>
          <p:nvPr/>
        </p:nvSpPr>
        <p:spPr>
          <a:xfrm xmlns:a="http://schemas.openxmlformats.org/drawingml/2006/main">
            <a:off x="9067800" y="3409950"/>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48"/>
          </a:bodyPr>
          <a:lstStyle xmlns:a="http://schemas.openxmlformats.org/drawingml/2006/main">
            <a:defPPr algn="ctr">
              <a:defRPr sz="1950" b="1" i="0">
                <a:solidFill>
                  <a:srgbClr val="B8C1D1"/>
                </a:solidFill>
                <a:latin typeface="Avenir Next"/>
                <a:ea typeface="Avenir Next"/>
                <a:cs typeface="Avenir Next"/>
              </a:defRPr>
            </a:defPPr>
          </a:lstStyle>
          <a:p xmlns:a="http://schemas.openxmlformats.org/drawingml/2006/main">
            <a:pPr algn="ctr">
              <a:defRPr sz="1950" b="1" i="0">
                <a:solidFill>
                  <a:srgbClr val="B8C1D1"/>
                </a:solidFill>
                <a:latin typeface="Avenir Next"/>
                <a:ea typeface="Avenir Next"/>
                <a:cs typeface="Avenir Next"/>
              </a:defRPr>
            </a:pPr>
            <a:r>
              <a:rPr sz="1950" b="1" i="0">
                <a:solidFill>
                  <a:srgbClr val="B8C1D1"/>
                </a:solidFill>
                <a:latin typeface="Avenir Next"/>
                <a:ea typeface="Avenir Next"/>
                <a:cs typeface="Avenir Next"/>
              </a:rPr>
              <a:t>→</a:t>
            </a:r>
          </a:p>
        </p:txBody>
      </p:sp>
      <p:sp>
        <p:nvSpPr>
          <p:cNvPr id="30" name="pipe-4-panel">
            <a:extLst xmlns:a="http://schemas.openxmlformats.org/drawingml/2006/main">
              <a:ext uri="{FF2B5EF4-FFF2-40B4-BE49-F238E27FC236}">
                <a16:creationId xmlns:a16="http://schemas.microsoft.com/office/drawing/2014/main" id="{7C4A1956-2F7F-4392-8616-C9AEC9EA1EAF}"/>
              </a:ext>
            </a:extLst>
          </p:cNvPr>
          <p:cNvSpPr>
            <a:spLocks xmlns:a="http://schemas.openxmlformats.org/drawingml/2006/main" noGrp="1"/>
          </p:cNvSpPr>
          <p:nvPr/>
        </p:nvSpPr>
        <p:spPr>
          <a:xfrm xmlns:a="http://schemas.openxmlformats.org/drawingml/2006/main">
            <a:off x="9239250"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31" name="pipe-4-accent">
            <a:extLst xmlns:a="http://schemas.openxmlformats.org/drawingml/2006/main">
              <a:ext uri="{FF2B5EF4-FFF2-40B4-BE49-F238E27FC236}">
                <a16:creationId xmlns:a16="http://schemas.microsoft.com/office/drawing/2014/main" id="{A575137B-F1D0-4567-9ADD-1BB36491DA38}"/>
              </a:ext>
            </a:extLst>
          </p:cNvPr>
          <p:cNvSpPr>
            <a:spLocks xmlns:a="http://schemas.openxmlformats.org/drawingml/2006/main" noGrp="1"/>
          </p:cNvSpPr>
          <p:nvPr/>
        </p:nvSpPr>
        <p:spPr>
          <a:xfrm xmlns:a="http://schemas.openxmlformats.org/drawingml/2006/main">
            <a:off x="9239250" y="2895600"/>
            <a:ext cx="57150" cy="16954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32" name="pipe-4-title">
            <a:extLst xmlns:a="http://schemas.openxmlformats.org/drawingml/2006/main">
              <a:ext uri="{FF2B5EF4-FFF2-40B4-BE49-F238E27FC236}">
                <a16:creationId xmlns:a16="http://schemas.microsoft.com/office/drawing/2014/main" id="{CE4A2EC5-9331-4466-9271-71D8385730AE}"/>
              </a:ext>
            </a:extLst>
          </p:cNvPr>
          <p:cNvSpPr>
            <a:spLocks xmlns:a="http://schemas.openxmlformats.org/drawingml/2006/main" noGrp="1"/>
          </p:cNvSpPr>
          <p:nvPr/>
        </p:nvSpPr>
        <p:spPr>
          <a:xfrm xmlns:a="http://schemas.openxmlformats.org/drawingml/2006/main">
            <a:off x="9448800"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EVIDENCE</a:t>
            </a:r>
          </a:p>
        </p:txBody>
      </p:sp>
      <p:sp>
        <p:nvSpPr>
          <p:cNvPr id="33" name="pipe-4-body">
            <a:extLst xmlns:a="http://schemas.openxmlformats.org/drawingml/2006/main">
              <a:ext uri="{FF2B5EF4-FFF2-40B4-BE49-F238E27FC236}">
                <a16:creationId xmlns:a16="http://schemas.microsoft.com/office/drawing/2014/main" id="{77C3843A-602A-4EA6-B28B-D1EE89EBC7F8}"/>
              </a:ext>
            </a:extLst>
          </p:cNvPr>
          <p:cNvSpPr>
            <a:spLocks xmlns:a="http://schemas.openxmlformats.org/drawingml/2006/main" noGrp="1"/>
          </p:cNvSpPr>
          <p:nvPr/>
        </p:nvSpPr>
        <p:spPr>
          <a:xfrm xmlns:a="http://schemas.openxmlformats.org/drawingml/2006/main">
            <a:off x="9448800"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diagnostics + offline run</a:t>
            </a:r>
          </a:p>
        </p:txBody>
      </p:sp>
      <p:sp>
        <p:nvSpPr>
          <p:cNvPr id="34" name="pipe-bottom">
            <a:extLst xmlns:a="http://schemas.openxmlformats.org/drawingml/2006/main">
              <a:ext uri="{FF2B5EF4-FFF2-40B4-BE49-F238E27FC236}">
                <a16:creationId xmlns:a16="http://schemas.microsoft.com/office/drawing/2014/main" id="{58027105-B828-4E17-B848-0BD38DFCCA92}"/>
              </a:ext>
            </a:extLst>
          </p:cNvPr>
          <p:cNvSpPr>
            <a:spLocks xmlns:a="http://schemas.openxmlformats.org/drawingml/2006/main" noGrp="1"/>
          </p:cNvSpPr>
          <p:nvPr/>
        </p:nvSpPr>
        <p:spPr>
          <a:xfrm xmlns:a="http://schemas.openxmlformats.org/drawingml/2006/main">
            <a:off x="952500" y="517207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0" i="0">
                <a:solidFill>
                  <a:srgbClr val="B8C1D1"/>
                </a:solidFill>
                <a:latin typeface="Avenir Next"/>
                <a:ea typeface="Avenir Next"/>
                <a:cs typeface="Avenir Next"/>
              </a:defRPr>
            </a:defPPr>
          </a:lstStyle>
          <a:p xmlns:a="http://schemas.openxmlformats.org/drawingml/2006/main">
            <a:pPr algn="ctr">
              <a:defRPr sz="1425" b="0" i="0">
                <a:solidFill>
                  <a:srgbClr val="B8C1D1"/>
                </a:solidFill>
                <a:latin typeface="Avenir Next"/>
                <a:ea typeface="Avenir Next"/>
                <a:cs typeface="Avenir Next"/>
              </a:defRPr>
            </a:pPr>
            <a:r>
              <a:rPr sz="1425" b="0" i="0">
                <a:solidFill>
                  <a:srgbClr val="B8C1D1"/>
                </a:solidFill>
                <a:latin typeface="Avenir Next"/>
                <a:ea typeface="Avenir Next"/>
                <a:cs typeface="Avenir Next"/>
              </a:rPr>
              <a:t>No model key, live provider call, or network access is needed for the static checks.</a:t>
            </a:r>
          </a:p>
        </p:txBody>
      </p:sp>
    </p:spTree>
    <p:extLst>
      <p:ext uri="{BB962C8B-B14F-4D97-AF65-F5344CB8AC3E}">
        <p14:creationId xmlns:p14="http://schemas.microsoft.com/office/powerpoint/2010/main" val="2125883947"/>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s13-brand">
            <a:extLst xmlns:a="http://schemas.openxmlformats.org/drawingml/2006/main">
              <a:ext uri="{FF2B5EF4-FFF2-40B4-BE49-F238E27FC236}">
                <a16:creationId xmlns:a16="http://schemas.microsoft.com/office/drawing/2014/main" id="{B28EA3CD-1829-48E0-B10C-2E1BE464DC83}"/>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3-section">
            <a:extLst xmlns:a="http://schemas.openxmlformats.org/drawingml/2006/main">
              <a:ext uri="{FF2B5EF4-FFF2-40B4-BE49-F238E27FC236}">
                <a16:creationId xmlns:a16="http://schemas.microsoft.com/office/drawing/2014/main" id="{0BAC1C32-F835-4EC9-A791-77AB0C6DDF6D}"/>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DIAGNOSTICS</a:t>
            </a:r>
          </a:p>
        </p:txBody>
      </p:sp>
      <p:sp>
        <p:nvSpPr>
          <p:cNvPr id="3" name="s13-title">
            <a:extLst xmlns:a="http://schemas.openxmlformats.org/drawingml/2006/main">
              <a:ext uri="{FF2B5EF4-FFF2-40B4-BE49-F238E27FC236}">
                <a16:creationId xmlns:a16="http://schemas.microsoft.com/office/drawing/2014/main" id="{BFF8171E-7DAD-453D-BE32-C4A3BE614193}"/>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2"/>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A rejection should name the request contract that differs</a:t>
            </a:r>
          </a:p>
        </p:txBody>
      </p:sp>
      <p:sp>
        <p:nvSpPr>
          <p:cNvPr id="4" name="s13-subtitle">
            <a:extLst xmlns:a="http://schemas.openxmlformats.org/drawingml/2006/main">
              <a:ext uri="{FF2B5EF4-FFF2-40B4-BE49-F238E27FC236}">
                <a16:creationId xmlns:a16="http://schemas.microsoft.com/office/drawing/2014/main" id="{4123AD15-DF20-48CD-A948-EFDB97B8F05C}"/>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Compiler output makes the failed comparison reviewable at source level.</a:t>
            </a:r>
          </a:p>
        </p:txBody>
      </p:sp>
      <p:sp>
        <p:nvSpPr>
          <p:cNvPr id="5" name="s13-source-rule">
            <a:extLst xmlns:a="http://schemas.openxmlformats.org/drawingml/2006/main">
              <a:ext uri="{FF2B5EF4-FFF2-40B4-BE49-F238E27FC236}">
                <a16:creationId xmlns:a16="http://schemas.microsoft.com/office/drawing/2014/main" id="{8FEF277E-5D13-4F68-A80B-6012D34FD2D1}"/>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3-sources">
            <a:extLst xmlns:a="http://schemas.openxmlformats.org/drawingml/2006/main">
              <a:ext uri="{FF2B5EF4-FFF2-40B4-BE49-F238E27FC236}">
                <a16:creationId xmlns:a16="http://schemas.microsoft.com/office/drawing/2014/main" id="{D1BCB085-16C1-4F1D-8652-3A11753A15BE}"/>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examples/research/rejected/equal_bounds_different_inputs.orch; final compiler stdout/stderr</a:t>
            </a:r>
          </a:p>
        </p:txBody>
      </p:sp>
      <p:sp>
        <p:nvSpPr>
          <p:cNvPr id="7" name="s13-footer-rule">
            <a:extLst xmlns:a="http://schemas.openxmlformats.org/drawingml/2006/main">
              <a:ext uri="{FF2B5EF4-FFF2-40B4-BE49-F238E27FC236}">
                <a16:creationId xmlns:a16="http://schemas.microsoft.com/office/drawing/2014/main" id="{FFCD2A98-DC84-4C40-9C79-A46B9E26226A}"/>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3-footer">
            <a:extLst xmlns:a="http://schemas.openxmlformats.org/drawingml/2006/main">
              <a:ext uri="{FF2B5EF4-FFF2-40B4-BE49-F238E27FC236}">
                <a16:creationId xmlns:a16="http://schemas.microsoft.com/office/drawing/2014/main" id="{6FF06140-028A-49BA-B296-5D20EDDDD84F}"/>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3-page">
            <a:extLst xmlns:a="http://schemas.openxmlformats.org/drawingml/2006/main">
              <a:ext uri="{FF2B5EF4-FFF2-40B4-BE49-F238E27FC236}">
                <a16:creationId xmlns:a16="http://schemas.microsoft.com/office/drawing/2014/main" id="{F6B75282-59AB-41EF-8F95-9A469721F54D}"/>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13</a:t>
            </a:r>
          </a:p>
        </p:txBody>
      </p:sp>
      <p:sp>
        <p:nvSpPr>
          <p:cNvPr id="10" name="diag-source-panel">
            <a:extLst xmlns:a="http://schemas.openxmlformats.org/drawingml/2006/main">
              <a:ext uri="{FF2B5EF4-FFF2-40B4-BE49-F238E27FC236}">
                <a16:creationId xmlns:a16="http://schemas.microsoft.com/office/drawing/2014/main" id="{A16D6D0D-CB70-4C7E-9768-F298B8659963}"/>
              </a:ext>
            </a:extLst>
          </p:cNvPr>
          <p:cNvSpPr>
            <a:spLocks xmlns:a="http://schemas.openxmlformats.org/drawingml/2006/main" noGrp="1"/>
          </p:cNvSpPr>
          <p:nvPr/>
        </p:nvSpPr>
        <p:spPr>
          <a:xfrm xmlns:a="http://schemas.openxmlformats.org/drawingml/2006/main">
            <a:off x="781050" y="2428875"/>
            <a:ext cx="4953000" cy="2857500"/>
          </a:xfrm>
          <a:prstGeom xmlns:a="http://schemas.openxmlformats.org/drawingml/2006/main" prst="roundRect">
            <a:avLst>
              <a:gd name="adj" fmla="val 2667"/>
            </a:avLst>
          </a:prstGeom>
          <a:solidFill xmlns:a="http://schemas.openxmlformats.org/drawingml/2006/main">
            <a:srgbClr val="FFFDF8"/>
          </a:solidFill>
          <a:ln xmlns:a="http://schemas.openxmlformats.org/drawingml/2006/main" w="9525">
            <a:solidFill>
              <a:srgbClr val="D7D0C4"/>
            </a:solidFill>
            <a:prstDash val="solid"/>
          </a:ln>
        </p:spPr>
      </p:sp>
      <p:sp>
        <p:nvSpPr>
          <p:cNvPr id="11" name="diag-source-accent">
            <a:extLst xmlns:a="http://schemas.openxmlformats.org/drawingml/2006/main">
              <a:ext uri="{FF2B5EF4-FFF2-40B4-BE49-F238E27FC236}">
                <a16:creationId xmlns:a16="http://schemas.microsoft.com/office/drawing/2014/main" id="{A0267F00-2EC3-4E45-80DA-3A4C9960CA61}"/>
              </a:ext>
            </a:extLst>
          </p:cNvPr>
          <p:cNvSpPr>
            <a:spLocks xmlns:a="http://schemas.openxmlformats.org/drawingml/2006/main" noGrp="1"/>
          </p:cNvSpPr>
          <p:nvPr/>
        </p:nvSpPr>
        <p:spPr>
          <a:xfrm xmlns:a="http://schemas.openxmlformats.org/drawingml/2006/main">
            <a:off x="781050" y="2428875"/>
            <a:ext cx="57150" cy="28575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diag-source-title">
            <a:extLst xmlns:a="http://schemas.openxmlformats.org/drawingml/2006/main">
              <a:ext uri="{FF2B5EF4-FFF2-40B4-BE49-F238E27FC236}">
                <a16:creationId xmlns:a16="http://schemas.microsoft.com/office/drawing/2014/main" id="{2EB359B7-42B2-4BE8-AA81-D74655B013DA}"/>
              </a:ext>
            </a:extLst>
          </p:cNvPr>
          <p:cNvSpPr>
            <a:spLocks xmlns:a="http://schemas.openxmlformats.org/drawingml/2006/main" noGrp="1"/>
          </p:cNvSpPr>
          <p:nvPr/>
        </p:nvSpPr>
        <p:spPr>
          <a:xfrm xmlns:a="http://schemas.openxmlformats.org/drawingml/2006/main">
            <a:off x="990600" y="26003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SOURCE SPAN</a:t>
            </a:r>
          </a:p>
        </p:txBody>
      </p:sp>
      <p:sp>
        <p:nvSpPr>
          <p:cNvPr id="13" name="diag-source-body">
            <a:extLst xmlns:a="http://schemas.openxmlformats.org/drawingml/2006/main">
              <a:ext uri="{FF2B5EF4-FFF2-40B4-BE49-F238E27FC236}">
                <a16:creationId xmlns:a16="http://schemas.microsoft.com/office/drawing/2014/main" id="{CF6C2DD7-C572-4DC7-AA7F-BD58F4EDE3AE}"/>
              </a:ext>
            </a:extLst>
          </p:cNvPr>
          <p:cNvSpPr>
            <a:spLocks xmlns:a="http://schemas.openxmlformats.org/drawingml/2006/main" noGrp="1"/>
          </p:cNvSpPr>
          <p:nvPr/>
        </p:nvSpPr>
        <p:spPr>
          <a:xfrm xmlns:a="http://schemas.openxmlformats.org/drawingml/2006/main">
            <a:off x="990600" y="3048000"/>
            <a:ext cx="45339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646B7A"/>
                </a:solidFill>
                <a:latin typeface="Menlo"/>
                <a:ea typeface="Menlo"/>
                <a:cs typeface="Menlo"/>
              </a:defRPr>
            </a:defPPr>
          </a:lstStyle>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  if choose {</a:t>
            </a:r>
          </a:p>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    let result_left: text = call ask(left_source) using shared;</a:t>
            </a:r>
          </a:p>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  } else {</a:t>
            </a:r>
          </a:p>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    let result_right: text = call ask(right_source) using shared;</a:t>
            </a:r>
          </a:p>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  }</a:t>
            </a:r>
          </a:p>
        </p:txBody>
      </p:sp>
      <p:sp>
        <p:nvSpPr>
          <p:cNvPr id="14" name="diag-output-panel">
            <a:extLst xmlns:a="http://schemas.openxmlformats.org/drawingml/2006/main">
              <a:ext uri="{FF2B5EF4-FFF2-40B4-BE49-F238E27FC236}">
                <a16:creationId xmlns:a16="http://schemas.microsoft.com/office/drawing/2014/main" id="{C0C5DDCE-79B2-48B0-BB0E-2EEB05E77A89}"/>
              </a:ext>
            </a:extLst>
          </p:cNvPr>
          <p:cNvSpPr>
            <a:spLocks xmlns:a="http://schemas.openxmlformats.org/drawingml/2006/main" noGrp="1"/>
          </p:cNvSpPr>
          <p:nvPr/>
        </p:nvSpPr>
        <p:spPr>
          <a:xfrm xmlns:a="http://schemas.openxmlformats.org/drawingml/2006/main">
            <a:off x="6477000" y="2428875"/>
            <a:ext cx="4953000" cy="2857500"/>
          </a:xfrm>
          <a:prstGeom xmlns:a="http://schemas.openxmlformats.org/drawingml/2006/main" prst="roundRect">
            <a:avLst>
              <a:gd name="adj" fmla="val 2667"/>
            </a:avLst>
          </a:prstGeom>
          <a:solidFill xmlns:a="http://schemas.openxmlformats.org/drawingml/2006/main">
            <a:srgbClr val="FFFDF8"/>
          </a:solidFill>
          <a:ln xmlns:a="http://schemas.openxmlformats.org/drawingml/2006/main" w="9525">
            <a:solidFill>
              <a:srgbClr val="D7D0C4"/>
            </a:solidFill>
            <a:prstDash val="solid"/>
          </a:ln>
        </p:spPr>
      </p:sp>
      <p:sp>
        <p:nvSpPr>
          <p:cNvPr id="15" name="diag-output-accent">
            <a:extLst xmlns:a="http://schemas.openxmlformats.org/drawingml/2006/main">
              <a:ext uri="{FF2B5EF4-FFF2-40B4-BE49-F238E27FC236}">
                <a16:creationId xmlns:a16="http://schemas.microsoft.com/office/drawing/2014/main" id="{57637D85-FEA8-4E28-BC5A-65CC07DF6149}"/>
              </a:ext>
            </a:extLst>
          </p:cNvPr>
          <p:cNvSpPr>
            <a:spLocks xmlns:a="http://schemas.openxmlformats.org/drawingml/2006/main" noGrp="1"/>
          </p:cNvSpPr>
          <p:nvPr/>
        </p:nvSpPr>
        <p:spPr>
          <a:xfrm xmlns:a="http://schemas.openxmlformats.org/drawingml/2006/main">
            <a:off x="6477000" y="2428875"/>
            <a:ext cx="57150" cy="28575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16" name="diag-output-title">
            <a:extLst xmlns:a="http://schemas.openxmlformats.org/drawingml/2006/main">
              <a:ext uri="{FF2B5EF4-FFF2-40B4-BE49-F238E27FC236}">
                <a16:creationId xmlns:a16="http://schemas.microsoft.com/office/drawing/2014/main" id="{A525F121-66EE-455C-9B1A-6C1072C58436}"/>
              </a:ext>
            </a:extLst>
          </p:cNvPr>
          <p:cNvSpPr>
            <a:spLocks xmlns:a="http://schemas.openxmlformats.org/drawingml/2006/main" noGrp="1"/>
          </p:cNvSpPr>
          <p:nvPr/>
        </p:nvSpPr>
        <p:spPr>
          <a:xfrm xmlns:a="http://schemas.openxmlformats.org/drawingml/2006/main">
            <a:off x="6686550" y="26003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COMPILER DIAGNOSTIC</a:t>
            </a:r>
          </a:p>
        </p:txBody>
      </p:sp>
      <p:sp>
        <p:nvSpPr>
          <p:cNvPr id="17" name="diag-output-body">
            <a:extLst xmlns:a="http://schemas.openxmlformats.org/drawingml/2006/main">
              <a:ext uri="{FF2B5EF4-FFF2-40B4-BE49-F238E27FC236}">
                <a16:creationId xmlns:a16="http://schemas.microsoft.com/office/drawing/2014/main" id="{4EEEC9D8-D3F0-49BB-8D01-275F33949054}"/>
              </a:ext>
            </a:extLst>
          </p:cNvPr>
          <p:cNvSpPr>
            <a:spLocks xmlns:a="http://schemas.openxmlformats.org/drawingml/2006/main" noGrp="1"/>
          </p:cNvSpPr>
          <p:nvPr/>
        </p:nvSpPr>
        <p:spPr>
          <a:xfrm xmlns:a="http://schemas.openxmlformats.org/drawingml/2006/main">
            <a:off x="6686550" y="3048000"/>
            <a:ext cx="45339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646B7A"/>
                </a:solidFill>
                <a:latin typeface="Menlo"/>
                <a:ea typeface="Menlo"/>
                <a:cs typeface="Menlo"/>
              </a:defRPr>
            </a:defPPr>
          </a:lstStyle>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equal_bounds_different_inputs.orch:7:3:</a:t>
            </a:r>
          </a:p>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 error [E236] this branch is guarded by secret data and its two arms have different billing contracts or request content; then-arm [mock:research-model (max_tokens=4) request(template="Request: {t}", args=[outer(left_source#2)])] and else-arm [mock:research-model (max_tokens=4) request(template="Request: {t}", args=[outer(right_source#3)])]</a:t>
            </a:r>
          </a:p>
        </p:txBody>
      </p:sp>
    </p:spTree>
    <p:extLst>
      <p:ext uri="{BB962C8B-B14F-4D97-AF65-F5344CB8AC3E}">
        <p14:creationId xmlns:p14="http://schemas.microsoft.com/office/powerpoint/2010/main" val="962826849"/>
      </p:ext>
    </p:extLst>
  </p:cSld>
</p:sld>
</file>

<file path=ppt/slides/slide1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3" name="s14-brand">
            <a:extLst xmlns:a="http://schemas.openxmlformats.org/drawingml/2006/main">
              <a:ext uri="{FF2B5EF4-FFF2-40B4-BE49-F238E27FC236}">
                <a16:creationId xmlns:a16="http://schemas.microsoft.com/office/drawing/2014/main" id="{F9F1FDA0-D305-40A2-9CAC-A12B605A3FA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4-section">
            <a:extLst xmlns:a="http://schemas.openxmlformats.org/drawingml/2006/main">
              <a:ext uri="{FF2B5EF4-FFF2-40B4-BE49-F238E27FC236}">
                <a16:creationId xmlns:a16="http://schemas.microsoft.com/office/drawing/2014/main" id="{6F917AC6-E2DA-4CC3-AF3E-F59565B32946}"/>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EVALUATION</a:t>
            </a:r>
          </a:p>
        </p:txBody>
      </p:sp>
      <p:sp>
        <p:nvSpPr>
          <p:cNvPr id="3" name="s14-title">
            <a:extLst xmlns:a="http://schemas.openxmlformats.org/drawingml/2006/main">
              <a:ext uri="{FF2B5EF4-FFF2-40B4-BE49-F238E27FC236}">
                <a16:creationId xmlns:a16="http://schemas.microsoft.com/office/drawing/2014/main" id="{DE4E6F99-0BE6-4398-831C-6EF299619C3C}"/>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Test bounds and paired traces separately</a:t>
            </a:r>
          </a:p>
        </p:txBody>
      </p:sp>
      <p:sp>
        <p:nvSpPr>
          <p:cNvPr id="4" name="s14-subtitle">
            <a:extLst xmlns:a="http://schemas.openxmlformats.org/drawingml/2006/main">
              <a:ext uri="{FF2B5EF4-FFF2-40B4-BE49-F238E27FC236}">
                <a16:creationId xmlns:a16="http://schemas.microsoft.com/office/drawing/2014/main" id="{E1E9E965-5271-4721-8921-4A6C3EF79D6B}"/>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Finite experiments check implementation behavior; they do not replace a proof.</a:t>
            </a:r>
          </a:p>
        </p:txBody>
      </p:sp>
      <p:sp>
        <p:nvSpPr>
          <p:cNvPr id="5" name="s14-source-rule">
            <a:extLst xmlns:a="http://schemas.openxmlformats.org/drawingml/2006/main">
              <a:ext uri="{FF2B5EF4-FFF2-40B4-BE49-F238E27FC236}">
                <a16:creationId xmlns:a16="http://schemas.microsoft.com/office/drawing/2014/main" id="{6D4E272F-E5A7-477B-BAF5-C77AD1CDE4CF}"/>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4-sources">
            <a:extLst xmlns:a="http://schemas.openxmlformats.org/drawingml/2006/main">
              <a:ext uri="{FF2B5EF4-FFF2-40B4-BE49-F238E27FC236}">
                <a16:creationId xmlns:a16="http://schemas.microsoft.com/office/drawing/2014/main" id="{3B559D43-9957-4E88-A2AE-22CD95B82799}"/>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Makefile; tests/tests.cpp; bench/evaluate_sourced.py; bench/generate_sourced.py</a:t>
            </a:r>
          </a:p>
        </p:txBody>
      </p:sp>
      <p:sp>
        <p:nvSpPr>
          <p:cNvPr id="7" name="s14-footer-rule">
            <a:extLst xmlns:a="http://schemas.openxmlformats.org/drawingml/2006/main">
              <a:ext uri="{FF2B5EF4-FFF2-40B4-BE49-F238E27FC236}">
                <a16:creationId xmlns:a16="http://schemas.microsoft.com/office/drawing/2014/main" id="{1B76F6A2-3701-41E3-A974-CEFB6DF73B3B}"/>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4-footer">
            <a:extLst xmlns:a="http://schemas.openxmlformats.org/drawingml/2006/main">
              <a:ext uri="{FF2B5EF4-FFF2-40B4-BE49-F238E27FC236}">
                <a16:creationId xmlns:a16="http://schemas.microsoft.com/office/drawing/2014/main" id="{CCE335F2-4A5D-4265-8E73-A571FE124794}"/>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4-page">
            <a:extLst xmlns:a="http://schemas.openxmlformats.org/drawingml/2006/main">
              <a:ext uri="{FF2B5EF4-FFF2-40B4-BE49-F238E27FC236}">
                <a16:creationId xmlns:a16="http://schemas.microsoft.com/office/drawing/2014/main" id="{94D6F6E1-439B-4979-A2AA-5556738F2CDC}"/>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14</a:t>
            </a:r>
          </a:p>
        </p:txBody>
      </p:sp>
      <p:sp>
        <p:nvSpPr>
          <p:cNvPr id="10" name="protocol-0-panel">
            <a:extLst xmlns:a="http://schemas.openxmlformats.org/drawingml/2006/main">
              <a:ext uri="{FF2B5EF4-FFF2-40B4-BE49-F238E27FC236}">
                <a16:creationId xmlns:a16="http://schemas.microsoft.com/office/drawing/2014/main" id="{E5DB1C1D-7E9D-405E-A429-C22D657F5842}"/>
              </a:ext>
            </a:extLst>
          </p:cNvPr>
          <p:cNvSpPr>
            <a:spLocks xmlns:a="http://schemas.openxmlformats.org/drawingml/2006/main" noGrp="1"/>
          </p:cNvSpPr>
          <p:nvPr/>
        </p:nvSpPr>
        <p:spPr>
          <a:xfrm xmlns:a="http://schemas.openxmlformats.org/drawingml/2006/main">
            <a:off x="933450" y="2457450"/>
            <a:ext cx="10325100" cy="819150"/>
          </a:xfrm>
          <a:prstGeom xmlns:a="http://schemas.openxmlformats.org/drawingml/2006/main" prst="roundRect">
            <a:avLst>
              <a:gd name="adj" fmla="val 9302"/>
            </a:avLst>
          </a:prstGeom>
          <a:solidFill xmlns:a="http://schemas.openxmlformats.org/drawingml/2006/main">
            <a:srgbClr val="1C2638"/>
          </a:solidFill>
          <a:ln xmlns:a="http://schemas.openxmlformats.org/drawingml/2006/main" w="9525">
            <a:solidFill>
              <a:srgbClr val="343D50"/>
            </a:solidFill>
            <a:prstDash val="solid"/>
          </a:ln>
        </p:spPr>
      </p:sp>
      <p:sp>
        <p:nvSpPr>
          <p:cNvPr id="11" name="protocol-0-accent">
            <a:extLst xmlns:a="http://schemas.openxmlformats.org/drawingml/2006/main">
              <a:ext uri="{FF2B5EF4-FFF2-40B4-BE49-F238E27FC236}">
                <a16:creationId xmlns:a16="http://schemas.microsoft.com/office/drawing/2014/main" id="{67DBFD15-34C6-4038-9387-CCB38B6B821C}"/>
              </a:ext>
            </a:extLst>
          </p:cNvPr>
          <p:cNvSpPr>
            <a:spLocks xmlns:a="http://schemas.openxmlformats.org/drawingml/2006/main" noGrp="1"/>
          </p:cNvSpPr>
          <p:nvPr/>
        </p:nvSpPr>
        <p:spPr>
          <a:xfrm xmlns:a="http://schemas.openxmlformats.org/drawingml/2006/main">
            <a:off x="933450" y="2457450"/>
            <a:ext cx="57150" cy="8191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2" name="protocol-0-title">
            <a:extLst xmlns:a="http://schemas.openxmlformats.org/drawingml/2006/main">
              <a:ext uri="{FF2B5EF4-FFF2-40B4-BE49-F238E27FC236}">
                <a16:creationId xmlns:a16="http://schemas.microsoft.com/office/drawing/2014/main" id="{99BE1713-793E-44CF-8024-0F8BD444B95C}"/>
              </a:ext>
            </a:extLst>
          </p:cNvPr>
          <p:cNvSpPr>
            <a:spLocks xmlns:a="http://schemas.openxmlformats.org/drawingml/2006/main" noGrp="1"/>
          </p:cNvSpPr>
          <p:nvPr/>
        </p:nvSpPr>
        <p:spPr>
          <a:xfrm xmlns:a="http://schemas.openxmlformats.org/drawingml/2006/main">
            <a:off x="1143000" y="26289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1  COMPILE</a:t>
            </a:r>
          </a:p>
        </p:txBody>
      </p:sp>
      <p:sp>
        <p:nvSpPr>
          <p:cNvPr id="13" name="protocol-0-body">
            <a:extLst xmlns:a="http://schemas.openxmlformats.org/drawingml/2006/main">
              <a:ext uri="{FF2B5EF4-FFF2-40B4-BE49-F238E27FC236}">
                <a16:creationId xmlns:a16="http://schemas.microsoft.com/office/drawing/2014/main" id="{69EEE8A5-F335-4827-821D-06EF5F8DEC84}"/>
              </a:ext>
            </a:extLst>
          </p:cNvPr>
          <p:cNvSpPr>
            <a:spLocks xmlns:a="http://schemas.openxmlformats.org/drawingml/2006/main" noGrp="1"/>
          </p:cNvSpPr>
          <p:nvPr/>
        </p:nvSpPr>
        <p:spPr>
          <a:xfrm xmlns:a="http://schemas.openxmlformats.org/drawingml/2006/main">
            <a:off x="1143000" y="28575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Regression suite and exact diagnostics</a:t>
            </a:r>
          </a:p>
        </p:txBody>
      </p:sp>
      <p:sp>
        <p:nvSpPr>
          <p:cNvPr id="14" name="protocol-1-panel">
            <a:extLst xmlns:a="http://schemas.openxmlformats.org/drawingml/2006/main">
              <a:ext uri="{FF2B5EF4-FFF2-40B4-BE49-F238E27FC236}">
                <a16:creationId xmlns:a16="http://schemas.microsoft.com/office/drawing/2014/main" id="{32FFCF0B-56D7-4A7E-AFAD-24E78806A5B2}"/>
              </a:ext>
            </a:extLst>
          </p:cNvPr>
          <p:cNvSpPr>
            <a:spLocks xmlns:a="http://schemas.openxmlformats.org/drawingml/2006/main" noGrp="1"/>
          </p:cNvSpPr>
          <p:nvPr/>
        </p:nvSpPr>
        <p:spPr>
          <a:xfrm xmlns:a="http://schemas.openxmlformats.org/drawingml/2006/main">
            <a:off x="933450" y="3486150"/>
            <a:ext cx="10325100" cy="819150"/>
          </a:xfrm>
          <a:prstGeom xmlns:a="http://schemas.openxmlformats.org/drawingml/2006/main" prst="roundRect">
            <a:avLst>
              <a:gd name="adj" fmla="val 9302"/>
            </a:avLst>
          </a:prstGeom>
          <a:solidFill xmlns:a="http://schemas.openxmlformats.org/drawingml/2006/main">
            <a:srgbClr val="1C2638"/>
          </a:solidFill>
          <a:ln xmlns:a="http://schemas.openxmlformats.org/drawingml/2006/main" w="9525">
            <a:solidFill>
              <a:srgbClr val="343D50"/>
            </a:solidFill>
            <a:prstDash val="solid"/>
          </a:ln>
        </p:spPr>
      </p:sp>
      <p:sp>
        <p:nvSpPr>
          <p:cNvPr id="15" name="protocol-1-accent">
            <a:extLst xmlns:a="http://schemas.openxmlformats.org/drawingml/2006/main">
              <a:ext uri="{FF2B5EF4-FFF2-40B4-BE49-F238E27FC236}">
                <a16:creationId xmlns:a16="http://schemas.microsoft.com/office/drawing/2014/main" id="{6DC240BF-8378-4168-A089-8A9BBD420E6E}"/>
              </a:ext>
            </a:extLst>
          </p:cNvPr>
          <p:cNvSpPr>
            <a:spLocks xmlns:a="http://schemas.openxmlformats.org/drawingml/2006/main" noGrp="1"/>
          </p:cNvSpPr>
          <p:nvPr/>
        </p:nvSpPr>
        <p:spPr>
          <a:xfrm xmlns:a="http://schemas.openxmlformats.org/drawingml/2006/main">
            <a:off x="933450" y="3486150"/>
            <a:ext cx="57150" cy="8191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protocol-1-title">
            <a:extLst xmlns:a="http://schemas.openxmlformats.org/drawingml/2006/main">
              <a:ext uri="{FF2B5EF4-FFF2-40B4-BE49-F238E27FC236}">
                <a16:creationId xmlns:a16="http://schemas.microsoft.com/office/drawing/2014/main" id="{9F53F014-E8C6-403E-89C9-23232E101AD1}"/>
              </a:ext>
            </a:extLst>
          </p:cNvPr>
          <p:cNvSpPr>
            <a:spLocks xmlns:a="http://schemas.openxmlformats.org/drawingml/2006/main" noGrp="1"/>
          </p:cNvSpPr>
          <p:nvPr/>
        </p:nvSpPr>
        <p:spPr>
          <a:xfrm xmlns:a="http://schemas.openxmlformats.org/drawingml/2006/main">
            <a:off x="1143000" y="3657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2  BOUND</a:t>
            </a:r>
          </a:p>
        </p:txBody>
      </p:sp>
      <p:sp>
        <p:nvSpPr>
          <p:cNvPr id="17" name="protocol-1-body">
            <a:extLst xmlns:a="http://schemas.openxmlformats.org/drawingml/2006/main">
              <a:ext uri="{FF2B5EF4-FFF2-40B4-BE49-F238E27FC236}">
                <a16:creationId xmlns:a16="http://schemas.microsoft.com/office/drawing/2014/main" id="{9DBC4360-F844-45DF-B6B9-57CA36231822}"/>
              </a:ext>
            </a:extLst>
          </p:cNvPr>
          <p:cNvSpPr>
            <a:spLocks xmlns:a="http://schemas.openxmlformats.org/drawingml/2006/main" noGrp="1"/>
          </p:cNvSpPr>
          <p:nvPr/>
        </p:nvSpPr>
        <p:spPr>
          <a:xfrm xmlns:a="http://schemas.openxmlformats.org/drawingml/2006/main">
            <a:off x="1143000" y="38862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Run generated workflows; compare each component to its bound</a:t>
            </a:r>
          </a:p>
        </p:txBody>
      </p:sp>
      <p:sp>
        <p:nvSpPr>
          <p:cNvPr id="18" name="protocol-2-panel">
            <a:extLst xmlns:a="http://schemas.openxmlformats.org/drawingml/2006/main">
              <a:ext uri="{FF2B5EF4-FFF2-40B4-BE49-F238E27FC236}">
                <a16:creationId xmlns:a16="http://schemas.microsoft.com/office/drawing/2014/main" id="{16A1ECF9-D7A7-4C45-A3D1-9654D66E997C}"/>
              </a:ext>
            </a:extLst>
          </p:cNvPr>
          <p:cNvSpPr>
            <a:spLocks xmlns:a="http://schemas.openxmlformats.org/drawingml/2006/main" noGrp="1"/>
          </p:cNvSpPr>
          <p:nvPr/>
        </p:nvSpPr>
        <p:spPr>
          <a:xfrm xmlns:a="http://schemas.openxmlformats.org/drawingml/2006/main">
            <a:off x="933450" y="4514850"/>
            <a:ext cx="10325100" cy="819150"/>
          </a:xfrm>
          <a:prstGeom xmlns:a="http://schemas.openxmlformats.org/drawingml/2006/main" prst="roundRect">
            <a:avLst>
              <a:gd name="adj" fmla="val 9302"/>
            </a:avLst>
          </a:prstGeom>
          <a:solidFill xmlns:a="http://schemas.openxmlformats.org/drawingml/2006/main">
            <a:srgbClr val="1C2638"/>
          </a:solidFill>
          <a:ln xmlns:a="http://schemas.openxmlformats.org/drawingml/2006/main" w="9525">
            <a:solidFill>
              <a:srgbClr val="343D50"/>
            </a:solidFill>
            <a:prstDash val="solid"/>
          </a:ln>
        </p:spPr>
      </p:sp>
      <p:sp>
        <p:nvSpPr>
          <p:cNvPr id="19" name="protocol-2-accent">
            <a:extLst xmlns:a="http://schemas.openxmlformats.org/drawingml/2006/main">
              <a:ext uri="{FF2B5EF4-FFF2-40B4-BE49-F238E27FC236}">
                <a16:creationId xmlns:a16="http://schemas.microsoft.com/office/drawing/2014/main" id="{DE6425A0-9952-4349-9F33-F8D5E566C9C3}"/>
              </a:ext>
            </a:extLst>
          </p:cNvPr>
          <p:cNvSpPr>
            <a:spLocks xmlns:a="http://schemas.openxmlformats.org/drawingml/2006/main" noGrp="1"/>
          </p:cNvSpPr>
          <p:nvPr/>
        </p:nvSpPr>
        <p:spPr>
          <a:xfrm xmlns:a="http://schemas.openxmlformats.org/drawingml/2006/main">
            <a:off x="933450" y="4514850"/>
            <a:ext cx="57150" cy="8191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0" name="protocol-2-title">
            <a:extLst xmlns:a="http://schemas.openxmlformats.org/drawingml/2006/main">
              <a:ext uri="{FF2B5EF4-FFF2-40B4-BE49-F238E27FC236}">
                <a16:creationId xmlns:a16="http://schemas.microsoft.com/office/drawing/2014/main" id="{7EED271C-E8C8-41B6-9EB6-2E4ABA625079}"/>
              </a:ext>
            </a:extLst>
          </p:cNvPr>
          <p:cNvSpPr>
            <a:spLocks xmlns:a="http://schemas.openxmlformats.org/drawingml/2006/main" noGrp="1"/>
          </p:cNvSpPr>
          <p:nvPr/>
        </p:nvSpPr>
        <p:spPr>
          <a:xfrm xmlns:a="http://schemas.openxmlformats.org/drawingml/2006/main">
            <a:off x="1143000" y="46863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3  RELATION</a:t>
            </a:r>
          </a:p>
        </p:txBody>
      </p:sp>
      <p:sp>
        <p:nvSpPr>
          <p:cNvPr id="21" name="protocol-2-body">
            <a:extLst xmlns:a="http://schemas.openxmlformats.org/drawingml/2006/main">
              <a:ext uri="{FF2B5EF4-FFF2-40B4-BE49-F238E27FC236}">
                <a16:creationId xmlns:a16="http://schemas.microsoft.com/office/drawing/2014/main" id="{BEA537D0-43E9-4A69-8D10-31C0F40F5FC8}"/>
              </a:ext>
            </a:extLst>
          </p:cNvPr>
          <p:cNvSpPr>
            <a:spLocks xmlns:a="http://schemas.openxmlformats.org/drawingml/2006/main" noGrp="1"/>
          </p:cNvSpPr>
          <p:nvPr/>
        </p:nvSpPr>
        <p:spPr>
          <a:xfrm xmlns:a="http://schemas.openxmlformats.org/drawingml/2006/main">
            <a:off x="1143000" y="49149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Pair executions with fixed public inputs and aligned oracle</a:t>
            </a:r>
          </a:p>
        </p:txBody>
      </p:sp>
      <p:sp>
        <p:nvSpPr>
          <p:cNvPr id="22" name="protocol-caveat">
            <a:extLst xmlns:a="http://schemas.openxmlformats.org/drawingml/2006/main">
              <a:ext uri="{FF2B5EF4-FFF2-40B4-BE49-F238E27FC236}">
                <a16:creationId xmlns:a16="http://schemas.microsoft.com/office/drawing/2014/main" id="{3E6CEA32-D819-4ADB-8E90-68B3E7A66FFA}"/>
              </a:ext>
            </a:extLst>
          </p:cNvPr>
          <p:cNvSpPr>
            <a:spLocks xmlns:a="http://schemas.openxmlformats.org/drawingml/2006/main" noGrp="1"/>
          </p:cNvSpPr>
          <p:nvPr/>
        </p:nvSpPr>
        <p:spPr>
          <a:xfrm xmlns:a="http://schemas.openxmlformats.org/drawingml/2006/main">
            <a:off x="1381125" y="5657850"/>
            <a:ext cx="942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i="0">
                <a:solidFill>
                  <a:srgbClr val="B8C1D1"/>
                </a:solidFill>
                <a:latin typeface="Avenir Next"/>
                <a:ea typeface="Avenir Next"/>
                <a:cs typeface="Avenir Next"/>
              </a:defRPr>
            </a:defPPr>
          </a:lstStyle>
          <a:p xmlns:a="http://schemas.openxmlformats.org/drawingml/2006/main">
            <a:pPr algn="ctr">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Finite runs validate implementation behavior; formal soundness needs a separate argument.</a:t>
            </a:r>
          </a:p>
        </p:txBody>
      </p:sp>
    </p:spTree>
    <p:extLst>
      <p:ext uri="{BB962C8B-B14F-4D97-AF65-F5344CB8AC3E}">
        <p14:creationId xmlns:p14="http://schemas.microsoft.com/office/powerpoint/2010/main" val="2067830136"/>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1" name="s15-brand">
            <a:extLst xmlns:a="http://schemas.openxmlformats.org/drawingml/2006/main">
              <a:ext uri="{FF2B5EF4-FFF2-40B4-BE49-F238E27FC236}">
                <a16:creationId xmlns:a16="http://schemas.microsoft.com/office/drawing/2014/main" id="{F9A1CEC9-EFA7-4076-906D-E05ED64CE3E0}"/>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5-section">
            <a:extLst xmlns:a="http://schemas.openxmlformats.org/drawingml/2006/main">
              <a:ext uri="{FF2B5EF4-FFF2-40B4-BE49-F238E27FC236}">
                <a16:creationId xmlns:a16="http://schemas.microsoft.com/office/drawing/2014/main" id="{32C99B54-8CA3-4CF6-8308-25271EAB02E5}"/>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RESULTS</a:t>
            </a:r>
          </a:p>
        </p:txBody>
      </p:sp>
      <p:sp>
        <p:nvSpPr>
          <p:cNvPr id="3" name="s15-title">
            <a:extLst xmlns:a="http://schemas.openxmlformats.org/drawingml/2006/main">
              <a:ext uri="{FF2B5EF4-FFF2-40B4-BE49-F238E27FC236}">
                <a16:creationId xmlns:a16="http://schemas.microsoft.com/office/drawing/2014/main" id="{08221CE5-5919-42A6-A923-EEBDADA4BB3B}"/>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mock-runtime results, with their denominators</a:t>
            </a:r>
          </a:p>
        </p:txBody>
      </p:sp>
      <p:sp>
        <p:nvSpPr>
          <p:cNvPr id="4" name="s15-subtitle">
            <a:extLst xmlns:a="http://schemas.openxmlformats.org/drawingml/2006/main">
              <a:ext uri="{FF2B5EF4-FFF2-40B4-BE49-F238E27FC236}">
                <a16:creationId xmlns:a16="http://schemas.microsoft.com/office/drawing/2014/main" id="{0E38C1F4-11C8-429E-B99A-8D3A7F4B0BDB}"/>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Two oracle modes repeat the same offline grid; the denominators stay per mode.</a:t>
            </a:r>
          </a:p>
        </p:txBody>
      </p:sp>
      <p:sp>
        <p:nvSpPr>
          <p:cNvPr id="5" name="s15-source-rule">
            <a:extLst xmlns:a="http://schemas.openxmlformats.org/drawingml/2006/main">
              <a:ext uri="{FF2B5EF4-FFF2-40B4-BE49-F238E27FC236}">
                <a16:creationId xmlns:a16="http://schemas.microsoft.com/office/drawing/2014/main" id="{C7916036-0501-4463-9C41-C2CCEB5E4154}"/>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5-sources">
            <a:extLst xmlns:a="http://schemas.openxmlformats.org/drawingml/2006/main">
              <a:ext uri="{FF2B5EF4-FFF2-40B4-BE49-F238E27FC236}">
                <a16:creationId xmlns:a16="http://schemas.microsoft.com/office/drawing/2014/main" id="{15FAEDD5-E7DE-452C-8897-2E28F3167E80}"/>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bench/results/sourced.json; bench/results/sourced_request_sensitive.json; bench/sourced/manifest.json; bench/results/source_bound_reports/</a:t>
            </a:r>
          </a:p>
        </p:txBody>
      </p:sp>
      <p:sp>
        <p:nvSpPr>
          <p:cNvPr id="7" name="s15-footer-rule">
            <a:extLst xmlns:a="http://schemas.openxmlformats.org/drawingml/2006/main">
              <a:ext uri="{FF2B5EF4-FFF2-40B4-BE49-F238E27FC236}">
                <a16:creationId xmlns:a16="http://schemas.microsoft.com/office/drawing/2014/main" id="{30558058-0A9C-4B4A-89F6-9DBB7CD5A368}"/>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5-footer">
            <a:extLst xmlns:a="http://schemas.openxmlformats.org/drawingml/2006/main">
              <a:ext uri="{FF2B5EF4-FFF2-40B4-BE49-F238E27FC236}">
                <a16:creationId xmlns:a16="http://schemas.microsoft.com/office/drawing/2014/main" id="{D544E0D5-CE33-44E2-A1C2-5685112BC73B}"/>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5-page">
            <a:extLst xmlns:a="http://schemas.openxmlformats.org/drawingml/2006/main">
              <a:ext uri="{FF2B5EF4-FFF2-40B4-BE49-F238E27FC236}">
                <a16:creationId xmlns:a16="http://schemas.microsoft.com/office/drawing/2014/main" id="{74785019-A3C7-4FF6-96EE-26269BAF7352}"/>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15</a:t>
            </a:r>
          </a:p>
        </p:txBody>
      </p:sp>
      <p:sp>
        <p:nvSpPr>
          <p:cNvPr id="10" name="metric-0-panel">
            <a:extLst xmlns:a="http://schemas.openxmlformats.org/drawingml/2006/main">
              <a:ext uri="{FF2B5EF4-FFF2-40B4-BE49-F238E27FC236}">
                <a16:creationId xmlns:a16="http://schemas.microsoft.com/office/drawing/2014/main" id="{B0AACB89-8EBC-45DC-8082-1739D2C397EE}"/>
              </a:ext>
            </a:extLst>
          </p:cNvPr>
          <p:cNvSpPr>
            <a:spLocks xmlns:a="http://schemas.openxmlformats.org/drawingml/2006/main" noGrp="1"/>
          </p:cNvSpPr>
          <p:nvPr/>
        </p:nvSpPr>
        <p:spPr>
          <a:xfrm xmlns:a="http://schemas.openxmlformats.org/drawingml/2006/main">
            <a:off x="781050" y="2876550"/>
            <a:ext cx="23431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11" name="metric-0-stripe">
            <a:extLst xmlns:a="http://schemas.openxmlformats.org/drawingml/2006/main">
              <a:ext uri="{FF2B5EF4-FFF2-40B4-BE49-F238E27FC236}">
                <a16:creationId xmlns:a16="http://schemas.microsoft.com/office/drawing/2014/main" id="{B166C592-C181-4CE2-9B8A-5F36C3BA0B69}"/>
              </a:ext>
            </a:extLst>
          </p:cNvPr>
          <p:cNvSpPr>
            <a:spLocks xmlns:a="http://schemas.openxmlformats.org/drawingml/2006/main" noGrp="1"/>
          </p:cNvSpPr>
          <p:nvPr/>
        </p:nvSpPr>
        <p:spPr>
          <a:xfrm xmlns:a="http://schemas.openxmlformats.org/drawingml/2006/main">
            <a:off x="781050" y="28765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metric-0-value">
            <a:extLst xmlns:a="http://schemas.openxmlformats.org/drawingml/2006/main">
              <a:ext uri="{FF2B5EF4-FFF2-40B4-BE49-F238E27FC236}">
                <a16:creationId xmlns:a16="http://schemas.microsoft.com/office/drawing/2014/main" id="{D41CA120-4568-4ECF-BDDF-93DACFC1A865}"/>
              </a:ext>
            </a:extLst>
          </p:cNvPr>
          <p:cNvSpPr>
            <a:spLocks xmlns:a="http://schemas.openxmlformats.org/drawingml/2006/main" noGrp="1"/>
          </p:cNvSpPr>
          <p:nvPr/>
        </p:nvSpPr>
        <p:spPr>
          <a:xfrm xmlns:a="http://schemas.openxmlformats.org/drawingml/2006/main">
            <a:off x="952500" y="323850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1F6F66"/>
                </a:solidFill>
                <a:latin typeface="Avenir Next"/>
                <a:ea typeface="Avenir Next"/>
                <a:cs typeface="Avenir Next"/>
              </a:defRPr>
            </a:defPPr>
          </a:lstStyle>
          <a:p xmlns:a="http://schemas.openxmlformats.org/drawingml/2006/main">
            <a:pPr algn="ctr">
              <a:defRPr sz="2700" b="1" i="0">
                <a:solidFill>
                  <a:srgbClr val="1F6F66"/>
                </a:solidFill>
                <a:latin typeface="Avenir Next"/>
                <a:ea typeface="Avenir Next"/>
                <a:cs typeface="Avenir Next"/>
              </a:defRPr>
            </a:pPr>
            <a:r>
              <a:rPr sz="2700" b="1" i="0">
                <a:solidFill>
                  <a:srgbClr val="1F6F66"/>
                </a:solidFill>
                <a:latin typeface="Avenir Next"/>
                <a:ea typeface="Avenir Next"/>
                <a:cs typeface="Avenir Next"/>
              </a:rPr>
              <a:t>15 / 15</a:t>
            </a:r>
          </a:p>
        </p:txBody>
      </p:sp>
      <p:sp>
        <p:nvSpPr>
          <p:cNvPr id="13" name="metric-0-label">
            <a:extLst xmlns:a="http://schemas.openxmlformats.org/drawingml/2006/main">
              <a:ext uri="{FF2B5EF4-FFF2-40B4-BE49-F238E27FC236}">
                <a16:creationId xmlns:a16="http://schemas.microsoft.com/office/drawing/2014/main" id="{D3548DC1-1B9C-4F6D-864A-7ECCECA4A54A}"/>
              </a:ext>
            </a:extLst>
          </p:cNvPr>
          <p:cNvSpPr>
            <a:spLocks xmlns:a="http://schemas.openxmlformats.org/drawingml/2006/main" noGrp="1"/>
          </p:cNvSpPr>
          <p:nvPr/>
        </p:nvSpPr>
        <p:spPr>
          <a:xfrm xmlns:a="http://schemas.openxmlformats.org/drawingml/2006/main">
            <a:off x="952500" y="3905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41B2B"/>
                </a:solidFill>
                <a:latin typeface="Avenir Next"/>
                <a:ea typeface="Avenir Next"/>
                <a:cs typeface="Avenir Next"/>
              </a:defRPr>
            </a:defPPr>
          </a:lstStyle>
          <a:p xmlns:a="http://schemas.openxmlformats.org/drawingml/2006/main">
            <a:pPr algn="ctr">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Balanced patterns</a:t>
            </a:r>
          </a:p>
        </p:txBody>
      </p:sp>
      <p:sp>
        <p:nvSpPr>
          <p:cNvPr id="14" name="metric-0-detail">
            <a:extLst xmlns:a="http://schemas.openxmlformats.org/drawingml/2006/main">
              <a:ext uri="{FF2B5EF4-FFF2-40B4-BE49-F238E27FC236}">
                <a16:creationId xmlns:a16="http://schemas.microsoft.com/office/drawing/2014/main" id="{DAAC2098-1A49-40B2-A493-597B30E22D4F}"/>
              </a:ext>
            </a:extLst>
          </p:cNvPr>
          <p:cNvSpPr>
            <a:spLocks xmlns:a="http://schemas.openxmlformats.org/drawingml/2006/main" noGrp="1"/>
          </p:cNvSpPr>
          <p:nvPr/>
        </p:nvSpPr>
        <p:spPr>
          <a:xfrm xmlns:a="http://schemas.openxmlformats.org/drawingml/2006/main">
            <a:off x="952500" y="44958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both modes · baseline 8 / 15</a:t>
            </a:r>
          </a:p>
        </p:txBody>
      </p:sp>
      <p:sp>
        <p:nvSpPr>
          <p:cNvPr id="15" name="metric-1-panel">
            <a:extLst xmlns:a="http://schemas.openxmlformats.org/drawingml/2006/main">
              <a:ext uri="{FF2B5EF4-FFF2-40B4-BE49-F238E27FC236}">
                <a16:creationId xmlns:a16="http://schemas.microsoft.com/office/drawing/2014/main" id="{B3EE0A4B-FCC9-43C1-ADC3-D8B76134EE51}"/>
              </a:ext>
            </a:extLst>
          </p:cNvPr>
          <p:cNvSpPr>
            <a:spLocks xmlns:a="http://schemas.openxmlformats.org/drawingml/2006/main" noGrp="1"/>
          </p:cNvSpPr>
          <p:nvPr/>
        </p:nvSpPr>
        <p:spPr>
          <a:xfrm xmlns:a="http://schemas.openxmlformats.org/drawingml/2006/main">
            <a:off x="3543300" y="2876550"/>
            <a:ext cx="23431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16" name="metric-1-stripe">
            <a:extLst xmlns:a="http://schemas.openxmlformats.org/drawingml/2006/main">
              <a:ext uri="{FF2B5EF4-FFF2-40B4-BE49-F238E27FC236}">
                <a16:creationId xmlns:a16="http://schemas.microsoft.com/office/drawing/2014/main" id="{6E5D6919-4CD9-42DD-88E9-228E6EEB774F}"/>
              </a:ext>
            </a:extLst>
          </p:cNvPr>
          <p:cNvSpPr>
            <a:spLocks xmlns:a="http://schemas.openxmlformats.org/drawingml/2006/main" noGrp="1"/>
          </p:cNvSpPr>
          <p:nvPr/>
        </p:nvSpPr>
        <p:spPr>
          <a:xfrm xmlns:a="http://schemas.openxmlformats.org/drawingml/2006/main">
            <a:off x="3543300" y="28765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metric-1-value">
            <a:extLst xmlns:a="http://schemas.openxmlformats.org/drawingml/2006/main">
              <a:ext uri="{FF2B5EF4-FFF2-40B4-BE49-F238E27FC236}">
                <a16:creationId xmlns:a16="http://schemas.microsoft.com/office/drawing/2014/main" id="{1A12B001-0390-4EF0-BC55-387D71396491}"/>
              </a:ext>
            </a:extLst>
          </p:cNvPr>
          <p:cNvSpPr>
            <a:spLocks xmlns:a="http://schemas.openxmlformats.org/drawingml/2006/main" noGrp="1"/>
          </p:cNvSpPr>
          <p:nvPr/>
        </p:nvSpPr>
        <p:spPr>
          <a:xfrm xmlns:a="http://schemas.openxmlformats.org/drawingml/2006/main">
            <a:off x="3714750" y="323850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FF8A5C"/>
                </a:solidFill>
                <a:latin typeface="Avenir Next"/>
                <a:ea typeface="Avenir Next"/>
                <a:cs typeface="Avenir Next"/>
              </a:defRPr>
            </a:defPPr>
          </a:lstStyle>
          <a:p xmlns:a="http://schemas.openxmlformats.org/drawingml/2006/main">
            <a:pPr algn="ctr">
              <a:defRPr sz="2700" b="1" i="0">
                <a:solidFill>
                  <a:srgbClr val="FF8A5C"/>
                </a:solidFill>
                <a:latin typeface="Avenir Next"/>
                <a:ea typeface="Avenir Next"/>
                <a:cs typeface="Avenir Next"/>
              </a:defRPr>
            </a:pPr>
            <a:r>
              <a:rPr sz="2700" b="1" i="0">
                <a:solidFill>
                  <a:srgbClr val="FF8A5C"/>
                </a:solidFill>
                <a:latin typeface="Avenir Next"/>
                <a:ea typeface="Avenir Next"/>
                <a:cs typeface="Avenir Next"/>
              </a:rPr>
              <a:t>0 / 2,250</a:t>
            </a:r>
          </a:p>
        </p:txBody>
      </p:sp>
      <p:sp>
        <p:nvSpPr>
          <p:cNvPr id="18" name="metric-1-label">
            <a:extLst xmlns:a="http://schemas.openxmlformats.org/drawingml/2006/main">
              <a:ext uri="{FF2B5EF4-FFF2-40B4-BE49-F238E27FC236}">
                <a16:creationId xmlns:a16="http://schemas.microsoft.com/office/drawing/2014/main" id="{AA532344-20E7-4F07-B8C7-1A43C0F52573}"/>
              </a:ext>
            </a:extLst>
          </p:cNvPr>
          <p:cNvSpPr>
            <a:spLocks xmlns:a="http://schemas.openxmlformats.org/drawingml/2006/main" noGrp="1"/>
          </p:cNvSpPr>
          <p:nvPr/>
        </p:nvSpPr>
        <p:spPr>
          <a:xfrm xmlns:a="http://schemas.openxmlformats.org/drawingml/2006/main">
            <a:off x="3714750" y="3905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41B2B"/>
                </a:solidFill>
                <a:latin typeface="Avenir Next"/>
                <a:ea typeface="Avenir Next"/>
                <a:cs typeface="Avenir Next"/>
              </a:defRPr>
            </a:defPPr>
          </a:lstStyle>
          <a:p xmlns:a="http://schemas.openxmlformats.org/drawingml/2006/main">
            <a:pPr algn="ctr">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Balanced pairs</a:t>
            </a:r>
          </a:p>
        </p:txBody>
      </p:sp>
      <p:sp>
        <p:nvSpPr>
          <p:cNvPr id="19" name="metric-1-detail">
            <a:extLst xmlns:a="http://schemas.openxmlformats.org/drawingml/2006/main">
              <a:ext uri="{FF2B5EF4-FFF2-40B4-BE49-F238E27FC236}">
                <a16:creationId xmlns:a16="http://schemas.microsoft.com/office/drawing/2014/main" id="{35F05E2D-7E7E-48F8-8862-962E022B5FD7}"/>
              </a:ext>
            </a:extLst>
          </p:cNvPr>
          <p:cNvSpPr>
            <a:spLocks xmlns:a="http://schemas.openxmlformats.org/drawingml/2006/main" noGrp="1"/>
          </p:cNvSpPr>
          <p:nvPr/>
        </p:nvSpPr>
        <p:spPr>
          <a:xfrm xmlns:a="http://schemas.openxmlformats.org/drawingml/2006/main">
            <a:off x="3714750" y="44958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mismatches in each mode</a:t>
            </a:r>
          </a:p>
        </p:txBody>
      </p:sp>
      <p:sp>
        <p:nvSpPr>
          <p:cNvPr id="20" name="metric-2-panel">
            <a:extLst xmlns:a="http://schemas.openxmlformats.org/drawingml/2006/main">
              <a:ext uri="{FF2B5EF4-FFF2-40B4-BE49-F238E27FC236}">
                <a16:creationId xmlns:a16="http://schemas.microsoft.com/office/drawing/2014/main" id="{4448C3CF-32E8-45DE-AB68-B363B094D37C}"/>
              </a:ext>
            </a:extLst>
          </p:cNvPr>
          <p:cNvSpPr>
            <a:spLocks xmlns:a="http://schemas.openxmlformats.org/drawingml/2006/main" noGrp="1"/>
          </p:cNvSpPr>
          <p:nvPr/>
        </p:nvSpPr>
        <p:spPr>
          <a:xfrm xmlns:a="http://schemas.openxmlformats.org/drawingml/2006/main">
            <a:off x="6305550" y="2876550"/>
            <a:ext cx="23431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21" name="metric-2-stripe">
            <a:extLst xmlns:a="http://schemas.openxmlformats.org/drawingml/2006/main">
              <a:ext uri="{FF2B5EF4-FFF2-40B4-BE49-F238E27FC236}">
                <a16:creationId xmlns:a16="http://schemas.microsoft.com/office/drawing/2014/main" id="{361D517B-3B36-4E8F-974C-906A316BE8AE}"/>
              </a:ext>
            </a:extLst>
          </p:cNvPr>
          <p:cNvSpPr>
            <a:spLocks xmlns:a="http://schemas.openxmlformats.org/drawingml/2006/main" noGrp="1"/>
          </p:cNvSpPr>
          <p:nvPr/>
        </p:nvSpPr>
        <p:spPr>
          <a:xfrm xmlns:a="http://schemas.openxmlformats.org/drawingml/2006/main">
            <a:off x="6305550" y="28765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metric-2-value">
            <a:extLst xmlns:a="http://schemas.openxmlformats.org/drawingml/2006/main">
              <a:ext uri="{FF2B5EF4-FFF2-40B4-BE49-F238E27FC236}">
                <a16:creationId xmlns:a16="http://schemas.microsoft.com/office/drawing/2014/main" id="{10A946EE-9882-46F2-9106-DA63E9E069AD}"/>
              </a:ext>
            </a:extLst>
          </p:cNvPr>
          <p:cNvSpPr>
            <a:spLocks xmlns:a="http://schemas.openxmlformats.org/drawingml/2006/main" noGrp="1"/>
          </p:cNvSpPr>
          <p:nvPr/>
        </p:nvSpPr>
        <p:spPr>
          <a:xfrm xmlns:a="http://schemas.openxmlformats.org/drawingml/2006/main">
            <a:off x="6477000" y="323850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5CC8B8"/>
                </a:solidFill>
                <a:latin typeface="Avenir Next"/>
                <a:ea typeface="Avenir Next"/>
                <a:cs typeface="Avenir Next"/>
              </a:defRPr>
            </a:defPPr>
          </a:lstStyle>
          <a:p xmlns:a="http://schemas.openxmlformats.org/drawingml/2006/main">
            <a:pPr algn="ctr">
              <a:defRPr sz="2700" b="1" i="0">
                <a:solidFill>
                  <a:srgbClr val="5CC8B8"/>
                </a:solidFill>
                <a:latin typeface="Avenir Next"/>
                <a:ea typeface="Avenir Next"/>
                <a:cs typeface="Avenir Next"/>
              </a:defRPr>
            </a:pPr>
            <a:r>
              <a:rPr sz="2700" b="1" i="0">
                <a:solidFill>
                  <a:srgbClr val="5CC8B8"/>
                </a:solidFill>
                <a:latin typeface="Avenir Next"/>
                <a:ea typeface="Avenir Next"/>
                <a:cs typeface="Avenir Next"/>
              </a:rPr>
              <a:t>15 / 15</a:t>
            </a:r>
          </a:p>
        </p:txBody>
      </p:sp>
      <p:sp>
        <p:nvSpPr>
          <p:cNvPr id="23" name="metric-2-label">
            <a:extLst xmlns:a="http://schemas.openxmlformats.org/drawingml/2006/main">
              <a:ext uri="{FF2B5EF4-FFF2-40B4-BE49-F238E27FC236}">
                <a16:creationId xmlns:a16="http://schemas.microsoft.com/office/drawing/2014/main" id="{D0757442-2543-4151-A416-0A0432CDE330}"/>
              </a:ext>
            </a:extLst>
          </p:cNvPr>
          <p:cNvSpPr>
            <a:spLocks xmlns:a="http://schemas.openxmlformats.org/drawingml/2006/main" noGrp="1"/>
          </p:cNvSpPr>
          <p:nvPr/>
        </p:nvSpPr>
        <p:spPr>
          <a:xfrm xmlns:a="http://schemas.openxmlformats.org/drawingml/2006/main">
            <a:off x="6477000" y="3905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41B2B"/>
                </a:solidFill>
                <a:latin typeface="Avenir Next"/>
                <a:ea typeface="Avenir Next"/>
                <a:cs typeface="Avenir Next"/>
              </a:defRPr>
            </a:defPPr>
          </a:lstStyle>
          <a:p xmlns:a="http://schemas.openxmlformats.org/drawingml/2006/main">
            <a:pPr algn="ctr">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Mutations rejected</a:t>
            </a:r>
          </a:p>
        </p:txBody>
      </p:sp>
      <p:sp>
        <p:nvSpPr>
          <p:cNvPr id="24" name="metric-2-detail">
            <a:extLst xmlns:a="http://schemas.openxmlformats.org/drawingml/2006/main">
              <a:ext uri="{FF2B5EF4-FFF2-40B4-BE49-F238E27FC236}">
                <a16:creationId xmlns:a16="http://schemas.microsoft.com/office/drawing/2014/main" id="{695B7CEC-EA6E-4467-A5B9-8042509624C5}"/>
              </a:ext>
            </a:extLst>
          </p:cNvPr>
          <p:cNvSpPr>
            <a:spLocks xmlns:a="http://schemas.openxmlformats.org/drawingml/2006/main" noGrp="1"/>
          </p:cNvSpPr>
          <p:nvPr/>
        </p:nvSpPr>
        <p:spPr>
          <a:xfrm xmlns:a="http://schemas.openxmlformats.org/drawingml/2006/main">
            <a:off x="6477000" y="44958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2,250 paired witnesses per mode</a:t>
            </a:r>
          </a:p>
        </p:txBody>
      </p:sp>
      <p:sp>
        <p:nvSpPr>
          <p:cNvPr id="25" name="metric-3-panel">
            <a:extLst xmlns:a="http://schemas.openxmlformats.org/drawingml/2006/main">
              <a:ext uri="{FF2B5EF4-FFF2-40B4-BE49-F238E27FC236}">
                <a16:creationId xmlns:a16="http://schemas.microsoft.com/office/drawing/2014/main" id="{D0E89639-7332-49F9-8133-BC1484FEA0A7}"/>
              </a:ext>
            </a:extLst>
          </p:cNvPr>
          <p:cNvSpPr>
            <a:spLocks xmlns:a="http://schemas.openxmlformats.org/drawingml/2006/main" noGrp="1"/>
          </p:cNvSpPr>
          <p:nvPr/>
        </p:nvSpPr>
        <p:spPr>
          <a:xfrm xmlns:a="http://schemas.openxmlformats.org/drawingml/2006/main">
            <a:off x="9067800" y="2876550"/>
            <a:ext cx="23431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26" name="metric-3-stripe">
            <a:extLst xmlns:a="http://schemas.openxmlformats.org/drawingml/2006/main">
              <a:ext uri="{FF2B5EF4-FFF2-40B4-BE49-F238E27FC236}">
                <a16:creationId xmlns:a16="http://schemas.microsoft.com/office/drawing/2014/main" id="{3F7DD7AF-013E-45E8-89D7-CA7E96A74E48}"/>
              </a:ext>
            </a:extLst>
          </p:cNvPr>
          <p:cNvSpPr>
            <a:spLocks xmlns:a="http://schemas.openxmlformats.org/drawingml/2006/main" noGrp="1"/>
          </p:cNvSpPr>
          <p:nvPr/>
        </p:nvSpPr>
        <p:spPr>
          <a:xfrm xmlns:a="http://schemas.openxmlformats.org/drawingml/2006/main">
            <a:off x="9067800" y="28765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metric-3-value">
            <a:extLst xmlns:a="http://schemas.openxmlformats.org/drawingml/2006/main">
              <a:ext uri="{FF2B5EF4-FFF2-40B4-BE49-F238E27FC236}">
                <a16:creationId xmlns:a16="http://schemas.microsoft.com/office/drawing/2014/main" id="{CE21EDC3-717F-458E-9E66-57EBB2629363}"/>
              </a:ext>
            </a:extLst>
          </p:cNvPr>
          <p:cNvSpPr>
            <a:spLocks xmlns:a="http://schemas.openxmlformats.org/drawingml/2006/main" noGrp="1"/>
          </p:cNvSpPr>
          <p:nvPr/>
        </p:nvSpPr>
        <p:spPr>
          <a:xfrm xmlns:a="http://schemas.openxmlformats.org/drawingml/2006/main">
            <a:off x="9239250" y="323850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C2461F"/>
                </a:solidFill>
                <a:latin typeface="Avenir Next"/>
                <a:ea typeface="Avenir Next"/>
                <a:cs typeface="Avenir Next"/>
              </a:defRPr>
            </a:defPPr>
          </a:lstStyle>
          <a:p xmlns:a="http://schemas.openxmlformats.org/drawingml/2006/main">
            <a:pPr algn="ctr">
              <a:defRPr sz="2700" b="1" i="0">
                <a:solidFill>
                  <a:srgbClr val="C2461F"/>
                </a:solidFill>
                <a:latin typeface="Avenir Next"/>
                <a:ea typeface="Avenir Next"/>
                <a:cs typeface="Avenir Next"/>
              </a:defRPr>
            </a:pPr>
            <a:r>
              <a:rPr sz="2700" b="1" i="0">
                <a:solidFill>
                  <a:srgbClr val="C2461F"/>
                </a:solidFill>
                <a:latin typeface="Avenir Next"/>
                <a:ea typeface="Avenir Next"/>
                <a:cs typeface="Avenir Next"/>
              </a:rPr>
              <a:t>0 / 1,500</a:t>
            </a:r>
          </a:p>
        </p:txBody>
      </p:sp>
      <p:sp>
        <p:nvSpPr>
          <p:cNvPr id="28" name="metric-3-label">
            <a:extLst xmlns:a="http://schemas.openxmlformats.org/drawingml/2006/main">
              <a:ext uri="{FF2B5EF4-FFF2-40B4-BE49-F238E27FC236}">
                <a16:creationId xmlns:a16="http://schemas.microsoft.com/office/drawing/2014/main" id="{9DEE5037-792A-48EF-96E8-F9A70997148C}"/>
              </a:ext>
            </a:extLst>
          </p:cNvPr>
          <p:cNvSpPr>
            <a:spLocks xmlns:a="http://schemas.openxmlformats.org/drawingml/2006/main" noGrp="1"/>
          </p:cNvSpPr>
          <p:nvPr/>
        </p:nvSpPr>
        <p:spPr>
          <a:xfrm xmlns:a="http://schemas.openxmlformats.org/drawingml/2006/main">
            <a:off x="9239250" y="3905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41B2B"/>
                </a:solidFill>
                <a:latin typeface="Avenir Next"/>
                <a:ea typeface="Avenir Next"/>
                <a:cs typeface="Avenir Next"/>
              </a:defRPr>
            </a:defPPr>
          </a:lstStyle>
          <a:p xmlns:a="http://schemas.openxmlformats.org/drawingml/2006/main">
            <a:pPr algn="ctr">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Bound violations</a:t>
            </a:r>
          </a:p>
        </p:txBody>
      </p:sp>
      <p:sp>
        <p:nvSpPr>
          <p:cNvPr id="29" name="metric-3-detail">
            <a:extLst xmlns:a="http://schemas.openxmlformats.org/drawingml/2006/main">
              <a:ext uri="{FF2B5EF4-FFF2-40B4-BE49-F238E27FC236}">
                <a16:creationId xmlns:a16="http://schemas.microsoft.com/office/drawing/2014/main" id="{8E77B00A-07EC-4AD4-AE4F-B966098E68EC}"/>
              </a:ext>
            </a:extLst>
          </p:cNvPr>
          <p:cNvSpPr>
            <a:spLocks xmlns:a="http://schemas.openxmlformats.org/drawingml/2006/main" noGrp="1"/>
          </p:cNvSpPr>
          <p:nvPr/>
        </p:nvSpPr>
        <p:spPr>
          <a:xfrm xmlns:a="http://schemas.openxmlformats.org/drawingml/2006/main">
            <a:off x="9239250" y="44958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across base executions per mode</a:t>
            </a:r>
          </a:p>
        </p:txBody>
      </p:sp>
      <p:sp>
        <p:nvSpPr>
          <p:cNvPr id="30" name="metric-revision">
            <a:extLst xmlns:a="http://schemas.openxmlformats.org/drawingml/2006/main">
              <a:ext uri="{FF2B5EF4-FFF2-40B4-BE49-F238E27FC236}">
                <a16:creationId xmlns:a16="http://schemas.microsoft.com/office/drawing/2014/main" id="{AE50C77B-2F93-42F0-8209-BD870A937214}"/>
              </a:ext>
            </a:extLst>
          </p:cNvPr>
          <p:cNvSpPr>
            <a:spLocks xmlns:a="http://schemas.openxmlformats.org/drawingml/2006/main" noGrp="1"/>
          </p:cNvSpPr>
          <p:nvPr/>
        </p:nvSpPr>
        <p:spPr>
          <a:xfrm xmlns:a="http://schemas.openxmlformats.org/drawingml/2006/main">
            <a:off x="904875" y="531495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13" b="0" i="0">
                <a:solidFill>
                  <a:srgbClr val="646B7A"/>
                </a:solidFill>
                <a:latin typeface="Menlo"/>
                <a:ea typeface="Menlo"/>
                <a:cs typeface="Menlo"/>
              </a:defRPr>
            </a:defPPr>
          </a:lstStyle>
          <a:p xmlns:a="http://schemas.openxmlformats.org/drawingml/2006/main">
            <a:pPr algn="ctr">
              <a:defRPr sz="1013" b="0" i="0">
                <a:solidFill>
                  <a:srgbClr val="646B7A"/>
                </a:solidFill>
                <a:latin typeface="Menlo"/>
                <a:ea typeface="Menlo"/>
                <a:cs typeface="Menlo"/>
              </a:defRPr>
            </a:pPr>
            <a:r>
              <a:rPr sz="1013" b="0" i="0">
                <a:solidFill>
                  <a:srgbClr val="646B7A"/>
                </a:solidFill>
                <a:latin typeface="Menlo"/>
                <a:ea typeface="Menlo"/>
                <a:cs typeface="Menlo"/>
              </a:rPr>
              <a:t>30 independent source-bound reports checked  ·  compiler SHA-256 5bae3be94e9b</a:t>
            </a:r>
          </a:p>
        </p:txBody>
      </p:sp>
    </p:spTree>
    <p:extLst>
      <p:ext uri="{BB962C8B-B14F-4D97-AF65-F5344CB8AC3E}">
        <p14:creationId xmlns:p14="http://schemas.microsoft.com/office/powerpoint/2010/main" val="1281946395"/>
      </p:ext>
    </p:extLst>
  </p:cSld>
</p:sld>
</file>

<file path=ppt/slides/slide16.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19" name="s16-brand">
            <a:extLst xmlns:a="http://schemas.openxmlformats.org/drawingml/2006/main">
              <a:ext uri="{FF2B5EF4-FFF2-40B4-BE49-F238E27FC236}">
                <a16:creationId xmlns:a16="http://schemas.microsoft.com/office/drawing/2014/main" id="{A6D2678E-45E6-462F-9B6A-A31110D0C0AF}"/>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6-section">
            <a:extLst xmlns:a="http://schemas.openxmlformats.org/drawingml/2006/main">
              <a:ext uri="{FF2B5EF4-FFF2-40B4-BE49-F238E27FC236}">
                <a16:creationId xmlns:a16="http://schemas.microsoft.com/office/drawing/2014/main" id="{D19B5BB5-09EE-41A3-A95D-261275A87E3A}"/>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CASE STUDY</a:t>
            </a:r>
          </a:p>
        </p:txBody>
      </p:sp>
      <p:sp>
        <p:nvSpPr>
          <p:cNvPr id="3" name="s16-title">
            <a:extLst xmlns:a="http://schemas.openxmlformats.org/drawingml/2006/main">
              <a:ext uri="{FF2B5EF4-FFF2-40B4-BE49-F238E27FC236}">
                <a16:creationId xmlns:a16="http://schemas.microsoft.com/office/drawing/2014/main" id="{F7D664B7-D5DA-4D25-B9A3-726506527384}"/>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One paired witness shows what the rejection catches</a:t>
            </a:r>
          </a:p>
        </p:txBody>
      </p:sp>
      <p:sp>
        <p:nvSpPr>
          <p:cNvPr id="4" name="s16-subtitle">
            <a:extLst xmlns:a="http://schemas.openxmlformats.org/drawingml/2006/main">
              <a:ext uri="{FF2B5EF4-FFF2-40B4-BE49-F238E27FC236}">
                <a16:creationId xmlns:a16="http://schemas.microsoft.com/office/drawing/2014/main" id="{0EF4783A-0B23-4CF1-B9A5-599F480AE212}"/>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PDL-derived mutation · seed 1 · query=0 · public tool=false</a:t>
            </a:r>
          </a:p>
        </p:txBody>
      </p:sp>
      <p:sp>
        <p:nvSpPr>
          <p:cNvPr id="5" name="s16-source-rule">
            <a:extLst xmlns:a="http://schemas.openxmlformats.org/drawingml/2006/main">
              <a:ext uri="{FF2B5EF4-FFF2-40B4-BE49-F238E27FC236}">
                <a16:creationId xmlns:a16="http://schemas.microsoft.com/office/drawing/2014/main" id="{09212E0E-1A9B-4E06-9906-087893BCE60E}"/>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6-sources">
            <a:extLst xmlns:a="http://schemas.openxmlformats.org/drawingml/2006/main">
              <a:ext uri="{FF2B5EF4-FFF2-40B4-BE49-F238E27FC236}">
                <a16:creationId xmlns:a16="http://schemas.microsoft.com/office/drawing/2014/main" id="{470EBC09-6306-4C67-9D27-D42F552E41BC}"/>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bench/results/sourced.json; bench/results/sourced_request_sensitive.json; bench/evaluate_sourced.py</a:t>
            </a:r>
          </a:p>
        </p:txBody>
      </p:sp>
      <p:sp>
        <p:nvSpPr>
          <p:cNvPr id="7" name="s16-footer-rule">
            <a:extLst xmlns:a="http://schemas.openxmlformats.org/drawingml/2006/main">
              <a:ext uri="{FF2B5EF4-FFF2-40B4-BE49-F238E27FC236}">
                <a16:creationId xmlns:a16="http://schemas.microsoft.com/office/drawing/2014/main" id="{6E25E4A2-F383-43D4-AD2E-F69ED961FD76}"/>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6-footer">
            <a:extLst xmlns:a="http://schemas.openxmlformats.org/drawingml/2006/main">
              <a:ext uri="{FF2B5EF4-FFF2-40B4-BE49-F238E27FC236}">
                <a16:creationId xmlns:a16="http://schemas.microsoft.com/office/drawing/2014/main" id="{19A817E3-8DBA-4646-9750-B5F616B65EB0}"/>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6-page">
            <a:extLst xmlns:a="http://schemas.openxmlformats.org/drawingml/2006/main">
              <a:ext uri="{FF2B5EF4-FFF2-40B4-BE49-F238E27FC236}">
                <a16:creationId xmlns:a16="http://schemas.microsoft.com/office/drawing/2014/main" id="{4E7DCCE8-A0E6-45A1-A664-CB82F8B4B6A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16</a:t>
            </a:r>
          </a:p>
        </p:txBody>
      </p:sp>
      <p:sp>
        <p:nvSpPr>
          <p:cNvPr id="10" name="trace-ordinal-panel">
            <a:extLst xmlns:a="http://schemas.openxmlformats.org/drawingml/2006/main">
              <a:ext uri="{FF2B5EF4-FFF2-40B4-BE49-F238E27FC236}">
                <a16:creationId xmlns:a16="http://schemas.microsoft.com/office/drawing/2014/main" id="{222F8815-A222-41EC-90BE-585953D97101}"/>
              </a:ext>
            </a:extLst>
          </p:cNvPr>
          <p:cNvSpPr>
            <a:spLocks xmlns:a="http://schemas.openxmlformats.org/drawingml/2006/main" noGrp="1"/>
          </p:cNvSpPr>
          <p:nvPr/>
        </p:nvSpPr>
        <p:spPr>
          <a:xfrm xmlns:a="http://schemas.openxmlformats.org/drawingml/2006/main">
            <a:off x="857250" y="2619375"/>
            <a:ext cx="4667250" cy="2457450"/>
          </a:xfrm>
          <a:prstGeom xmlns:a="http://schemas.openxmlformats.org/drawingml/2006/main" prst="roundRect">
            <a:avLst>
              <a:gd name="adj" fmla="val 3101"/>
            </a:avLst>
          </a:prstGeom>
          <a:solidFill xmlns:a="http://schemas.openxmlformats.org/drawingml/2006/main">
            <a:srgbClr val="1C2638"/>
          </a:solidFill>
          <a:ln xmlns:a="http://schemas.openxmlformats.org/drawingml/2006/main" w="9525">
            <a:solidFill>
              <a:srgbClr val="343D50"/>
            </a:solidFill>
            <a:prstDash val="solid"/>
          </a:ln>
        </p:spPr>
      </p:sp>
      <p:sp>
        <p:nvSpPr>
          <p:cNvPr id="11" name="trace-ordinal-accent">
            <a:extLst xmlns:a="http://schemas.openxmlformats.org/drawingml/2006/main">
              <a:ext uri="{FF2B5EF4-FFF2-40B4-BE49-F238E27FC236}">
                <a16:creationId xmlns:a16="http://schemas.microsoft.com/office/drawing/2014/main" id="{447E36FC-18D5-4A57-9EA9-40A20CCB4810}"/>
              </a:ext>
            </a:extLst>
          </p:cNvPr>
          <p:cNvSpPr>
            <a:spLocks xmlns:a="http://schemas.openxmlformats.org/drawingml/2006/main" noGrp="1"/>
          </p:cNvSpPr>
          <p:nvPr/>
        </p:nvSpPr>
        <p:spPr>
          <a:xfrm xmlns:a="http://schemas.openxmlformats.org/drawingml/2006/main">
            <a:off x="857250" y="2619375"/>
            <a:ext cx="57150" cy="24574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trace-ordinal-title">
            <a:extLst xmlns:a="http://schemas.openxmlformats.org/drawingml/2006/main">
              <a:ext uri="{FF2B5EF4-FFF2-40B4-BE49-F238E27FC236}">
                <a16:creationId xmlns:a16="http://schemas.microsoft.com/office/drawing/2014/main" id="{BF55DEA5-7C63-4DF6-8A67-62B471CC5D3D}"/>
              </a:ext>
            </a:extLst>
          </p:cNvPr>
          <p:cNvSpPr>
            <a:spLocks xmlns:a="http://schemas.openxmlformats.org/drawingml/2006/main" noGrp="1"/>
          </p:cNvSpPr>
          <p:nvPr/>
        </p:nvSpPr>
        <p:spPr>
          <a:xfrm xmlns:a="http://schemas.openxmlformats.org/drawingml/2006/main">
            <a:off x="1066800" y="27908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ORDINAL MOCK  ·  contract/index</a:t>
            </a:r>
          </a:p>
        </p:txBody>
      </p:sp>
      <p:sp>
        <p:nvSpPr>
          <p:cNvPr id="13" name="trace-ordinal-body">
            <a:extLst xmlns:a="http://schemas.openxmlformats.org/drawingml/2006/main">
              <a:ext uri="{FF2B5EF4-FFF2-40B4-BE49-F238E27FC236}">
                <a16:creationId xmlns:a16="http://schemas.microsoft.com/office/drawing/2014/main" id="{D4663193-0D5E-4DE3-91B9-B0789E744C02}"/>
              </a:ext>
            </a:extLst>
          </p:cNvPr>
          <p:cNvSpPr>
            <a:spLocks xmlns:a="http://schemas.openxmlformats.org/drawingml/2006/main" noGrp="1"/>
          </p:cNvSpPr>
          <p:nvPr/>
        </p:nvSpPr>
        <p:spPr>
          <a:xfrm xmlns:a="http://schemas.openxmlformats.org/drawingml/2006/main">
            <a:off x="1066800" y="3305175"/>
            <a:ext cx="42481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Menlo"/>
                <a:ea typeface="Menlo"/>
                <a:cs typeface="Menlo"/>
              </a:defRPr>
            </a:defPPr>
          </a:lstStyle>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secret=false  3/60/95</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secret=true   2/57/54</a:t>
            </a:r>
          </a:p>
          <a:p xmlns:a="http://schemas.openxmlformats.org/drawingml/2006/main">
            <a:r>
              <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calls / input / output · mock / common-metric-worker / cap 96</a:t>
            </a:r>
          </a:p>
        </p:txBody>
      </p:sp>
      <p:sp>
        <p:nvSpPr>
          <p:cNvPr id="14" name="trace-request-panel">
            <a:extLst xmlns:a="http://schemas.openxmlformats.org/drawingml/2006/main">
              <a:ext uri="{FF2B5EF4-FFF2-40B4-BE49-F238E27FC236}">
                <a16:creationId xmlns:a16="http://schemas.microsoft.com/office/drawing/2014/main" id="{C20C2983-53D4-4A8E-912A-52EE1A859287}"/>
              </a:ext>
            </a:extLst>
          </p:cNvPr>
          <p:cNvSpPr>
            <a:spLocks xmlns:a="http://schemas.openxmlformats.org/drawingml/2006/main" noGrp="1"/>
          </p:cNvSpPr>
          <p:nvPr/>
        </p:nvSpPr>
        <p:spPr>
          <a:xfrm xmlns:a="http://schemas.openxmlformats.org/drawingml/2006/main">
            <a:off x="6667500" y="2619375"/>
            <a:ext cx="4667250" cy="2457450"/>
          </a:xfrm>
          <a:prstGeom xmlns:a="http://schemas.openxmlformats.org/drawingml/2006/main" prst="roundRect">
            <a:avLst>
              <a:gd name="adj" fmla="val 3101"/>
            </a:avLst>
          </a:prstGeom>
          <a:solidFill xmlns:a="http://schemas.openxmlformats.org/drawingml/2006/main">
            <a:srgbClr val="1C2638"/>
          </a:solidFill>
          <a:ln xmlns:a="http://schemas.openxmlformats.org/drawingml/2006/main" w="9525">
            <a:solidFill>
              <a:srgbClr val="343D50"/>
            </a:solidFill>
            <a:prstDash val="solid"/>
          </a:ln>
        </p:spPr>
      </p:sp>
      <p:sp>
        <p:nvSpPr>
          <p:cNvPr id="15" name="trace-request-accent">
            <a:extLst xmlns:a="http://schemas.openxmlformats.org/drawingml/2006/main">
              <a:ext uri="{FF2B5EF4-FFF2-40B4-BE49-F238E27FC236}">
                <a16:creationId xmlns:a16="http://schemas.microsoft.com/office/drawing/2014/main" id="{6463D6F0-2DB1-4D9D-A63A-952CD3ECDC16}"/>
              </a:ext>
            </a:extLst>
          </p:cNvPr>
          <p:cNvSpPr>
            <a:spLocks xmlns:a="http://schemas.openxmlformats.org/drawingml/2006/main" noGrp="1"/>
          </p:cNvSpPr>
          <p:nvPr/>
        </p:nvSpPr>
        <p:spPr>
          <a:xfrm xmlns:a="http://schemas.openxmlformats.org/drawingml/2006/main">
            <a:off x="6667500" y="2619375"/>
            <a:ext cx="57150" cy="24574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trace-request-title">
            <a:extLst xmlns:a="http://schemas.openxmlformats.org/drawingml/2006/main">
              <a:ext uri="{FF2B5EF4-FFF2-40B4-BE49-F238E27FC236}">
                <a16:creationId xmlns:a16="http://schemas.microsoft.com/office/drawing/2014/main" id="{9E02A2D1-AE00-4118-8EE5-3B41BF90088C}"/>
              </a:ext>
            </a:extLst>
          </p:cNvPr>
          <p:cNvSpPr>
            <a:spLocks xmlns:a="http://schemas.openxmlformats.org/drawingml/2006/main" noGrp="1"/>
          </p:cNvSpPr>
          <p:nvPr/>
        </p:nvSpPr>
        <p:spPr>
          <a:xfrm xmlns:a="http://schemas.openxmlformats.org/drawingml/2006/main">
            <a:off x="6877050" y="27908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REQUEST-SENSITIVE  ·  contract/index/Q</a:t>
            </a:r>
          </a:p>
        </p:txBody>
      </p:sp>
      <p:sp>
        <p:nvSpPr>
          <p:cNvPr id="17" name="trace-request-body">
            <a:extLst xmlns:a="http://schemas.openxmlformats.org/drawingml/2006/main">
              <a:ext uri="{FF2B5EF4-FFF2-40B4-BE49-F238E27FC236}">
                <a16:creationId xmlns:a16="http://schemas.microsoft.com/office/drawing/2014/main" id="{5B9F6D83-4D5C-4329-B27A-CE20696ED1DA}"/>
              </a:ext>
            </a:extLst>
          </p:cNvPr>
          <p:cNvSpPr>
            <a:spLocks xmlns:a="http://schemas.openxmlformats.org/drawingml/2006/main" noGrp="1"/>
          </p:cNvSpPr>
          <p:nvPr/>
        </p:nvSpPr>
        <p:spPr>
          <a:xfrm xmlns:a="http://schemas.openxmlformats.org/drawingml/2006/main">
            <a:off x="6877050" y="3305175"/>
            <a:ext cx="42481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Menlo"/>
                <a:ea typeface="Menlo"/>
                <a:cs typeface="Menlo"/>
              </a:defRPr>
            </a:defPPr>
          </a:lstStyle>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secret=false  3/20/108</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secret=true   2/17/71</a:t>
            </a:r>
          </a:p>
          <a:p xmlns:a="http://schemas.openxmlformats.org/drawingml/2006/main">
            <a:r>
              <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calls / input / output · mock / common-metric-worker / cap 96</a:t>
            </a:r>
          </a:p>
        </p:txBody>
      </p:sp>
      <p:sp>
        <p:nvSpPr>
          <p:cNvPr id="18" name="trace-same">
            <a:extLst xmlns:a="http://schemas.openxmlformats.org/drawingml/2006/main">
              <a:ext uri="{FF2B5EF4-FFF2-40B4-BE49-F238E27FC236}">
                <a16:creationId xmlns:a16="http://schemas.microsoft.com/office/drawing/2014/main" id="{34468861-FBAF-49CB-9E3D-80D32AFE12B6}"/>
              </a:ext>
            </a:extLst>
          </p:cNvPr>
          <p:cNvSpPr>
            <a:spLocks xmlns:a="http://schemas.openxmlformats.org/drawingml/2006/main" noGrp="1"/>
          </p:cNvSpPr>
          <p:nvPr/>
        </p:nvSpPr>
        <p:spPr>
          <a:xfrm xmlns:a="http://schemas.openxmlformats.org/drawingml/2006/main">
            <a:off x="1000125" y="539115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63" b="1" i="0">
                <a:solidFill>
                  <a:srgbClr val="D9CBB6"/>
                </a:solidFill>
                <a:latin typeface="Avenir Next"/>
                <a:ea typeface="Avenir Next"/>
                <a:cs typeface="Avenir Next"/>
              </a:defRPr>
            </a:defPPr>
          </a:lstStyle>
          <a:p xmlns:a="http://schemas.openxmlformats.org/drawingml/2006/main">
            <a:pPr algn="ctr">
              <a:defRPr sz="1163" b="1" i="0">
                <a:solidFill>
                  <a:srgbClr val="D9CBB6"/>
                </a:solidFill>
                <a:latin typeface="Avenir Next"/>
                <a:ea typeface="Avenir Next"/>
                <a:cs typeface="Avenir Next"/>
              </a:defRPr>
            </a:pPr>
            <a:r>
              <a:rPr sz="1163" b="1" i="0">
                <a:solidFill>
                  <a:srgbClr val="D9CBB6"/>
                </a:solidFill>
                <a:latin typeface="Avenir Next"/>
                <a:ea typeface="Avenir Next"/>
                <a:cs typeface="Avenir Next"/>
              </a:rPr>
              <a:t>SAME PUBLIC FIXTURE  ·  2,250/2,250 witnesses per mode  ·  repeated grids are not extra patterns</a:t>
            </a:r>
          </a:p>
        </p:txBody>
      </p:sp>
    </p:spTree>
    <p:extLst>
      <p:ext uri="{BB962C8B-B14F-4D97-AF65-F5344CB8AC3E}">
        <p14:creationId xmlns:p14="http://schemas.microsoft.com/office/powerpoint/2010/main" val="1945287613"/>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5" name="s17-brand">
            <a:extLst xmlns:a="http://schemas.openxmlformats.org/drawingml/2006/main">
              <a:ext uri="{FF2B5EF4-FFF2-40B4-BE49-F238E27FC236}">
                <a16:creationId xmlns:a16="http://schemas.microsoft.com/office/drawing/2014/main" id="{50FCFD86-1CC3-4223-BBC1-856FF80A988B}"/>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7-section">
            <a:extLst xmlns:a="http://schemas.openxmlformats.org/drawingml/2006/main">
              <a:ext uri="{FF2B5EF4-FFF2-40B4-BE49-F238E27FC236}">
                <a16:creationId xmlns:a16="http://schemas.microsoft.com/office/drawing/2014/main" id="{5FE5603A-11C1-4F12-91C1-9DA572F42209}"/>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PRIOR WORK</a:t>
            </a:r>
          </a:p>
        </p:txBody>
      </p:sp>
      <p:sp>
        <p:nvSpPr>
          <p:cNvPr id="3" name="s17-title">
            <a:extLst xmlns:a="http://schemas.openxmlformats.org/drawingml/2006/main">
              <a:ext uri="{FF2B5EF4-FFF2-40B4-BE49-F238E27FC236}">
                <a16:creationId xmlns:a16="http://schemas.microsoft.com/office/drawing/2014/main" id="{BB22B06D-F54F-4481-BA7B-6044616D8471}"/>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contribution sits beside established foundations</a:t>
            </a:r>
          </a:p>
        </p:txBody>
      </p:sp>
      <p:sp>
        <p:nvSpPr>
          <p:cNvPr id="4" name="s17-subtitle">
            <a:extLst xmlns:a="http://schemas.openxmlformats.org/drawingml/2006/main">
              <a:ext uri="{FF2B5EF4-FFF2-40B4-BE49-F238E27FC236}">
                <a16:creationId xmlns:a16="http://schemas.microsoft.com/office/drawing/2014/main" id="{75E2406B-0F53-4BA0-AE6A-256E3D87C405}"/>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Resource-aware IFC, relational cost reasoning, and LLM side-channel studies all matter here.</a:t>
            </a:r>
          </a:p>
        </p:txBody>
      </p:sp>
      <p:sp>
        <p:nvSpPr>
          <p:cNvPr id="5" name="s17-source-rule">
            <a:extLst xmlns:a="http://schemas.openxmlformats.org/drawingml/2006/main">
              <a:ext uri="{FF2B5EF4-FFF2-40B4-BE49-F238E27FC236}">
                <a16:creationId xmlns:a16="http://schemas.microsoft.com/office/drawing/2014/main" id="{1CAFD9AE-E672-4489-98D3-C2E283798F70}"/>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7-sources">
            <a:extLst xmlns:a="http://schemas.openxmlformats.org/drawingml/2006/main">
              <a:ext uri="{FF2B5EF4-FFF2-40B4-BE49-F238E27FC236}">
                <a16:creationId xmlns:a16="http://schemas.microsoft.com/office/drawing/2014/main" id="{0895515F-DC7F-4BAC-B0C1-20B425D819C0}"/>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Sources [1]–[7] in sources.md</a:t>
            </a:r>
          </a:p>
        </p:txBody>
      </p:sp>
      <p:sp>
        <p:nvSpPr>
          <p:cNvPr id="7" name="s17-footer-rule">
            <a:extLst xmlns:a="http://schemas.openxmlformats.org/drawingml/2006/main">
              <a:ext uri="{FF2B5EF4-FFF2-40B4-BE49-F238E27FC236}">
                <a16:creationId xmlns:a16="http://schemas.microsoft.com/office/drawing/2014/main" id="{4842416A-9463-49F0-B08E-F3D310FEAE8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7-footer">
            <a:extLst xmlns:a="http://schemas.openxmlformats.org/drawingml/2006/main">
              <a:ext uri="{FF2B5EF4-FFF2-40B4-BE49-F238E27FC236}">
                <a16:creationId xmlns:a16="http://schemas.microsoft.com/office/drawing/2014/main" id="{D00A2E4A-468E-4712-BF88-5F17908BC020}"/>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7-page">
            <a:extLst xmlns:a="http://schemas.openxmlformats.org/drawingml/2006/main">
              <a:ext uri="{FF2B5EF4-FFF2-40B4-BE49-F238E27FC236}">
                <a16:creationId xmlns:a16="http://schemas.microsoft.com/office/drawing/2014/main" id="{FF65487F-B181-46E9-92FA-126313E02444}"/>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17</a:t>
            </a:r>
          </a:p>
        </p:txBody>
      </p:sp>
      <p:sp>
        <p:nvSpPr>
          <p:cNvPr id="10" name="lit-0-panel">
            <a:extLst xmlns:a="http://schemas.openxmlformats.org/drawingml/2006/main">
              <a:ext uri="{FF2B5EF4-FFF2-40B4-BE49-F238E27FC236}">
                <a16:creationId xmlns:a16="http://schemas.microsoft.com/office/drawing/2014/main" id="{58E56D3A-526F-48FA-ACAF-F603500F6738}"/>
              </a:ext>
            </a:extLst>
          </p:cNvPr>
          <p:cNvSpPr>
            <a:spLocks xmlns:a="http://schemas.openxmlformats.org/drawingml/2006/main" noGrp="1"/>
          </p:cNvSpPr>
          <p:nvPr/>
        </p:nvSpPr>
        <p:spPr>
          <a:xfrm xmlns:a="http://schemas.openxmlformats.org/drawingml/2006/main">
            <a:off x="723900" y="2400300"/>
            <a:ext cx="3371850" cy="1390650"/>
          </a:xfrm>
          <a:prstGeom xmlns:a="http://schemas.openxmlformats.org/drawingml/2006/main" prst="roundRect">
            <a:avLst>
              <a:gd name="adj" fmla="val 5479"/>
            </a:avLst>
          </a:prstGeom>
          <a:solidFill xmlns:a="http://schemas.openxmlformats.org/drawingml/2006/main">
            <a:srgbClr val="FFFDF8"/>
          </a:solidFill>
          <a:ln xmlns:a="http://schemas.openxmlformats.org/drawingml/2006/main" w="9525">
            <a:solidFill>
              <a:srgbClr val="D7D0C4"/>
            </a:solidFill>
            <a:prstDash val="solid"/>
          </a:ln>
        </p:spPr>
      </p:sp>
      <p:sp>
        <p:nvSpPr>
          <p:cNvPr id="11" name="lit-0-accent">
            <a:extLst xmlns:a="http://schemas.openxmlformats.org/drawingml/2006/main">
              <a:ext uri="{FF2B5EF4-FFF2-40B4-BE49-F238E27FC236}">
                <a16:creationId xmlns:a16="http://schemas.microsoft.com/office/drawing/2014/main" id="{78861726-EA07-4A57-9DF4-ED154CED7F82}"/>
              </a:ext>
            </a:extLst>
          </p:cNvPr>
          <p:cNvSpPr>
            <a:spLocks xmlns:a="http://schemas.openxmlformats.org/drawingml/2006/main" noGrp="1"/>
          </p:cNvSpPr>
          <p:nvPr/>
        </p:nvSpPr>
        <p:spPr>
          <a:xfrm xmlns:a="http://schemas.openxmlformats.org/drawingml/2006/main">
            <a:off x="723900" y="2400300"/>
            <a:ext cx="57150" cy="13906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lit-0-title">
            <a:extLst xmlns:a="http://schemas.openxmlformats.org/drawingml/2006/main">
              <a:ext uri="{FF2B5EF4-FFF2-40B4-BE49-F238E27FC236}">
                <a16:creationId xmlns:a16="http://schemas.microsoft.com/office/drawing/2014/main" id="{6A146C62-258F-43F6-8BC5-91A38E919C62}"/>
              </a:ext>
            </a:extLst>
          </p:cNvPr>
          <p:cNvSpPr>
            <a:spLocks xmlns:a="http://schemas.openxmlformats.org/drawingml/2006/main" noGrp="1"/>
          </p:cNvSpPr>
          <p:nvPr/>
        </p:nvSpPr>
        <p:spPr>
          <a:xfrm xmlns:a="http://schemas.openxmlformats.org/drawingml/2006/main">
            <a:off x="933450" y="2571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RESOURCE-AWARE IFC</a:t>
            </a:r>
          </a:p>
        </p:txBody>
      </p:sp>
      <p:sp>
        <p:nvSpPr>
          <p:cNvPr id="13" name="lit-0-body">
            <a:extLst xmlns:a="http://schemas.openxmlformats.org/drawingml/2006/main">
              <a:ext uri="{FF2B5EF4-FFF2-40B4-BE49-F238E27FC236}">
                <a16:creationId xmlns:a16="http://schemas.microsoft.com/office/drawing/2014/main" id="{301B90A4-A467-4A8C-9597-44FDADC3EB03}"/>
              </a:ext>
            </a:extLst>
          </p:cNvPr>
          <p:cNvSpPr>
            <a:spLocks xmlns:a="http://schemas.openxmlformats.org/drawingml/2006/main" noGrp="1"/>
          </p:cNvSpPr>
          <p:nvPr/>
        </p:nvSpPr>
        <p:spPr>
          <a:xfrm xmlns:a="http://schemas.openxmlformats.org/drawingml/2006/main">
            <a:off x="933450" y="2990850"/>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Ngo et al. · IEEE S&amp;P 2017</a:t>
            </a:r>
          </a:p>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Resource behavior can be part of a noninterference guarantee.</a:t>
            </a:r>
          </a:p>
        </p:txBody>
      </p:sp>
      <p:sp>
        <p:nvSpPr>
          <p:cNvPr id="14" name="lit-1-panel">
            <a:extLst xmlns:a="http://schemas.openxmlformats.org/drawingml/2006/main">
              <a:ext uri="{FF2B5EF4-FFF2-40B4-BE49-F238E27FC236}">
                <a16:creationId xmlns:a16="http://schemas.microsoft.com/office/drawing/2014/main" id="{48E96C13-7325-442B-B9D0-C9C8109C1E93}"/>
              </a:ext>
            </a:extLst>
          </p:cNvPr>
          <p:cNvSpPr>
            <a:spLocks xmlns:a="http://schemas.openxmlformats.org/drawingml/2006/main" noGrp="1"/>
          </p:cNvSpPr>
          <p:nvPr/>
        </p:nvSpPr>
        <p:spPr>
          <a:xfrm xmlns:a="http://schemas.openxmlformats.org/drawingml/2006/main">
            <a:off x="4438650" y="2400300"/>
            <a:ext cx="3371850" cy="1390650"/>
          </a:xfrm>
          <a:prstGeom xmlns:a="http://schemas.openxmlformats.org/drawingml/2006/main" prst="roundRect">
            <a:avLst>
              <a:gd name="adj" fmla="val 5479"/>
            </a:avLst>
          </a:prstGeom>
          <a:solidFill xmlns:a="http://schemas.openxmlformats.org/drawingml/2006/main">
            <a:srgbClr val="FFFDF8"/>
          </a:solidFill>
          <a:ln xmlns:a="http://schemas.openxmlformats.org/drawingml/2006/main" w="9525">
            <a:solidFill>
              <a:srgbClr val="D7D0C4"/>
            </a:solidFill>
            <a:prstDash val="solid"/>
          </a:ln>
        </p:spPr>
      </p:sp>
      <p:sp>
        <p:nvSpPr>
          <p:cNvPr id="15" name="lit-1-accent">
            <a:extLst xmlns:a="http://schemas.openxmlformats.org/drawingml/2006/main">
              <a:ext uri="{FF2B5EF4-FFF2-40B4-BE49-F238E27FC236}">
                <a16:creationId xmlns:a16="http://schemas.microsoft.com/office/drawing/2014/main" id="{0D34DD2F-39DC-4C95-A59D-BB88446E0856}"/>
              </a:ext>
            </a:extLst>
          </p:cNvPr>
          <p:cNvSpPr>
            <a:spLocks xmlns:a="http://schemas.openxmlformats.org/drawingml/2006/main" noGrp="1"/>
          </p:cNvSpPr>
          <p:nvPr/>
        </p:nvSpPr>
        <p:spPr>
          <a:xfrm xmlns:a="http://schemas.openxmlformats.org/drawingml/2006/main">
            <a:off x="4438650" y="2400300"/>
            <a:ext cx="57150" cy="13906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lit-1-title">
            <a:extLst xmlns:a="http://schemas.openxmlformats.org/drawingml/2006/main">
              <a:ext uri="{FF2B5EF4-FFF2-40B4-BE49-F238E27FC236}">
                <a16:creationId xmlns:a16="http://schemas.microsoft.com/office/drawing/2014/main" id="{F3F8A962-E2D6-4CEF-988D-87CE45C3BB93}"/>
              </a:ext>
            </a:extLst>
          </p:cNvPr>
          <p:cNvSpPr>
            <a:spLocks xmlns:a="http://schemas.openxmlformats.org/drawingml/2006/main" noGrp="1"/>
          </p:cNvSpPr>
          <p:nvPr/>
        </p:nvSpPr>
        <p:spPr>
          <a:xfrm xmlns:a="http://schemas.openxmlformats.org/drawingml/2006/main">
            <a:off x="4648200" y="2571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RELATIONAL COST</a:t>
            </a:r>
          </a:p>
        </p:txBody>
      </p:sp>
      <p:sp>
        <p:nvSpPr>
          <p:cNvPr id="17" name="lit-1-body">
            <a:extLst xmlns:a="http://schemas.openxmlformats.org/drawingml/2006/main">
              <a:ext uri="{FF2B5EF4-FFF2-40B4-BE49-F238E27FC236}">
                <a16:creationId xmlns:a16="http://schemas.microsoft.com/office/drawing/2014/main" id="{12F2508D-2D31-4240-8ABA-EC37566A4292}"/>
              </a:ext>
            </a:extLst>
          </p:cNvPr>
          <p:cNvSpPr>
            <a:spLocks xmlns:a="http://schemas.openxmlformats.org/drawingml/2006/main" noGrp="1"/>
          </p:cNvSpPr>
          <p:nvPr/>
        </p:nvSpPr>
        <p:spPr>
          <a:xfrm xmlns:a="http://schemas.openxmlformats.org/drawingml/2006/main">
            <a:off x="4648200" y="2990850"/>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Çiçek et al. · POPL 2017</a:t>
            </a:r>
          </a:p>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Relational reasoning bounds cost differences between runs.</a:t>
            </a:r>
          </a:p>
        </p:txBody>
      </p:sp>
      <p:sp>
        <p:nvSpPr>
          <p:cNvPr id="18" name="lit-2-panel">
            <a:extLst xmlns:a="http://schemas.openxmlformats.org/drawingml/2006/main">
              <a:ext uri="{FF2B5EF4-FFF2-40B4-BE49-F238E27FC236}">
                <a16:creationId xmlns:a16="http://schemas.microsoft.com/office/drawing/2014/main" id="{6FB46787-CA28-4C8C-BD2B-EAD3D2256150}"/>
              </a:ext>
            </a:extLst>
          </p:cNvPr>
          <p:cNvSpPr>
            <a:spLocks xmlns:a="http://schemas.openxmlformats.org/drawingml/2006/main" noGrp="1"/>
          </p:cNvSpPr>
          <p:nvPr/>
        </p:nvSpPr>
        <p:spPr>
          <a:xfrm xmlns:a="http://schemas.openxmlformats.org/drawingml/2006/main">
            <a:off x="8153400" y="2400300"/>
            <a:ext cx="3371850" cy="1390650"/>
          </a:xfrm>
          <a:prstGeom xmlns:a="http://schemas.openxmlformats.org/drawingml/2006/main" prst="roundRect">
            <a:avLst>
              <a:gd name="adj" fmla="val 5479"/>
            </a:avLst>
          </a:prstGeom>
          <a:solidFill xmlns:a="http://schemas.openxmlformats.org/drawingml/2006/main">
            <a:srgbClr val="FFFDF8"/>
          </a:solidFill>
          <a:ln xmlns:a="http://schemas.openxmlformats.org/drawingml/2006/main" w="9525">
            <a:solidFill>
              <a:srgbClr val="D7D0C4"/>
            </a:solidFill>
            <a:prstDash val="solid"/>
          </a:ln>
        </p:spPr>
      </p:sp>
      <p:sp>
        <p:nvSpPr>
          <p:cNvPr id="19" name="lit-2-accent">
            <a:extLst xmlns:a="http://schemas.openxmlformats.org/drawingml/2006/main">
              <a:ext uri="{FF2B5EF4-FFF2-40B4-BE49-F238E27FC236}">
                <a16:creationId xmlns:a16="http://schemas.microsoft.com/office/drawing/2014/main" id="{3F1C15EF-D503-4746-BF5D-7A96B1097A71}"/>
              </a:ext>
            </a:extLst>
          </p:cNvPr>
          <p:cNvSpPr>
            <a:spLocks xmlns:a="http://schemas.openxmlformats.org/drawingml/2006/main" noGrp="1"/>
          </p:cNvSpPr>
          <p:nvPr/>
        </p:nvSpPr>
        <p:spPr>
          <a:xfrm xmlns:a="http://schemas.openxmlformats.org/drawingml/2006/main">
            <a:off x="8153400" y="2400300"/>
            <a:ext cx="57150" cy="13906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0" name="lit-2-title">
            <a:extLst xmlns:a="http://schemas.openxmlformats.org/drawingml/2006/main">
              <a:ext uri="{FF2B5EF4-FFF2-40B4-BE49-F238E27FC236}">
                <a16:creationId xmlns:a16="http://schemas.microsoft.com/office/drawing/2014/main" id="{C0BD1AD5-B0CB-493F-9E77-96C786BBFF3B}"/>
              </a:ext>
            </a:extLst>
          </p:cNvPr>
          <p:cNvSpPr>
            <a:spLocks xmlns:a="http://schemas.openxmlformats.org/drawingml/2006/main" noGrp="1"/>
          </p:cNvSpPr>
          <p:nvPr/>
        </p:nvSpPr>
        <p:spPr>
          <a:xfrm xmlns:a="http://schemas.openxmlformats.org/drawingml/2006/main">
            <a:off x="8362950" y="2571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PROBABILISTIC COST</a:t>
            </a:r>
          </a:p>
        </p:txBody>
      </p:sp>
      <p:sp>
        <p:nvSpPr>
          <p:cNvPr id="21" name="lit-2-body">
            <a:extLst xmlns:a="http://schemas.openxmlformats.org/drawingml/2006/main">
              <a:ext uri="{FF2B5EF4-FFF2-40B4-BE49-F238E27FC236}">
                <a16:creationId xmlns:a16="http://schemas.microsoft.com/office/drawing/2014/main" id="{7D85EAEF-22D3-4F87-AC20-C893F06EEAB3}"/>
              </a:ext>
            </a:extLst>
          </p:cNvPr>
          <p:cNvSpPr>
            <a:spLocks xmlns:a="http://schemas.openxmlformats.org/drawingml/2006/main" noGrp="1"/>
          </p:cNvSpPr>
          <p:nvPr/>
        </p:nvSpPr>
        <p:spPr>
          <a:xfrm xmlns:a="http://schemas.openxmlformats.org/drawingml/2006/main">
            <a:off x="8362950" y="2990850"/>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Ngo et al. · PLDI 2018</a:t>
            </a:r>
          </a:p>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Expected resource bounds for probabilistic programs.</a:t>
            </a:r>
          </a:p>
        </p:txBody>
      </p:sp>
      <p:sp>
        <p:nvSpPr>
          <p:cNvPr id="22" name="lit-3-panel">
            <a:extLst xmlns:a="http://schemas.openxmlformats.org/drawingml/2006/main">
              <a:ext uri="{FF2B5EF4-FFF2-40B4-BE49-F238E27FC236}">
                <a16:creationId xmlns:a16="http://schemas.microsoft.com/office/drawing/2014/main" id="{547D4E11-5667-494C-AEBB-F4795F3160B0}"/>
              </a:ext>
            </a:extLst>
          </p:cNvPr>
          <p:cNvSpPr>
            <a:spLocks xmlns:a="http://schemas.openxmlformats.org/drawingml/2006/main" noGrp="1"/>
          </p:cNvSpPr>
          <p:nvPr/>
        </p:nvSpPr>
        <p:spPr>
          <a:xfrm xmlns:a="http://schemas.openxmlformats.org/drawingml/2006/main">
            <a:off x="723900" y="4029075"/>
            <a:ext cx="3371850" cy="1390650"/>
          </a:xfrm>
          <a:prstGeom xmlns:a="http://schemas.openxmlformats.org/drawingml/2006/main" prst="roundRect">
            <a:avLst>
              <a:gd name="adj" fmla="val 5479"/>
            </a:avLst>
          </a:prstGeom>
          <a:solidFill xmlns:a="http://schemas.openxmlformats.org/drawingml/2006/main">
            <a:srgbClr val="FFFDF8"/>
          </a:solidFill>
          <a:ln xmlns:a="http://schemas.openxmlformats.org/drawingml/2006/main" w="9525">
            <a:solidFill>
              <a:srgbClr val="D7D0C4"/>
            </a:solidFill>
            <a:prstDash val="solid"/>
          </a:ln>
        </p:spPr>
      </p:sp>
      <p:sp>
        <p:nvSpPr>
          <p:cNvPr id="23" name="lit-3-accent">
            <a:extLst xmlns:a="http://schemas.openxmlformats.org/drawingml/2006/main">
              <a:ext uri="{FF2B5EF4-FFF2-40B4-BE49-F238E27FC236}">
                <a16:creationId xmlns:a16="http://schemas.microsoft.com/office/drawing/2014/main" id="{BFACCA32-FC9D-4AA0-96C6-71B00C1E9761}"/>
              </a:ext>
            </a:extLst>
          </p:cNvPr>
          <p:cNvSpPr>
            <a:spLocks xmlns:a="http://schemas.openxmlformats.org/drawingml/2006/main" noGrp="1"/>
          </p:cNvSpPr>
          <p:nvPr/>
        </p:nvSpPr>
        <p:spPr>
          <a:xfrm xmlns:a="http://schemas.openxmlformats.org/drawingml/2006/main">
            <a:off x="723900" y="4029075"/>
            <a:ext cx="57150" cy="13906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4" name="lit-3-title">
            <a:extLst xmlns:a="http://schemas.openxmlformats.org/drawingml/2006/main">
              <a:ext uri="{FF2B5EF4-FFF2-40B4-BE49-F238E27FC236}">
                <a16:creationId xmlns:a16="http://schemas.microsoft.com/office/drawing/2014/main" id="{851178CE-715A-47F5-87D9-BF047DCC8BD9}"/>
              </a:ext>
            </a:extLst>
          </p:cNvPr>
          <p:cNvSpPr>
            <a:spLocks xmlns:a="http://schemas.openxmlformats.org/drawingml/2006/main" noGrp="1"/>
          </p:cNvSpPr>
          <p:nvPr/>
        </p:nvSpPr>
        <p:spPr>
          <a:xfrm xmlns:a="http://schemas.openxmlformats.org/drawingml/2006/main">
            <a:off x="933450" y="42005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PROBABILISTIC LLM FLOWS</a:t>
            </a:r>
          </a:p>
        </p:txBody>
      </p:sp>
      <p:sp>
        <p:nvSpPr>
          <p:cNvPr id="25" name="lit-3-body">
            <a:extLst xmlns:a="http://schemas.openxmlformats.org/drawingml/2006/main">
              <a:ext uri="{FF2B5EF4-FFF2-40B4-BE49-F238E27FC236}">
                <a16:creationId xmlns:a16="http://schemas.microsoft.com/office/drawing/2014/main" id="{1C1C1BFD-BDDA-45AD-8868-5988DABA0D83}"/>
              </a:ext>
            </a:extLst>
          </p:cNvPr>
          <p:cNvSpPr>
            <a:spLocks xmlns:a="http://schemas.openxmlformats.org/drawingml/2006/main" noGrp="1"/>
          </p:cNvSpPr>
          <p:nvPr/>
        </p:nvSpPr>
        <p:spPr>
          <a:xfrm xmlns:a="http://schemas.openxmlformats.org/drawingml/2006/main">
            <a:off x="933450" y="4619625"/>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Mandel et al. · ICML 2026</a:t>
            </a:r>
          </a:p>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PPDL propagates uncertainty across LLM and tool calls.</a:t>
            </a:r>
          </a:p>
        </p:txBody>
      </p:sp>
      <p:sp>
        <p:nvSpPr>
          <p:cNvPr id="26" name="lit-4-panel">
            <a:extLst xmlns:a="http://schemas.openxmlformats.org/drawingml/2006/main">
              <a:ext uri="{FF2B5EF4-FFF2-40B4-BE49-F238E27FC236}">
                <a16:creationId xmlns:a16="http://schemas.microsoft.com/office/drawing/2014/main" id="{700240BA-F443-4B42-895E-8C7101170AC1}"/>
              </a:ext>
            </a:extLst>
          </p:cNvPr>
          <p:cNvSpPr>
            <a:spLocks xmlns:a="http://schemas.openxmlformats.org/drawingml/2006/main" noGrp="1"/>
          </p:cNvSpPr>
          <p:nvPr/>
        </p:nvSpPr>
        <p:spPr>
          <a:xfrm xmlns:a="http://schemas.openxmlformats.org/drawingml/2006/main">
            <a:off x="4438650" y="4029075"/>
            <a:ext cx="3371850" cy="1390650"/>
          </a:xfrm>
          <a:prstGeom xmlns:a="http://schemas.openxmlformats.org/drawingml/2006/main" prst="roundRect">
            <a:avLst>
              <a:gd name="adj" fmla="val 5479"/>
            </a:avLst>
          </a:prstGeom>
          <a:solidFill xmlns:a="http://schemas.openxmlformats.org/drawingml/2006/main">
            <a:srgbClr val="FFFDF8"/>
          </a:solidFill>
          <a:ln xmlns:a="http://schemas.openxmlformats.org/drawingml/2006/main" w="9525">
            <a:solidFill>
              <a:srgbClr val="D7D0C4"/>
            </a:solidFill>
            <a:prstDash val="solid"/>
          </a:ln>
        </p:spPr>
      </p:sp>
      <p:sp>
        <p:nvSpPr>
          <p:cNvPr id="27" name="lit-4-accent">
            <a:extLst xmlns:a="http://schemas.openxmlformats.org/drawingml/2006/main">
              <a:ext uri="{FF2B5EF4-FFF2-40B4-BE49-F238E27FC236}">
                <a16:creationId xmlns:a16="http://schemas.microsoft.com/office/drawing/2014/main" id="{651ACADC-2B01-477B-8F02-24CBBA131271}"/>
              </a:ext>
            </a:extLst>
          </p:cNvPr>
          <p:cNvSpPr>
            <a:spLocks xmlns:a="http://schemas.openxmlformats.org/drawingml/2006/main" noGrp="1"/>
          </p:cNvSpPr>
          <p:nvPr/>
        </p:nvSpPr>
        <p:spPr>
          <a:xfrm xmlns:a="http://schemas.openxmlformats.org/drawingml/2006/main">
            <a:off x="4438650" y="4029075"/>
            <a:ext cx="57150" cy="13906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8" name="lit-4-title">
            <a:extLst xmlns:a="http://schemas.openxmlformats.org/drawingml/2006/main">
              <a:ext uri="{FF2B5EF4-FFF2-40B4-BE49-F238E27FC236}">
                <a16:creationId xmlns:a16="http://schemas.microsoft.com/office/drawing/2014/main" id="{6D82F0DF-EF54-42FD-9E0A-8197801DA921}"/>
              </a:ext>
            </a:extLst>
          </p:cNvPr>
          <p:cNvSpPr>
            <a:spLocks xmlns:a="http://schemas.openxmlformats.org/drawingml/2006/main" noGrp="1"/>
          </p:cNvSpPr>
          <p:nvPr/>
        </p:nvSpPr>
        <p:spPr>
          <a:xfrm xmlns:a="http://schemas.openxmlformats.org/drawingml/2006/main">
            <a:off x="4648200" y="42005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QUANTITATIVE SIDE CHANNELS</a:t>
            </a:r>
          </a:p>
        </p:txBody>
      </p:sp>
      <p:sp>
        <p:nvSpPr>
          <p:cNvPr id="29" name="lit-4-body">
            <a:extLst xmlns:a="http://schemas.openxmlformats.org/drawingml/2006/main">
              <a:ext uri="{FF2B5EF4-FFF2-40B4-BE49-F238E27FC236}">
                <a16:creationId xmlns:a16="http://schemas.microsoft.com/office/drawing/2014/main" id="{F0B0AD3E-4107-4D16-9C42-3FBE29D945F9}"/>
              </a:ext>
            </a:extLst>
          </p:cNvPr>
          <p:cNvSpPr>
            <a:spLocks xmlns:a="http://schemas.openxmlformats.org/drawingml/2006/main" noGrp="1"/>
          </p:cNvSpPr>
          <p:nvPr/>
        </p:nvSpPr>
        <p:spPr>
          <a:xfrm xmlns:a="http://schemas.openxmlformats.org/drawingml/2006/main">
            <a:off x="4648200" y="4619625"/>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Basin &amp; Köpf · CCS 2007</a:t>
            </a:r>
          </a:p>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Information-theoretic analysis of adaptive observations.</a:t>
            </a:r>
          </a:p>
        </p:txBody>
      </p:sp>
      <p:sp>
        <p:nvSpPr>
          <p:cNvPr id="30" name="lit-5-panel">
            <a:extLst xmlns:a="http://schemas.openxmlformats.org/drawingml/2006/main">
              <a:ext uri="{FF2B5EF4-FFF2-40B4-BE49-F238E27FC236}">
                <a16:creationId xmlns:a16="http://schemas.microsoft.com/office/drawing/2014/main" id="{F7A613F3-133A-4B8C-91A6-EC731E734E1A}"/>
              </a:ext>
            </a:extLst>
          </p:cNvPr>
          <p:cNvSpPr>
            <a:spLocks xmlns:a="http://schemas.openxmlformats.org/drawingml/2006/main" noGrp="1"/>
          </p:cNvSpPr>
          <p:nvPr/>
        </p:nvSpPr>
        <p:spPr>
          <a:xfrm xmlns:a="http://schemas.openxmlformats.org/drawingml/2006/main">
            <a:off x="8153400" y="4029075"/>
            <a:ext cx="3371850" cy="1390650"/>
          </a:xfrm>
          <a:prstGeom xmlns:a="http://schemas.openxmlformats.org/drawingml/2006/main" prst="roundRect">
            <a:avLst>
              <a:gd name="adj" fmla="val 5479"/>
            </a:avLst>
          </a:prstGeom>
          <a:solidFill xmlns:a="http://schemas.openxmlformats.org/drawingml/2006/main">
            <a:srgbClr val="FFFDF8"/>
          </a:solidFill>
          <a:ln xmlns:a="http://schemas.openxmlformats.org/drawingml/2006/main" w="9525">
            <a:solidFill>
              <a:srgbClr val="D7D0C4"/>
            </a:solidFill>
            <a:prstDash val="solid"/>
          </a:ln>
        </p:spPr>
      </p:sp>
      <p:sp>
        <p:nvSpPr>
          <p:cNvPr id="31" name="lit-5-accent">
            <a:extLst xmlns:a="http://schemas.openxmlformats.org/drawingml/2006/main">
              <a:ext uri="{FF2B5EF4-FFF2-40B4-BE49-F238E27FC236}">
                <a16:creationId xmlns:a16="http://schemas.microsoft.com/office/drawing/2014/main" id="{A4763C97-5E8A-4693-9388-4885CCEF5A6D}"/>
              </a:ext>
            </a:extLst>
          </p:cNvPr>
          <p:cNvSpPr>
            <a:spLocks xmlns:a="http://schemas.openxmlformats.org/drawingml/2006/main" noGrp="1"/>
          </p:cNvSpPr>
          <p:nvPr/>
        </p:nvSpPr>
        <p:spPr>
          <a:xfrm xmlns:a="http://schemas.openxmlformats.org/drawingml/2006/main">
            <a:off x="8153400" y="4029075"/>
            <a:ext cx="57150" cy="139065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32" name="lit-5-title">
            <a:extLst xmlns:a="http://schemas.openxmlformats.org/drawingml/2006/main">
              <a:ext uri="{FF2B5EF4-FFF2-40B4-BE49-F238E27FC236}">
                <a16:creationId xmlns:a16="http://schemas.microsoft.com/office/drawing/2014/main" id="{9E663261-42B1-4782-B3F9-3174DBBB6D01}"/>
              </a:ext>
            </a:extLst>
          </p:cNvPr>
          <p:cNvSpPr>
            <a:spLocks xmlns:a="http://schemas.openxmlformats.org/drawingml/2006/main" noGrp="1"/>
          </p:cNvSpPr>
          <p:nvPr/>
        </p:nvSpPr>
        <p:spPr>
          <a:xfrm xmlns:a="http://schemas.openxmlformats.org/drawingml/2006/main">
            <a:off x="8362950" y="42005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LLM LENGTH CHANNELS</a:t>
            </a:r>
          </a:p>
        </p:txBody>
      </p:sp>
      <p:sp>
        <p:nvSpPr>
          <p:cNvPr id="33" name="lit-5-body">
            <a:extLst xmlns:a="http://schemas.openxmlformats.org/drawingml/2006/main">
              <a:ext uri="{FF2B5EF4-FFF2-40B4-BE49-F238E27FC236}">
                <a16:creationId xmlns:a16="http://schemas.microsoft.com/office/drawing/2014/main" id="{9C37A099-7215-4D9E-8484-22474302B703}"/>
              </a:ext>
            </a:extLst>
          </p:cNvPr>
          <p:cNvSpPr>
            <a:spLocks xmlns:a="http://schemas.openxmlformats.org/drawingml/2006/main" noGrp="1"/>
          </p:cNvSpPr>
          <p:nvPr/>
        </p:nvSpPr>
        <p:spPr>
          <a:xfrm xmlns:a="http://schemas.openxmlformats.org/drawingml/2006/main">
            <a:off x="8362950" y="4619625"/>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Weiss et al. · 2024; Zhang et al. · 2024</a:t>
            </a:r>
          </a:p>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Token length and timing can expose information.</a:t>
            </a:r>
          </a:p>
        </p:txBody>
      </p:sp>
      <p:sp>
        <p:nvSpPr>
          <p:cNvPr id="34" name="lit-scope">
            <a:extLst xmlns:a="http://schemas.openxmlformats.org/drawingml/2006/main">
              <a:ext uri="{FF2B5EF4-FFF2-40B4-BE49-F238E27FC236}">
                <a16:creationId xmlns:a16="http://schemas.microsoft.com/office/drawing/2014/main" id="{51337FE9-35BA-4874-B473-115677324A13}"/>
              </a:ext>
            </a:extLst>
          </p:cNvPr>
          <p:cNvSpPr>
            <a:spLocks xmlns:a="http://schemas.openxmlformats.org/drawingml/2006/main" noGrp="1"/>
          </p:cNvSpPr>
          <p:nvPr/>
        </p:nvSpPr>
        <p:spPr>
          <a:xfrm xmlns:a="http://schemas.openxmlformats.org/drawingml/2006/main">
            <a:off x="933450" y="5581650"/>
            <a:ext cx="1032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OrchLang's scope: a sufficient compiler check for its declared bill observation and coupling.</a:t>
            </a:r>
          </a:p>
        </p:txBody>
      </p:sp>
    </p:spTree>
    <p:extLst>
      <p:ext uri="{BB962C8B-B14F-4D97-AF65-F5344CB8AC3E}">
        <p14:creationId xmlns:p14="http://schemas.microsoft.com/office/powerpoint/2010/main" val="844571258"/>
      </p:ext>
    </p:extLst>
  </p:cSld>
</p:sld>
</file>

<file path=ppt/slides/slide18.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19" name="s18-brand">
            <a:extLst xmlns:a="http://schemas.openxmlformats.org/drawingml/2006/main">
              <a:ext uri="{FF2B5EF4-FFF2-40B4-BE49-F238E27FC236}">
                <a16:creationId xmlns:a16="http://schemas.microsoft.com/office/drawing/2014/main" id="{9DCEF132-BFA7-406B-ADCB-E4C82D8138FF}"/>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8-section">
            <a:extLst xmlns:a="http://schemas.openxmlformats.org/drawingml/2006/main">
              <a:ext uri="{FF2B5EF4-FFF2-40B4-BE49-F238E27FC236}">
                <a16:creationId xmlns:a16="http://schemas.microsoft.com/office/drawing/2014/main" id="{4DC1B64E-CE46-4CC6-9D7E-330E91E9CAF3}"/>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CONCLUSION</a:t>
            </a:r>
          </a:p>
        </p:txBody>
      </p:sp>
      <p:sp>
        <p:nvSpPr>
          <p:cNvPr id="3" name="s18-title">
            <a:extLst xmlns:a="http://schemas.openxmlformats.org/drawingml/2006/main">
              <a:ext uri="{FF2B5EF4-FFF2-40B4-BE49-F238E27FC236}">
                <a16:creationId xmlns:a16="http://schemas.microsoft.com/office/drawing/2014/main" id="{74D78804-507C-45FA-B252-56246CA129E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useful check begins with a narrow, explicit contract</a:t>
            </a:r>
          </a:p>
        </p:txBody>
      </p:sp>
      <p:sp>
        <p:nvSpPr>
          <p:cNvPr id="4" name="s18-subtitle">
            <a:extLst xmlns:a="http://schemas.openxmlformats.org/drawingml/2006/main">
              <a:ext uri="{FF2B5EF4-FFF2-40B4-BE49-F238E27FC236}">
                <a16:creationId xmlns:a16="http://schemas.microsoft.com/office/drawing/2014/main" id="{7EE53CFD-E996-4586-BC91-68B990F2AA91}"/>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State the modeled request/oracle envelope, evidence, and proof work still open.</a:t>
            </a:r>
          </a:p>
        </p:txBody>
      </p:sp>
      <p:sp>
        <p:nvSpPr>
          <p:cNvPr id="5" name="s18-source-rule">
            <a:extLst xmlns:a="http://schemas.openxmlformats.org/drawingml/2006/main">
              <a:ext uri="{FF2B5EF4-FFF2-40B4-BE49-F238E27FC236}">
                <a16:creationId xmlns:a16="http://schemas.microsoft.com/office/drawing/2014/main" id="{4169D1F5-3623-4A4A-B4FE-CAFBA3ED7E21}"/>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8-sources">
            <a:extLst xmlns:a="http://schemas.openxmlformats.org/drawingml/2006/main">
              <a:ext uri="{FF2B5EF4-FFF2-40B4-BE49-F238E27FC236}">
                <a16:creationId xmlns:a16="http://schemas.microsoft.com/office/drawing/2014/main" id="{7E444510-F6E4-42CA-B5C8-D86836B2176B}"/>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docs/PRIOR_ART_MATRIX.md; docs/RESEARCH_REVIEW_2026-10-09.md; sources.md</a:t>
            </a:r>
          </a:p>
        </p:txBody>
      </p:sp>
      <p:sp>
        <p:nvSpPr>
          <p:cNvPr id="7" name="s18-footer-rule">
            <a:extLst xmlns:a="http://schemas.openxmlformats.org/drawingml/2006/main">
              <a:ext uri="{FF2B5EF4-FFF2-40B4-BE49-F238E27FC236}">
                <a16:creationId xmlns:a16="http://schemas.microsoft.com/office/drawing/2014/main" id="{D18C9F26-B301-4C05-AF97-0B330D8F48D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8-footer">
            <a:extLst xmlns:a="http://schemas.openxmlformats.org/drawingml/2006/main">
              <a:ext uri="{FF2B5EF4-FFF2-40B4-BE49-F238E27FC236}">
                <a16:creationId xmlns:a16="http://schemas.microsoft.com/office/drawing/2014/main" id="{6E5ECEEC-6E40-49F2-B662-E95F45D13B1C}"/>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8-page">
            <a:extLst xmlns:a="http://schemas.openxmlformats.org/drawingml/2006/main">
              <a:ext uri="{FF2B5EF4-FFF2-40B4-BE49-F238E27FC236}">
                <a16:creationId xmlns:a16="http://schemas.microsoft.com/office/drawing/2014/main" id="{18613318-4CF7-49B8-B625-A406A2BDA5A2}"/>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18</a:t>
            </a:r>
          </a:p>
        </p:txBody>
      </p:sp>
      <p:sp>
        <p:nvSpPr>
          <p:cNvPr id="10" name="limits-supported-panel">
            <a:extLst xmlns:a="http://schemas.openxmlformats.org/drawingml/2006/main">
              <a:ext uri="{FF2B5EF4-FFF2-40B4-BE49-F238E27FC236}">
                <a16:creationId xmlns:a16="http://schemas.microsoft.com/office/drawing/2014/main" id="{F44ACAF3-650D-4B38-9D6F-218336CC6163}"/>
              </a:ext>
            </a:extLst>
          </p:cNvPr>
          <p:cNvSpPr>
            <a:spLocks xmlns:a="http://schemas.openxmlformats.org/drawingml/2006/main" noGrp="1"/>
          </p:cNvSpPr>
          <p:nvPr/>
        </p:nvSpPr>
        <p:spPr>
          <a:xfrm xmlns:a="http://schemas.openxmlformats.org/drawingml/2006/main">
            <a:off x="800100" y="2524125"/>
            <a:ext cx="4953000" cy="2619375"/>
          </a:xfrm>
          <a:prstGeom xmlns:a="http://schemas.openxmlformats.org/drawingml/2006/main" prst="roundRect">
            <a:avLst>
              <a:gd name="adj" fmla="val 2909"/>
            </a:avLst>
          </a:prstGeom>
          <a:solidFill xmlns:a="http://schemas.openxmlformats.org/drawingml/2006/main">
            <a:srgbClr val="1C2638"/>
          </a:solidFill>
          <a:ln xmlns:a="http://schemas.openxmlformats.org/drawingml/2006/main" w="9525">
            <a:solidFill>
              <a:srgbClr val="343D50"/>
            </a:solidFill>
            <a:prstDash val="solid"/>
          </a:ln>
        </p:spPr>
      </p:sp>
      <p:sp>
        <p:nvSpPr>
          <p:cNvPr id="11" name="limits-supported-accent">
            <a:extLst xmlns:a="http://schemas.openxmlformats.org/drawingml/2006/main">
              <a:ext uri="{FF2B5EF4-FFF2-40B4-BE49-F238E27FC236}">
                <a16:creationId xmlns:a16="http://schemas.microsoft.com/office/drawing/2014/main" id="{F6B1430A-B83B-4A6C-8CC5-F2C9BBDD6134}"/>
              </a:ext>
            </a:extLst>
          </p:cNvPr>
          <p:cNvSpPr>
            <a:spLocks xmlns:a="http://schemas.openxmlformats.org/drawingml/2006/main" noGrp="1"/>
          </p:cNvSpPr>
          <p:nvPr/>
        </p:nvSpPr>
        <p:spPr>
          <a:xfrm xmlns:a="http://schemas.openxmlformats.org/drawingml/2006/main">
            <a:off x="800100" y="2524125"/>
            <a:ext cx="57150" cy="2619375"/>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limits-supported-title">
            <a:extLst xmlns:a="http://schemas.openxmlformats.org/drawingml/2006/main">
              <a:ext uri="{FF2B5EF4-FFF2-40B4-BE49-F238E27FC236}">
                <a16:creationId xmlns:a16="http://schemas.microsoft.com/office/drawing/2014/main" id="{25DB55E9-1415-4502-B68D-33E9DE99BA28}"/>
              </a:ext>
            </a:extLst>
          </p:cNvPr>
          <p:cNvSpPr>
            <a:spLocks xmlns:a="http://schemas.openxmlformats.org/drawingml/2006/main" noGrp="1"/>
          </p:cNvSpPr>
          <p:nvPr/>
        </p:nvSpPr>
        <p:spPr>
          <a:xfrm xmlns:a="http://schemas.openxmlformats.org/drawingml/2006/main">
            <a:off x="1009650" y="26955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SUPPORTED ENVELOPE</a:t>
            </a:r>
          </a:p>
        </p:txBody>
      </p:sp>
      <p:sp>
        <p:nvSpPr>
          <p:cNvPr id="13" name="limits-supported-body">
            <a:extLst xmlns:a="http://schemas.openxmlformats.org/drawingml/2006/main">
              <a:ext uri="{FF2B5EF4-FFF2-40B4-BE49-F238E27FC236}">
                <a16:creationId xmlns:a16="http://schemas.microsoft.com/office/drawing/2014/main" id="{ED5C8F1B-7199-4B1C-865B-2F80DCCAA09B}"/>
              </a:ext>
            </a:extLst>
          </p:cNvPr>
          <p:cNvSpPr>
            <a:spLocks xmlns:a="http://schemas.openxmlformats.org/drawingml/2006/main" noGrp="1"/>
          </p:cNvSpPr>
          <p:nvPr/>
        </p:nvSpPr>
        <p:spPr>
          <a:xfrm xmlns:a="http://schemas.openxmlformats.org/drawingml/2006/main">
            <a:off x="1009650" y="3171825"/>
            <a:ext cx="45339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Avenir Next"/>
                <a:ea typeface="Avenir Next"/>
                <a:cs typeface="Avenir Next"/>
              </a:defRPr>
            </a:defPPr>
          </a:lstStyle>
          <a:p xmlns:a="http://schemas.openxmlformats.org/drawingml/2006/main">
            <a:pPr algn="l">
              <a:defRPr sz="1425" b="0" i="0">
                <a:solidFill>
                  <a:srgbClr val="B8C1D1"/>
                </a:solidFill>
                <a:latin typeface="Avenir Next"/>
                <a:ea typeface="Avenir Next"/>
                <a:cs typeface="Avenir Next"/>
              </a:defRPr>
            </a:pPr>
            <a:r>
              <a:rPr sz="1425" b="0" i="0">
                <a:solidFill>
                  <a:srgbClr val="B8C1D1"/>
                </a:solidFill>
                <a:latin typeface="Avenir Next"/>
                <a:ea typeface="Avenir Next"/>
                <a:cs typeface="Avenir Next"/>
              </a:rPr>
              <a:t>Local structural signature check</a:t>
            </a:r>
          </a:p>
          <a:p xmlns:a="http://schemas.openxmlformats.org/drawingml/2006/main">
            <a:pPr algn="l">
              <a:defRPr sz="1425" b="0" i="0">
                <a:solidFill>
                  <a:srgbClr val="B8C1D1"/>
                </a:solidFill>
                <a:latin typeface="Avenir Next"/>
                <a:ea typeface="Avenir Next"/>
                <a:cs typeface="Avenir Next"/>
              </a:defRPr>
            </a:pPr>
            <a:r>
              <a:rPr sz="1425" b="0" i="0">
                <a:solidFill>
                  <a:srgbClr val="B8C1D1"/>
                </a:solidFill>
                <a:latin typeface="Avenir Next"/>
                <a:ea typeface="Avenir Next"/>
                <a:cs typeface="Avenir Next"/>
              </a:rPr>
              <a:t>Unary token bounds under declared caps</a:t>
            </a:r>
          </a:p>
          <a:p xmlns:a="http://schemas.openxmlformats.org/drawingml/2006/main">
            <a:pPr algn="l">
              <a:defRPr sz="1425" b="0" i="0">
                <a:solidFill>
                  <a:srgbClr val="B8C1D1"/>
                </a:solidFill>
                <a:latin typeface="Avenir Next"/>
                <a:ea typeface="Avenir Next"/>
                <a:cs typeface="Avenir Next"/>
              </a:defRPr>
            </a:pPr>
            <a:r>
              <a:rPr sz="1425" b="0" i="0">
                <a:solidFill>
                  <a:srgbClr val="B8C1D1"/>
                </a:solidFill>
                <a:latin typeface="Avenir Next"/>
                <a:ea typeface="Avenir Next"/>
                <a:cs typeface="Avenir Next"/>
              </a:rPr>
              <a:t>Matched two-call alignment for compatible contracts</a:t>
            </a:r>
          </a:p>
        </p:txBody>
      </p:sp>
      <p:sp>
        <p:nvSpPr>
          <p:cNvPr id="14" name="limits-open-panel">
            <a:extLst xmlns:a="http://schemas.openxmlformats.org/drawingml/2006/main">
              <a:ext uri="{FF2B5EF4-FFF2-40B4-BE49-F238E27FC236}">
                <a16:creationId xmlns:a16="http://schemas.microsoft.com/office/drawing/2014/main" id="{BB9B1530-DBDA-4B45-B300-31C13A5150DB}"/>
              </a:ext>
            </a:extLst>
          </p:cNvPr>
          <p:cNvSpPr>
            <a:spLocks xmlns:a="http://schemas.openxmlformats.org/drawingml/2006/main" noGrp="1"/>
          </p:cNvSpPr>
          <p:nvPr/>
        </p:nvSpPr>
        <p:spPr>
          <a:xfrm xmlns:a="http://schemas.openxmlformats.org/drawingml/2006/main">
            <a:off x="6438900" y="2524125"/>
            <a:ext cx="4953000" cy="2619375"/>
          </a:xfrm>
          <a:prstGeom xmlns:a="http://schemas.openxmlformats.org/drawingml/2006/main" prst="roundRect">
            <a:avLst>
              <a:gd name="adj" fmla="val 2909"/>
            </a:avLst>
          </a:prstGeom>
          <a:solidFill xmlns:a="http://schemas.openxmlformats.org/drawingml/2006/main">
            <a:srgbClr val="1C2638"/>
          </a:solidFill>
          <a:ln xmlns:a="http://schemas.openxmlformats.org/drawingml/2006/main" w="9525">
            <a:solidFill>
              <a:srgbClr val="343D50"/>
            </a:solidFill>
            <a:prstDash val="solid"/>
          </a:ln>
        </p:spPr>
      </p:sp>
      <p:sp>
        <p:nvSpPr>
          <p:cNvPr id="15" name="limits-open-accent">
            <a:extLst xmlns:a="http://schemas.openxmlformats.org/drawingml/2006/main">
              <a:ext uri="{FF2B5EF4-FFF2-40B4-BE49-F238E27FC236}">
                <a16:creationId xmlns:a16="http://schemas.microsoft.com/office/drawing/2014/main" id="{E0019B85-BC01-4F48-A936-C60912CBB9A3}"/>
              </a:ext>
            </a:extLst>
          </p:cNvPr>
          <p:cNvSpPr>
            <a:spLocks xmlns:a="http://schemas.openxmlformats.org/drawingml/2006/main" noGrp="1"/>
          </p:cNvSpPr>
          <p:nvPr/>
        </p:nvSpPr>
        <p:spPr>
          <a:xfrm xmlns:a="http://schemas.openxmlformats.org/drawingml/2006/main">
            <a:off x="6438900" y="2524125"/>
            <a:ext cx="57150" cy="2619375"/>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limits-open-title">
            <a:extLst xmlns:a="http://schemas.openxmlformats.org/drawingml/2006/main">
              <a:ext uri="{FF2B5EF4-FFF2-40B4-BE49-F238E27FC236}">
                <a16:creationId xmlns:a16="http://schemas.microsoft.com/office/drawing/2014/main" id="{37319579-3DFD-453B-B18F-83A729343765}"/>
              </a:ext>
            </a:extLst>
          </p:cNvPr>
          <p:cNvSpPr>
            <a:spLocks xmlns:a="http://schemas.openxmlformats.org/drawingml/2006/main" noGrp="1"/>
          </p:cNvSpPr>
          <p:nvPr/>
        </p:nvSpPr>
        <p:spPr>
          <a:xfrm xmlns:a="http://schemas.openxmlformats.org/drawingml/2006/main">
            <a:off x="6648450" y="26955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OPEN / ASSUMPTIONS</a:t>
            </a:r>
          </a:p>
        </p:txBody>
      </p:sp>
      <p:sp>
        <p:nvSpPr>
          <p:cNvPr id="17" name="limits-open-body">
            <a:extLst xmlns:a="http://schemas.openxmlformats.org/drawingml/2006/main">
              <a:ext uri="{FF2B5EF4-FFF2-40B4-BE49-F238E27FC236}">
                <a16:creationId xmlns:a16="http://schemas.microsoft.com/office/drawing/2014/main" id="{35892A81-40C7-47E1-94AD-FF2F6DB5E608}"/>
              </a:ext>
            </a:extLst>
          </p:cNvPr>
          <p:cNvSpPr>
            <a:spLocks xmlns:a="http://schemas.openxmlformats.org/drawingml/2006/main" noGrp="1"/>
          </p:cNvSpPr>
          <p:nvPr/>
        </p:nvSpPr>
        <p:spPr>
          <a:xfrm xmlns:a="http://schemas.openxmlformats.org/drawingml/2006/main">
            <a:off x="6648450" y="3171825"/>
            <a:ext cx="45339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Certificate withholds workflow claim on declassification</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Full provider payload and real tokenizers</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Incomplete rule; three mock precision probes</a:t>
            </a:r>
          </a:p>
        </p:txBody>
      </p:sp>
      <p:sp>
        <p:nvSpPr>
          <p:cNvPr id="18" name="limits-close">
            <a:extLst xmlns:a="http://schemas.openxmlformats.org/drawingml/2006/main">
              <a:ext uri="{FF2B5EF4-FFF2-40B4-BE49-F238E27FC236}">
                <a16:creationId xmlns:a16="http://schemas.microsoft.com/office/drawing/2014/main" id="{FF63B4EF-F474-450D-B63B-8AE459A9D5C2}"/>
              </a:ext>
            </a:extLst>
          </p:cNvPr>
          <p:cNvSpPr>
            <a:spLocks xmlns:a="http://schemas.openxmlformats.org/drawingml/2006/main" noGrp="1"/>
          </p:cNvSpPr>
          <p:nvPr/>
        </p:nvSpPr>
        <p:spPr>
          <a:xfrm xmlns:a="http://schemas.openxmlformats.org/drawingml/2006/main">
            <a:off x="1095375" y="53721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i="0">
                <a:solidFill>
                  <a:srgbClr val="F5F2EA"/>
                </a:solidFill>
                <a:latin typeface="Avenir Next"/>
                <a:ea typeface="Avenir Next"/>
                <a:cs typeface="Avenir Next"/>
              </a:defRPr>
            </a:defPPr>
          </a:lstStyle>
          <a:p xmlns:a="http://schemas.openxmlformats.org/drawingml/2006/main">
            <a:pPr algn="ctr">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A useful guarantee starts by naming exactly what is observed and compared.</a:t>
            </a:r>
          </a:p>
        </p:txBody>
      </p:sp>
    </p:spTree>
    <p:extLst>
      <p:ext uri="{BB962C8B-B14F-4D97-AF65-F5344CB8AC3E}">
        <p14:creationId xmlns:p14="http://schemas.microsoft.com/office/powerpoint/2010/main" val="1209241874"/>
      </p:ext>
    </p:extLst>
  </p:cSld>
</p:sld>
</file>

<file path=ppt/slides/slide1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s19-brand">
            <a:extLst xmlns:a="http://schemas.openxmlformats.org/drawingml/2006/main">
              <a:ext uri="{FF2B5EF4-FFF2-40B4-BE49-F238E27FC236}">
                <a16:creationId xmlns:a16="http://schemas.microsoft.com/office/drawing/2014/main" id="{091EBCD6-37F8-48F0-B256-66F292CFA6F6}"/>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9-section">
            <a:extLst xmlns:a="http://schemas.openxmlformats.org/drawingml/2006/main">
              <a:ext uri="{FF2B5EF4-FFF2-40B4-BE49-F238E27FC236}">
                <a16:creationId xmlns:a16="http://schemas.microsoft.com/office/drawing/2014/main" id="{7C614740-F0A3-435D-A410-66B9DFCEC1F2}"/>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A1</a:t>
            </a:r>
          </a:p>
        </p:txBody>
      </p:sp>
      <p:sp>
        <p:nvSpPr>
          <p:cNvPr id="3" name="s19-title">
            <a:extLst xmlns:a="http://schemas.openxmlformats.org/drawingml/2006/main">
              <a:ext uri="{FF2B5EF4-FFF2-40B4-BE49-F238E27FC236}">
                <a16:creationId xmlns:a16="http://schemas.microsoft.com/office/drawing/2014/main" id="{5DAAF673-4BCA-411B-AAF6-8B74C706A813}"/>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Formal observation and paired-run relation</a:t>
            </a:r>
          </a:p>
        </p:txBody>
      </p:sp>
      <p:sp>
        <p:nvSpPr>
          <p:cNvPr id="4" name="s19-source-rule">
            <a:extLst xmlns:a="http://schemas.openxmlformats.org/drawingml/2006/main">
              <a:ext uri="{FF2B5EF4-FFF2-40B4-BE49-F238E27FC236}">
                <a16:creationId xmlns:a16="http://schemas.microsoft.com/office/drawing/2014/main" id="{807ADB8E-A337-40F1-9B4E-92925884BCC8}"/>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19-sources">
            <a:extLst xmlns:a="http://schemas.openxmlformats.org/drawingml/2006/main">
              <a:ext uri="{FF2B5EF4-FFF2-40B4-BE49-F238E27FC236}">
                <a16:creationId xmlns:a16="http://schemas.microsoft.com/office/drawing/2014/main" id="{3E67C0B0-525A-4026-B235-025194338FCB}"/>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docs/PAPER.md; src/interpreter.cpp; bench/evaluate_sourced.py</a:t>
            </a:r>
          </a:p>
        </p:txBody>
      </p:sp>
      <p:sp>
        <p:nvSpPr>
          <p:cNvPr id="6" name="s19-footer-rule">
            <a:extLst xmlns:a="http://schemas.openxmlformats.org/drawingml/2006/main">
              <a:ext uri="{FF2B5EF4-FFF2-40B4-BE49-F238E27FC236}">
                <a16:creationId xmlns:a16="http://schemas.microsoft.com/office/drawing/2014/main" id="{638621FF-47F9-4F98-9751-16B74C4647B3}"/>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19-footer">
            <a:extLst xmlns:a="http://schemas.openxmlformats.org/drawingml/2006/main">
              <a:ext uri="{FF2B5EF4-FFF2-40B4-BE49-F238E27FC236}">
                <a16:creationId xmlns:a16="http://schemas.microsoft.com/office/drawing/2014/main" id="{CCD0FA9B-2E44-4A55-8A51-D208912CD38F}"/>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19-page">
            <a:extLst xmlns:a="http://schemas.openxmlformats.org/drawingml/2006/main">
              <a:ext uri="{FF2B5EF4-FFF2-40B4-BE49-F238E27FC236}">
                <a16:creationId xmlns:a16="http://schemas.microsoft.com/office/drawing/2014/main" id="{DC1DB54B-C8B8-4A52-B28D-ABC8511E6A57}"/>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A1</a:t>
            </a:r>
          </a:p>
        </p:txBody>
      </p:sp>
      <p:sp>
        <p:nvSpPr>
          <p:cNvPr id="9" name="app-19-0-panel">
            <a:extLst xmlns:a="http://schemas.openxmlformats.org/drawingml/2006/main">
              <a:ext uri="{FF2B5EF4-FFF2-40B4-BE49-F238E27FC236}">
                <a16:creationId xmlns:a16="http://schemas.microsoft.com/office/drawing/2014/main" id="{1E6B2DF9-6C5B-4883-A2FD-6E68A780B3C5}"/>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0" name="app-19-0-accent">
            <a:extLst xmlns:a="http://schemas.openxmlformats.org/drawingml/2006/main">
              <a:ext uri="{FF2B5EF4-FFF2-40B4-BE49-F238E27FC236}">
                <a16:creationId xmlns:a16="http://schemas.microsoft.com/office/drawing/2014/main" id="{379FC33F-FDCB-4D0B-B770-75D2D60531DF}"/>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19-0-title">
            <a:extLst xmlns:a="http://schemas.openxmlformats.org/drawingml/2006/main">
              <a:ext uri="{FF2B5EF4-FFF2-40B4-BE49-F238E27FC236}">
                <a16:creationId xmlns:a16="http://schemas.microsoft.com/office/drawing/2014/main" id="{9996E02C-F8E1-41C0-85ED-4F3CADCDD41D}"/>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Observation function</a:t>
            </a:r>
          </a:p>
        </p:txBody>
      </p:sp>
      <p:sp>
        <p:nvSpPr>
          <p:cNvPr id="12" name="app-19-0-body">
            <a:extLst xmlns:a="http://schemas.openxmlformats.org/drawingml/2006/main">
              <a:ext uri="{FF2B5EF4-FFF2-40B4-BE49-F238E27FC236}">
                <a16:creationId xmlns:a16="http://schemas.microsoft.com/office/drawing/2014/main" id="{D30A3017-3151-471E-845D-F9229CF7718C}"/>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Per-model input tokens, output tokens, and call count.</a:t>
            </a:r>
          </a:p>
        </p:txBody>
      </p:sp>
      <p:sp>
        <p:nvSpPr>
          <p:cNvPr id="13" name="app-19-1-panel">
            <a:extLst xmlns:a="http://schemas.openxmlformats.org/drawingml/2006/main">
              <a:ext uri="{FF2B5EF4-FFF2-40B4-BE49-F238E27FC236}">
                <a16:creationId xmlns:a16="http://schemas.microsoft.com/office/drawing/2014/main" id="{A6589415-6FCD-4D40-A766-75DFBB0740E1}"/>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4" name="app-19-1-accent">
            <a:extLst xmlns:a="http://schemas.openxmlformats.org/drawingml/2006/main">
              <a:ext uri="{FF2B5EF4-FFF2-40B4-BE49-F238E27FC236}">
                <a16:creationId xmlns:a16="http://schemas.microsoft.com/office/drawing/2014/main" id="{39EF8B2C-4379-489C-B52D-36339E1B2CE9}"/>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19-1-title">
            <a:extLst xmlns:a="http://schemas.openxmlformats.org/drawingml/2006/main">
              <a:ext uri="{FF2B5EF4-FFF2-40B4-BE49-F238E27FC236}">
                <a16:creationId xmlns:a16="http://schemas.microsoft.com/office/drawing/2014/main" id="{723D87E7-84F8-458D-9ACF-40AAFCC52BE3}"/>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Public-input equality</a:t>
            </a:r>
          </a:p>
        </p:txBody>
      </p:sp>
      <p:sp>
        <p:nvSpPr>
          <p:cNvPr id="16" name="app-19-1-body">
            <a:extLst xmlns:a="http://schemas.openxmlformats.org/drawingml/2006/main">
              <a:ext uri="{FF2B5EF4-FFF2-40B4-BE49-F238E27FC236}">
                <a16:creationId xmlns:a16="http://schemas.microsoft.com/office/drawing/2014/main" id="{9D5263AB-94E1-4DED-8566-3CC2BC9C05BD}"/>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Corresponding public bindings carry equal values.</a:t>
            </a:r>
          </a:p>
        </p:txBody>
      </p:sp>
      <p:sp>
        <p:nvSpPr>
          <p:cNvPr id="17" name="app-19-2-panel">
            <a:extLst xmlns:a="http://schemas.openxmlformats.org/drawingml/2006/main">
              <a:ext uri="{FF2B5EF4-FFF2-40B4-BE49-F238E27FC236}">
                <a16:creationId xmlns:a16="http://schemas.microsoft.com/office/drawing/2014/main" id="{857FD52A-0A8C-4F92-A4D5-4807D98768FE}"/>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8" name="app-19-2-accent">
            <a:extLst xmlns:a="http://schemas.openxmlformats.org/drawingml/2006/main">
              <a:ext uri="{FF2B5EF4-FFF2-40B4-BE49-F238E27FC236}">
                <a16:creationId xmlns:a16="http://schemas.microsoft.com/office/drawing/2014/main" id="{2244FEB8-1168-4339-B6F7-FBAD2041E2D3}"/>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19-2-title">
            <a:extLst xmlns:a="http://schemas.openxmlformats.org/drawingml/2006/main">
              <a:ext uri="{FF2B5EF4-FFF2-40B4-BE49-F238E27FC236}">
                <a16:creationId xmlns:a16="http://schemas.microsoft.com/office/drawing/2014/main" id="{58AF95F3-5225-4CDF-AD84-86D68BE33EFA}"/>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Secret variation</a:t>
            </a:r>
          </a:p>
        </p:txBody>
      </p:sp>
      <p:sp>
        <p:nvSpPr>
          <p:cNvPr id="20" name="app-19-2-body">
            <a:extLst xmlns:a="http://schemas.openxmlformats.org/drawingml/2006/main">
              <a:ext uri="{FF2B5EF4-FFF2-40B4-BE49-F238E27FC236}">
                <a16:creationId xmlns:a16="http://schemas.microsoft.com/office/drawing/2014/main" id="{0FFC53CC-FA24-4C04-A52F-CD348C021CB5}"/>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The compared runs may differ in secret bindings.</a:t>
            </a:r>
          </a:p>
        </p:txBody>
      </p:sp>
      <p:sp>
        <p:nvSpPr>
          <p:cNvPr id="21" name="app-19-3-panel">
            <a:extLst xmlns:a="http://schemas.openxmlformats.org/drawingml/2006/main">
              <a:ext uri="{FF2B5EF4-FFF2-40B4-BE49-F238E27FC236}">
                <a16:creationId xmlns:a16="http://schemas.microsoft.com/office/drawing/2014/main" id="{E705DC21-5C4D-469B-BE63-61F4D49B3A70}"/>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2" name="app-19-3-accent">
            <a:extLst xmlns:a="http://schemas.openxmlformats.org/drawingml/2006/main">
              <a:ext uri="{FF2B5EF4-FFF2-40B4-BE49-F238E27FC236}">
                <a16:creationId xmlns:a16="http://schemas.microsoft.com/office/drawing/2014/main" id="{BF83A0F5-C2FF-4E14-9030-D2F057DF7479}"/>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19-3-title">
            <a:extLst xmlns:a="http://schemas.openxmlformats.org/drawingml/2006/main">
              <a:ext uri="{FF2B5EF4-FFF2-40B4-BE49-F238E27FC236}">
                <a16:creationId xmlns:a16="http://schemas.microsoft.com/office/drawing/2014/main" id="{DC6E69ED-9CA4-4A23-95F0-8A9CC933AE7D}"/>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Oracle coupling</a:t>
            </a:r>
          </a:p>
        </p:txBody>
      </p:sp>
      <p:sp>
        <p:nvSpPr>
          <p:cNvPr id="24" name="app-19-3-body">
            <a:extLst xmlns:a="http://schemas.openxmlformats.org/drawingml/2006/main">
              <a:ext uri="{FF2B5EF4-FFF2-40B4-BE49-F238E27FC236}">
                <a16:creationId xmlns:a16="http://schemas.microsoft.com/office/drawing/2014/main" id="{A9EE12C4-67C2-4C00-8091-28AE3818C03F}"/>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Theorem: Ω(contract, index, DSL request); both modes use the same grid.</a:t>
            </a:r>
          </a:p>
        </p:txBody>
      </p:sp>
      <p:sp>
        <p:nvSpPr>
          <p:cNvPr id="25" name="app-19-4-panel">
            <a:extLst xmlns:a="http://schemas.openxmlformats.org/drawingml/2006/main">
              <a:ext uri="{FF2B5EF4-FFF2-40B4-BE49-F238E27FC236}">
                <a16:creationId xmlns:a16="http://schemas.microsoft.com/office/drawing/2014/main" id="{FBED079D-A397-4649-BCA1-3B00EA827DAC}"/>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6" name="app-19-4-accent">
            <a:extLst xmlns:a="http://schemas.openxmlformats.org/drawingml/2006/main">
              <a:ext uri="{FF2B5EF4-FFF2-40B4-BE49-F238E27FC236}">
                <a16:creationId xmlns:a16="http://schemas.microsoft.com/office/drawing/2014/main" id="{B857EB2F-2069-4D83-8995-4AE815079640}"/>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19-4-title">
            <a:extLst xmlns:a="http://schemas.openxmlformats.org/drawingml/2006/main">
              <a:ext uri="{FF2B5EF4-FFF2-40B4-BE49-F238E27FC236}">
                <a16:creationId xmlns:a16="http://schemas.microsoft.com/office/drawing/2014/main" id="{1D33A7C0-0E9D-48F6-BD20-31A07D813067}"/>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Theorem and limits</a:t>
            </a:r>
          </a:p>
        </p:txBody>
      </p:sp>
      <p:sp>
        <p:nvSpPr>
          <p:cNvPr id="28" name="app-19-4-body">
            <a:extLst xmlns:a="http://schemas.openxmlformats.org/drawingml/2006/main">
              <a:ext uri="{FF2B5EF4-FFF2-40B4-BE49-F238E27FC236}">
                <a16:creationId xmlns:a16="http://schemas.microsoft.com/office/drawing/2014/main" id="{FD69C9C3-D4FA-45FF-861C-C805D5ABE517}"/>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No declassification; pen-and-paper proof sketch is not mechanized.</a:t>
            </a:r>
          </a:p>
        </p:txBody>
      </p:sp>
    </p:spTree>
    <p:extLst>
      <p:ext uri="{BB962C8B-B14F-4D97-AF65-F5344CB8AC3E}">
        <p14:creationId xmlns:p14="http://schemas.microsoft.com/office/powerpoint/2010/main" val="765136559"/>
      </p:ext>
    </p:extLst>
  </p:cSld>
</p:sld>
</file>

<file path=ppt/slides/slide20.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9" name="s20-brand">
            <a:extLst xmlns:a="http://schemas.openxmlformats.org/drawingml/2006/main">
              <a:ext uri="{FF2B5EF4-FFF2-40B4-BE49-F238E27FC236}">
                <a16:creationId xmlns:a16="http://schemas.microsoft.com/office/drawing/2014/main" id="{3AD16A39-9369-4B07-9F6E-260EFA64DA7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0-section">
            <a:extLst xmlns:a="http://schemas.openxmlformats.org/drawingml/2006/main">
              <a:ext uri="{FF2B5EF4-FFF2-40B4-BE49-F238E27FC236}">
                <a16:creationId xmlns:a16="http://schemas.microsoft.com/office/drawing/2014/main" id="{9413525A-1E0F-4AE0-B232-7508D1ECBE91}"/>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A2</a:t>
            </a:r>
          </a:p>
        </p:txBody>
      </p:sp>
      <p:sp>
        <p:nvSpPr>
          <p:cNvPr id="3" name="s20-title">
            <a:extLst xmlns:a="http://schemas.openxmlformats.org/drawingml/2006/main">
              <a:ext uri="{FF2B5EF4-FFF2-40B4-BE49-F238E27FC236}">
                <a16:creationId xmlns:a16="http://schemas.microsoft.com/office/drawing/2014/main" id="{F2DE6EA3-121D-4D63-9E96-EBD298CC9298}"/>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Signature grammar and transfer rules</a:t>
            </a:r>
          </a:p>
        </p:txBody>
      </p:sp>
      <p:sp>
        <p:nvSpPr>
          <p:cNvPr id="4" name="s20-source-rule">
            <a:extLst xmlns:a="http://schemas.openxmlformats.org/drawingml/2006/main">
              <a:ext uri="{FF2B5EF4-FFF2-40B4-BE49-F238E27FC236}">
                <a16:creationId xmlns:a16="http://schemas.microsoft.com/office/drawing/2014/main" id="{A050C633-C30F-4A8A-9773-FF2511A2D723}"/>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20-sources">
            <a:extLst xmlns:a="http://schemas.openxmlformats.org/drawingml/2006/main">
              <a:ext uri="{FF2B5EF4-FFF2-40B4-BE49-F238E27FC236}">
                <a16:creationId xmlns:a16="http://schemas.microsoft.com/office/drawing/2014/main" id="{9B692BD9-5AA0-4904-AC80-FD56B45F4D03}"/>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include/semantic_analyzer.hpp; include/relational.hpp; src/relational.cpp</a:t>
            </a:r>
          </a:p>
        </p:txBody>
      </p:sp>
      <p:sp>
        <p:nvSpPr>
          <p:cNvPr id="6" name="s20-footer-rule">
            <a:extLst xmlns:a="http://schemas.openxmlformats.org/drawingml/2006/main">
              <a:ext uri="{FF2B5EF4-FFF2-40B4-BE49-F238E27FC236}">
                <a16:creationId xmlns:a16="http://schemas.microsoft.com/office/drawing/2014/main" id="{B2E4C3DC-A1AC-46A9-8630-5E868B2B094C}"/>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20-footer">
            <a:extLst xmlns:a="http://schemas.openxmlformats.org/drawingml/2006/main">
              <a:ext uri="{FF2B5EF4-FFF2-40B4-BE49-F238E27FC236}">
                <a16:creationId xmlns:a16="http://schemas.microsoft.com/office/drawing/2014/main" id="{DB72E85F-B4FE-484E-94F1-7D21DAF15499}"/>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20-page">
            <a:extLst xmlns:a="http://schemas.openxmlformats.org/drawingml/2006/main">
              <a:ext uri="{FF2B5EF4-FFF2-40B4-BE49-F238E27FC236}">
                <a16:creationId xmlns:a16="http://schemas.microsoft.com/office/drawing/2014/main" id="{44747FB2-4637-4DF8-AF6A-5C91954C37ED}"/>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A2</a:t>
            </a:r>
          </a:p>
        </p:txBody>
      </p:sp>
      <p:sp>
        <p:nvSpPr>
          <p:cNvPr id="9" name="app-20-0-panel">
            <a:extLst xmlns:a="http://schemas.openxmlformats.org/drawingml/2006/main">
              <a:ext uri="{FF2B5EF4-FFF2-40B4-BE49-F238E27FC236}">
                <a16:creationId xmlns:a16="http://schemas.microsoft.com/office/drawing/2014/main" id="{B70A8D5A-600D-4D58-8E32-E03F3B167B9C}"/>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0" name="app-20-0-accent">
            <a:extLst xmlns:a="http://schemas.openxmlformats.org/drawingml/2006/main">
              <a:ext uri="{FF2B5EF4-FFF2-40B4-BE49-F238E27FC236}">
                <a16:creationId xmlns:a16="http://schemas.microsoft.com/office/drawing/2014/main" id="{8BF72891-2987-4F62-8637-A129BA7E7B49}"/>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0-0-title">
            <a:extLst xmlns:a="http://schemas.openxmlformats.org/drawingml/2006/main">
              <a:ext uri="{FF2B5EF4-FFF2-40B4-BE49-F238E27FC236}">
                <a16:creationId xmlns:a16="http://schemas.microsoft.com/office/drawing/2014/main" id="{1B387956-8A17-42AB-84E1-BFCBEA8766EE}"/>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Resolved model contract</a:t>
            </a:r>
          </a:p>
        </p:txBody>
      </p:sp>
      <p:sp>
        <p:nvSpPr>
          <p:cNvPr id="12" name="app-20-0-body">
            <a:extLst xmlns:a="http://schemas.openxmlformats.org/drawingml/2006/main">
              <a:ext uri="{FF2B5EF4-FFF2-40B4-BE49-F238E27FC236}">
                <a16:creationId xmlns:a16="http://schemas.microsoft.com/office/drawing/2014/main" id="{1FF7541B-C282-4259-8904-9FF18D79BE74}"/>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Provider, model, output cap, and configured unit price.</a:t>
            </a:r>
          </a:p>
        </p:txBody>
      </p:sp>
      <p:sp>
        <p:nvSpPr>
          <p:cNvPr id="13" name="app-20-1-panel">
            <a:extLst xmlns:a="http://schemas.openxmlformats.org/drawingml/2006/main">
              <a:ext uri="{FF2B5EF4-FFF2-40B4-BE49-F238E27FC236}">
                <a16:creationId xmlns:a16="http://schemas.microsoft.com/office/drawing/2014/main" id="{27DC8E2E-6DFB-4158-B018-7EE825872CFE}"/>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4" name="app-20-1-accent">
            <a:extLst xmlns:a="http://schemas.openxmlformats.org/drawingml/2006/main">
              <a:ext uri="{FF2B5EF4-FFF2-40B4-BE49-F238E27FC236}">
                <a16:creationId xmlns:a16="http://schemas.microsoft.com/office/drawing/2014/main" id="{F9B56CA4-3EC6-4769-A9DA-739910B76708}"/>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0-1-title">
            <a:extLst xmlns:a="http://schemas.openxmlformats.org/drawingml/2006/main">
              <a:ext uri="{FF2B5EF4-FFF2-40B4-BE49-F238E27FC236}">
                <a16:creationId xmlns:a16="http://schemas.microsoft.com/office/drawing/2014/main" id="{ACD7DE5D-F56E-41A5-9E8D-8F3D597AAEC1}"/>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Exact template and arguments</a:t>
            </a:r>
          </a:p>
        </p:txBody>
      </p:sp>
      <p:sp>
        <p:nvSpPr>
          <p:cNvPr id="16" name="app-20-1-body">
            <a:extLst xmlns:a="http://schemas.openxmlformats.org/drawingml/2006/main">
              <a:ext uri="{FF2B5EF4-FFF2-40B4-BE49-F238E27FC236}">
                <a16:creationId xmlns:a16="http://schemas.microsoft.com/office/drawing/2014/main" id="{F9808DE8-A7E8-4D0D-B63E-58B7E0DBEC4E}"/>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Decoded template bytes plus ordered literal/value atoms.</a:t>
            </a:r>
          </a:p>
        </p:txBody>
      </p:sp>
      <p:sp>
        <p:nvSpPr>
          <p:cNvPr id="17" name="app-20-2-panel">
            <a:extLst xmlns:a="http://schemas.openxmlformats.org/drawingml/2006/main">
              <a:ext uri="{FF2B5EF4-FFF2-40B4-BE49-F238E27FC236}">
                <a16:creationId xmlns:a16="http://schemas.microsoft.com/office/drawing/2014/main" id="{C52AA6F7-F992-4BEE-A303-AD139DBE92ED}"/>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8" name="app-20-2-accent">
            <a:extLst xmlns:a="http://schemas.openxmlformats.org/drawingml/2006/main">
              <a:ext uri="{FF2B5EF4-FFF2-40B4-BE49-F238E27FC236}">
                <a16:creationId xmlns:a16="http://schemas.microsoft.com/office/drawing/2014/main" id="{AFA20B13-FDFA-4BF5-981A-DEF1E82F67C0}"/>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0-2-title">
            <a:extLst xmlns:a="http://schemas.openxmlformats.org/drawingml/2006/main">
              <a:ext uri="{FF2B5EF4-FFF2-40B4-BE49-F238E27FC236}">
                <a16:creationId xmlns:a16="http://schemas.microsoft.com/office/drawing/2014/main" id="{9FD0DC10-4059-4E68-8A13-95119C7C90F1}"/>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Outer / prior-result identity</a:t>
            </a:r>
          </a:p>
        </p:txBody>
      </p:sp>
      <p:sp>
        <p:nvSpPr>
          <p:cNvPr id="20" name="app-20-2-body">
            <a:extLst xmlns:a="http://schemas.openxmlformats.org/drawingml/2006/main">
              <a:ext uri="{FF2B5EF4-FFF2-40B4-BE49-F238E27FC236}">
                <a16:creationId xmlns:a16="http://schemas.microsoft.com/office/drawing/2014/main" id="{C004119F-A8FB-4E2B-9104-CD06B0D2DECD}"/>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Outer bindings compare by identity; earlier results by position.</a:t>
            </a:r>
          </a:p>
        </p:txBody>
      </p:sp>
      <p:sp>
        <p:nvSpPr>
          <p:cNvPr id="21" name="app-20-3-panel">
            <a:extLst xmlns:a="http://schemas.openxmlformats.org/drawingml/2006/main">
              <a:ext uri="{FF2B5EF4-FFF2-40B4-BE49-F238E27FC236}">
                <a16:creationId xmlns:a16="http://schemas.microsoft.com/office/drawing/2014/main" id="{D40E9DAD-FD0A-4BED-9749-BE5CA91BF885}"/>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2" name="app-20-3-accent">
            <a:extLst xmlns:a="http://schemas.openxmlformats.org/drawingml/2006/main">
              <a:ext uri="{FF2B5EF4-FFF2-40B4-BE49-F238E27FC236}">
                <a16:creationId xmlns:a16="http://schemas.microsoft.com/office/drawing/2014/main" id="{ADB7F088-C0FE-4D94-B871-B906EFAD92DC}"/>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0-3-title">
            <a:extLst xmlns:a="http://schemas.openxmlformats.org/drawingml/2006/main">
              <a:ext uri="{FF2B5EF4-FFF2-40B4-BE49-F238E27FC236}">
                <a16:creationId xmlns:a16="http://schemas.microsoft.com/office/drawing/2014/main" id="{9A32B5A4-5865-4999-B5B0-5FDC15587790}"/>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Default and opt-in oracle</a:t>
            </a:r>
          </a:p>
        </p:txBody>
      </p:sp>
      <p:sp>
        <p:nvSpPr>
          <p:cNvPr id="24" name="app-20-3-body">
            <a:extLst xmlns:a="http://schemas.openxmlformats.org/drawingml/2006/main">
              <a:ext uri="{FF2B5EF4-FFF2-40B4-BE49-F238E27FC236}">
                <a16:creationId xmlns:a16="http://schemas.microsoft.com/office/drawing/2014/main" id="{9FDD5787-D957-483A-A790-6B752F2CE0B7}"/>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Default key is contract/index; opt-in adds framed request identity.</a:t>
            </a:r>
          </a:p>
        </p:txBody>
      </p:sp>
      <p:sp>
        <p:nvSpPr>
          <p:cNvPr id="25" name="app-20-4-panel">
            <a:extLst xmlns:a="http://schemas.openxmlformats.org/drawingml/2006/main">
              <a:ext uri="{FF2B5EF4-FFF2-40B4-BE49-F238E27FC236}">
                <a16:creationId xmlns:a16="http://schemas.microsoft.com/office/drawing/2014/main" id="{FCCA565C-90F7-49CE-8063-DEBF49A4D8A6}"/>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6" name="app-20-4-accent">
            <a:extLst xmlns:a="http://schemas.openxmlformats.org/drawingml/2006/main">
              <a:ext uri="{FF2B5EF4-FFF2-40B4-BE49-F238E27FC236}">
                <a16:creationId xmlns:a16="http://schemas.microsoft.com/office/drawing/2014/main" id="{86A9C12E-579E-43B8-A327-854506A92205}"/>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0-4-title">
            <a:extLst xmlns:a="http://schemas.openxmlformats.org/drawingml/2006/main">
              <a:ext uri="{FF2B5EF4-FFF2-40B4-BE49-F238E27FC236}">
                <a16:creationId xmlns:a16="http://schemas.microsoft.com/office/drawing/2014/main" id="{AE1E67B9-B0FB-4266-B972-79F0405B4044}"/>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Branch transfer and release scope</a:t>
            </a:r>
          </a:p>
        </p:txBody>
      </p:sp>
      <p:sp>
        <p:nvSpPr>
          <p:cNvPr id="28" name="app-20-4-body">
            <a:extLst xmlns:a="http://schemas.openxmlformats.org/drawingml/2006/main">
              <a:ext uri="{FF2B5EF4-FFF2-40B4-BE49-F238E27FC236}">
                <a16:creationId xmlns:a16="http://schemas.microsoft.com/office/drawing/2014/main" id="{5D1DBF4B-9F13-4D49-9F09-BE7C691ECE39}"/>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Local check only; certificate withholds claim on declassification.</a:t>
            </a:r>
          </a:p>
        </p:txBody>
      </p:sp>
    </p:spTree>
    <p:extLst>
      <p:ext uri="{BB962C8B-B14F-4D97-AF65-F5344CB8AC3E}">
        <p14:creationId xmlns:p14="http://schemas.microsoft.com/office/powerpoint/2010/main" val="891959456"/>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s21-brand">
            <a:extLst xmlns:a="http://schemas.openxmlformats.org/drawingml/2006/main">
              <a:ext uri="{FF2B5EF4-FFF2-40B4-BE49-F238E27FC236}">
                <a16:creationId xmlns:a16="http://schemas.microsoft.com/office/drawing/2014/main" id="{AB156AA4-9B6D-47B5-B604-11E8B719720E}"/>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1-section">
            <a:extLst xmlns:a="http://schemas.openxmlformats.org/drawingml/2006/main">
              <a:ext uri="{FF2B5EF4-FFF2-40B4-BE49-F238E27FC236}">
                <a16:creationId xmlns:a16="http://schemas.microsoft.com/office/drawing/2014/main" id="{CD008F58-6F55-4CB2-9F34-99827170B2F9}"/>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A3</a:t>
            </a:r>
          </a:p>
        </p:txBody>
      </p:sp>
      <p:sp>
        <p:nvSpPr>
          <p:cNvPr id="3" name="s21-title">
            <a:extLst xmlns:a="http://schemas.openxmlformats.org/drawingml/2006/main">
              <a:ext uri="{FF2B5EF4-FFF2-40B4-BE49-F238E27FC236}">
                <a16:creationId xmlns:a16="http://schemas.microsoft.com/office/drawing/2014/main" id="{862FB1D8-BC7E-4B70-885E-02BBC79C94D6}"/>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Unary bounds and their assumptions</a:t>
            </a:r>
          </a:p>
        </p:txBody>
      </p:sp>
      <p:sp>
        <p:nvSpPr>
          <p:cNvPr id="4" name="s21-source-rule">
            <a:extLst xmlns:a="http://schemas.openxmlformats.org/drawingml/2006/main">
              <a:ext uri="{FF2B5EF4-FFF2-40B4-BE49-F238E27FC236}">
                <a16:creationId xmlns:a16="http://schemas.microsoft.com/office/drawing/2014/main" id="{090B33B1-4160-4B79-9983-A6B509657800}"/>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21-sources">
            <a:extLst xmlns:a="http://schemas.openxmlformats.org/drawingml/2006/main">
              <a:ext uri="{FF2B5EF4-FFF2-40B4-BE49-F238E27FC236}">
                <a16:creationId xmlns:a16="http://schemas.microsoft.com/office/drawing/2014/main" id="{8BE4A520-4BBF-4164-A42E-E7A036B82A83}"/>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include/semantic_analyzer.hpp; src/semantic_analyzer.cpp; src/cost_analyzer.cpp; src/certificate.cpp</a:t>
            </a:r>
          </a:p>
        </p:txBody>
      </p:sp>
      <p:sp>
        <p:nvSpPr>
          <p:cNvPr id="6" name="s21-footer-rule">
            <a:extLst xmlns:a="http://schemas.openxmlformats.org/drawingml/2006/main">
              <a:ext uri="{FF2B5EF4-FFF2-40B4-BE49-F238E27FC236}">
                <a16:creationId xmlns:a16="http://schemas.microsoft.com/office/drawing/2014/main" id="{2AA52DBA-434E-4147-8E47-ADB2CB9FE34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21-footer">
            <a:extLst xmlns:a="http://schemas.openxmlformats.org/drawingml/2006/main">
              <a:ext uri="{FF2B5EF4-FFF2-40B4-BE49-F238E27FC236}">
                <a16:creationId xmlns:a16="http://schemas.microsoft.com/office/drawing/2014/main" id="{0912A840-4517-43E5-9F7F-334A16B5EA55}"/>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21-page">
            <a:extLst xmlns:a="http://schemas.openxmlformats.org/drawingml/2006/main">
              <a:ext uri="{FF2B5EF4-FFF2-40B4-BE49-F238E27FC236}">
                <a16:creationId xmlns:a16="http://schemas.microsoft.com/office/drawing/2014/main" id="{3DEDDB6E-C1CC-4952-9C94-8065894C00E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A3</a:t>
            </a:r>
          </a:p>
        </p:txBody>
      </p:sp>
      <p:sp>
        <p:nvSpPr>
          <p:cNvPr id="9" name="app-21-0-panel">
            <a:extLst xmlns:a="http://schemas.openxmlformats.org/drawingml/2006/main">
              <a:ext uri="{FF2B5EF4-FFF2-40B4-BE49-F238E27FC236}">
                <a16:creationId xmlns:a16="http://schemas.microsoft.com/office/drawing/2014/main" id="{B3E0CCB4-057F-4510-A68F-C0D8F8491D33}"/>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0" name="app-21-0-accent">
            <a:extLst xmlns:a="http://schemas.openxmlformats.org/drawingml/2006/main">
              <a:ext uri="{FF2B5EF4-FFF2-40B4-BE49-F238E27FC236}">
                <a16:creationId xmlns:a16="http://schemas.microsoft.com/office/drawing/2014/main" id="{58EDA3C4-9877-41DC-9C15-6F6DB97DDE92}"/>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1-0-title">
            <a:extLst xmlns:a="http://schemas.openxmlformats.org/drawingml/2006/main">
              <a:ext uri="{FF2B5EF4-FFF2-40B4-BE49-F238E27FC236}">
                <a16:creationId xmlns:a16="http://schemas.microsoft.com/office/drawing/2014/main" id="{05DCBCA5-CF45-4E39-A765-80A0BEF149D0}"/>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Output cap guarantee</a:t>
            </a:r>
          </a:p>
        </p:txBody>
      </p:sp>
      <p:sp>
        <p:nvSpPr>
          <p:cNvPr id="12" name="app-21-0-body">
            <a:extLst xmlns:a="http://schemas.openxmlformats.org/drawingml/2006/main">
              <a:ext uri="{FF2B5EF4-FFF2-40B4-BE49-F238E27FC236}">
                <a16:creationId xmlns:a16="http://schemas.microsoft.com/office/drawing/2014/main" id="{70AFA885-170A-4472-9A15-215F8E34A0E8}"/>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Output tokens are bounded by each configured provider/model cap.</a:t>
            </a:r>
          </a:p>
        </p:txBody>
      </p:sp>
      <p:sp>
        <p:nvSpPr>
          <p:cNvPr id="13" name="app-21-1-panel">
            <a:extLst xmlns:a="http://schemas.openxmlformats.org/drawingml/2006/main">
              <a:ext uri="{FF2B5EF4-FFF2-40B4-BE49-F238E27FC236}">
                <a16:creationId xmlns:a16="http://schemas.microsoft.com/office/drawing/2014/main" id="{DDB426C8-C349-461A-A897-0B5BF9F196C5}"/>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4" name="app-21-1-accent">
            <a:extLst xmlns:a="http://schemas.openxmlformats.org/drawingml/2006/main">
              <a:ext uri="{FF2B5EF4-FFF2-40B4-BE49-F238E27FC236}">
                <a16:creationId xmlns:a16="http://schemas.microsoft.com/office/drawing/2014/main" id="{F947D386-89A8-4C97-9134-0D54E659FDC2}"/>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1-1-title">
            <a:extLst xmlns:a="http://schemas.openxmlformats.org/drawingml/2006/main">
              <a:ext uri="{FF2B5EF4-FFF2-40B4-BE49-F238E27FC236}">
                <a16:creationId xmlns:a16="http://schemas.microsoft.com/office/drawing/2014/main" id="{80812830-8FF0-492E-89EB-4FC4543A8081}"/>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Prompt/input estimate</a:t>
            </a:r>
          </a:p>
        </p:txBody>
      </p:sp>
      <p:sp>
        <p:nvSpPr>
          <p:cNvPr id="16" name="app-21-1-body">
            <a:extLst xmlns:a="http://schemas.openxmlformats.org/drawingml/2006/main">
              <a:ext uri="{FF2B5EF4-FFF2-40B4-BE49-F238E27FC236}">
                <a16:creationId xmlns:a16="http://schemas.microsoft.com/office/drawing/2014/main" id="{FFBDA086-A4B8-45CA-B337-AD3EC629B368}"/>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Input bound assumes the additive estimate covers the complete request.</a:t>
            </a:r>
          </a:p>
        </p:txBody>
      </p:sp>
      <p:sp>
        <p:nvSpPr>
          <p:cNvPr id="17" name="app-21-2-panel">
            <a:extLst xmlns:a="http://schemas.openxmlformats.org/drawingml/2006/main">
              <a:ext uri="{FF2B5EF4-FFF2-40B4-BE49-F238E27FC236}">
                <a16:creationId xmlns:a16="http://schemas.microsoft.com/office/drawing/2014/main" id="{E86406C6-D94B-478F-B268-500DA53F2F8E}"/>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8" name="app-21-2-accent">
            <a:extLst xmlns:a="http://schemas.openxmlformats.org/drawingml/2006/main">
              <a:ext uri="{FF2B5EF4-FFF2-40B4-BE49-F238E27FC236}">
                <a16:creationId xmlns:a16="http://schemas.microsoft.com/office/drawing/2014/main" id="{F72E133D-DEF8-427B-83EA-4D66D3E41C15}"/>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1-2-title">
            <a:extLst xmlns:a="http://schemas.openxmlformats.org/drawingml/2006/main">
              <a:ext uri="{FF2B5EF4-FFF2-40B4-BE49-F238E27FC236}">
                <a16:creationId xmlns:a16="http://schemas.microsoft.com/office/drawing/2014/main" id="{42B9F154-C66C-4520-B405-E20A9E0E75C9}"/>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Tokenizer parameter</a:t>
            </a:r>
          </a:p>
        </p:txBody>
      </p:sp>
      <p:sp>
        <p:nvSpPr>
          <p:cNvPr id="20" name="app-21-2-body">
            <a:extLst xmlns:a="http://schemas.openxmlformats.org/drawingml/2006/main">
              <a:ext uri="{FF2B5EF4-FFF2-40B4-BE49-F238E27FC236}">
                <a16:creationId xmlns:a16="http://schemas.microsoft.com/office/drawing/2014/main" id="{178CCEF9-5CB0-47CF-AE87-D41CAC2CB5FA}"/>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The selected --chars-per-token value is recorded in the certificate.</a:t>
            </a:r>
          </a:p>
        </p:txBody>
      </p:sp>
      <p:sp>
        <p:nvSpPr>
          <p:cNvPr id="21" name="app-21-3-panel">
            <a:extLst xmlns:a="http://schemas.openxmlformats.org/drawingml/2006/main">
              <a:ext uri="{FF2B5EF4-FFF2-40B4-BE49-F238E27FC236}">
                <a16:creationId xmlns:a16="http://schemas.microsoft.com/office/drawing/2014/main" id="{7F1C2130-0381-46A0-8082-F7F5B7692E63}"/>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2" name="app-21-3-accent">
            <a:extLst xmlns:a="http://schemas.openxmlformats.org/drawingml/2006/main">
              <a:ext uri="{FF2B5EF4-FFF2-40B4-BE49-F238E27FC236}">
                <a16:creationId xmlns:a16="http://schemas.microsoft.com/office/drawing/2014/main" id="{AD8E780C-207F-453F-84A0-B598FA97891F}"/>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1-3-title">
            <a:extLst xmlns:a="http://schemas.openxmlformats.org/drawingml/2006/main">
              <a:ext uri="{FF2B5EF4-FFF2-40B4-BE49-F238E27FC236}">
                <a16:creationId xmlns:a16="http://schemas.microsoft.com/office/drawing/2014/main" id="{609D4105-6758-44B0-BD7B-E0041A0AF01F}"/>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Retry multiplier</a:t>
            </a:r>
          </a:p>
        </p:txBody>
      </p:sp>
      <p:sp>
        <p:nvSpPr>
          <p:cNvPr id="24" name="app-21-3-body">
            <a:extLst xmlns:a="http://schemas.openxmlformats.org/drawingml/2006/main">
              <a:ext uri="{FF2B5EF4-FFF2-40B4-BE49-F238E27FC236}">
                <a16:creationId xmlns:a16="http://schemas.microsoft.com/office/drawing/2014/main" id="{7CF037D8-BFA5-4860-AD46-A7D5B8C0C90B}"/>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A literal bounded retry scales the body bound.</a:t>
            </a:r>
          </a:p>
        </p:txBody>
      </p:sp>
      <p:sp>
        <p:nvSpPr>
          <p:cNvPr id="25" name="app-21-4-panel">
            <a:extLst xmlns:a="http://schemas.openxmlformats.org/drawingml/2006/main">
              <a:ext uri="{FF2B5EF4-FFF2-40B4-BE49-F238E27FC236}">
                <a16:creationId xmlns:a16="http://schemas.microsoft.com/office/drawing/2014/main" id="{050FA7F3-D083-4CAE-83F2-E13E29834DE3}"/>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6" name="app-21-4-accent">
            <a:extLst xmlns:a="http://schemas.openxmlformats.org/drawingml/2006/main">
              <a:ext uri="{FF2B5EF4-FFF2-40B4-BE49-F238E27FC236}">
                <a16:creationId xmlns:a16="http://schemas.microsoft.com/office/drawing/2014/main" id="{E2FE199F-BC8B-4A60-B4F8-16FD2A3F8C67}"/>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1-4-title">
            <a:extLst xmlns:a="http://schemas.openxmlformats.org/drawingml/2006/main">
              <a:ext uri="{FF2B5EF4-FFF2-40B4-BE49-F238E27FC236}">
                <a16:creationId xmlns:a16="http://schemas.microsoft.com/office/drawing/2014/main" id="{1A8B9718-2244-4C06-93C9-DD8AEC301F5B}"/>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Monetary reporting</a:t>
            </a:r>
          </a:p>
        </p:txBody>
      </p:sp>
      <p:sp>
        <p:nvSpPr>
          <p:cNvPr id="28" name="app-21-4-body">
            <a:extLst xmlns:a="http://schemas.openxmlformats.org/drawingml/2006/main">
              <a:ext uri="{FF2B5EF4-FFF2-40B4-BE49-F238E27FC236}">
                <a16:creationId xmlns:a16="http://schemas.microsoft.com/office/drawing/2014/main" id="{0E728167-08CA-4AB3-A550-A121B277D586}"/>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Prices are reported only if configured; token bounds are the guarantee.</a:t>
            </a:r>
          </a:p>
        </p:txBody>
      </p:sp>
    </p:spTree>
    <p:extLst>
      <p:ext uri="{BB962C8B-B14F-4D97-AF65-F5344CB8AC3E}">
        <p14:creationId xmlns:p14="http://schemas.microsoft.com/office/powerpoint/2010/main" val="1222246048"/>
      </p:ext>
    </p:extLst>
  </p:cSld>
</p:sld>
</file>

<file path=ppt/slides/slide2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9" name="s22-brand">
            <a:extLst xmlns:a="http://schemas.openxmlformats.org/drawingml/2006/main">
              <a:ext uri="{FF2B5EF4-FFF2-40B4-BE49-F238E27FC236}">
                <a16:creationId xmlns:a16="http://schemas.microsoft.com/office/drawing/2014/main" id="{300D689B-3937-40FB-881B-4485B801FDDD}"/>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2-section">
            <a:extLst xmlns:a="http://schemas.openxmlformats.org/drawingml/2006/main">
              <a:ext uri="{FF2B5EF4-FFF2-40B4-BE49-F238E27FC236}">
                <a16:creationId xmlns:a16="http://schemas.microsoft.com/office/drawing/2014/main" id="{F187CCFF-8172-49F7-A016-D84AB8400C8C}"/>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A4</a:t>
            </a:r>
          </a:p>
        </p:txBody>
      </p:sp>
      <p:sp>
        <p:nvSpPr>
          <p:cNvPr id="3" name="s22-title">
            <a:extLst xmlns:a="http://schemas.openxmlformats.org/drawingml/2006/main">
              <a:ext uri="{FF2B5EF4-FFF2-40B4-BE49-F238E27FC236}">
                <a16:creationId xmlns:a16="http://schemas.microsoft.com/office/drawing/2014/main" id="{EB55F148-EE18-49B3-831B-8924C036900E}"/>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Evaluation protocol and reproducibility</a:t>
            </a:r>
          </a:p>
        </p:txBody>
      </p:sp>
      <p:sp>
        <p:nvSpPr>
          <p:cNvPr id="4" name="s22-source-rule">
            <a:extLst xmlns:a="http://schemas.openxmlformats.org/drawingml/2006/main">
              <a:ext uri="{FF2B5EF4-FFF2-40B4-BE49-F238E27FC236}">
                <a16:creationId xmlns:a16="http://schemas.microsoft.com/office/drawing/2014/main" id="{78A77459-91E4-4175-ABDA-63436581F566}"/>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22-sources">
            <a:extLst xmlns:a="http://schemas.openxmlformats.org/drawingml/2006/main">
              <a:ext uri="{FF2B5EF4-FFF2-40B4-BE49-F238E27FC236}">
                <a16:creationId xmlns:a16="http://schemas.microsoft.com/office/drawing/2014/main" id="{510F1402-819A-45EE-8FD3-E1E6B44C777A}"/>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938"/>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audit/final/manifest.json; audit/final/auditor-tests.log; bench/sourced/manifest.json; bench/results/sourced.json; bench/results/sourced_request_sensitive.json; bench/evaluate_sourced.py</a:t>
            </a:r>
          </a:p>
        </p:txBody>
      </p:sp>
      <p:sp>
        <p:nvSpPr>
          <p:cNvPr id="6" name="s22-footer-rule">
            <a:extLst xmlns:a="http://schemas.openxmlformats.org/drawingml/2006/main">
              <a:ext uri="{FF2B5EF4-FFF2-40B4-BE49-F238E27FC236}">
                <a16:creationId xmlns:a16="http://schemas.microsoft.com/office/drawing/2014/main" id="{A79CFB8C-EFC0-4A8F-9583-4CD1F6278057}"/>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22-footer">
            <a:extLst xmlns:a="http://schemas.openxmlformats.org/drawingml/2006/main">
              <a:ext uri="{FF2B5EF4-FFF2-40B4-BE49-F238E27FC236}">
                <a16:creationId xmlns:a16="http://schemas.microsoft.com/office/drawing/2014/main" id="{73B68A32-13AA-41AF-B1E5-65A439C8194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22-page">
            <a:extLst xmlns:a="http://schemas.openxmlformats.org/drawingml/2006/main">
              <a:ext uri="{FF2B5EF4-FFF2-40B4-BE49-F238E27FC236}">
                <a16:creationId xmlns:a16="http://schemas.microsoft.com/office/drawing/2014/main" id="{53EEF60F-404F-45E0-9C92-15F832DECAA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A4</a:t>
            </a:r>
          </a:p>
        </p:txBody>
      </p:sp>
      <p:sp>
        <p:nvSpPr>
          <p:cNvPr id="9" name="app-22-0-panel">
            <a:extLst xmlns:a="http://schemas.openxmlformats.org/drawingml/2006/main">
              <a:ext uri="{FF2B5EF4-FFF2-40B4-BE49-F238E27FC236}">
                <a16:creationId xmlns:a16="http://schemas.microsoft.com/office/drawing/2014/main" id="{26E2650F-F726-475E-B7DE-03933ABB6073}"/>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0" name="app-22-0-accent">
            <a:extLst xmlns:a="http://schemas.openxmlformats.org/drawingml/2006/main">
              <a:ext uri="{FF2B5EF4-FFF2-40B4-BE49-F238E27FC236}">
                <a16:creationId xmlns:a16="http://schemas.microsoft.com/office/drawing/2014/main" id="{A7F2AB1B-73F3-47AE-8F52-A3B00BC67655}"/>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2-0-title">
            <a:extLst xmlns:a="http://schemas.openxmlformats.org/drawingml/2006/main">
              <a:ext uri="{FF2B5EF4-FFF2-40B4-BE49-F238E27FC236}">
                <a16:creationId xmlns:a16="http://schemas.microsoft.com/office/drawing/2014/main" id="{52C8561D-4483-45DB-A093-484DC346CE89}"/>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Compiler source</a:t>
            </a:r>
          </a:p>
        </p:txBody>
      </p:sp>
      <p:sp>
        <p:nvSpPr>
          <p:cNvPr id="12" name="app-22-0-body">
            <a:extLst xmlns:a="http://schemas.openxmlformats.org/drawingml/2006/main">
              <a:ext uri="{FF2B5EF4-FFF2-40B4-BE49-F238E27FC236}">
                <a16:creationId xmlns:a16="http://schemas.microsoft.com/office/drawing/2014/main" id="{F9C3620F-3820-4589-9004-942900A5F542}"/>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compiler SHA-256 5bae3be94e9b · baseline a49fcdbd</a:t>
            </a:r>
          </a:p>
        </p:txBody>
      </p:sp>
      <p:sp>
        <p:nvSpPr>
          <p:cNvPr id="13" name="app-22-1-panel">
            <a:extLst xmlns:a="http://schemas.openxmlformats.org/drawingml/2006/main">
              <a:ext uri="{FF2B5EF4-FFF2-40B4-BE49-F238E27FC236}">
                <a16:creationId xmlns:a16="http://schemas.microsoft.com/office/drawing/2014/main" id="{7D537E99-699F-4821-91AE-DBB9397F92A0}"/>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4" name="app-22-1-accent">
            <a:extLst xmlns:a="http://schemas.openxmlformats.org/drawingml/2006/main">
              <a:ext uri="{FF2B5EF4-FFF2-40B4-BE49-F238E27FC236}">
                <a16:creationId xmlns:a16="http://schemas.microsoft.com/office/drawing/2014/main" id="{1FB4184A-4BA4-4A34-9601-F07DA1DAE61B}"/>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2-1-title">
            <a:extLst xmlns:a="http://schemas.openxmlformats.org/drawingml/2006/main">
              <a:ext uri="{FF2B5EF4-FFF2-40B4-BE49-F238E27FC236}">
                <a16:creationId xmlns:a16="http://schemas.microsoft.com/office/drawing/2014/main" id="{4A7EB8D3-ADFF-41A8-9486-885581A26429}"/>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Validation run</a:t>
            </a:r>
          </a:p>
        </p:txBody>
      </p:sp>
      <p:sp>
        <p:nvSpPr>
          <p:cNvPr id="16" name="app-22-1-body">
            <a:extLst xmlns:a="http://schemas.openxmlformats.org/drawingml/2006/main">
              <a:ext uri="{FF2B5EF4-FFF2-40B4-BE49-F238E27FC236}">
                <a16:creationId xmlns:a16="http://schemas.microsoft.com/office/drawing/2014/main" id="{79961971-0E3D-486C-977A-D18C69DA4EDB}"/>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make check · 111 C++ regressions · 19 auditor tests</a:t>
            </a:r>
          </a:p>
        </p:txBody>
      </p:sp>
      <p:sp>
        <p:nvSpPr>
          <p:cNvPr id="17" name="app-22-2-panel">
            <a:extLst xmlns:a="http://schemas.openxmlformats.org/drawingml/2006/main">
              <a:ext uri="{FF2B5EF4-FFF2-40B4-BE49-F238E27FC236}">
                <a16:creationId xmlns:a16="http://schemas.microsoft.com/office/drawing/2014/main" id="{37CAF04C-807F-4DBD-AD01-4F79A0C4D3E7}"/>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8" name="app-22-2-accent">
            <a:extLst xmlns:a="http://schemas.openxmlformats.org/drawingml/2006/main">
              <a:ext uri="{FF2B5EF4-FFF2-40B4-BE49-F238E27FC236}">
                <a16:creationId xmlns:a16="http://schemas.microsoft.com/office/drawing/2014/main" id="{FC26B5EE-705E-4439-9D87-391F523E3D24}"/>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2-2-title">
            <a:extLst xmlns:a="http://schemas.openxmlformats.org/drawingml/2006/main">
              <a:ext uri="{FF2B5EF4-FFF2-40B4-BE49-F238E27FC236}">
                <a16:creationId xmlns:a16="http://schemas.microsoft.com/office/drawing/2014/main" id="{B1F87A13-9274-487B-BF17-E43FBB772482}"/>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Sourced benchmark grid</a:t>
            </a:r>
          </a:p>
        </p:txBody>
      </p:sp>
      <p:sp>
        <p:nvSpPr>
          <p:cNvPr id="20" name="app-22-2-body">
            <a:extLst xmlns:a="http://schemas.openxmlformats.org/drawingml/2006/main">
              <a:ext uri="{FF2B5EF4-FFF2-40B4-BE49-F238E27FC236}">
                <a16:creationId xmlns:a16="http://schemas.microsoft.com/office/drawing/2014/main" id="{452B93ED-AC60-4F3F-B332-6630A4224938}"/>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15 examples · 45 variants · 1,500 base runs · 30 audited reports</a:t>
            </a:r>
          </a:p>
        </p:txBody>
      </p:sp>
      <p:sp>
        <p:nvSpPr>
          <p:cNvPr id="21" name="app-22-3-panel">
            <a:extLst xmlns:a="http://schemas.openxmlformats.org/drawingml/2006/main">
              <a:ext uri="{FF2B5EF4-FFF2-40B4-BE49-F238E27FC236}">
                <a16:creationId xmlns:a16="http://schemas.microsoft.com/office/drawing/2014/main" id="{6608F0C0-0B2F-4214-8F58-885BDCACA568}"/>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2" name="app-22-3-accent">
            <a:extLst xmlns:a="http://schemas.openxmlformats.org/drawingml/2006/main">
              <a:ext uri="{FF2B5EF4-FFF2-40B4-BE49-F238E27FC236}">
                <a16:creationId xmlns:a16="http://schemas.microsoft.com/office/drawing/2014/main" id="{47DCB24A-AD76-444E-8D70-93D15D919C14}"/>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2-3-title">
            <a:extLst xmlns:a="http://schemas.openxmlformats.org/drawingml/2006/main">
              <a:ext uri="{FF2B5EF4-FFF2-40B4-BE49-F238E27FC236}">
                <a16:creationId xmlns:a16="http://schemas.microsoft.com/office/drawing/2014/main" id="{A9C7A008-D0B4-41BF-931C-F41EFE0AADBF}"/>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Paired fixture</a:t>
            </a:r>
          </a:p>
        </p:txBody>
      </p:sp>
      <p:sp>
        <p:nvSpPr>
          <p:cNvPr id="24" name="app-22-3-body">
            <a:extLst xmlns:a="http://schemas.openxmlformats.org/drawingml/2006/main">
              <a:ext uri="{FF2B5EF4-FFF2-40B4-BE49-F238E27FC236}">
                <a16:creationId xmlns:a16="http://schemas.microsoft.com/office/drawing/2014/main" id="{75CB8B7B-99A4-4339-B416-114EB4310268}"/>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25 seeds × lengths 0/37/160 × 2 public flags × 2 secrets</a:t>
            </a:r>
          </a:p>
        </p:txBody>
      </p:sp>
      <p:sp>
        <p:nvSpPr>
          <p:cNvPr id="25" name="app-22-4-panel">
            <a:extLst xmlns:a="http://schemas.openxmlformats.org/drawingml/2006/main">
              <a:ext uri="{FF2B5EF4-FFF2-40B4-BE49-F238E27FC236}">
                <a16:creationId xmlns:a16="http://schemas.microsoft.com/office/drawing/2014/main" id="{2351C1F3-F3EE-40EF-812F-F89D41362812}"/>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6" name="app-22-4-accent">
            <a:extLst xmlns:a="http://schemas.openxmlformats.org/drawingml/2006/main">
              <a:ext uri="{FF2B5EF4-FFF2-40B4-BE49-F238E27FC236}">
                <a16:creationId xmlns:a16="http://schemas.microsoft.com/office/drawing/2014/main" id="{C3CF283B-5AAD-4F1A-9F7F-9BCF06D59C91}"/>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2-4-title">
            <a:extLst xmlns:a="http://schemas.openxmlformats.org/drawingml/2006/main">
              <a:ext uri="{FF2B5EF4-FFF2-40B4-BE49-F238E27FC236}">
                <a16:creationId xmlns:a16="http://schemas.microsoft.com/office/drawing/2014/main" id="{536ECDBF-74E5-4460-AF3D-15DD80872799}"/>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Oracle and scope</a:t>
            </a:r>
          </a:p>
        </p:txBody>
      </p:sp>
      <p:sp>
        <p:nvSpPr>
          <p:cNvPr id="28" name="app-22-4-body">
            <a:extLst xmlns:a="http://schemas.openxmlformats.org/drawingml/2006/main">
              <a:ext uri="{FF2B5EF4-FFF2-40B4-BE49-F238E27FC236}">
                <a16:creationId xmlns:a16="http://schemas.microsoft.com/office/drawing/2014/main" id="{8D31BD9D-639F-489C-A870-54DDCDC2B6F5}"/>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Ordinal and request-sensitive modes; same grids, not summed.</a:t>
            </a:r>
          </a:p>
        </p:txBody>
      </p:sp>
    </p:spTree>
    <p:extLst>
      <p:ext uri="{BB962C8B-B14F-4D97-AF65-F5344CB8AC3E}">
        <p14:creationId xmlns:p14="http://schemas.microsoft.com/office/powerpoint/2010/main" val="1034529920"/>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s23-brand">
            <a:extLst xmlns:a="http://schemas.openxmlformats.org/drawingml/2006/main">
              <a:ext uri="{FF2B5EF4-FFF2-40B4-BE49-F238E27FC236}">
                <a16:creationId xmlns:a16="http://schemas.microsoft.com/office/drawing/2014/main" id="{11EB8F7E-B915-4D81-8CAA-A9D11128CDEC}"/>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3-section">
            <a:extLst xmlns:a="http://schemas.openxmlformats.org/drawingml/2006/main">
              <a:ext uri="{FF2B5EF4-FFF2-40B4-BE49-F238E27FC236}">
                <a16:creationId xmlns:a16="http://schemas.microsoft.com/office/drawing/2014/main" id="{D3C497BD-E024-46DB-918D-C1882A7D844C}"/>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A5</a:t>
            </a:r>
          </a:p>
        </p:txBody>
      </p:sp>
      <p:sp>
        <p:nvSpPr>
          <p:cNvPr id="3" name="s23-title">
            <a:extLst xmlns:a="http://schemas.openxmlformats.org/drawingml/2006/main">
              <a:ext uri="{FF2B5EF4-FFF2-40B4-BE49-F238E27FC236}">
                <a16:creationId xmlns:a16="http://schemas.microsoft.com/office/drawing/2014/main" id="{75D52964-BFEC-4BF9-86A6-DFB2371CFEE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Diagnostics and representative edge cases</a:t>
            </a:r>
          </a:p>
        </p:txBody>
      </p:sp>
      <p:sp>
        <p:nvSpPr>
          <p:cNvPr id="4" name="s23-source-rule">
            <a:extLst xmlns:a="http://schemas.openxmlformats.org/drawingml/2006/main">
              <a:ext uri="{FF2B5EF4-FFF2-40B4-BE49-F238E27FC236}">
                <a16:creationId xmlns:a16="http://schemas.microsoft.com/office/drawing/2014/main" id="{FC911B97-D4B9-4FCD-A1AE-72AC338A94B5}"/>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23-sources">
            <a:extLst xmlns:a="http://schemas.openxmlformats.org/drawingml/2006/main">
              <a:ext uri="{FF2B5EF4-FFF2-40B4-BE49-F238E27FC236}">
                <a16:creationId xmlns:a16="http://schemas.microsoft.com/office/drawing/2014/main" id="{86FE7B07-5CA7-4731-9FC1-1578D80BAE77}"/>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src/diagnostic.cpp; src/semantic_analyzer.cpp; src/relational.cpp; tests/tests.cpp</a:t>
            </a:r>
          </a:p>
        </p:txBody>
      </p:sp>
      <p:sp>
        <p:nvSpPr>
          <p:cNvPr id="6" name="s23-footer-rule">
            <a:extLst xmlns:a="http://schemas.openxmlformats.org/drawingml/2006/main">
              <a:ext uri="{FF2B5EF4-FFF2-40B4-BE49-F238E27FC236}">
                <a16:creationId xmlns:a16="http://schemas.microsoft.com/office/drawing/2014/main" id="{AE9F7289-E3AC-4832-A331-5BBAC15FF7F6}"/>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23-footer">
            <a:extLst xmlns:a="http://schemas.openxmlformats.org/drawingml/2006/main">
              <a:ext uri="{FF2B5EF4-FFF2-40B4-BE49-F238E27FC236}">
                <a16:creationId xmlns:a16="http://schemas.microsoft.com/office/drawing/2014/main" id="{8BB080EA-8831-41EE-A0DA-CADD39BA4FAA}"/>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23-page">
            <a:extLst xmlns:a="http://schemas.openxmlformats.org/drawingml/2006/main">
              <a:ext uri="{FF2B5EF4-FFF2-40B4-BE49-F238E27FC236}">
                <a16:creationId xmlns:a16="http://schemas.microsoft.com/office/drawing/2014/main" id="{142E9DB1-04BD-4351-AA42-0EBEDD6F05D9}"/>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A5</a:t>
            </a:r>
          </a:p>
        </p:txBody>
      </p:sp>
      <p:sp>
        <p:nvSpPr>
          <p:cNvPr id="9" name="app-23-0-panel">
            <a:extLst xmlns:a="http://schemas.openxmlformats.org/drawingml/2006/main">
              <a:ext uri="{FF2B5EF4-FFF2-40B4-BE49-F238E27FC236}">
                <a16:creationId xmlns:a16="http://schemas.microsoft.com/office/drawing/2014/main" id="{0A4FDA7D-6489-4F98-8426-9F67585AF4A8}"/>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0" name="app-23-0-accent">
            <a:extLst xmlns:a="http://schemas.openxmlformats.org/drawingml/2006/main">
              <a:ext uri="{FF2B5EF4-FFF2-40B4-BE49-F238E27FC236}">
                <a16:creationId xmlns:a16="http://schemas.microsoft.com/office/drawing/2014/main" id="{A4824511-ECAA-4970-BA8E-7465CE8376A3}"/>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3-0-title">
            <a:extLst xmlns:a="http://schemas.openxmlformats.org/drawingml/2006/main">
              <a:ext uri="{FF2B5EF4-FFF2-40B4-BE49-F238E27FC236}">
                <a16:creationId xmlns:a16="http://schemas.microsoft.com/office/drawing/2014/main" id="{43763CBE-7172-47EA-8A4C-8F6A3EBF8E6F}"/>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Mismatched resolved model</a:t>
            </a:r>
          </a:p>
        </p:txBody>
      </p:sp>
      <p:sp>
        <p:nvSpPr>
          <p:cNvPr id="12" name="app-23-0-body">
            <a:extLst xmlns:a="http://schemas.openxmlformats.org/drawingml/2006/main">
              <a:ext uri="{FF2B5EF4-FFF2-40B4-BE49-F238E27FC236}">
                <a16:creationId xmlns:a16="http://schemas.microsoft.com/office/drawing/2014/main" id="{D6E72020-DAFC-4380-B6C9-996F6E86BC88}"/>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E236 identifies unequal resolved contracts or request signatures.</a:t>
            </a:r>
          </a:p>
        </p:txBody>
      </p:sp>
      <p:sp>
        <p:nvSpPr>
          <p:cNvPr id="13" name="app-23-1-panel">
            <a:extLst xmlns:a="http://schemas.openxmlformats.org/drawingml/2006/main">
              <a:ext uri="{FF2B5EF4-FFF2-40B4-BE49-F238E27FC236}">
                <a16:creationId xmlns:a16="http://schemas.microsoft.com/office/drawing/2014/main" id="{91A1FA09-8CC4-4AA0-BF48-1D1BBCA2E8D8}"/>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4" name="app-23-1-accent">
            <a:extLst xmlns:a="http://schemas.openxmlformats.org/drawingml/2006/main">
              <a:ext uri="{FF2B5EF4-FFF2-40B4-BE49-F238E27FC236}">
                <a16:creationId xmlns:a16="http://schemas.microsoft.com/office/drawing/2014/main" id="{E9B1A14E-0697-44BB-934C-976AB4EBED18}"/>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3-1-title">
            <a:extLst xmlns:a="http://schemas.openxmlformats.org/drawingml/2006/main">
              <a:ext uri="{FF2B5EF4-FFF2-40B4-BE49-F238E27FC236}">
                <a16:creationId xmlns:a16="http://schemas.microsoft.com/office/drawing/2014/main" id="{E635CF80-D67D-4BFD-8D2E-3F589A966727}"/>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Mismatched request term</a:t>
            </a:r>
          </a:p>
        </p:txBody>
      </p:sp>
      <p:sp>
        <p:nvSpPr>
          <p:cNvPr id="16" name="app-23-1-body">
            <a:extLst xmlns:a="http://schemas.openxmlformats.org/drawingml/2006/main">
              <a:ext uri="{FF2B5EF4-FFF2-40B4-BE49-F238E27FC236}">
                <a16:creationId xmlns:a16="http://schemas.microsoft.com/office/drawing/2014/main" id="{8A3687E8-8BB0-497E-AE98-8F4577C7F352}"/>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E267 rejects chains across incompatible model/tokenizer identities.</a:t>
            </a:r>
          </a:p>
        </p:txBody>
      </p:sp>
      <p:sp>
        <p:nvSpPr>
          <p:cNvPr id="17" name="app-23-2-panel">
            <a:extLst xmlns:a="http://schemas.openxmlformats.org/drawingml/2006/main">
              <a:ext uri="{FF2B5EF4-FFF2-40B4-BE49-F238E27FC236}">
                <a16:creationId xmlns:a16="http://schemas.microsoft.com/office/drawing/2014/main" id="{EF654EEC-5F55-4531-BB75-7887259667E3}"/>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8" name="app-23-2-accent">
            <a:extLst xmlns:a="http://schemas.openxmlformats.org/drawingml/2006/main">
              <a:ext uri="{FF2B5EF4-FFF2-40B4-BE49-F238E27FC236}">
                <a16:creationId xmlns:a16="http://schemas.microsoft.com/office/drawing/2014/main" id="{28F15BBA-E225-4188-9242-25B58D4292C6}"/>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3-2-title">
            <a:extLst xmlns:a="http://schemas.openxmlformats.org/drawingml/2006/main">
              <a:ext uri="{FF2B5EF4-FFF2-40B4-BE49-F238E27FC236}">
                <a16:creationId xmlns:a16="http://schemas.microsoft.com/office/drawing/2014/main" id="{0FECDD4D-A07A-4F9E-BB19-E075999F3CAD}"/>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Secret request value</a:t>
            </a:r>
          </a:p>
        </p:txBody>
      </p:sp>
      <p:sp>
        <p:nvSpPr>
          <p:cNvPr id="20" name="app-23-2-body">
            <a:extLst xmlns:a="http://schemas.openxmlformats.org/drawingml/2006/main">
              <a:ext uri="{FF2B5EF4-FFF2-40B4-BE49-F238E27FC236}">
                <a16:creationId xmlns:a16="http://schemas.microsoft.com/office/drawing/2014/main" id="{682B81BF-A1B0-49B9-A5D5-97188BC15272}"/>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E230 rejects a direct secret request value.</a:t>
            </a:r>
          </a:p>
        </p:txBody>
      </p:sp>
      <p:sp>
        <p:nvSpPr>
          <p:cNvPr id="21" name="app-23-3-panel">
            <a:extLst xmlns:a="http://schemas.openxmlformats.org/drawingml/2006/main">
              <a:ext uri="{FF2B5EF4-FFF2-40B4-BE49-F238E27FC236}">
                <a16:creationId xmlns:a16="http://schemas.microsoft.com/office/drawing/2014/main" id="{6DDCDA32-C770-44E0-BE12-B3249FB6E01B}"/>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2" name="app-23-3-accent">
            <a:extLst xmlns:a="http://schemas.openxmlformats.org/drawingml/2006/main">
              <a:ext uri="{FF2B5EF4-FFF2-40B4-BE49-F238E27FC236}">
                <a16:creationId xmlns:a16="http://schemas.microsoft.com/office/drawing/2014/main" id="{1A66D665-D874-4AEE-89E0-34EA335D87D7}"/>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3-3-title">
            <a:extLst xmlns:a="http://schemas.openxmlformats.org/drawingml/2006/main">
              <a:ext uri="{FF2B5EF4-FFF2-40B4-BE49-F238E27FC236}">
                <a16:creationId xmlns:a16="http://schemas.microsoft.com/office/drawing/2014/main" id="{A06E8FF7-202E-43C7-B282-0B0D375EC5BE}"/>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Unsupported chained alignment</a:t>
            </a:r>
          </a:p>
        </p:txBody>
      </p:sp>
      <p:sp>
        <p:nvSpPr>
          <p:cNvPr id="24" name="app-23-3-body">
            <a:extLst xmlns:a="http://schemas.openxmlformats.org/drawingml/2006/main">
              <a:ext uri="{FF2B5EF4-FFF2-40B4-BE49-F238E27FC236}">
                <a16:creationId xmlns:a16="http://schemas.microsoft.com/office/drawing/2014/main" id="{A0F1DBF8-D5E3-4C51-A44F-08BF565BC255}"/>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Use a source-located compiler diagnostic from the hash-matched run.</a:t>
            </a:r>
          </a:p>
        </p:txBody>
      </p:sp>
      <p:sp>
        <p:nvSpPr>
          <p:cNvPr id="25" name="app-23-4-panel">
            <a:extLst xmlns:a="http://schemas.openxmlformats.org/drawingml/2006/main">
              <a:ext uri="{FF2B5EF4-FFF2-40B4-BE49-F238E27FC236}">
                <a16:creationId xmlns:a16="http://schemas.microsoft.com/office/drawing/2014/main" id="{DE412C23-28ED-4440-9CBF-1E5AE10CFAD9}"/>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6" name="app-23-4-accent">
            <a:extLst xmlns:a="http://schemas.openxmlformats.org/drawingml/2006/main">
              <a:ext uri="{FF2B5EF4-FFF2-40B4-BE49-F238E27FC236}">
                <a16:creationId xmlns:a16="http://schemas.microsoft.com/office/drawing/2014/main" id="{8CE38557-8E24-4C29-A76E-1DE6DB266251}"/>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3-4-title">
            <a:extLst xmlns:a="http://schemas.openxmlformats.org/drawingml/2006/main">
              <a:ext uri="{FF2B5EF4-FFF2-40B4-BE49-F238E27FC236}">
                <a16:creationId xmlns:a16="http://schemas.microsoft.com/office/drawing/2014/main" id="{68235050-E4F5-4352-BEFB-CEADF7E904BD}"/>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Untrusted spend warning</a:t>
            </a:r>
          </a:p>
        </p:txBody>
      </p:sp>
      <p:sp>
        <p:nvSpPr>
          <p:cNvPr id="28" name="app-23-4-body">
            <a:extLst xmlns:a="http://schemas.openxmlformats.org/drawingml/2006/main">
              <a:ext uri="{FF2B5EF4-FFF2-40B4-BE49-F238E27FC236}">
                <a16:creationId xmlns:a16="http://schemas.microsoft.com/office/drawing/2014/main" id="{3749E6A9-452A-4695-B220-E218E26DE5E6}"/>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W237 warns when untrusted control influences modeled spend.</a:t>
            </a:r>
          </a:p>
        </p:txBody>
      </p:sp>
    </p:spTree>
    <p:extLst>
      <p:ext uri="{BB962C8B-B14F-4D97-AF65-F5344CB8AC3E}">
        <p14:creationId xmlns:p14="http://schemas.microsoft.com/office/powerpoint/2010/main" val="1494059096"/>
      </p:ext>
    </p:extLst>
  </p:cSld>
</p:sld>
</file>

<file path=ppt/slides/slide2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6" name="s24-brand">
            <a:extLst xmlns:a="http://schemas.openxmlformats.org/drawingml/2006/main">
              <a:ext uri="{FF2B5EF4-FFF2-40B4-BE49-F238E27FC236}">
                <a16:creationId xmlns:a16="http://schemas.microsoft.com/office/drawing/2014/main" id="{7502A744-F965-4974-AA1C-54350A05151E}"/>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4-section">
            <a:extLst xmlns:a="http://schemas.openxmlformats.org/drawingml/2006/main">
              <a:ext uri="{FF2B5EF4-FFF2-40B4-BE49-F238E27FC236}">
                <a16:creationId xmlns:a16="http://schemas.microsoft.com/office/drawing/2014/main" id="{539A5B5E-DBB8-4E08-969C-59E9C78D2E1C}"/>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A6</a:t>
            </a:r>
          </a:p>
        </p:txBody>
      </p:sp>
      <p:sp>
        <p:nvSpPr>
          <p:cNvPr id="3" name="s24-title">
            <a:extLst xmlns:a="http://schemas.openxmlformats.org/drawingml/2006/main">
              <a:ext uri="{FF2B5EF4-FFF2-40B4-BE49-F238E27FC236}">
                <a16:creationId xmlns:a16="http://schemas.microsoft.com/office/drawing/2014/main" id="{C7DD8204-3EEA-4BD1-A8CA-8E128A061A67}"/>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Likely examiner questions</a:t>
            </a:r>
          </a:p>
        </p:txBody>
      </p:sp>
      <p:sp>
        <p:nvSpPr>
          <p:cNvPr id="4" name="s24-source-rule">
            <a:extLst xmlns:a="http://schemas.openxmlformats.org/drawingml/2006/main">
              <a:ext uri="{FF2B5EF4-FFF2-40B4-BE49-F238E27FC236}">
                <a16:creationId xmlns:a16="http://schemas.microsoft.com/office/drawing/2014/main" id="{8F36580F-603F-4A56-89AD-6431FC153F17}"/>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24-sources">
            <a:extLst xmlns:a="http://schemas.openxmlformats.org/drawingml/2006/main">
              <a:ext uri="{FF2B5EF4-FFF2-40B4-BE49-F238E27FC236}">
                <a16:creationId xmlns:a16="http://schemas.microsoft.com/office/drawing/2014/main" id="{BEE2FD5F-3618-4758-BBC7-6659103FC2A2}"/>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docs/PAPER.md; docs/PRIOR_ART_MATRIX.md; bench/results/sourced.json; bench/results/sourced_request_sensitive.json; sources.md</a:t>
            </a:r>
          </a:p>
        </p:txBody>
      </p:sp>
      <p:sp>
        <p:nvSpPr>
          <p:cNvPr id="6" name="s24-footer-rule">
            <a:extLst xmlns:a="http://schemas.openxmlformats.org/drawingml/2006/main">
              <a:ext uri="{FF2B5EF4-FFF2-40B4-BE49-F238E27FC236}">
                <a16:creationId xmlns:a16="http://schemas.microsoft.com/office/drawing/2014/main" id="{4D2EBB01-5596-4DAA-A92A-E891D0E95E83}"/>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24-footer">
            <a:extLst xmlns:a="http://schemas.openxmlformats.org/drawingml/2006/main">
              <a:ext uri="{FF2B5EF4-FFF2-40B4-BE49-F238E27FC236}">
                <a16:creationId xmlns:a16="http://schemas.microsoft.com/office/drawing/2014/main" id="{247CE75E-E1DA-4F89-9219-3B77E98E4A93}"/>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24-page">
            <a:extLst xmlns:a="http://schemas.openxmlformats.org/drawingml/2006/main">
              <a:ext uri="{FF2B5EF4-FFF2-40B4-BE49-F238E27FC236}">
                <a16:creationId xmlns:a16="http://schemas.microsoft.com/office/drawing/2014/main" id="{E6C772DD-C733-4FDC-B9AE-8FD1A507FB04}"/>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A6</a:t>
            </a:r>
          </a:p>
        </p:txBody>
      </p:sp>
      <p:sp>
        <p:nvSpPr>
          <p:cNvPr id="9" name="qa-0-q">
            <a:extLst xmlns:a="http://schemas.openxmlformats.org/drawingml/2006/main">
              <a:ext uri="{FF2B5EF4-FFF2-40B4-BE49-F238E27FC236}">
                <a16:creationId xmlns:a16="http://schemas.microsoft.com/office/drawing/2014/main" id="{092C05D1-8C68-444D-944D-17343C7F7EF6}"/>
              </a:ext>
            </a:extLst>
          </p:cNvPr>
          <p:cNvSpPr>
            <a:spLocks xmlns:a="http://schemas.openxmlformats.org/drawingml/2006/main" noGrp="1"/>
          </p:cNvSpPr>
          <p:nvPr/>
        </p:nvSpPr>
        <p:spPr>
          <a:xfrm xmlns:a="http://schemas.openxmlformats.org/drawingml/2006/main">
            <a:off x="742950" y="23812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F8A5C"/>
                </a:solidFill>
                <a:latin typeface="Avenir Next"/>
                <a:ea typeface="Avenir Next"/>
                <a:cs typeface="Avenir Next"/>
              </a:defRPr>
            </a:defPPr>
          </a:lstStyle>
          <a:p xmlns:a="http://schemas.openxmlformats.org/drawingml/2006/main">
            <a:pPr algn="l">
              <a:defRPr sz="1275" b="1" i="0">
                <a:solidFill>
                  <a:srgbClr val="FF8A5C"/>
                </a:solidFill>
                <a:latin typeface="Avenir Next"/>
                <a:ea typeface="Avenir Next"/>
                <a:cs typeface="Avenir Next"/>
              </a:defRPr>
            </a:pPr>
            <a:r>
              <a:rPr sz="1275" b="1" i="0">
                <a:solidFill>
                  <a:srgbClr val="FF8A5C"/>
                </a:solidFill>
                <a:latin typeface="Avenir Next"/>
                <a:ea typeface="Avenir Next"/>
                <a:cs typeface="Avenir Next"/>
              </a:rPr>
              <a:t>Why not compare upper bounds?</a:t>
            </a:r>
          </a:p>
        </p:txBody>
      </p:sp>
      <p:sp>
        <p:nvSpPr>
          <p:cNvPr id="10" name="qa-0-a">
            <a:extLst xmlns:a="http://schemas.openxmlformats.org/drawingml/2006/main">
              <a:ext uri="{FF2B5EF4-FFF2-40B4-BE49-F238E27FC236}">
                <a16:creationId xmlns:a16="http://schemas.microsoft.com/office/drawing/2014/main" id="{072468BB-412C-49DB-897C-4A9F075BE31F}"/>
              </a:ext>
            </a:extLst>
          </p:cNvPr>
          <p:cNvSpPr>
            <a:spLocks xmlns:a="http://schemas.openxmlformats.org/drawingml/2006/main" noGrp="1"/>
          </p:cNvSpPr>
          <p:nvPr/>
        </p:nvSpPr>
        <p:spPr>
          <a:xfrm xmlns:a="http://schemas.openxmlformats.org/drawingml/2006/main">
            <a:off x="4000500" y="2381250"/>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A maximum does not establish equality between realized costs.</a:t>
            </a:r>
          </a:p>
        </p:txBody>
      </p:sp>
      <p:sp>
        <p:nvSpPr>
          <p:cNvPr id="11" name="qa-0-rule">
            <a:extLst xmlns:a="http://schemas.openxmlformats.org/drawingml/2006/main">
              <a:ext uri="{FF2B5EF4-FFF2-40B4-BE49-F238E27FC236}">
                <a16:creationId xmlns:a16="http://schemas.microsoft.com/office/drawing/2014/main" id="{FED574E6-DAE2-4A9C-8D2F-776E09BF32CA}"/>
              </a:ext>
            </a:extLst>
          </p:cNvPr>
          <p:cNvSpPr>
            <a:spLocks xmlns:a="http://schemas.openxmlformats.org/drawingml/2006/main" noGrp="1"/>
          </p:cNvSpPr>
          <p:nvPr/>
        </p:nvSpPr>
        <p:spPr>
          <a:xfrm xmlns:a="http://schemas.openxmlformats.org/drawingml/2006/main">
            <a:off x="742950" y="285750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2" name="qa-1-q">
            <a:extLst xmlns:a="http://schemas.openxmlformats.org/drawingml/2006/main">
              <a:ext uri="{FF2B5EF4-FFF2-40B4-BE49-F238E27FC236}">
                <a16:creationId xmlns:a16="http://schemas.microsoft.com/office/drawing/2014/main" id="{B4147DDF-DAD3-42E9-8D64-35E4E7B2B093}"/>
              </a:ext>
            </a:extLst>
          </p:cNvPr>
          <p:cNvSpPr>
            <a:spLocks xmlns:a="http://schemas.openxmlformats.org/drawingml/2006/main" noGrp="1"/>
          </p:cNvSpPr>
          <p:nvPr/>
        </p:nvSpPr>
        <p:spPr>
          <a:xfrm xmlns:a="http://schemas.openxmlformats.org/drawingml/2006/main">
            <a:off x="742950" y="29622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5CC8B8"/>
                </a:solidFill>
                <a:latin typeface="Avenir Next"/>
                <a:ea typeface="Avenir Next"/>
                <a:cs typeface="Avenir Next"/>
              </a:defRPr>
            </a:defPPr>
          </a:lstStyle>
          <a:p xmlns:a="http://schemas.openxmlformats.org/drawingml/2006/main">
            <a:pPr algn="l">
              <a:defRPr sz="1275" b="1" i="0">
                <a:solidFill>
                  <a:srgbClr val="5CC8B8"/>
                </a:solidFill>
                <a:latin typeface="Avenir Next"/>
                <a:ea typeface="Avenir Next"/>
                <a:cs typeface="Avenir Next"/>
              </a:defRPr>
            </a:pPr>
            <a:r>
              <a:rPr sz="1275" b="1" i="0">
                <a:solidFill>
                  <a:srgbClr val="5CC8B8"/>
                </a:solidFill>
                <a:latin typeface="Avenir Next"/>
                <a:ea typeface="Avenir Next"/>
                <a:cs typeface="Avenir Next"/>
              </a:rPr>
              <a:t>What is the observer?</a:t>
            </a:r>
          </a:p>
        </p:txBody>
      </p:sp>
      <p:sp>
        <p:nvSpPr>
          <p:cNvPr id="13" name="qa-1-a">
            <a:extLst xmlns:a="http://schemas.openxmlformats.org/drawingml/2006/main">
              <a:ext uri="{FF2B5EF4-FFF2-40B4-BE49-F238E27FC236}">
                <a16:creationId xmlns:a16="http://schemas.microsoft.com/office/drawing/2014/main" id="{AFF1B0C2-0FAE-4CAB-8F40-DFA8C2ACDB4B}"/>
              </a:ext>
            </a:extLst>
          </p:cNvPr>
          <p:cNvSpPr>
            <a:spLocks xmlns:a="http://schemas.openxmlformats.org/drawingml/2006/main" noGrp="1"/>
          </p:cNvSpPr>
          <p:nvPr/>
        </p:nvSpPr>
        <p:spPr>
          <a:xfrm xmlns:a="http://schemas.openxmlformats.org/drawingml/2006/main">
            <a:off x="4000500" y="2962275"/>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State the implemented per-model observation; do not claim timing or network coverage.</a:t>
            </a:r>
          </a:p>
        </p:txBody>
      </p:sp>
      <p:sp>
        <p:nvSpPr>
          <p:cNvPr id="14" name="qa-1-rule">
            <a:extLst xmlns:a="http://schemas.openxmlformats.org/drawingml/2006/main">
              <a:ext uri="{FF2B5EF4-FFF2-40B4-BE49-F238E27FC236}">
                <a16:creationId xmlns:a16="http://schemas.microsoft.com/office/drawing/2014/main" id="{17BDD883-06A2-4CA8-B210-D2D2CE79B8AC}"/>
              </a:ext>
            </a:extLst>
          </p:cNvPr>
          <p:cNvSpPr>
            <a:spLocks xmlns:a="http://schemas.openxmlformats.org/drawingml/2006/main" noGrp="1"/>
          </p:cNvSpPr>
          <p:nvPr/>
        </p:nvSpPr>
        <p:spPr>
          <a:xfrm xmlns:a="http://schemas.openxmlformats.org/drawingml/2006/main">
            <a:off x="742950" y="3438525"/>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5" name="qa-2-q">
            <a:extLst xmlns:a="http://schemas.openxmlformats.org/drawingml/2006/main">
              <a:ext uri="{FF2B5EF4-FFF2-40B4-BE49-F238E27FC236}">
                <a16:creationId xmlns:a16="http://schemas.microsoft.com/office/drawing/2014/main" id="{572FB7D6-F554-4345-AAB0-ABEA77E2E3FE}"/>
              </a:ext>
            </a:extLst>
          </p:cNvPr>
          <p:cNvSpPr>
            <a:spLocks xmlns:a="http://schemas.openxmlformats.org/drawingml/2006/main" noGrp="1"/>
          </p:cNvSpPr>
          <p:nvPr/>
        </p:nvSpPr>
        <p:spPr>
          <a:xfrm xmlns:a="http://schemas.openxmlformats.org/drawingml/2006/main">
            <a:off x="742950" y="35433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F8A5C"/>
                </a:solidFill>
                <a:latin typeface="Avenir Next"/>
                <a:ea typeface="Avenir Next"/>
                <a:cs typeface="Avenir Next"/>
              </a:defRPr>
            </a:defPPr>
          </a:lstStyle>
          <a:p xmlns:a="http://schemas.openxmlformats.org/drawingml/2006/main">
            <a:pPr algn="l">
              <a:defRPr sz="1275" b="1" i="0">
                <a:solidFill>
                  <a:srgbClr val="FF8A5C"/>
                </a:solidFill>
                <a:latin typeface="Avenir Next"/>
                <a:ea typeface="Avenir Next"/>
                <a:cs typeface="Avenir Next"/>
              </a:defRPr>
            </a:pPr>
            <a:r>
              <a:rPr sz="1275" b="1" i="0">
                <a:solidFill>
                  <a:srgbClr val="FF8A5C"/>
                </a:solidFill>
                <a:latin typeface="Avenir Next"/>
                <a:ea typeface="Avenir Next"/>
                <a:cs typeface="Avenir Next"/>
              </a:rPr>
              <a:t>What aligns stochastic calls?</a:t>
            </a:r>
          </a:p>
        </p:txBody>
      </p:sp>
      <p:sp>
        <p:nvSpPr>
          <p:cNvPr id="16" name="qa-2-a">
            <a:extLst xmlns:a="http://schemas.openxmlformats.org/drawingml/2006/main">
              <a:ext uri="{FF2B5EF4-FFF2-40B4-BE49-F238E27FC236}">
                <a16:creationId xmlns:a16="http://schemas.microsoft.com/office/drawing/2014/main" id="{554E46DA-8606-4325-BA5F-C97348A4E234}"/>
              </a:ext>
            </a:extLst>
          </p:cNvPr>
          <p:cNvSpPr>
            <a:spLocks xmlns:a="http://schemas.openxmlformats.org/drawingml/2006/main" noGrp="1"/>
          </p:cNvSpPr>
          <p:nvPr/>
        </p:nvSpPr>
        <p:spPr>
          <a:xfrm xmlns:a="http://schemas.openxmlformats.org/drawingml/2006/main">
            <a:off x="4000500" y="3543300"/>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State the exact shared-oracle/request identity relation and assumptions.</a:t>
            </a:r>
          </a:p>
        </p:txBody>
      </p:sp>
      <p:sp>
        <p:nvSpPr>
          <p:cNvPr id="17" name="qa-2-rule">
            <a:extLst xmlns:a="http://schemas.openxmlformats.org/drawingml/2006/main">
              <a:ext uri="{FF2B5EF4-FFF2-40B4-BE49-F238E27FC236}">
                <a16:creationId xmlns:a16="http://schemas.microsoft.com/office/drawing/2014/main" id="{4510948F-2887-4D79-B248-5D4B05265193}"/>
              </a:ext>
            </a:extLst>
          </p:cNvPr>
          <p:cNvSpPr>
            <a:spLocks xmlns:a="http://schemas.openxmlformats.org/drawingml/2006/main" noGrp="1"/>
          </p:cNvSpPr>
          <p:nvPr/>
        </p:nvSpPr>
        <p:spPr>
          <a:xfrm xmlns:a="http://schemas.openxmlformats.org/drawingml/2006/main">
            <a:off x="742950" y="401955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8" name="qa-3-q">
            <a:extLst xmlns:a="http://schemas.openxmlformats.org/drawingml/2006/main">
              <a:ext uri="{FF2B5EF4-FFF2-40B4-BE49-F238E27FC236}">
                <a16:creationId xmlns:a16="http://schemas.microsoft.com/office/drawing/2014/main" id="{DB7535D2-B4E5-4876-8E5B-ADAEEF5F272F}"/>
              </a:ext>
            </a:extLst>
          </p:cNvPr>
          <p:cNvSpPr>
            <a:spLocks xmlns:a="http://schemas.openxmlformats.org/drawingml/2006/main" noGrp="1"/>
          </p:cNvSpPr>
          <p:nvPr/>
        </p:nvSpPr>
        <p:spPr>
          <a:xfrm xmlns:a="http://schemas.openxmlformats.org/drawingml/2006/main">
            <a:off x="742950" y="41243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5CC8B8"/>
                </a:solidFill>
                <a:latin typeface="Avenir Next"/>
                <a:ea typeface="Avenir Next"/>
                <a:cs typeface="Avenir Next"/>
              </a:defRPr>
            </a:defPPr>
          </a:lstStyle>
          <a:p xmlns:a="http://schemas.openxmlformats.org/drawingml/2006/main">
            <a:pPr algn="l">
              <a:defRPr sz="1275" b="1" i="0">
                <a:solidFill>
                  <a:srgbClr val="5CC8B8"/>
                </a:solidFill>
                <a:latin typeface="Avenir Next"/>
                <a:ea typeface="Avenir Next"/>
                <a:cs typeface="Avenir Next"/>
              </a:defRPr>
            </a:pPr>
            <a:r>
              <a:rPr sz="1275" b="1" i="0">
                <a:solidFill>
                  <a:srgbClr val="5CC8B8"/>
                </a:solidFill>
                <a:latin typeface="Avenir Next"/>
                <a:ea typeface="Avenir Next"/>
                <a:cs typeface="Avenir Next"/>
              </a:rPr>
              <a:t>Is the check complete?</a:t>
            </a:r>
          </a:p>
        </p:txBody>
      </p:sp>
      <p:sp>
        <p:nvSpPr>
          <p:cNvPr id="19" name="qa-3-a">
            <a:extLst xmlns:a="http://schemas.openxmlformats.org/drawingml/2006/main">
              <a:ext uri="{FF2B5EF4-FFF2-40B4-BE49-F238E27FC236}">
                <a16:creationId xmlns:a16="http://schemas.microsoft.com/office/drawing/2014/main" id="{1B11736B-DD2D-4DD1-BEE9-A787F1A9EE0C}"/>
              </a:ext>
            </a:extLst>
          </p:cNvPr>
          <p:cNvSpPr>
            <a:spLocks xmlns:a="http://schemas.openxmlformats.org/drawingml/2006/main" noGrp="1"/>
          </p:cNvSpPr>
          <p:nvPr/>
        </p:nvSpPr>
        <p:spPr>
          <a:xfrm xmlns:a="http://schemas.openxmlformats.org/drawingml/2006/main">
            <a:off x="4000500" y="4124325"/>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No. Give the final accepted/rejected boundary example.</a:t>
            </a:r>
          </a:p>
        </p:txBody>
      </p:sp>
      <p:sp>
        <p:nvSpPr>
          <p:cNvPr id="20" name="qa-3-rule">
            <a:extLst xmlns:a="http://schemas.openxmlformats.org/drawingml/2006/main">
              <a:ext uri="{FF2B5EF4-FFF2-40B4-BE49-F238E27FC236}">
                <a16:creationId xmlns:a16="http://schemas.microsoft.com/office/drawing/2014/main" id="{52A2B80C-F215-4378-A676-EAC9863C6522}"/>
              </a:ext>
            </a:extLst>
          </p:cNvPr>
          <p:cNvSpPr>
            <a:spLocks xmlns:a="http://schemas.openxmlformats.org/drawingml/2006/main" noGrp="1"/>
          </p:cNvSpPr>
          <p:nvPr/>
        </p:nvSpPr>
        <p:spPr>
          <a:xfrm xmlns:a="http://schemas.openxmlformats.org/drawingml/2006/main">
            <a:off x="742950" y="4600575"/>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1" name="qa-4-q">
            <a:extLst xmlns:a="http://schemas.openxmlformats.org/drawingml/2006/main">
              <a:ext uri="{FF2B5EF4-FFF2-40B4-BE49-F238E27FC236}">
                <a16:creationId xmlns:a16="http://schemas.microsoft.com/office/drawing/2014/main" id="{D05DA159-63F6-48F5-B1E6-0E264FB725AF}"/>
              </a:ext>
            </a:extLst>
          </p:cNvPr>
          <p:cNvSpPr>
            <a:spLocks xmlns:a="http://schemas.openxmlformats.org/drawingml/2006/main" noGrp="1"/>
          </p:cNvSpPr>
          <p:nvPr/>
        </p:nvSpPr>
        <p:spPr>
          <a:xfrm xmlns:a="http://schemas.openxmlformats.org/drawingml/2006/main">
            <a:off x="742950" y="47053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F8A5C"/>
                </a:solidFill>
                <a:latin typeface="Avenir Next"/>
                <a:ea typeface="Avenir Next"/>
                <a:cs typeface="Avenir Next"/>
              </a:defRPr>
            </a:defPPr>
          </a:lstStyle>
          <a:p xmlns:a="http://schemas.openxmlformats.org/drawingml/2006/main">
            <a:pPr algn="l">
              <a:defRPr sz="1275" b="1" i="0">
                <a:solidFill>
                  <a:srgbClr val="FF8A5C"/>
                </a:solidFill>
                <a:latin typeface="Avenir Next"/>
                <a:ea typeface="Avenir Next"/>
                <a:cs typeface="Avenir Next"/>
              </a:defRPr>
            </a:pPr>
            <a:r>
              <a:rPr sz="1275" b="1" i="0">
                <a:solidFill>
                  <a:srgbClr val="FF8A5C"/>
                </a:solidFill>
                <a:latin typeface="Avenir Next"/>
                <a:ea typeface="Avenir Next"/>
                <a:cs typeface="Avenir Next"/>
              </a:rPr>
              <a:t>Is token-cost leakage new?</a:t>
            </a:r>
          </a:p>
        </p:txBody>
      </p:sp>
      <p:sp>
        <p:nvSpPr>
          <p:cNvPr id="22" name="qa-4-a">
            <a:extLst xmlns:a="http://schemas.openxmlformats.org/drawingml/2006/main">
              <a:ext uri="{FF2B5EF4-FFF2-40B4-BE49-F238E27FC236}">
                <a16:creationId xmlns:a16="http://schemas.microsoft.com/office/drawing/2014/main" id="{2EBE8F54-7508-4A4D-AF93-E6D0A6311412}"/>
              </a:ext>
            </a:extLst>
          </p:cNvPr>
          <p:cNvSpPr>
            <a:spLocks xmlns:a="http://schemas.openxmlformats.org/drawingml/2006/main" noGrp="1"/>
          </p:cNvSpPr>
          <p:nvPr/>
        </p:nvSpPr>
        <p:spPr>
          <a:xfrm xmlns:a="http://schemas.openxmlformats.org/drawingml/2006/main">
            <a:off x="4000500" y="4705350"/>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No. Position the compiler application beside established prior work.</a:t>
            </a:r>
          </a:p>
        </p:txBody>
      </p:sp>
      <p:sp>
        <p:nvSpPr>
          <p:cNvPr id="23" name="qa-4-rule">
            <a:extLst xmlns:a="http://schemas.openxmlformats.org/drawingml/2006/main">
              <a:ext uri="{FF2B5EF4-FFF2-40B4-BE49-F238E27FC236}">
                <a16:creationId xmlns:a16="http://schemas.microsoft.com/office/drawing/2014/main" id="{E8E3D508-E299-4238-8E78-C6F640B31174}"/>
              </a:ext>
            </a:extLst>
          </p:cNvPr>
          <p:cNvSpPr>
            <a:spLocks xmlns:a="http://schemas.openxmlformats.org/drawingml/2006/main" noGrp="1"/>
          </p:cNvSpPr>
          <p:nvPr/>
        </p:nvSpPr>
        <p:spPr>
          <a:xfrm xmlns:a="http://schemas.openxmlformats.org/drawingml/2006/main">
            <a:off x="742950" y="518160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4" name="qa-5-q">
            <a:extLst xmlns:a="http://schemas.openxmlformats.org/drawingml/2006/main">
              <a:ext uri="{FF2B5EF4-FFF2-40B4-BE49-F238E27FC236}">
                <a16:creationId xmlns:a16="http://schemas.microsoft.com/office/drawing/2014/main" id="{D4E2ED35-90CD-46BA-9106-792AEC762422}"/>
              </a:ext>
            </a:extLst>
          </p:cNvPr>
          <p:cNvSpPr>
            <a:spLocks xmlns:a="http://schemas.openxmlformats.org/drawingml/2006/main" noGrp="1"/>
          </p:cNvSpPr>
          <p:nvPr/>
        </p:nvSpPr>
        <p:spPr>
          <a:xfrm xmlns:a="http://schemas.openxmlformats.org/drawingml/2006/main">
            <a:off x="742950" y="52863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5CC8B8"/>
                </a:solidFill>
                <a:latin typeface="Avenir Next"/>
                <a:ea typeface="Avenir Next"/>
                <a:cs typeface="Avenir Next"/>
              </a:defRPr>
            </a:defPPr>
          </a:lstStyle>
          <a:p xmlns:a="http://schemas.openxmlformats.org/drawingml/2006/main">
            <a:pPr algn="l">
              <a:defRPr sz="1275" b="1" i="0">
                <a:solidFill>
                  <a:srgbClr val="5CC8B8"/>
                </a:solidFill>
                <a:latin typeface="Avenir Next"/>
                <a:ea typeface="Avenir Next"/>
                <a:cs typeface="Avenir Next"/>
              </a:defRPr>
            </a:pPr>
            <a:r>
              <a:rPr sz="1275" b="1" i="0">
                <a:solidFill>
                  <a:srgbClr val="5CC8B8"/>
                </a:solidFill>
                <a:latin typeface="Avenir Next"/>
                <a:ea typeface="Avenir Next"/>
                <a:cs typeface="Avenir Next"/>
              </a:rPr>
              <a:t>What is proved versus tested?</a:t>
            </a:r>
          </a:p>
        </p:txBody>
      </p:sp>
      <p:sp>
        <p:nvSpPr>
          <p:cNvPr id="25" name="qa-5-a">
            <a:extLst xmlns:a="http://schemas.openxmlformats.org/drawingml/2006/main">
              <a:ext uri="{FF2B5EF4-FFF2-40B4-BE49-F238E27FC236}">
                <a16:creationId xmlns:a16="http://schemas.microsoft.com/office/drawing/2014/main" id="{2C713225-3D9B-4CFB-BE48-F7B98EBEB53A}"/>
              </a:ext>
            </a:extLst>
          </p:cNvPr>
          <p:cNvSpPr>
            <a:spLocks xmlns:a="http://schemas.openxmlformats.org/drawingml/2006/main" noGrp="1"/>
          </p:cNvSpPr>
          <p:nvPr/>
        </p:nvSpPr>
        <p:spPr>
          <a:xfrm xmlns:a="http://schemas.openxmlformats.org/drawingml/2006/main">
            <a:off x="4000500" y="5286375"/>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Separate the soundness argument from finite implementation experiments.</a:t>
            </a:r>
          </a:p>
        </p:txBody>
      </p:sp>
    </p:spTree>
    <p:extLst>
      <p:ext uri="{BB962C8B-B14F-4D97-AF65-F5344CB8AC3E}">
        <p14:creationId xmlns:p14="http://schemas.microsoft.com/office/powerpoint/2010/main" val="2102776882"/>
      </p:ext>
    </p:extLst>
  </p:cSld>
</p:sld>
</file>

<file path=ppt/slides/slide25.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5" name="s25-brand">
            <a:extLst xmlns:a="http://schemas.openxmlformats.org/drawingml/2006/main">
              <a:ext uri="{FF2B5EF4-FFF2-40B4-BE49-F238E27FC236}">
                <a16:creationId xmlns:a16="http://schemas.microsoft.com/office/drawing/2014/main" id="{7CFB348C-4E65-4311-AE09-68191B0465F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5-section">
            <a:extLst xmlns:a="http://schemas.openxmlformats.org/drawingml/2006/main">
              <a:ext uri="{FF2B5EF4-FFF2-40B4-BE49-F238E27FC236}">
                <a16:creationId xmlns:a16="http://schemas.microsoft.com/office/drawing/2014/main" id="{14F5CBD3-CD27-4C1B-8BCD-7B15046A80AA}"/>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A7</a:t>
            </a:r>
          </a:p>
        </p:txBody>
      </p:sp>
      <p:sp>
        <p:nvSpPr>
          <p:cNvPr id="3" name="s25-title">
            <a:extLst xmlns:a="http://schemas.openxmlformats.org/drawingml/2006/main">
              <a:ext uri="{FF2B5EF4-FFF2-40B4-BE49-F238E27FC236}">
                <a16:creationId xmlns:a16="http://schemas.microsoft.com/office/drawing/2014/main" id="{D5121E67-7C20-415D-ADAE-63F969322ED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96"/>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Adjacent LLM and agent checks target different properties</a:t>
            </a:r>
          </a:p>
        </p:txBody>
      </p:sp>
      <p:sp>
        <p:nvSpPr>
          <p:cNvPr id="4" name="s25-subtitle">
            <a:extLst xmlns:a="http://schemas.openxmlformats.org/drawingml/2006/main">
              <a:ext uri="{FF2B5EF4-FFF2-40B4-BE49-F238E27FC236}">
                <a16:creationId xmlns:a16="http://schemas.microsoft.com/office/drawing/2014/main" id="{F6AA0BBA-63E5-46BD-94F4-EFE3BA17CE2B}"/>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The neighboring work strengthens the framing; it does not establish this billing relation.</a:t>
            </a:r>
          </a:p>
        </p:txBody>
      </p:sp>
      <p:sp>
        <p:nvSpPr>
          <p:cNvPr id="5" name="s25-source-rule">
            <a:extLst xmlns:a="http://schemas.openxmlformats.org/drawingml/2006/main">
              <a:ext uri="{FF2B5EF4-FFF2-40B4-BE49-F238E27FC236}">
                <a16:creationId xmlns:a16="http://schemas.microsoft.com/office/drawing/2014/main" id="{B203C11D-68E2-47B0-BE86-3DE18B740172}"/>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25-sources">
            <a:extLst xmlns:a="http://schemas.openxmlformats.org/drawingml/2006/main">
              <a:ext uri="{FF2B5EF4-FFF2-40B4-BE49-F238E27FC236}">
                <a16:creationId xmlns:a16="http://schemas.microsoft.com/office/drawing/2014/main" id="{33FCAD8C-A66F-4DF9-B213-12F0892BECC7}"/>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APPL ACL 2025; CaMeL, Fides, Agentproof, AgentFlow are preprints as of 2026-10-09</a:t>
            </a:r>
          </a:p>
        </p:txBody>
      </p:sp>
      <p:sp>
        <p:nvSpPr>
          <p:cNvPr id="7" name="s25-footer-rule">
            <a:extLst xmlns:a="http://schemas.openxmlformats.org/drawingml/2006/main">
              <a:ext uri="{FF2B5EF4-FFF2-40B4-BE49-F238E27FC236}">
                <a16:creationId xmlns:a16="http://schemas.microsoft.com/office/drawing/2014/main" id="{AE6D1032-918E-492C-84EB-329F8F7F4610}"/>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25-footer">
            <a:extLst xmlns:a="http://schemas.openxmlformats.org/drawingml/2006/main">
              <a:ext uri="{FF2B5EF4-FFF2-40B4-BE49-F238E27FC236}">
                <a16:creationId xmlns:a16="http://schemas.microsoft.com/office/drawing/2014/main" id="{2329975E-1B91-4620-B0F3-4576E3C01839}"/>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25-page">
            <a:extLst xmlns:a="http://schemas.openxmlformats.org/drawingml/2006/main">
              <a:ext uri="{FF2B5EF4-FFF2-40B4-BE49-F238E27FC236}">
                <a16:creationId xmlns:a16="http://schemas.microsoft.com/office/drawing/2014/main" id="{EF8C9FAD-4236-495F-A2CA-31ADA4A7F01A}"/>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A7</a:t>
            </a:r>
          </a:p>
        </p:txBody>
      </p:sp>
      <p:sp>
        <p:nvSpPr>
          <p:cNvPr id="10" name="neighbor-0-panel">
            <a:extLst xmlns:a="http://schemas.openxmlformats.org/drawingml/2006/main">
              <a:ext uri="{FF2B5EF4-FFF2-40B4-BE49-F238E27FC236}">
                <a16:creationId xmlns:a16="http://schemas.microsoft.com/office/drawing/2014/main" id="{BA579D30-AF36-4596-A982-99D0AB086305}"/>
              </a:ext>
            </a:extLst>
          </p:cNvPr>
          <p:cNvSpPr>
            <a:spLocks xmlns:a="http://schemas.openxmlformats.org/drawingml/2006/main" noGrp="1"/>
          </p:cNvSpPr>
          <p:nvPr/>
        </p:nvSpPr>
        <p:spPr>
          <a:xfrm xmlns:a="http://schemas.openxmlformats.org/drawingml/2006/main">
            <a:off x="723900" y="2390775"/>
            <a:ext cx="3371850" cy="1352550"/>
          </a:xfrm>
          <a:prstGeom xmlns:a="http://schemas.openxmlformats.org/drawingml/2006/main" prst="roundRect">
            <a:avLst>
              <a:gd name="adj" fmla="val 5634"/>
            </a:avLst>
          </a:prstGeom>
          <a:solidFill xmlns:a="http://schemas.openxmlformats.org/drawingml/2006/main">
            <a:srgbClr val="1C2638"/>
          </a:solidFill>
          <a:ln xmlns:a="http://schemas.openxmlformats.org/drawingml/2006/main" w="9525">
            <a:solidFill>
              <a:srgbClr val="343D50"/>
            </a:solidFill>
            <a:prstDash val="solid"/>
          </a:ln>
        </p:spPr>
      </p:sp>
      <p:sp>
        <p:nvSpPr>
          <p:cNvPr id="11" name="neighbor-0-accent">
            <a:extLst xmlns:a="http://schemas.openxmlformats.org/drawingml/2006/main">
              <a:ext uri="{FF2B5EF4-FFF2-40B4-BE49-F238E27FC236}">
                <a16:creationId xmlns:a16="http://schemas.microsoft.com/office/drawing/2014/main" id="{1F1204A3-E1C0-481B-9C8A-D74244F8A9E8}"/>
              </a:ext>
            </a:extLst>
          </p:cNvPr>
          <p:cNvSpPr>
            <a:spLocks xmlns:a="http://schemas.openxmlformats.org/drawingml/2006/main" noGrp="1"/>
          </p:cNvSpPr>
          <p:nvPr/>
        </p:nvSpPr>
        <p:spPr>
          <a:xfrm xmlns:a="http://schemas.openxmlformats.org/drawingml/2006/main">
            <a:off x="723900" y="2390775"/>
            <a:ext cx="57150" cy="13525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neighbor-0-title">
            <a:extLst xmlns:a="http://schemas.openxmlformats.org/drawingml/2006/main">
              <a:ext uri="{FF2B5EF4-FFF2-40B4-BE49-F238E27FC236}">
                <a16:creationId xmlns:a16="http://schemas.microsoft.com/office/drawing/2014/main" id="{994FE120-C854-498F-939C-E1AEBF53E1D6}"/>
              </a:ext>
            </a:extLst>
          </p:cNvPr>
          <p:cNvSpPr>
            <a:spLocks xmlns:a="http://schemas.openxmlformats.org/drawingml/2006/main" noGrp="1"/>
          </p:cNvSpPr>
          <p:nvPr/>
        </p:nvSpPr>
        <p:spPr>
          <a:xfrm xmlns:a="http://schemas.openxmlformats.org/drawingml/2006/main">
            <a:off x="933450" y="25622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APPL · ACL 2025</a:t>
            </a:r>
          </a:p>
        </p:txBody>
      </p:sp>
      <p:sp>
        <p:nvSpPr>
          <p:cNvPr id="13" name="neighbor-0-body">
            <a:extLst xmlns:a="http://schemas.openxmlformats.org/drawingml/2006/main">
              <a:ext uri="{FF2B5EF4-FFF2-40B4-BE49-F238E27FC236}">
                <a16:creationId xmlns:a16="http://schemas.microsoft.com/office/drawing/2014/main" id="{BFA06273-CAA2-44F2-B64D-F4054DE2035C}"/>
              </a:ext>
            </a:extLst>
          </p:cNvPr>
          <p:cNvSpPr>
            <a:spLocks xmlns:a="http://schemas.openxmlformats.org/drawingml/2006/main" noGrp="1"/>
          </p:cNvSpPr>
          <p:nvPr/>
        </p:nvSpPr>
        <p:spPr>
          <a:xfrm xmlns:a="http://schemas.openxmlformats.org/drawingml/2006/main">
            <a:off x="933450" y="2943225"/>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Prompt language and parallel/asynchronous runtime; tracing and replay.</a:t>
            </a:r>
          </a:p>
        </p:txBody>
      </p:sp>
      <p:sp>
        <p:nvSpPr>
          <p:cNvPr id="14" name="neighbor-1-panel">
            <a:extLst xmlns:a="http://schemas.openxmlformats.org/drawingml/2006/main">
              <a:ext uri="{FF2B5EF4-FFF2-40B4-BE49-F238E27FC236}">
                <a16:creationId xmlns:a16="http://schemas.microsoft.com/office/drawing/2014/main" id="{063A3253-D586-4FC2-B17F-CDA3C7D3A6B1}"/>
              </a:ext>
            </a:extLst>
          </p:cNvPr>
          <p:cNvSpPr>
            <a:spLocks xmlns:a="http://schemas.openxmlformats.org/drawingml/2006/main" noGrp="1"/>
          </p:cNvSpPr>
          <p:nvPr/>
        </p:nvSpPr>
        <p:spPr>
          <a:xfrm xmlns:a="http://schemas.openxmlformats.org/drawingml/2006/main">
            <a:off x="4438650" y="2390775"/>
            <a:ext cx="3371850" cy="1352550"/>
          </a:xfrm>
          <a:prstGeom xmlns:a="http://schemas.openxmlformats.org/drawingml/2006/main" prst="roundRect">
            <a:avLst>
              <a:gd name="adj" fmla="val 5634"/>
            </a:avLst>
          </a:prstGeom>
          <a:solidFill xmlns:a="http://schemas.openxmlformats.org/drawingml/2006/main">
            <a:srgbClr val="1C2638"/>
          </a:solidFill>
          <a:ln xmlns:a="http://schemas.openxmlformats.org/drawingml/2006/main" w="9525">
            <a:solidFill>
              <a:srgbClr val="343D50"/>
            </a:solidFill>
            <a:prstDash val="solid"/>
          </a:ln>
        </p:spPr>
      </p:sp>
      <p:sp>
        <p:nvSpPr>
          <p:cNvPr id="15" name="neighbor-1-accent">
            <a:extLst xmlns:a="http://schemas.openxmlformats.org/drawingml/2006/main">
              <a:ext uri="{FF2B5EF4-FFF2-40B4-BE49-F238E27FC236}">
                <a16:creationId xmlns:a16="http://schemas.microsoft.com/office/drawing/2014/main" id="{7F5CAB0D-5723-45CC-8CF3-2B672A0C8C56}"/>
              </a:ext>
            </a:extLst>
          </p:cNvPr>
          <p:cNvSpPr>
            <a:spLocks xmlns:a="http://schemas.openxmlformats.org/drawingml/2006/main" noGrp="1"/>
          </p:cNvSpPr>
          <p:nvPr/>
        </p:nvSpPr>
        <p:spPr>
          <a:xfrm xmlns:a="http://schemas.openxmlformats.org/drawingml/2006/main">
            <a:off x="4438650" y="2390775"/>
            <a:ext cx="57150" cy="13525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neighbor-1-title">
            <a:extLst xmlns:a="http://schemas.openxmlformats.org/drawingml/2006/main">
              <a:ext uri="{FF2B5EF4-FFF2-40B4-BE49-F238E27FC236}">
                <a16:creationId xmlns:a16="http://schemas.microsoft.com/office/drawing/2014/main" id="{9816C297-3BC7-4FB3-8409-995D9EC78623}"/>
              </a:ext>
            </a:extLst>
          </p:cNvPr>
          <p:cNvSpPr>
            <a:spLocks xmlns:a="http://schemas.openxmlformats.org/drawingml/2006/main" noGrp="1"/>
          </p:cNvSpPr>
          <p:nvPr/>
        </p:nvSpPr>
        <p:spPr>
          <a:xfrm xmlns:a="http://schemas.openxmlformats.org/drawingml/2006/main">
            <a:off x="4648200" y="25622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PPDL · ICML 2026</a:t>
            </a:r>
          </a:p>
        </p:txBody>
      </p:sp>
      <p:sp>
        <p:nvSpPr>
          <p:cNvPr id="17" name="neighbor-1-body">
            <a:extLst xmlns:a="http://schemas.openxmlformats.org/drawingml/2006/main">
              <a:ext uri="{FF2B5EF4-FFF2-40B4-BE49-F238E27FC236}">
                <a16:creationId xmlns:a16="http://schemas.microsoft.com/office/drawing/2014/main" id="{2626377B-A0ED-48A1-B24A-1A7FEDA9D895}"/>
              </a:ext>
            </a:extLst>
          </p:cNvPr>
          <p:cNvSpPr>
            <a:spLocks xmlns:a="http://schemas.openxmlformats.org/drawingml/2006/main" noGrp="1"/>
          </p:cNvSpPr>
          <p:nvPr/>
        </p:nvSpPr>
        <p:spPr>
          <a:xfrm xmlns:a="http://schemas.openxmlformats.org/drawingml/2006/main">
            <a:off x="4648200" y="2943225"/>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Probabilistic LLM flows; uncertainty propagates across calls and tools.</a:t>
            </a:r>
          </a:p>
        </p:txBody>
      </p:sp>
      <p:sp>
        <p:nvSpPr>
          <p:cNvPr id="18" name="neighbor-2-panel">
            <a:extLst xmlns:a="http://schemas.openxmlformats.org/drawingml/2006/main">
              <a:ext uri="{FF2B5EF4-FFF2-40B4-BE49-F238E27FC236}">
                <a16:creationId xmlns:a16="http://schemas.microsoft.com/office/drawing/2014/main" id="{F0B01C55-EEE9-4930-9577-95998B8427B3}"/>
              </a:ext>
            </a:extLst>
          </p:cNvPr>
          <p:cNvSpPr>
            <a:spLocks xmlns:a="http://schemas.openxmlformats.org/drawingml/2006/main" noGrp="1"/>
          </p:cNvSpPr>
          <p:nvPr/>
        </p:nvSpPr>
        <p:spPr>
          <a:xfrm xmlns:a="http://schemas.openxmlformats.org/drawingml/2006/main">
            <a:off x="8153400" y="2390775"/>
            <a:ext cx="3371850" cy="1352550"/>
          </a:xfrm>
          <a:prstGeom xmlns:a="http://schemas.openxmlformats.org/drawingml/2006/main" prst="roundRect">
            <a:avLst>
              <a:gd name="adj" fmla="val 5634"/>
            </a:avLst>
          </a:prstGeom>
          <a:solidFill xmlns:a="http://schemas.openxmlformats.org/drawingml/2006/main">
            <a:srgbClr val="1C2638"/>
          </a:solidFill>
          <a:ln xmlns:a="http://schemas.openxmlformats.org/drawingml/2006/main" w="9525">
            <a:solidFill>
              <a:srgbClr val="343D50"/>
            </a:solidFill>
            <a:prstDash val="solid"/>
          </a:ln>
        </p:spPr>
      </p:sp>
      <p:sp>
        <p:nvSpPr>
          <p:cNvPr id="19" name="neighbor-2-accent">
            <a:extLst xmlns:a="http://schemas.openxmlformats.org/drawingml/2006/main">
              <a:ext uri="{FF2B5EF4-FFF2-40B4-BE49-F238E27FC236}">
                <a16:creationId xmlns:a16="http://schemas.microsoft.com/office/drawing/2014/main" id="{A653934F-46B3-4457-8684-3B4BF77837E7}"/>
              </a:ext>
            </a:extLst>
          </p:cNvPr>
          <p:cNvSpPr>
            <a:spLocks xmlns:a="http://schemas.openxmlformats.org/drawingml/2006/main" noGrp="1"/>
          </p:cNvSpPr>
          <p:nvPr/>
        </p:nvSpPr>
        <p:spPr>
          <a:xfrm xmlns:a="http://schemas.openxmlformats.org/drawingml/2006/main">
            <a:off x="8153400" y="2390775"/>
            <a:ext cx="57150" cy="13525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0" name="neighbor-2-title">
            <a:extLst xmlns:a="http://schemas.openxmlformats.org/drawingml/2006/main">
              <a:ext uri="{FF2B5EF4-FFF2-40B4-BE49-F238E27FC236}">
                <a16:creationId xmlns:a16="http://schemas.microsoft.com/office/drawing/2014/main" id="{E038CBFC-323D-492A-8556-D1DE54328084}"/>
              </a:ext>
            </a:extLst>
          </p:cNvPr>
          <p:cNvSpPr>
            <a:spLocks xmlns:a="http://schemas.openxmlformats.org/drawingml/2006/main" noGrp="1"/>
          </p:cNvSpPr>
          <p:nvPr/>
        </p:nvSpPr>
        <p:spPr>
          <a:xfrm xmlns:a="http://schemas.openxmlformats.org/drawingml/2006/main">
            <a:off x="8362950" y="25622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CaMeL · preprint</a:t>
            </a:r>
          </a:p>
        </p:txBody>
      </p:sp>
      <p:sp>
        <p:nvSpPr>
          <p:cNvPr id="21" name="neighbor-2-body">
            <a:extLst xmlns:a="http://schemas.openxmlformats.org/drawingml/2006/main">
              <a:ext uri="{FF2B5EF4-FFF2-40B4-BE49-F238E27FC236}">
                <a16:creationId xmlns:a16="http://schemas.microsoft.com/office/drawing/2014/main" id="{2654908E-9DAE-4D60-8648-E8F6F53525A9}"/>
              </a:ext>
            </a:extLst>
          </p:cNvPr>
          <p:cNvSpPr>
            <a:spLocks xmlns:a="http://schemas.openxmlformats.org/drawingml/2006/main" noGrp="1"/>
          </p:cNvSpPr>
          <p:nvPr/>
        </p:nvSpPr>
        <p:spPr>
          <a:xfrm xmlns:a="http://schemas.openxmlformats.org/drawingml/2006/main">
            <a:off x="8362950" y="2943225"/>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Separates trusted control/data flow and constrains tool capabilities.</a:t>
            </a:r>
          </a:p>
        </p:txBody>
      </p:sp>
      <p:sp>
        <p:nvSpPr>
          <p:cNvPr id="22" name="neighbor-3-panel">
            <a:extLst xmlns:a="http://schemas.openxmlformats.org/drawingml/2006/main">
              <a:ext uri="{FF2B5EF4-FFF2-40B4-BE49-F238E27FC236}">
                <a16:creationId xmlns:a16="http://schemas.microsoft.com/office/drawing/2014/main" id="{BDB156A6-2EA5-4761-A492-5197695A0BA1}"/>
              </a:ext>
            </a:extLst>
          </p:cNvPr>
          <p:cNvSpPr>
            <a:spLocks xmlns:a="http://schemas.openxmlformats.org/drawingml/2006/main" noGrp="1"/>
          </p:cNvSpPr>
          <p:nvPr/>
        </p:nvSpPr>
        <p:spPr>
          <a:xfrm xmlns:a="http://schemas.openxmlformats.org/drawingml/2006/main">
            <a:off x="723900" y="4000500"/>
            <a:ext cx="3371850" cy="1352550"/>
          </a:xfrm>
          <a:prstGeom xmlns:a="http://schemas.openxmlformats.org/drawingml/2006/main" prst="roundRect">
            <a:avLst>
              <a:gd name="adj" fmla="val 5634"/>
            </a:avLst>
          </a:prstGeom>
          <a:solidFill xmlns:a="http://schemas.openxmlformats.org/drawingml/2006/main">
            <a:srgbClr val="1C2638"/>
          </a:solidFill>
          <a:ln xmlns:a="http://schemas.openxmlformats.org/drawingml/2006/main" w="9525">
            <a:solidFill>
              <a:srgbClr val="343D50"/>
            </a:solidFill>
            <a:prstDash val="solid"/>
          </a:ln>
        </p:spPr>
      </p:sp>
      <p:sp>
        <p:nvSpPr>
          <p:cNvPr id="23" name="neighbor-3-accent">
            <a:extLst xmlns:a="http://schemas.openxmlformats.org/drawingml/2006/main">
              <a:ext uri="{FF2B5EF4-FFF2-40B4-BE49-F238E27FC236}">
                <a16:creationId xmlns:a16="http://schemas.microsoft.com/office/drawing/2014/main" id="{2240DE89-73F3-49EA-A62B-87B80E5FAFBA}"/>
              </a:ext>
            </a:extLst>
          </p:cNvPr>
          <p:cNvSpPr>
            <a:spLocks xmlns:a="http://schemas.openxmlformats.org/drawingml/2006/main" noGrp="1"/>
          </p:cNvSpPr>
          <p:nvPr/>
        </p:nvSpPr>
        <p:spPr>
          <a:xfrm xmlns:a="http://schemas.openxmlformats.org/drawingml/2006/main">
            <a:off x="723900" y="4000500"/>
            <a:ext cx="57150" cy="13525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4" name="neighbor-3-title">
            <a:extLst xmlns:a="http://schemas.openxmlformats.org/drawingml/2006/main">
              <a:ext uri="{FF2B5EF4-FFF2-40B4-BE49-F238E27FC236}">
                <a16:creationId xmlns:a16="http://schemas.microsoft.com/office/drawing/2014/main" id="{5ADB1DDC-470F-49D3-B651-BEAD2B32D57A}"/>
              </a:ext>
            </a:extLst>
          </p:cNvPr>
          <p:cNvSpPr>
            <a:spLocks xmlns:a="http://schemas.openxmlformats.org/drawingml/2006/main" noGrp="1"/>
          </p:cNvSpPr>
          <p:nvPr/>
        </p:nvSpPr>
        <p:spPr>
          <a:xfrm xmlns:a="http://schemas.openxmlformats.org/drawingml/2006/main">
            <a:off x="933450" y="41719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Fides · preprint</a:t>
            </a:r>
          </a:p>
        </p:txBody>
      </p:sp>
      <p:sp>
        <p:nvSpPr>
          <p:cNvPr id="25" name="neighbor-3-body">
            <a:extLst xmlns:a="http://schemas.openxmlformats.org/drawingml/2006/main">
              <a:ext uri="{FF2B5EF4-FFF2-40B4-BE49-F238E27FC236}">
                <a16:creationId xmlns:a16="http://schemas.microsoft.com/office/drawing/2014/main" id="{E9077AF8-65BE-4295-8980-6F78D03A6335}"/>
              </a:ext>
            </a:extLst>
          </p:cNvPr>
          <p:cNvSpPr>
            <a:spLocks xmlns:a="http://schemas.openxmlformats.org/drawingml/2006/main" noGrp="1"/>
          </p:cNvSpPr>
          <p:nvPr/>
        </p:nvSpPr>
        <p:spPr>
          <a:xfrm xmlns:a="http://schemas.openxmlformats.org/drawingml/2006/main">
            <a:off x="933450" y="4552950"/>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Information-flow labels and policy enforcement for AI agents.</a:t>
            </a:r>
          </a:p>
        </p:txBody>
      </p:sp>
      <p:sp>
        <p:nvSpPr>
          <p:cNvPr id="26" name="neighbor-4-panel">
            <a:extLst xmlns:a="http://schemas.openxmlformats.org/drawingml/2006/main">
              <a:ext uri="{FF2B5EF4-FFF2-40B4-BE49-F238E27FC236}">
                <a16:creationId xmlns:a16="http://schemas.microsoft.com/office/drawing/2014/main" id="{87D3410F-F4B7-4F13-B1CC-D802F69C4A1D}"/>
              </a:ext>
            </a:extLst>
          </p:cNvPr>
          <p:cNvSpPr>
            <a:spLocks xmlns:a="http://schemas.openxmlformats.org/drawingml/2006/main" noGrp="1"/>
          </p:cNvSpPr>
          <p:nvPr/>
        </p:nvSpPr>
        <p:spPr>
          <a:xfrm xmlns:a="http://schemas.openxmlformats.org/drawingml/2006/main">
            <a:off x="4438650" y="4000500"/>
            <a:ext cx="3371850" cy="1352550"/>
          </a:xfrm>
          <a:prstGeom xmlns:a="http://schemas.openxmlformats.org/drawingml/2006/main" prst="roundRect">
            <a:avLst>
              <a:gd name="adj" fmla="val 5634"/>
            </a:avLst>
          </a:prstGeom>
          <a:solidFill xmlns:a="http://schemas.openxmlformats.org/drawingml/2006/main">
            <a:srgbClr val="1C2638"/>
          </a:solidFill>
          <a:ln xmlns:a="http://schemas.openxmlformats.org/drawingml/2006/main" w="9525">
            <a:solidFill>
              <a:srgbClr val="343D50"/>
            </a:solidFill>
            <a:prstDash val="solid"/>
          </a:ln>
        </p:spPr>
      </p:sp>
      <p:sp>
        <p:nvSpPr>
          <p:cNvPr id="27" name="neighbor-4-accent">
            <a:extLst xmlns:a="http://schemas.openxmlformats.org/drawingml/2006/main">
              <a:ext uri="{FF2B5EF4-FFF2-40B4-BE49-F238E27FC236}">
                <a16:creationId xmlns:a16="http://schemas.microsoft.com/office/drawing/2014/main" id="{517C036E-3D4B-4F63-B173-D2BF0CFBC6ED}"/>
              </a:ext>
            </a:extLst>
          </p:cNvPr>
          <p:cNvSpPr>
            <a:spLocks xmlns:a="http://schemas.openxmlformats.org/drawingml/2006/main" noGrp="1"/>
          </p:cNvSpPr>
          <p:nvPr/>
        </p:nvSpPr>
        <p:spPr>
          <a:xfrm xmlns:a="http://schemas.openxmlformats.org/drawingml/2006/main">
            <a:off x="4438650" y="4000500"/>
            <a:ext cx="57150" cy="13525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8" name="neighbor-4-title">
            <a:extLst xmlns:a="http://schemas.openxmlformats.org/drawingml/2006/main">
              <a:ext uri="{FF2B5EF4-FFF2-40B4-BE49-F238E27FC236}">
                <a16:creationId xmlns:a16="http://schemas.microsoft.com/office/drawing/2014/main" id="{2108638C-2C29-436C-9500-2950EC7BADBC}"/>
              </a:ext>
            </a:extLst>
          </p:cNvPr>
          <p:cNvSpPr>
            <a:spLocks xmlns:a="http://schemas.openxmlformats.org/drawingml/2006/main" noGrp="1"/>
          </p:cNvSpPr>
          <p:nvPr/>
        </p:nvSpPr>
        <p:spPr>
          <a:xfrm xmlns:a="http://schemas.openxmlformats.org/drawingml/2006/main">
            <a:off x="4648200" y="41719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Agentproof · preprint</a:t>
            </a:r>
          </a:p>
        </p:txBody>
      </p:sp>
      <p:sp>
        <p:nvSpPr>
          <p:cNvPr id="29" name="neighbor-4-body">
            <a:extLst xmlns:a="http://schemas.openxmlformats.org/drawingml/2006/main">
              <a:ext uri="{FF2B5EF4-FFF2-40B4-BE49-F238E27FC236}">
                <a16:creationId xmlns:a16="http://schemas.microsoft.com/office/drawing/2014/main" id="{503E0B3D-89DD-4E5B-B2F0-4BBF8EAB9C76}"/>
              </a:ext>
            </a:extLst>
          </p:cNvPr>
          <p:cNvSpPr>
            <a:spLocks xmlns:a="http://schemas.openxmlformats.org/drawingml/2006/main" noGrp="1"/>
          </p:cNvSpPr>
          <p:nvPr/>
        </p:nvSpPr>
        <p:spPr>
          <a:xfrm xmlns:a="http://schemas.openxmlformats.org/drawingml/2006/main">
            <a:off x="4648200" y="4552950"/>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Static workflow-graph checks and policy-trace verification.</a:t>
            </a:r>
          </a:p>
        </p:txBody>
      </p:sp>
      <p:sp>
        <p:nvSpPr>
          <p:cNvPr id="30" name="neighbor-5-panel">
            <a:extLst xmlns:a="http://schemas.openxmlformats.org/drawingml/2006/main">
              <a:ext uri="{FF2B5EF4-FFF2-40B4-BE49-F238E27FC236}">
                <a16:creationId xmlns:a16="http://schemas.microsoft.com/office/drawing/2014/main" id="{3C0F5A48-7942-48CC-84C2-98312FBB185D}"/>
              </a:ext>
            </a:extLst>
          </p:cNvPr>
          <p:cNvSpPr>
            <a:spLocks xmlns:a="http://schemas.openxmlformats.org/drawingml/2006/main" noGrp="1"/>
          </p:cNvSpPr>
          <p:nvPr/>
        </p:nvSpPr>
        <p:spPr>
          <a:xfrm xmlns:a="http://schemas.openxmlformats.org/drawingml/2006/main">
            <a:off x="8153400" y="4000500"/>
            <a:ext cx="3371850" cy="1352550"/>
          </a:xfrm>
          <a:prstGeom xmlns:a="http://schemas.openxmlformats.org/drawingml/2006/main" prst="roundRect">
            <a:avLst>
              <a:gd name="adj" fmla="val 5634"/>
            </a:avLst>
          </a:prstGeom>
          <a:solidFill xmlns:a="http://schemas.openxmlformats.org/drawingml/2006/main">
            <a:srgbClr val="1C2638"/>
          </a:solidFill>
          <a:ln xmlns:a="http://schemas.openxmlformats.org/drawingml/2006/main" w="9525">
            <a:solidFill>
              <a:srgbClr val="343D50"/>
            </a:solidFill>
            <a:prstDash val="solid"/>
          </a:ln>
        </p:spPr>
      </p:sp>
      <p:sp>
        <p:nvSpPr>
          <p:cNvPr id="31" name="neighbor-5-accent">
            <a:extLst xmlns:a="http://schemas.openxmlformats.org/drawingml/2006/main">
              <a:ext uri="{FF2B5EF4-FFF2-40B4-BE49-F238E27FC236}">
                <a16:creationId xmlns:a16="http://schemas.microsoft.com/office/drawing/2014/main" id="{5AC35145-427B-414F-9E93-3828E1EB5B91}"/>
              </a:ext>
            </a:extLst>
          </p:cNvPr>
          <p:cNvSpPr>
            <a:spLocks xmlns:a="http://schemas.openxmlformats.org/drawingml/2006/main" noGrp="1"/>
          </p:cNvSpPr>
          <p:nvPr/>
        </p:nvSpPr>
        <p:spPr>
          <a:xfrm xmlns:a="http://schemas.openxmlformats.org/drawingml/2006/main">
            <a:off x="8153400" y="4000500"/>
            <a:ext cx="57150" cy="13525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32" name="neighbor-5-title">
            <a:extLst xmlns:a="http://schemas.openxmlformats.org/drawingml/2006/main">
              <a:ext uri="{FF2B5EF4-FFF2-40B4-BE49-F238E27FC236}">
                <a16:creationId xmlns:a16="http://schemas.microsoft.com/office/drawing/2014/main" id="{D5966987-E838-4727-9D03-27CE8ACA4E80}"/>
              </a:ext>
            </a:extLst>
          </p:cNvPr>
          <p:cNvSpPr>
            <a:spLocks xmlns:a="http://schemas.openxmlformats.org/drawingml/2006/main" noGrp="1"/>
          </p:cNvSpPr>
          <p:nvPr/>
        </p:nvSpPr>
        <p:spPr>
          <a:xfrm xmlns:a="http://schemas.openxmlformats.org/drawingml/2006/main">
            <a:off x="8362950" y="41719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AgentFlow · preprint</a:t>
            </a:r>
          </a:p>
        </p:txBody>
      </p:sp>
      <p:sp>
        <p:nvSpPr>
          <p:cNvPr id="33" name="neighbor-5-body">
            <a:extLst xmlns:a="http://schemas.openxmlformats.org/drawingml/2006/main">
              <a:ext uri="{FF2B5EF4-FFF2-40B4-BE49-F238E27FC236}">
                <a16:creationId xmlns:a16="http://schemas.microsoft.com/office/drawing/2014/main" id="{83018022-94F6-49E9-B054-BF3399B4E965}"/>
              </a:ext>
            </a:extLst>
          </p:cNvPr>
          <p:cNvSpPr>
            <a:spLocks xmlns:a="http://schemas.openxmlformats.org/drawingml/2006/main" noGrp="1"/>
          </p:cNvSpPr>
          <p:nvPr/>
        </p:nvSpPr>
        <p:spPr>
          <a:xfrm xmlns:a="http://schemas.openxmlformats.org/drawingml/2006/main">
            <a:off x="8362950" y="4552950"/>
            <a:ext cx="295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Flow policies, bounded verification, and runtime monitoring.</a:t>
            </a:r>
          </a:p>
        </p:txBody>
      </p:sp>
      <p:sp>
        <p:nvSpPr>
          <p:cNvPr id="34" name="neighbor-boundary">
            <a:extLst xmlns:a="http://schemas.openxmlformats.org/drawingml/2006/main">
              <a:ext uri="{FF2B5EF4-FFF2-40B4-BE49-F238E27FC236}">
                <a16:creationId xmlns:a16="http://schemas.microsoft.com/office/drawing/2014/main" id="{7A60EC90-3314-4B6F-A087-31E0F12D88BF}"/>
              </a:ext>
            </a:extLst>
          </p:cNvPr>
          <p:cNvSpPr>
            <a:spLocks xmlns:a="http://schemas.openxmlformats.org/drawingml/2006/main" noGrp="1"/>
          </p:cNvSpPr>
          <p:nvPr/>
        </p:nvSpPr>
        <p:spPr>
          <a:xfrm xmlns:a="http://schemas.openxmlformats.org/drawingml/2006/main">
            <a:off x="838200" y="5543550"/>
            <a:ext cx="1052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B8C1D1"/>
                </a:solidFill>
                <a:latin typeface="Avenir Next"/>
                <a:ea typeface="Avenir Next"/>
                <a:cs typeface="Avenir Next"/>
              </a:defRPr>
            </a:defPPr>
          </a:lstStyle>
          <a:p xmlns:a="http://schemas.openxmlformats.org/drawingml/2006/main">
            <a:pPr algn="ctr">
              <a:defRPr sz="1275" b="1" i="0">
                <a:solidFill>
                  <a:srgbClr val="B8C1D1"/>
                </a:solidFill>
                <a:latin typeface="Avenir Next"/>
                <a:ea typeface="Avenir Next"/>
                <a:cs typeface="Avenir Next"/>
              </a:defRPr>
            </a:pPr>
            <a:r>
              <a:rPr sz="1275" b="1" i="0">
                <a:solidFill>
                  <a:srgbClr val="B8C1D1"/>
                </a:solidFill>
                <a:latin typeface="Avenir Next"/>
                <a:ea typeface="Avenir Next"/>
                <a:cs typeface="Avenir Next"/>
              </a:rPr>
              <a:t>These systems address workflow, uncertainty, and agent security. OrchLang checks equality of modeled bill traces.</a:t>
            </a:r>
          </a:p>
        </p:txBody>
      </p:sp>
    </p:spTree>
    <p:extLst>
      <p:ext uri="{BB962C8B-B14F-4D97-AF65-F5344CB8AC3E}">
        <p14:creationId xmlns:p14="http://schemas.microsoft.com/office/powerpoint/2010/main" val="1979891875"/>
      </p:ext>
    </p:extLst>
  </p:cSld>
</p:sld>
</file>

<file path=ppt/slides/slide2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52" name="s26-brand">
            <a:extLst xmlns:a="http://schemas.openxmlformats.org/drawingml/2006/main">
              <a:ext uri="{FF2B5EF4-FFF2-40B4-BE49-F238E27FC236}">
                <a16:creationId xmlns:a16="http://schemas.microsoft.com/office/drawing/2014/main" id="{BAB37A78-DA75-4238-981F-C3846865B28E}"/>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6-section">
            <a:extLst xmlns:a="http://schemas.openxmlformats.org/drawingml/2006/main">
              <a:ext uri="{FF2B5EF4-FFF2-40B4-BE49-F238E27FC236}">
                <a16:creationId xmlns:a16="http://schemas.microsoft.com/office/drawing/2014/main" id="{92AEF507-5C07-4BE0-9F10-368BADB0BF04}"/>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A8</a:t>
            </a:r>
          </a:p>
        </p:txBody>
      </p:sp>
      <p:sp>
        <p:nvSpPr>
          <p:cNvPr id="3" name="s26-title">
            <a:extLst xmlns:a="http://schemas.openxmlformats.org/drawingml/2006/main">
              <a:ext uri="{FF2B5EF4-FFF2-40B4-BE49-F238E27FC236}">
                <a16:creationId xmlns:a16="http://schemas.microsoft.com/office/drawing/2014/main" id="{B8D993BA-EDFA-4933-A81C-B654F2AAED6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References and the updated novelty rubric</a:t>
            </a:r>
          </a:p>
        </p:txBody>
      </p:sp>
      <p:sp>
        <p:nvSpPr>
          <p:cNvPr id="4" name="s26-source-rule">
            <a:extLst xmlns:a="http://schemas.openxmlformats.org/drawingml/2006/main">
              <a:ext uri="{FF2B5EF4-FFF2-40B4-BE49-F238E27FC236}">
                <a16:creationId xmlns:a16="http://schemas.microsoft.com/office/drawing/2014/main" id="{A5E80691-B214-4B3C-B22F-84157A677B2E}"/>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26-sources">
            <a:extLst xmlns:a="http://schemas.openxmlformats.org/drawingml/2006/main">
              <a:ext uri="{FF2B5EF4-FFF2-40B4-BE49-F238E27FC236}">
                <a16:creationId xmlns:a16="http://schemas.microsoft.com/office/drawing/2014/main" id="{04B32C5D-A835-4942-90DF-C82004AE2C29}"/>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sources.md; docs/RESEARCH_REVIEW_2026-10-09.md; docs/PRIOR_ART_MATRIX.md; LICENSE; CITATION.cff; upstream notices</a:t>
            </a:r>
          </a:p>
        </p:txBody>
      </p:sp>
      <p:sp>
        <p:nvSpPr>
          <p:cNvPr id="6" name="s26-footer-rule">
            <a:extLst xmlns:a="http://schemas.openxmlformats.org/drawingml/2006/main">
              <a:ext uri="{FF2B5EF4-FFF2-40B4-BE49-F238E27FC236}">
                <a16:creationId xmlns:a16="http://schemas.microsoft.com/office/drawing/2014/main" id="{D761478C-9D99-49A0-BC69-E3D0CB292460}"/>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26-footer">
            <a:extLst xmlns:a="http://schemas.openxmlformats.org/drawingml/2006/main">
              <a:ext uri="{FF2B5EF4-FFF2-40B4-BE49-F238E27FC236}">
                <a16:creationId xmlns:a16="http://schemas.microsoft.com/office/drawing/2014/main" id="{B79D237E-F327-4023-B023-252FC3812C6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26-page">
            <a:extLst xmlns:a="http://schemas.openxmlformats.org/drawingml/2006/main">
              <a:ext uri="{FF2B5EF4-FFF2-40B4-BE49-F238E27FC236}">
                <a16:creationId xmlns:a16="http://schemas.microsoft.com/office/drawing/2014/main" id="{874A5A40-D1AD-4753-AF53-44CD13290C32}"/>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A8</a:t>
            </a:r>
          </a:p>
        </p:txBody>
      </p:sp>
      <p:sp>
        <p:nvSpPr>
          <p:cNvPr id="9" name="ref-0">
            <a:extLst xmlns:a="http://schemas.openxmlformats.org/drawingml/2006/main">
              <a:ext uri="{FF2B5EF4-FFF2-40B4-BE49-F238E27FC236}">
                <a16:creationId xmlns:a16="http://schemas.microsoft.com/office/drawing/2014/main" id="{7AF79A6B-8F4E-4EE1-886B-6F7DA6B3CFA1}"/>
              </a:ext>
            </a:extLst>
          </p:cNvPr>
          <p:cNvSpPr>
            <a:spLocks xmlns:a="http://schemas.openxmlformats.org/drawingml/2006/main" noGrp="1"/>
          </p:cNvSpPr>
          <p:nvPr/>
        </p:nvSpPr>
        <p:spPr>
          <a:xfrm xmlns:a="http://schemas.openxmlformats.org/drawingml/2006/main">
            <a:off x="742950" y="260032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0" i="0">
                <a:solidFill>
                  <a:srgbClr val="141B2B"/>
                </a:solidFill>
                <a:latin typeface="Avenir Next"/>
                <a:ea typeface="Avenir Next"/>
                <a:cs typeface="Avenir Next"/>
              </a:defRPr>
            </a:defPPr>
          </a:lstStyle>
          <a:p xmlns:a="http://schemas.openxmlformats.org/drawingml/2006/main">
            <a:pPr algn="l">
              <a:defRPr sz="1088" b="0" i="0">
                <a:solidFill>
                  <a:srgbClr val="141B2B"/>
                </a:solidFill>
                <a:latin typeface="Avenir Next"/>
                <a:ea typeface="Avenir Next"/>
                <a:cs typeface="Avenir Next"/>
              </a:defRPr>
            </a:pPr>
            <a:r>
              <a:rPr sz="1088" b="0" i="0">
                <a:solidFill>
                  <a:srgbClr val="141B2B"/>
                </a:solidFill>
                <a:latin typeface="Avenir Next"/>
                <a:ea typeface="Avenir Next"/>
                <a:cs typeface="Avenir Next"/>
              </a:rPr>
              <a:t>[1] Ngo et al. · IEEE S&amp;P 2017 · resource-aware noninterference · DOI 10.1109/SP.2017.53</a:t>
            </a:r>
          </a:p>
        </p:txBody>
      </p:sp>
      <p:sp>
        <p:nvSpPr>
          <p:cNvPr id="10" name="ref-rule-0">
            <a:extLst xmlns:a="http://schemas.openxmlformats.org/drawingml/2006/main">
              <a:ext uri="{FF2B5EF4-FFF2-40B4-BE49-F238E27FC236}">
                <a16:creationId xmlns:a16="http://schemas.microsoft.com/office/drawing/2014/main" id="{157ACD4C-6BE1-4CBF-BE91-629E8AACD6D8}"/>
              </a:ext>
            </a:extLst>
          </p:cNvPr>
          <p:cNvSpPr>
            <a:spLocks xmlns:a="http://schemas.openxmlformats.org/drawingml/2006/main" noGrp="1"/>
          </p:cNvSpPr>
          <p:nvPr/>
        </p:nvSpPr>
        <p:spPr>
          <a:xfrm xmlns:a="http://schemas.openxmlformats.org/drawingml/2006/main">
            <a:off x="742950" y="2971800"/>
            <a:ext cx="6572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1" name="ref-1">
            <a:extLst xmlns:a="http://schemas.openxmlformats.org/drawingml/2006/main">
              <a:ext uri="{FF2B5EF4-FFF2-40B4-BE49-F238E27FC236}">
                <a16:creationId xmlns:a16="http://schemas.microsoft.com/office/drawing/2014/main" id="{35AFA366-9727-4CDC-BF20-0843EDB7DB69}"/>
              </a:ext>
            </a:extLst>
          </p:cNvPr>
          <p:cNvSpPr>
            <a:spLocks xmlns:a="http://schemas.openxmlformats.org/drawingml/2006/main" noGrp="1"/>
          </p:cNvSpPr>
          <p:nvPr/>
        </p:nvSpPr>
        <p:spPr>
          <a:xfrm xmlns:a="http://schemas.openxmlformats.org/drawingml/2006/main">
            <a:off x="742950" y="3009900"/>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0" i="0">
                <a:solidFill>
                  <a:srgbClr val="141B2B"/>
                </a:solidFill>
                <a:latin typeface="Avenir Next"/>
                <a:ea typeface="Avenir Next"/>
                <a:cs typeface="Avenir Next"/>
              </a:defRPr>
            </a:defPPr>
          </a:lstStyle>
          <a:p xmlns:a="http://schemas.openxmlformats.org/drawingml/2006/main">
            <a:pPr algn="l">
              <a:defRPr sz="1088" b="0" i="0">
                <a:solidFill>
                  <a:srgbClr val="141B2B"/>
                </a:solidFill>
                <a:latin typeface="Avenir Next"/>
                <a:ea typeface="Avenir Next"/>
                <a:cs typeface="Avenir Next"/>
              </a:defRPr>
            </a:pPr>
            <a:r>
              <a:rPr sz="1088" b="0" i="0">
                <a:solidFill>
                  <a:srgbClr val="141B2B"/>
                </a:solidFill>
                <a:latin typeface="Avenir Next"/>
                <a:ea typeface="Avenir Next"/>
                <a:cs typeface="Avenir Next"/>
              </a:rPr>
              <a:t>[2] Çiçek et al. · POPL 2017 · Relational Cost Analysis · DOI 10.1145/3009837.3009858</a:t>
            </a:r>
          </a:p>
        </p:txBody>
      </p:sp>
      <p:sp>
        <p:nvSpPr>
          <p:cNvPr id="12" name="ref-rule-1">
            <a:extLst xmlns:a="http://schemas.openxmlformats.org/drawingml/2006/main">
              <a:ext uri="{FF2B5EF4-FFF2-40B4-BE49-F238E27FC236}">
                <a16:creationId xmlns:a16="http://schemas.microsoft.com/office/drawing/2014/main" id="{A68E9E86-A401-4327-ADA8-6466FCEF849A}"/>
              </a:ext>
            </a:extLst>
          </p:cNvPr>
          <p:cNvSpPr>
            <a:spLocks xmlns:a="http://schemas.openxmlformats.org/drawingml/2006/main" noGrp="1"/>
          </p:cNvSpPr>
          <p:nvPr/>
        </p:nvSpPr>
        <p:spPr>
          <a:xfrm xmlns:a="http://schemas.openxmlformats.org/drawingml/2006/main">
            <a:off x="742950" y="3381375"/>
            <a:ext cx="6572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3" name="ref-2">
            <a:extLst xmlns:a="http://schemas.openxmlformats.org/drawingml/2006/main">
              <a:ext uri="{FF2B5EF4-FFF2-40B4-BE49-F238E27FC236}">
                <a16:creationId xmlns:a16="http://schemas.microsoft.com/office/drawing/2014/main" id="{B95D11DB-AB7E-40C6-A40E-A891BC27C2EA}"/>
              </a:ext>
            </a:extLst>
          </p:cNvPr>
          <p:cNvSpPr>
            <a:spLocks xmlns:a="http://schemas.openxmlformats.org/drawingml/2006/main" noGrp="1"/>
          </p:cNvSpPr>
          <p:nvPr/>
        </p:nvSpPr>
        <p:spPr>
          <a:xfrm xmlns:a="http://schemas.openxmlformats.org/drawingml/2006/main">
            <a:off x="742950" y="341947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0" i="0">
                <a:solidFill>
                  <a:srgbClr val="141B2B"/>
                </a:solidFill>
                <a:latin typeface="Avenir Next"/>
                <a:ea typeface="Avenir Next"/>
                <a:cs typeface="Avenir Next"/>
              </a:defRPr>
            </a:defPPr>
          </a:lstStyle>
          <a:p xmlns:a="http://schemas.openxmlformats.org/drawingml/2006/main">
            <a:pPr algn="l">
              <a:defRPr sz="1088" b="0" i="0">
                <a:solidFill>
                  <a:srgbClr val="141B2B"/>
                </a:solidFill>
                <a:latin typeface="Avenir Next"/>
                <a:ea typeface="Avenir Next"/>
                <a:cs typeface="Avenir Next"/>
              </a:defRPr>
            </a:pPr>
            <a:r>
              <a:rPr sz="1088" b="0" i="0">
                <a:solidFill>
                  <a:srgbClr val="141B2B"/>
                </a:solidFill>
                <a:latin typeface="Avenir Next"/>
                <a:ea typeface="Avenir Next"/>
                <a:cs typeface="Avenir Next"/>
              </a:rPr>
              <a:t>[3] Ngo et al. · PLDI 2018 · Bounded Expectations · DOI 10.1145/3192366.3192394</a:t>
            </a:r>
          </a:p>
        </p:txBody>
      </p:sp>
      <p:sp>
        <p:nvSpPr>
          <p:cNvPr id="14" name="ref-rule-2">
            <a:extLst xmlns:a="http://schemas.openxmlformats.org/drawingml/2006/main">
              <a:ext uri="{FF2B5EF4-FFF2-40B4-BE49-F238E27FC236}">
                <a16:creationId xmlns:a16="http://schemas.microsoft.com/office/drawing/2014/main" id="{F62905AA-1CC2-4472-A50A-7852B3679A19}"/>
              </a:ext>
            </a:extLst>
          </p:cNvPr>
          <p:cNvSpPr>
            <a:spLocks xmlns:a="http://schemas.openxmlformats.org/drawingml/2006/main" noGrp="1"/>
          </p:cNvSpPr>
          <p:nvPr/>
        </p:nvSpPr>
        <p:spPr>
          <a:xfrm xmlns:a="http://schemas.openxmlformats.org/drawingml/2006/main">
            <a:off x="742950" y="3790950"/>
            <a:ext cx="6572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5" name="ref-3">
            <a:extLst xmlns:a="http://schemas.openxmlformats.org/drawingml/2006/main">
              <a:ext uri="{FF2B5EF4-FFF2-40B4-BE49-F238E27FC236}">
                <a16:creationId xmlns:a16="http://schemas.microsoft.com/office/drawing/2014/main" id="{5DC4B046-B415-4039-A9AC-760D96647F84}"/>
              </a:ext>
            </a:extLst>
          </p:cNvPr>
          <p:cNvSpPr>
            <a:spLocks xmlns:a="http://schemas.openxmlformats.org/drawingml/2006/main" noGrp="1"/>
          </p:cNvSpPr>
          <p:nvPr/>
        </p:nvSpPr>
        <p:spPr>
          <a:xfrm xmlns:a="http://schemas.openxmlformats.org/drawingml/2006/main">
            <a:off x="742950" y="3829050"/>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0" i="0">
                <a:solidFill>
                  <a:srgbClr val="141B2B"/>
                </a:solidFill>
                <a:latin typeface="Avenir Next"/>
                <a:ea typeface="Avenir Next"/>
                <a:cs typeface="Avenir Next"/>
              </a:defRPr>
            </a:defPPr>
          </a:lstStyle>
          <a:p xmlns:a="http://schemas.openxmlformats.org/drawingml/2006/main">
            <a:pPr algn="l">
              <a:defRPr sz="1088" b="0" i="0">
                <a:solidFill>
                  <a:srgbClr val="141B2B"/>
                </a:solidFill>
                <a:latin typeface="Avenir Next"/>
                <a:ea typeface="Avenir Next"/>
                <a:cs typeface="Avenir Next"/>
              </a:defRPr>
            </a:pPr>
            <a:r>
              <a:rPr sz="1088" b="0" i="0">
                <a:solidFill>
                  <a:srgbClr val="141B2B"/>
                </a:solidFill>
                <a:latin typeface="Avenir Next"/>
                <a:ea typeface="Avenir Next"/>
                <a:cs typeface="Avenir Next"/>
              </a:rPr>
              <a:t>[4] Mandel et al. · ICML 2026 · PPDL · PMLR 306:86172–86197</a:t>
            </a:r>
          </a:p>
        </p:txBody>
      </p:sp>
      <p:sp>
        <p:nvSpPr>
          <p:cNvPr id="16" name="ref-rule-3">
            <a:extLst xmlns:a="http://schemas.openxmlformats.org/drawingml/2006/main">
              <a:ext uri="{FF2B5EF4-FFF2-40B4-BE49-F238E27FC236}">
                <a16:creationId xmlns:a16="http://schemas.microsoft.com/office/drawing/2014/main" id="{D93D13E1-9DBA-42F9-A7D4-C45D53088A4C}"/>
              </a:ext>
            </a:extLst>
          </p:cNvPr>
          <p:cNvSpPr>
            <a:spLocks xmlns:a="http://schemas.openxmlformats.org/drawingml/2006/main" noGrp="1"/>
          </p:cNvSpPr>
          <p:nvPr/>
        </p:nvSpPr>
        <p:spPr>
          <a:xfrm xmlns:a="http://schemas.openxmlformats.org/drawingml/2006/main">
            <a:off x="742950" y="4200525"/>
            <a:ext cx="6572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7" name="ref-4">
            <a:extLst xmlns:a="http://schemas.openxmlformats.org/drawingml/2006/main">
              <a:ext uri="{FF2B5EF4-FFF2-40B4-BE49-F238E27FC236}">
                <a16:creationId xmlns:a16="http://schemas.microsoft.com/office/drawing/2014/main" id="{285C7E32-AE0F-4E84-9A3D-8380ED7FAE0F}"/>
              </a:ext>
            </a:extLst>
          </p:cNvPr>
          <p:cNvSpPr>
            <a:spLocks xmlns:a="http://schemas.openxmlformats.org/drawingml/2006/main" noGrp="1"/>
          </p:cNvSpPr>
          <p:nvPr/>
        </p:nvSpPr>
        <p:spPr>
          <a:xfrm xmlns:a="http://schemas.openxmlformats.org/drawingml/2006/main">
            <a:off x="742950" y="423862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0" i="0">
                <a:solidFill>
                  <a:srgbClr val="141B2B"/>
                </a:solidFill>
                <a:latin typeface="Avenir Next"/>
                <a:ea typeface="Avenir Next"/>
                <a:cs typeface="Avenir Next"/>
              </a:defRPr>
            </a:defPPr>
          </a:lstStyle>
          <a:p xmlns:a="http://schemas.openxmlformats.org/drawingml/2006/main">
            <a:pPr algn="l">
              <a:defRPr sz="1088" b="0" i="0">
                <a:solidFill>
                  <a:srgbClr val="141B2B"/>
                </a:solidFill>
                <a:latin typeface="Avenir Next"/>
                <a:ea typeface="Avenir Next"/>
                <a:cs typeface="Avenir Next"/>
              </a:defRPr>
            </a:pPr>
            <a:r>
              <a:rPr sz="1088" b="0" i="0">
                <a:solidFill>
                  <a:srgbClr val="141B2B"/>
                </a:solidFill>
                <a:latin typeface="Avenir Next"/>
                <a:ea typeface="Avenir Next"/>
                <a:cs typeface="Avenir Next"/>
              </a:rPr>
              <a:t>[5] Basin &amp; Köpf · CCS 2007 · quantitative side channels · DOI 10.1145/1315245.1315282</a:t>
            </a:r>
          </a:p>
        </p:txBody>
      </p:sp>
      <p:sp>
        <p:nvSpPr>
          <p:cNvPr id="18" name="ref-rule-4">
            <a:extLst xmlns:a="http://schemas.openxmlformats.org/drawingml/2006/main">
              <a:ext uri="{FF2B5EF4-FFF2-40B4-BE49-F238E27FC236}">
                <a16:creationId xmlns:a16="http://schemas.microsoft.com/office/drawing/2014/main" id="{55D13575-A8E3-4574-AD6E-4FA090A3BFBE}"/>
              </a:ext>
            </a:extLst>
          </p:cNvPr>
          <p:cNvSpPr>
            <a:spLocks xmlns:a="http://schemas.openxmlformats.org/drawingml/2006/main" noGrp="1"/>
          </p:cNvSpPr>
          <p:nvPr/>
        </p:nvSpPr>
        <p:spPr>
          <a:xfrm xmlns:a="http://schemas.openxmlformats.org/drawingml/2006/main">
            <a:off x="742950" y="4610100"/>
            <a:ext cx="6572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9" name="ref-5">
            <a:extLst xmlns:a="http://schemas.openxmlformats.org/drawingml/2006/main">
              <a:ext uri="{FF2B5EF4-FFF2-40B4-BE49-F238E27FC236}">
                <a16:creationId xmlns:a16="http://schemas.microsoft.com/office/drawing/2014/main" id="{4F66F3F2-FAA4-49F1-AA01-301146EF7193}"/>
              </a:ext>
            </a:extLst>
          </p:cNvPr>
          <p:cNvSpPr>
            <a:spLocks xmlns:a="http://schemas.openxmlformats.org/drawingml/2006/main" noGrp="1"/>
          </p:cNvSpPr>
          <p:nvPr/>
        </p:nvSpPr>
        <p:spPr>
          <a:xfrm xmlns:a="http://schemas.openxmlformats.org/drawingml/2006/main">
            <a:off x="742950" y="4648200"/>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0" i="0">
                <a:solidFill>
                  <a:srgbClr val="141B2B"/>
                </a:solidFill>
                <a:latin typeface="Avenir Next"/>
                <a:ea typeface="Avenir Next"/>
                <a:cs typeface="Avenir Next"/>
              </a:defRPr>
            </a:defPPr>
          </a:lstStyle>
          <a:p xmlns:a="http://schemas.openxmlformats.org/drawingml/2006/main">
            <a:pPr algn="l">
              <a:defRPr sz="1088" b="0" i="0">
                <a:solidFill>
                  <a:srgbClr val="141B2B"/>
                </a:solidFill>
                <a:latin typeface="Avenir Next"/>
                <a:ea typeface="Avenir Next"/>
                <a:cs typeface="Avenir Next"/>
              </a:defRPr>
            </a:pPr>
            <a:r>
              <a:rPr sz="1088" b="0" i="0">
                <a:solidFill>
                  <a:srgbClr val="141B2B"/>
                </a:solidFill>
                <a:latin typeface="Avenir Next"/>
                <a:ea typeface="Avenir Next"/>
                <a:cs typeface="Avenir Next"/>
              </a:rPr>
              <a:t>[6] Weiss et al. · USENIX Security 2024 · token-length inference</a:t>
            </a:r>
          </a:p>
        </p:txBody>
      </p:sp>
      <p:sp>
        <p:nvSpPr>
          <p:cNvPr id="20" name="ref-rule-5">
            <a:extLst xmlns:a="http://schemas.openxmlformats.org/drawingml/2006/main">
              <a:ext uri="{FF2B5EF4-FFF2-40B4-BE49-F238E27FC236}">
                <a16:creationId xmlns:a16="http://schemas.microsoft.com/office/drawing/2014/main" id="{18ADEFCD-85B3-46CC-BB50-C849C8398C47}"/>
              </a:ext>
            </a:extLst>
          </p:cNvPr>
          <p:cNvSpPr>
            <a:spLocks xmlns:a="http://schemas.openxmlformats.org/drawingml/2006/main" noGrp="1"/>
          </p:cNvSpPr>
          <p:nvPr/>
        </p:nvSpPr>
        <p:spPr>
          <a:xfrm xmlns:a="http://schemas.openxmlformats.org/drawingml/2006/main">
            <a:off x="742950" y="5019675"/>
            <a:ext cx="6572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1" name="ref-6">
            <a:extLst xmlns:a="http://schemas.openxmlformats.org/drawingml/2006/main">
              <a:ext uri="{FF2B5EF4-FFF2-40B4-BE49-F238E27FC236}">
                <a16:creationId xmlns:a16="http://schemas.microsoft.com/office/drawing/2014/main" id="{90CC7835-C3DC-4F81-987B-AC825D0D7FCD}"/>
              </a:ext>
            </a:extLst>
          </p:cNvPr>
          <p:cNvSpPr>
            <a:spLocks xmlns:a="http://schemas.openxmlformats.org/drawingml/2006/main" noGrp="1"/>
          </p:cNvSpPr>
          <p:nvPr/>
        </p:nvSpPr>
        <p:spPr>
          <a:xfrm xmlns:a="http://schemas.openxmlformats.org/drawingml/2006/main">
            <a:off x="742950" y="505777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0" i="0">
                <a:solidFill>
                  <a:srgbClr val="141B2B"/>
                </a:solidFill>
                <a:latin typeface="Avenir Next"/>
                <a:ea typeface="Avenir Next"/>
                <a:cs typeface="Avenir Next"/>
              </a:defRPr>
            </a:defPPr>
          </a:lstStyle>
          <a:p xmlns:a="http://schemas.openxmlformats.org/drawingml/2006/main">
            <a:pPr algn="l">
              <a:defRPr sz="1088" b="0" i="0">
                <a:solidFill>
                  <a:srgbClr val="141B2B"/>
                </a:solidFill>
                <a:latin typeface="Avenir Next"/>
                <a:ea typeface="Avenir Next"/>
                <a:cs typeface="Avenir Next"/>
              </a:defRPr>
            </a:pPr>
            <a:r>
              <a:rPr sz="1088" b="0" i="0">
                <a:solidFill>
                  <a:srgbClr val="141B2B"/>
                </a:solidFill>
                <a:latin typeface="Avenir Next"/>
                <a:ea typeface="Avenir Next"/>
                <a:cs typeface="Avenir Next"/>
              </a:rPr>
              <a:t>[7] Zhang et al. · Time Will Tell · arXiv:2412.15431 (preprint)</a:t>
            </a:r>
          </a:p>
        </p:txBody>
      </p:sp>
      <p:sp>
        <p:nvSpPr>
          <p:cNvPr id="22" name="ref-rule-6">
            <a:extLst xmlns:a="http://schemas.openxmlformats.org/drawingml/2006/main">
              <a:ext uri="{FF2B5EF4-FFF2-40B4-BE49-F238E27FC236}">
                <a16:creationId xmlns:a16="http://schemas.microsoft.com/office/drawing/2014/main" id="{D59E3804-F8BE-484F-8C46-CCAFFAA65DBB}"/>
              </a:ext>
            </a:extLst>
          </p:cNvPr>
          <p:cNvSpPr>
            <a:spLocks xmlns:a="http://schemas.openxmlformats.org/drawingml/2006/main" noGrp="1"/>
          </p:cNvSpPr>
          <p:nvPr/>
        </p:nvSpPr>
        <p:spPr>
          <a:xfrm xmlns:a="http://schemas.openxmlformats.org/drawingml/2006/main">
            <a:off x="742950" y="5429250"/>
            <a:ext cx="6572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3" name="ref-7">
            <a:extLst xmlns:a="http://schemas.openxmlformats.org/drawingml/2006/main">
              <a:ext uri="{FF2B5EF4-FFF2-40B4-BE49-F238E27FC236}">
                <a16:creationId xmlns:a16="http://schemas.microsoft.com/office/drawing/2014/main" id="{9CB6F7A3-F265-44E2-A11D-F683ACF9F715}"/>
              </a:ext>
            </a:extLst>
          </p:cNvPr>
          <p:cNvSpPr>
            <a:spLocks xmlns:a="http://schemas.openxmlformats.org/drawingml/2006/main" noGrp="1"/>
          </p:cNvSpPr>
          <p:nvPr/>
        </p:nvSpPr>
        <p:spPr>
          <a:xfrm xmlns:a="http://schemas.openxmlformats.org/drawingml/2006/main">
            <a:off x="742950" y="5467350"/>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0" i="0">
                <a:solidFill>
                  <a:srgbClr val="141B2B"/>
                </a:solidFill>
                <a:latin typeface="Avenir Next"/>
                <a:ea typeface="Avenir Next"/>
                <a:cs typeface="Avenir Next"/>
              </a:defRPr>
            </a:defPPr>
          </a:lstStyle>
          <a:p xmlns:a="http://schemas.openxmlformats.org/drawingml/2006/main">
            <a:pPr algn="l">
              <a:defRPr sz="1088" b="0" i="0">
                <a:solidFill>
                  <a:srgbClr val="141B2B"/>
                </a:solidFill>
                <a:latin typeface="Avenir Next"/>
                <a:ea typeface="Avenir Next"/>
                <a:cs typeface="Avenir Next"/>
              </a:defRPr>
            </a:pPr>
            <a:r>
              <a:rPr sz="1088" b="0" i="0">
                <a:solidFill>
                  <a:srgbClr val="141B2B"/>
                </a:solidFill>
                <a:latin typeface="Avenir Next"/>
                <a:ea typeface="Avenir Next"/>
                <a:cs typeface="Avenir Next"/>
              </a:rPr>
              <a:t>[8] Dong et al. · ACL 2025 · APPL · DOI 10.18653/v1/2025.acl-long.63</a:t>
            </a:r>
          </a:p>
        </p:txBody>
      </p:sp>
      <p:sp>
        <p:nvSpPr>
          <p:cNvPr id="24" name="ref-heading">
            <a:extLst xmlns:a="http://schemas.openxmlformats.org/drawingml/2006/main">
              <a:ext uri="{FF2B5EF4-FFF2-40B4-BE49-F238E27FC236}">
                <a16:creationId xmlns:a16="http://schemas.microsoft.com/office/drawing/2014/main" id="{1AF421CF-9EED-4F3D-A9B5-760510331331}"/>
              </a:ext>
            </a:extLst>
          </p:cNvPr>
          <p:cNvSpPr>
            <a:spLocks xmlns:a="http://schemas.openxmlformats.org/drawingml/2006/main" noGrp="1"/>
          </p:cNvSpPr>
          <p:nvPr/>
        </p:nvSpPr>
        <p:spPr>
          <a:xfrm xmlns:a="http://schemas.openxmlformats.org/drawingml/2006/main">
            <a:off x="742950" y="22669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F6F66"/>
                </a:solidFill>
                <a:latin typeface="Avenir Next"/>
                <a:ea typeface="Avenir Next"/>
                <a:cs typeface="Avenir Next"/>
              </a:defRPr>
            </a:defPPr>
          </a:lstStyle>
          <a:p xmlns:a="http://schemas.openxmlformats.org/drawingml/2006/main">
            <a:pPr algn="l">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CORE REFERENCES</a:t>
            </a:r>
          </a:p>
        </p:txBody>
      </p:sp>
      <p:sp>
        <p:nvSpPr>
          <p:cNvPr id="25" name="ref-column-rule">
            <a:extLst xmlns:a="http://schemas.openxmlformats.org/drawingml/2006/main">
              <a:ext uri="{FF2B5EF4-FFF2-40B4-BE49-F238E27FC236}">
                <a16:creationId xmlns:a16="http://schemas.microsoft.com/office/drawing/2014/main" id="{47C38550-E055-4A47-9415-AF8F600E41CC}"/>
              </a:ext>
            </a:extLst>
          </p:cNvPr>
          <p:cNvSpPr>
            <a:spLocks xmlns:a="http://schemas.openxmlformats.org/drawingml/2006/main" noGrp="1"/>
          </p:cNvSpPr>
          <p:nvPr/>
        </p:nvSpPr>
        <p:spPr>
          <a:xfrm xmlns:a="http://schemas.openxmlformats.org/drawingml/2006/main">
            <a:off x="7467600" y="2266950"/>
            <a:ext cx="9525" cy="3638550"/>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6" name="novelty-panel">
            <a:extLst xmlns:a="http://schemas.openxmlformats.org/drawingml/2006/main">
              <a:ext uri="{FF2B5EF4-FFF2-40B4-BE49-F238E27FC236}">
                <a16:creationId xmlns:a16="http://schemas.microsoft.com/office/drawing/2014/main" id="{D98D9B1D-C265-4D18-B359-057074A532AA}"/>
              </a:ext>
            </a:extLst>
          </p:cNvPr>
          <p:cNvSpPr>
            <a:spLocks xmlns:a="http://schemas.openxmlformats.org/drawingml/2006/main" noGrp="1"/>
          </p:cNvSpPr>
          <p:nvPr/>
        </p:nvSpPr>
        <p:spPr>
          <a:xfrm xmlns:a="http://schemas.openxmlformats.org/drawingml/2006/main">
            <a:off x="7696200" y="2266950"/>
            <a:ext cx="3810000" cy="3638550"/>
          </a:xfrm>
          <a:prstGeom xmlns:a="http://schemas.openxmlformats.org/drawingml/2006/main" prst="roundRect">
            <a:avLst>
              <a:gd name="adj" fmla="val 2618"/>
            </a:avLst>
          </a:prstGeom>
          <a:solidFill xmlns:a="http://schemas.openxmlformats.org/drawingml/2006/main">
            <a:srgbClr val="131A29"/>
          </a:solidFill>
          <a:ln xmlns:a="http://schemas.openxmlformats.org/drawingml/2006/main" w="9525">
            <a:solidFill>
              <a:srgbClr val="343D50"/>
            </a:solidFill>
            <a:prstDash val="solid"/>
          </a:ln>
        </p:spPr>
      </p:sp>
      <p:sp>
        <p:nvSpPr>
          <p:cNvPr id="27" name="novelty-heading">
            <a:extLst xmlns:a="http://schemas.openxmlformats.org/drawingml/2006/main">
              <a:ext uri="{FF2B5EF4-FFF2-40B4-BE49-F238E27FC236}">
                <a16:creationId xmlns:a16="http://schemas.microsoft.com/office/drawing/2014/main" id="{EDB8C65A-63CB-4B85-8FD2-AEB59245281F}"/>
              </a:ext>
            </a:extLst>
          </p:cNvPr>
          <p:cNvSpPr>
            <a:spLocks xmlns:a="http://schemas.openxmlformats.org/drawingml/2006/main" noGrp="1"/>
          </p:cNvSpPr>
          <p:nvPr/>
        </p:nvSpPr>
        <p:spPr>
          <a:xfrm xmlns:a="http://schemas.openxmlformats.org/drawingml/2006/main">
            <a:off x="7905750" y="2447925"/>
            <a:ext cx="3371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CC8B8"/>
                </a:solidFill>
                <a:latin typeface="Avenir Next"/>
                <a:ea typeface="Avenir Next"/>
                <a:cs typeface="Avenir Next"/>
              </a:defRPr>
            </a:defPPr>
          </a:lstStyle>
          <a:p xmlns:a="http://schemas.openxmlformats.org/drawingml/2006/main">
            <a:pPr algn="l">
              <a:defRPr sz="1125" b="1" i="0">
                <a:solidFill>
                  <a:srgbClr val="5CC8B8"/>
                </a:solidFill>
                <a:latin typeface="Avenir Next"/>
                <a:ea typeface="Avenir Next"/>
                <a:cs typeface="Avenir Next"/>
              </a:defRPr>
            </a:pPr>
            <a:r>
              <a:rPr sz="1125" b="1" i="0">
                <a:solidFill>
                  <a:srgbClr val="5CC8B8"/>
                </a:solidFill>
                <a:latin typeface="Avenir Next"/>
                <a:ea typeface="Avenir Next"/>
                <a:cs typeface="Avenir Next"/>
              </a:rPr>
              <a:t>NOVELTY RUBRIC  ·  0–10</a:t>
            </a:r>
          </a:p>
        </p:txBody>
      </p:sp>
      <p:sp>
        <p:nvSpPr>
          <p:cNvPr id="28" name="novelty-scale">
            <a:extLst xmlns:a="http://schemas.openxmlformats.org/drawingml/2006/main">
              <a:ext uri="{FF2B5EF4-FFF2-40B4-BE49-F238E27FC236}">
                <a16:creationId xmlns:a16="http://schemas.microsoft.com/office/drawing/2014/main" id="{CE937CE2-1C75-4458-9026-2B0792791CB9}"/>
              </a:ext>
            </a:extLst>
          </p:cNvPr>
          <p:cNvSpPr>
            <a:spLocks xmlns:a="http://schemas.openxmlformats.org/drawingml/2006/main" noGrp="1"/>
          </p:cNvSpPr>
          <p:nvPr/>
        </p:nvSpPr>
        <p:spPr>
          <a:xfrm xmlns:a="http://schemas.openxmlformats.org/drawingml/2006/main">
            <a:off x="7905750" y="272415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B8C1D1"/>
                </a:solidFill>
                <a:latin typeface="Avenir Next"/>
                <a:ea typeface="Avenir Next"/>
                <a:cs typeface="Avenir Next"/>
              </a:defRPr>
            </a:defPPr>
          </a:lstStyle>
          <a:p xmlns:a="http://schemas.openxmlformats.org/drawingml/2006/main">
            <a:pPr algn="l">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5 = focused contribution from established ideas</a:t>
            </a:r>
          </a:p>
          <a:p xmlns:a="http://schemas.openxmlformats.org/drawingml/2006/main">
            <a:pPr algn="l">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10 = major field-level advance · not acceptance odds</a:t>
            </a:r>
          </a:p>
        </p:txBody>
      </p:sp>
      <p:sp>
        <p:nvSpPr>
          <p:cNvPr id="29" name="novelty-legend-before">
            <a:extLst xmlns:a="http://schemas.openxmlformats.org/drawingml/2006/main">
              <a:ext uri="{FF2B5EF4-FFF2-40B4-BE49-F238E27FC236}">
                <a16:creationId xmlns:a16="http://schemas.microsoft.com/office/drawing/2014/main" id="{51847240-5B7D-49A4-8979-A38AE9AC3B15}"/>
              </a:ext>
            </a:extLst>
          </p:cNvPr>
          <p:cNvSpPr>
            <a:spLocks xmlns:a="http://schemas.openxmlformats.org/drawingml/2006/main" noGrp="1"/>
          </p:cNvSpPr>
          <p:nvPr/>
        </p:nvSpPr>
        <p:spPr>
          <a:xfrm xmlns:a="http://schemas.openxmlformats.org/drawingml/2006/main">
            <a:off x="7905750" y="317182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B8C1D1"/>
                </a:solidFill>
                <a:latin typeface="Avenir Next"/>
                <a:ea typeface="Avenir Next"/>
                <a:cs typeface="Avenir Next"/>
              </a:defRPr>
            </a:defPPr>
          </a:lstStyle>
          <a:p xmlns:a="http://schemas.openxmlformats.org/drawingml/2006/main">
            <a:pPr algn="l">
              <a:defRPr sz="900" b="1" i="0">
                <a:solidFill>
                  <a:srgbClr val="B8C1D1"/>
                </a:solidFill>
                <a:latin typeface="Avenir Next"/>
                <a:ea typeface="Avenir Next"/>
                <a:cs typeface="Avenir Next"/>
              </a:defRPr>
            </a:pPr>
            <a:r>
              <a:rPr sz="900" b="1" i="0">
                <a:solidFill>
                  <a:srgbClr val="B8C1D1"/>
                </a:solidFill>
                <a:latin typeface="Avenir Next"/>
                <a:ea typeface="Avenir Next"/>
                <a:cs typeface="Avenir Next"/>
              </a:rPr>
              <a:t>BEFORE</a:t>
            </a:r>
          </a:p>
        </p:txBody>
      </p:sp>
      <p:sp>
        <p:nvSpPr>
          <p:cNvPr id="30" name="novelty-legend-current">
            <a:extLst xmlns:a="http://schemas.openxmlformats.org/drawingml/2006/main">
              <a:ext uri="{FF2B5EF4-FFF2-40B4-BE49-F238E27FC236}">
                <a16:creationId xmlns:a16="http://schemas.microsoft.com/office/drawing/2014/main" id="{38C1611D-F807-4B23-9AFF-9481C0C7C358}"/>
              </a:ext>
            </a:extLst>
          </p:cNvPr>
          <p:cNvSpPr>
            <a:spLocks xmlns:a="http://schemas.openxmlformats.org/drawingml/2006/main" noGrp="1"/>
          </p:cNvSpPr>
          <p:nvPr/>
        </p:nvSpPr>
        <p:spPr>
          <a:xfrm xmlns:a="http://schemas.openxmlformats.org/drawingml/2006/main">
            <a:off x="10210800" y="317182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i="0">
                <a:solidFill>
                  <a:srgbClr val="5CC8B8"/>
                </a:solidFill>
                <a:latin typeface="Avenir Next"/>
                <a:ea typeface="Avenir Next"/>
                <a:cs typeface="Avenir Next"/>
              </a:defRPr>
            </a:defPPr>
          </a:lstStyle>
          <a:p xmlns:a="http://schemas.openxmlformats.org/drawingml/2006/main">
            <a:pPr algn="r">
              <a:defRPr sz="900" b="1" i="0">
                <a:solidFill>
                  <a:srgbClr val="5CC8B8"/>
                </a:solidFill>
                <a:latin typeface="Avenir Next"/>
                <a:ea typeface="Avenir Next"/>
                <a:cs typeface="Avenir Next"/>
              </a:defRPr>
            </a:pPr>
            <a:r>
              <a:rPr sz="900" b="1" i="0">
                <a:solidFill>
                  <a:srgbClr val="5CC8B8"/>
                </a:solidFill>
                <a:latin typeface="Avenir Next"/>
                <a:ea typeface="Avenir Next"/>
                <a:cs typeface="Avenir Next"/>
              </a:rPr>
              <a:t>CURRENT</a:t>
            </a:r>
          </a:p>
        </p:txBody>
      </p:sp>
      <p:sp>
        <p:nvSpPr>
          <p:cNvPr id="31" name="novelty-label-0">
            <a:extLst xmlns:a="http://schemas.openxmlformats.org/drawingml/2006/main">
              <a:ext uri="{FF2B5EF4-FFF2-40B4-BE49-F238E27FC236}">
                <a16:creationId xmlns:a16="http://schemas.microsoft.com/office/drawing/2014/main" id="{ED79E662-A66C-4B7E-A9EE-E6D1F4023A7A}"/>
              </a:ext>
            </a:extLst>
          </p:cNvPr>
          <p:cNvSpPr>
            <a:spLocks xmlns:a="http://schemas.openxmlformats.org/drawingml/2006/main" noGrp="1"/>
          </p:cNvSpPr>
          <p:nvPr/>
        </p:nvSpPr>
        <p:spPr>
          <a:xfrm xmlns:a="http://schemas.openxmlformats.org/drawingml/2006/main">
            <a:off x="7905750" y="339090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1" i="0">
                <a:solidFill>
                  <a:srgbClr val="F5F2EA"/>
                </a:solidFill>
                <a:latin typeface="Avenir Next"/>
                <a:ea typeface="Avenir Next"/>
                <a:cs typeface="Avenir Next"/>
              </a:defRPr>
            </a:defPPr>
          </a:lstStyle>
          <a:p xmlns:a="http://schemas.openxmlformats.org/drawingml/2006/main">
            <a:pPr algn="l">
              <a:defRPr sz="1163" b="1" i="0">
                <a:solidFill>
                  <a:srgbClr val="F5F2EA"/>
                </a:solidFill>
                <a:latin typeface="Avenir Next"/>
                <a:ea typeface="Avenir Next"/>
                <a:cs typeface="Avenir Next"/>
              </a:defRPr>
            </a:pPr>
            <a:r>
              <a:rPr sz="1163" b="1" i="0">
                <a:solidFill>
                  <a:srgbClr val="F5F2EA"/>
                </a:solidFill>
                <a:latin typeface="Avenir Next"/>
                <a:ea typeface="Avenir Next"/>
                <a:cs typeface="Avenir Next"/>
              </a:rPr>
              <a:t>Overall applied</a:t>
            </a:r>
          </a:p>
        </p:txBody>
      </p:sp>
      <p:sp>
        <p:nvSpPr>
          <p:cNvPr id="32" name="novelty-score-0">
            <a:extLst xmlns:a="http://schemas.openxmlformats.org/drawingml/2006/main">
              <a:ext uri="{FF2B5EF4-FFF2-40B4-BE49-F238E27FC236}">
                <a16:creationId xmlns:a16="http://schemas.microsoft.com/office/drawing/2014/main" id="{9142EC9E-23A9-4C43-A353-C3106E65575F}"/>
              </a:ext>
            </a:extLst>
          </p:cNvPr>
          <p:cNvSpPr>
            <a:spLocks xmlns:a="http://schemas.openxmlformats.org/drawingml/2006/main" noGrp="1"/>
          </p:cNvSpPr>
          <p:nvPr/>
        </p:nvSpPr>
        <p:spPr>
          <a:xfrm xmlns:a="http://schemas.openxmlformats.org/drawingml/2006/main">
            <a:off x="10001250" y="339090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13" b="1" i="0">
                <a:solidFill>
                  <a:srgbClr val="FF8A5C"/>
                </a:solidFill>
                <a:latin typeface="Avenir Next"/>
                <a:ea typeface="Avenir Next"/>
                <a:cs typeface="Avenir Next"/>
              </a:defRPr>
            </a:defPPr>
          </a:lstStyle>
          <a:p xmlns:a="http://schemas.openxmlformats.org/drawingml/2006/main">
            <a:pPr algn="r">
              <a:defRPr sz="1013" b="1" i="0">
                <a:solidFill>
                  <a:srgbClr val="FF8A5C"/>
                </a:solidFill>
                <a:latin typeface="Avenir Next"/>
                <a:ea typeface="Avenir Next"/>
                <a:cs typeface="Avenir Next"/>
              </a:defRPr>
            </a:pPr>
            <a:r>
              <a:rPr sz="1013" b="1" i="0">
                <a:solidFill>
                  <a:srgbClr val="FF8A5C"/>
                </a:solidFill>
                <a:latin typeface="Avenir Next"/>
                <a:ea typeface="Avenir Next"/>
                <a:cs typeface="Avenir Next"/>
              </a:rPr>
              <a:t>4.5 → 5.5  (+1.0)</a:t>
            </a:r>
          </a:p>
        </p:txBody>
      </p:sp>
      <p:sp>
        <p:nvSpPr>
          <p:cNvPr id="33" name="novelty-track-before-0">
            <a:extLst xmlns:a="http://schemas.openxmlformats.org/drawingml/2006/main">
              <a:ext uri="{FF2B5EF4-FFF2-40B4-BE49-F238E27FC236}">
                <a16:creationId xmlns:a16="http://schemas.microsoft.com/office/drawing/2014/main" id="{382AD8AD-9C2D-466F-9D66-E4DF23CDB468}"/>
              </a:ext>
            </a:extLst>
          </p:cNvPr>
          <p:cNvSpPr>
            <a:spLocks xmlns:a="http://schemas.openxmlformats.org/drawingml/2006/main" noGrp="1"/>
          </p:cNvSpPr>
          <p:nvPr/>
        </p:nvSpPr>
        <p:spPr>
          <a:xfrm xmlns:a="http://schemas.openxmlformats.org/drawingml/2006/main">
            <a:off x="7905750" y="3686175"/>
            <a:ext cx="3333750" cy="5715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34" name="novelty-bar-before-0">
            <a:extLst xmlns:a="http://schemas.openxmlformats.org/drawingml/2006/main">
              <a:ext uri="{FF2B5EF4-FFF2-40B4-BE49-F238E27FC236}">
                <a16:creationId xmlns:a16="http://schemas.microsoft.com/office/drawing/2014/main" id="{6AED79D3-7606-415D-AFDF-6C7B809235D7}"/>
              </a:ext>
            </a:extLst>
          </p:cNvPr>
          <p:cNvSpPr>
            <a:spLocks xmlns:a="http://schemas.openxmlformats.org/drawingml/2006/main" noGrp="1"/>
          </p:cNvSpPr>
          <p:nvPr/>
        </p:nvSpPr>
        <p:spPr>
          <a:xfrm xmlns:a="http://schemas.openxmlformats.org/drawingml/2006/main">
            <a:off x="7905750" y="3686175"/>
            <a:ext cx="1500188" cy="571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35" name="novelty-track-current-0">
            <a:extLst xmlns:a="http://schemas.openxmlformats.org/drawingml/2006/main">
              <a:ext uri="{FF2B5EF4-FFF2-40B4-BE49-F238E27FC236}">
                <a16:creationId xmlns:a16="http://schemas.microsoft.com/office/drawing/2014/main" id="{34192F90-1289-4B40-9200-B374811E1789}"/>
              </a:ext>
            </a:extLst>
          </p:cNvPr>
          <p:cNvSpPr>
            <a:spLocks xmlns:a="http://schemas.openxmlformats.org/drawingml/2006/main" noGrp="1"/>
          </p:cNvSpPr>
          <p:nvPr/>
        </p:nvSpPr>
        <p:spPr>
          <a:xfrm xmlns:a="http://schemas.openxmlformats.org/drawingml/2006/main">
            <a:off x="7905750" y="3810000"/>
            <a:ext cx="3333750" cy="5715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36" name="novelty-bar-current-0">
            <a:extLst xmlns:a="http://schemas.openxmlformats.org/drawingml/2006/main">
              <a:ext uri="{FF2B5EF4-FFF2-40B4-BE49-F238E27FC236}">
                <a16:creationId xmlns:a16="http://schemas.microsoft.com/office/drawing/2014/main" id="{F2F74A2F-5DAD-4A80-99FE-0187415BFE99}"/>
              </a:ext>
            </a:extLst>
          </p:cNvPr>
          <p:cNvSpPr>
            <a:spLocks xmlns:a="http://schemas.openxmlformats.org/drawingml/2006/main" noGrp="1"/>
          </p:cNvSpPr>
          <p:nvPr/>
        </p:nvSpPr>
        <p:spPr>
          <a:xfrm xmlns:a="http://schemas.openxmlformats.org/drawingml/2006/main">
            <a:off x="7905750" y="3810000"/>
            <a:ext cx="1833563" cy="571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37" name="novelty-separator-0">
            <a:extLst xmlns:a="http://schemas.openxmlformats.org/drawingml/2006/main">
              <a:ext uri="{FF2B5EF4-FFF2-40B4-BE49-F238E27FC236}">
                <a16:creationId xmlns:a16="http://schemas.microsoft.com/office/drawing/2014/main" id="{BD3686CC-0F33-4E47-A5FD-F8AC996E0985}"/>
              </a:ext>
            </a:extLst>
          </p:cNvPr>
          <p:cNvSpPr>
            <a:spLocks xmlns:a="http://schemas.openxmlformats.org/drawingml/2006/main" noGrp="1"/>
          </p:cNvSpPr>
          <p:nvPr/>
        </p:nvSpPr>
        <p:spPr>
          <a:xfrm xmlns:a="http://schemas.openxmlformats.org/drawingml/2006/main">
            <a:off x="7905750" y="4019550"/>
            <a:ext cx="33337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38" name="novelty-label-1">
            <a:extLst xmlns:a="http://schemas.openxmlformats.org/drawingml/2006/main">
              <a:ext uri="{FF2B5EF4-FFF2-40B4-BE49-F238E27FC236}">
                <a16:creationId xmlns:a16="http://schemas.microsoft.com/office/drawing/2014/main" id="{C0E46104-A6EE-4DFD-99BD-CCE75513A1FE}"/>
              </a:ext>
            </a:extLst>
          </p:cNvPr>
          <p:cNvSpPr>
            <a:spLocks xmlns:a="http://schemas.openxmlformats.org/drawingml/2006/main" noGrp="1"/>
          </p:cNvSpPr>
          <p:nvPr/>
        </p:nvSpPr>
        <p:spPr>
          <a:xfrm xmlns:a="http://schemas.openxmlformats.org/drawingml/2006/main">
            <a:off x="7905750" y="41719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1" i="0">
                <a:solidFill>
                  <a:srgbClr val="F5F2EA"/>
                </a:solidFill>
                <a:latin typeface="Avenir Next"/>
                <a:ea typeface="Avenir Next"/>
                <a:cs typeface="Avenir Next"/>
              </a:defRPr>
            </a:defPPr>
          </a:lstStyle>
          <a:p xmlns:a="http://schemas.openxmlformats.org/drawingml/2006/main">
            <a:pPr algn="l">
              <a:defRPr sz="1163" b="1" i="0">
                <a:solidFill>
                  <a:srgbClr val="F5F2EA"/>
                </a:solidFill>
                <a:latin typeface="Avenir Next"/>
                <a:ea typeface="Avenir Next"/>
                <a:cs typeface="Avenir Next"/>
              </a:defRPr>
            </a:pPr>
            <a:r>
              <a:rPr sz="1163" b="1" i="0">
                <a:solidFill>
                  <a:srgbClr val="F5F2EA"/>
                </a:solidFill>
                <a:latin typeface="Avenir Next"/>
                <a:ea typeface="Avenir Next"/>
                <a:cs typeface="Avenir Next"/>
              </a:rPr>
              <a:t>Domain-specific method</a:t>
            </a:r>
          </a:p>
        </p:txBody>
      </p:sp>
      <p:sp>
        <p:nvSpPr>
          <p:cNvPr id="39" name="novelty-score-1">
            <a:extLst xmlns:a="http://schemas.openxmlformats.org/drawingml/2006/main">
              <a:ext uri="{FF2B5EF4-FFF2-40B4-BE49-F238E27FC236}">
                <a16:creationId xmlns:a16="http://schemas.microsoft.com/office/drawing/2014/main" id="{5015BFBD-F331-402F-9A80-77EAE3DA1CFD}"/>
              </a:ext>
            </a:extLst>
          </p:cNvPr>
          <p:cNvSpPr>
            <a:spLocks xmlns:a="http://schemas.openxmlformats.org/drawingml/2006/main" noGrp="1"/>
          </p:cNvSpPr>
          <p:nvPr/>
        </p:nvSpPr>
        <p:spPr>
          <a:xfrm xmlns:a="http://schemas.openxmlformats.org/drawingml/2006/main">
            <a:off x="10001250" y="417195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13" b="1" i="0">
                <a:solidFill>
                  <a:srgbClr val="FF8A5C"/>
                </a:solidFill>
                <a:latin typeface="Avenir Next"/>
                <a:ea typeface="Avenir Next"/>
                <a:cs typeface="Avenir Next"/>
              </a:defRPr>
            </a:defPPr>
          </a:lstStyle>
          <a:p xmlns:a="http://schemas.openxmlformats.org/drawingml/2006/main">
            <a:pPr algn="r">
              <a:defRPr sz="1013" b="1" i="0">
                <a:solidFill>
                  <a:srgbClr val="FF8A5C"/>
                </a:solidFill>
                <a:latin typeface="Avenir Next"/>
                <a:ea typeface="Avenir Next"/>
                <a:cs typeface="Avenir Next"/>
              </a:defRPr>
            </a:pPr>
            <a:r>
              <a:rPr sz="1013" b="1" i="0">
                <a:solidFill>
                  <a:srgbClr val="FF8A5C"/>
                </a:solidFill>
                <a:latin typeface="Avenir Next"/>
                <a:ea typeface="Avenir Next"/>
                <a:cs typeface="Avenir Next"/>
              </a:rPr>
              <a:t>3.5 → 5.5  (+2.0)</a:t>
            </a:r>
          </a:p>
        </p:txBody>
      </p:sp>
      <p:sp>
        <p:nvSpPr>
          <p:cNvPr id="40" name="novelty-track-before-1">
            <a:extLst xmlns:a="http://schemas.openxmlformats.org/drawingml/2006/main">
              <a:ext uri="{FF2B5EF4-FFF2-40B4-BE49-F238E27FC236}">
                <a16:creationId xmlns:a16="http://schemas.microsoft.com/office/drawing/2014/main" id="{87AC36BC-25E5-48FC-816C-C8CD026FC206}"/>
              </a:ext>
            </a:extLst>
          </p:cNvPr>
          <p:cNvSpPr>
            <a:spLocks xmlns:a="http://schemas.openxmlformats.org/drawingml/2006/main" noGrp="1"/>
          </p:cNvSpPr>
          <p:nvPr/>
        </p:nvSpPr>
        <p:spPr>
          <a:xfrm xmlns:a="http://schemas.openxmlformats.org/drawingml/2006/main">
            <a:off x="7905750" y="4467225"/>
            <a:ext cx="3333750" cy="5715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41" name="novelty-bar-before-1">
            <a:extLst xmlns:a="http://schemas.openxmlformats.org/drawingml/2006/main">
              <a:ext uri="{FF2B5EF4-FFF2-40B4-BE49-F238E27FC236}">
                <a16:creationId xmlns:a16="http://schemas.microsoft.com/office/drawing/2014/main" id="{8F417D3C-B8A7-4B86-9112-852C7D1EA047}"/>
              </a:ext>
            </a:extLst>
          </p:cNvPr>
          <p:cNvSpPr>
            <a:spLocks xmlns:a="http://schemas.openxmlformats.org/drawingml/2006/main" noGrp="1"/>
          </p:cNvSpPr>
          <p:nvPr/>
        </p:nvSpPr>
        <p:spPr>
          <a:xfrm xmlns:a="http://schemas.openxmlformats.org/drawingml/2006/main">
            <a:off x="7905750" y="4467225"/>
            <a:ext cx="1166813" cy="571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42" name="novelty-track-current-1">
            <a:extLst xmlns:a="http://schemas.openxmlformats.org/drawingml/2006/main">
              <a:ext uri="{FF2B5EF4-FFF2-40B4-BE49-F238E27FC236}">
                <a16:creationId xmlns:a16="http://schemas.microsoft.com/office/drawing/2014/main" id="{C61A35BB-F590-4B47-88BE-87BBC0BA2C94}"/>
              </a:ext>
            </a:extLst>
          </p:cNvPr>
          <p:cNvSpPr>
            <a:spLocks xmlns:a="http://schemas.openxmlformats.org/drawingml/2006/main" noGrp="1"/>
          </p:cNvSpPr>
          <p:nvPr/>
        </p:nvSpPr>
        <p:spPr>
          <a:xfrm xmlns:a="http://schemas.openxmlformats.org/drawingml/2006/main">
            <a:off x="7905750" y="4591050"/>
            <a:ext cx="3333750" cy="5715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43" name="novelty-bar-current-1">
            <a:extLst xmlns:a="http://schemas.openxmlformats.org/drawingml/2006/main">
              <a:ext uri="{FF2B5EF4-FFF2-40B4-BE49-F238E27FC236}">
                <a16:creationId xmlns:a16="http://schemas.microsoft.com/office/drawing/2014/main" id="{3800FB3C-8547-4EEB-AA3C-8A060E2A2426}"/>
              </a:ext>
            </a:extLst>
          </p:cNvPr>
          <p:cNvSpPr>
            <a:spLocks xmlns:a="http://schemas.openxmlformats.org/drawingml/2006/main" noGrp="1"/>
          </p:cNvSpPr>
          <p:nvPr/>
        </p:nvSpPr>
        <p:spPr>
          <a:xfrm xmlns:a="http://schemas.openxmlformats.org/drawingml/2006/main">
            <a:off x="7905750" y="4591050"/>
            <a:ext cx="1833563" cy="571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44" name="novelty-separator-1">
            <a:extLst xmlns:a="http://schemas.openxmlformats.org/drawingml/2006/main">
              <a:ext uri="{FF2B5EF4-FFF2-40B4-BE49-F238E27FC236}">
                <a16:creationId xmlns:a16="http://schemas.microsoft.com/office/drawing/2014/main" id="{46FB8F6B-5F77-4E82-821D-53CA42CC24DA}"/>
              </a:ext>
            </a:extLst>
          </p:cNvPr>
          <p:cNvSpPr>
            <a:spLocks xmlns:a="http://schemas.openxmlformats.org/drawingml/2006/main" noGrp="1"/>
          </p:cNvSpPr>
          <p:nvPr/>
        </p:nvSpPr>
        <p:spPr>
          <a:xfrm xmlns:a="http://schemas.openxmlformats.org/drawingml/2006/main">
            <a:off x="7905750" y="4800600"/>
            <a:ext cx="33337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45" name="novelty-label-2">
            <a:extLst xmlns:a="http://schemas.openxmlformats.org/drawingml/2006/main">
              <a:ext uri="{FF2B5EF4-FFF2-40B4-BE49-F238E27FC236}">
                <a16:creationId xmlns:a16="http://schemas.microsoft.com/office/drawing/2014/main" id="{510488C6-EAD6-4A8D-89EE-48AB51387F7C}"/>
              </a:ext>
            </a:extLst>
          </p:cNvPr>
          <p:cNvSpPr>
            <a:spLocks xmlns:a="http://schemas.openxmlformats.org/drawingml/2006/main" noGrp="1"/>
          </p:cNvSpPr>
          <p:nvPr/>
        </p:nvSpPr>
        <p:spPr>
          <a:xfrm xmlns:a="http://schemas.openxmlformats.org/drawingml/2006/main">
            <a:off x="7905750" y="495300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1" i="0">
                <a:solidFill>
                  <a:srgbClr val="F5F2EA"/>
                </a:solidFill>
                <a:latin typeface="Avenir Next"/>
                <a:ea typeface="Avenir Next"/>
                <a:cs typeface="Avenir Next"/>
              </a:defRPr>
            </a:defPPr>
          </a:lstStyle>
          <a:p xmlns:a="http://schemas.openxmlformats.org/drawingml/2006/main">
            <a:pPr algn="l">
              <a:defRPr sz="1163" b="1" i="0">
                <a:solidFill>
                  <a:srgbClr val="F5F2EA"/>
                </a:solidFill>
                <a:latin typeface="Avenir Next"/>
                <a:ea typeface="Avenir Next"/>
                <a:cs typeface="Avenir Next"/>
              </a:defRPr>
            </a:pPr>
            <a:r>
              <a:rPr sz="1163" b="1" i="0">
                <a:solidFill>
                  <a:srgbClr val="F5F2EA"/>
                </a:solidFill>
                <a:latin typeface="Avenir Next"/>
                <a:ea typeface="Avenir Next"/>
                <a:cs typeface="Avenir Next"/>
              </a:rPr>
              <a:t>General theory</a:t>
            </a:r>
          </a:p>
        </p:txBody>
      </p:sp>
      <p:sp>
        <p:nvSpPr>
          <p:cNvPr id="46" name="novelty-score-2">
            <a:extLst xmlns:a="http://schemas.openxmlformats.org/drawingml/2006/main">
              <a:ext uri="{FF2B5EF4-FFF2-40B4-BE49-F238E27FC236}">
                <a16:creationId xmlns:a16="http://schemas.microsoft.com/office/drawing/2014/main" id="{2E87AA0A-C29B-4538-A14D-1201FF37B376}"/>
              </a:ext>
            </a:extLst>
          </p:cNvPr>
          <p:cNvSpPr>
            <a:spLocks xmlns:a="http://schemas.openxmlformats.org/drawingml/2006/main" noGrp="1"/>
          </p:cNvSpPr>
          <p:nvPr/>
        </p:nvSpPr>
        <p:spPr>
          <a:xfrm xmlns:a="http://schemas.openxmlformats.org/drawingml/2006/main">
            <a:off x="10001250" y="495300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13" b="1" i="0">
                <a:solidFill>
                  <a:srgbClr val="FF8A5C"/>
                </a:solidFill>
                <a:latin typeface="Avenir Next"/>
                <a:ea typeface="Avenir Next"/>
                <a:cs typeface="Avenir Next"/>
              </a:defRPr>
            </a:defPPr>
          </a:lstStyle>
          <a:p xmlns:a="http://schemas.openxmlformats.org/drawingml/2006/main">
            <a:pPr algn="r">
              <a:defRPr sz="1013" b="1" i="0">
                <a:solidFill>
                  <a:srgbClr val="FF8A5C"/>
                </a:solidFill>
                <a:latin typeface="Avenir Next"/>
                <a:ea typeface="Avenir Next"/>
                <a:cs typeface="Avenir Next"/>
              </a:defRPr>
            </a:pPr>
            <a:r>
              <a:rPr sz="1013" b="1" i="0">
                <a:solidFill>
                  <a:srgbClr val="FF8A5C"/>
                </a:solidFill>
                <a:latin typeface="Avenir Next"/>
                <a:ea typeface="Avenir Next"/>
                <a:cs typeface="Avenir Next"/>
              </a:rPr>
              <a:t>2.5 → 3.0  (+0.5)</a:t>
            </a:r>
          </a:p>
        </p:txBody>
      </p:sp>
      <p:sp>
        <p:nvSpPr>
          <p:cNvPr id="47" name="novelty-track-before-2">
            <a:extLst xmlns:a="http://schemas.openxmlformats.org/drawingml/2006/main">
              <a:ext uri="{FF2B5EF4-FFF2-40B4-BE49-F238E27FC236}">
                <a16:creationId xmlns:a16="http://schemas.microsoft.com/office/drawing/2014/main" id="{EC81F4CB-6744-4C7B-9450-C827C2EBEEE2}"/>
              </a:ext>
            </a:extLst>
          </p:cNvPr>
          <p:cNvSpPr>
            <a:spLocks xmlns:a="http://schemas.openxmlformats.org/drawingml/2006/main" noGrp="1"/>
          </p:cNvSpPr>
          <p:nvPr/>
        </p:nvSpPr>
        <p:spPr>
          <a:xfrm xmlns:a="http://schemas.openxmlformats.org/drawingml/2006/main">
            <a:off x="7905750" y="5248275"/>
            <a:ext cx="3333750" cy="5715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48" name="novelty-bar-before-2">
            <a:extLst xmlns:a="http://schemas.openxmlformats.org/drawingml/2006/main">
              <a:ext uri="{FF2B5EF4-FFF2-40B4-BE49-F238E27FC236}">
                <a16:creationId xmlns:a16="http://schemas.microsoft.com/office/drawing/2014/main" id="{6526BEF9-112B-4738-8193-8935E577E29D}"/>
              </a:ext>
            </a:extLst>
          </p:cNvPr>
          <p:cNvSpPr>
            <a:spLocks xmlns:a="http://schemas.openxmlformats.org/drawingml/2006/main" noGrp="1"/>
          </p:cNvSpPr>
          <p:nvPr/>
        </p:nvSpPr>
        <p:spPr>
          <a:xfrm xmlns:a="http://schemas.openxmlformats.org/drawingml/2006/main">
            <a:off x="7905750" y="5248275"/>
            <a:ext cx="833438" cy="571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49" name="novelty-track-current-2">
            <a:extLst xmlns:a="http://schemas.openxmlformats.org/drawingml/2006/main">
              <a:ext uri="{FF2B5EF4-FFF2-40B4-BE49-F238E27FC236}">
                <a16:creationId xmlns:a16="http://schemas.microsoft.com/office/drawing/2014/main" id="{1B1B2557-A7B2-4764-AD8A-4B7CFE26656B}"/>
              </a:ext>
            </a:extLst>
          </p:cNvPr>
          <p:cNvSpPr>
            <a:spLocks xmlns:a="http://schemas.openxmlformats.org/drawingml/2006/main" noGrp="1"/>
          </p:cNvSpPr>
          <p:nvPr/>
        </p:nvSpPr>
        <p:spPr>
          <a:xfrm xmlns:a="http://schemas.openxmlformats.org/drawingml/2006/main">
            <a:off x="7905750" y="5372100"/>
            <a:ext cx="3333750" cy="5715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0" name="novelty-bar-current-2">
            <a:extLst xmlns:a="http://schemas.openxmlformats.org/drawingml/2006/main">
              <a:ext uri="{FF2B5EF4-FFF2-40B4-BE49-F238E27FC236}">
                <a16:creationId xmlns:a16="http://schemas.microsoft.com/office/drawing/2014/main" id="{2C33F0AA-0D3E-4D01-A662-81EDA3DCAFF5}"/>
              </a:ext>
            </a:extLst>
          </p:cNvPr>
          <p:cNvSpPr>
            <a:spLocks xmlns:a="http://schemas.openxmlformats.org/drawingml/2006/main" noGrp="1"/>
          </p:cNvSpPr>
          <p:nvPr/>
        </p:nvSpPr>
        <p:spPr>
          <a:xfrm xmlns:a="http://schemas.openxmlformats.org/drawingml/2006/main">
            <a:off x="7905750" y="5372100"/>
            <a:ext cx="1000125" cy="571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51" name="novelty-footnote">
            <a:extLst xmlns:a="http://schemas.openxmlformats.org/drawingml/2006/main">
              <a:ext uri="{FF2B5EF4-FFF2-40B4-BE49-F238E27FC236}">
                <a16:creationId xmlns:a16="http://schemas.microsoft.com/office/drawing/2014/main" id="{F345B1A3-98AC-4C6C-90BD-965D622AD2A3}"/>
              </a:ext>
            </a:extLst>
          </p:cNvPr>
          <p:cNvSpPr>
            <a:spLocks xmlns:a="http://schemas.openxmlformats.org/drawingml/2006/main" noGrp="1"/>
          </p:cNvSpPr>
          <p:nvPr/>
        </p:nvSpPr>
        <p:spPr>
          <a:xfrm xmlns:a="http://schemas.openxmlformats.org/drawingml/2006/main">
            <a:off x="7905750" y="5743575"/>
            <a:ext cx="3371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0" i="1">
                <a:solidFill>
                  <a:srgbClr val="B8C1D1"/>
                </a:solidFill>
                <a:latin typeface="Avenir Next"/>
                <a:ea typeface="Avenir Next"/>
                <a:cs typeface="Avenir Next"/>
              </a:defRPr>
            </a:defPPr>
          </a:lstStyle>
          <a:p xmlns:a="http://schemas.openxmlformats.org/drawingml/2006/main">
            <a:pPr algn="l">
              <a:defRPr sz="863" b="0" i="1">
                <a:solidFill>
                  <a:srgbClr val="B8C1D1"/>
                </a:solidFill>
                <a:latin typeface="Avenir Next"/>
                <a:ea typeface="Avenir Next"/>
                <a:cs typeface="Avenir Next"/>
              </a:defRPr>
            </a:pPr>
            <a:r>
              <a:rPr sz="863" b="0" i="1">
                <a:solidFill>
                  <a:srgbClr val="B8C1D1"/>
                </a:solidFill>
                <a:latin typeface="Avenir Next"/>
                <a:ea typeface="Avenir Next"/>
                <a:cs typeface="Avenir Next"/>
              </a:rPr>
              <a:t>Scores reflect a narrower applied claim; theory stays modest.</a:t>
            </a:r>
          </a:p>
        </p:txBody>
      </p:sp>
    </p:spTree>
    <p:extLst>
      <p:ext uri="{BB962C8B-B14F-4D97-AF65-F5344CB8AC3E}">
        <p14:creationId xmlns:p14="http://schemas.microsoft.com/office/powerpoint/2010/main" val="335146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2026-10-08T20:16:07.8430000Z</dcterms:created>
  <dcterms:modified xsi:type="dcterms:W3CDTF">2026-10-08T20:16:07.8430000Z</dcterms:modified>
</coreProperties>
</file>