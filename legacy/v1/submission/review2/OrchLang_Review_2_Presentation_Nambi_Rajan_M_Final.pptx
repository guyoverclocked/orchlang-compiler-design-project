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6567e0c90c4bc6" /><Relationship Type="http://schemas.openxmlformats.org/officeDocument/2006/relationships/extended-properties" Target="/docProps/app.xml" Id="R0c0142baeef0430c" /><Relationship Type="http://schemas.openxmlformats.org/officeDocument/2006/relationships/officeDocument" Target="/ppt/presentation.xml" Id="R297a6c71258d407e" /></Relationships>
</file>

<file path=ppt/presentation.xml><?xml version="1.0" encoding="utf-8"?>
<p:presentation xmlns:p="http://schemas.openxmlformats.org/presentationml/2006/main">
  <p:sldMasterIdLst>
    <p:sldMasterId xmlns:r="http://schemas.openxmlformats.org/officeDocument/2006/relationships" id="2147483648" r:id="Rb31604c9930d454c"/>
  </p:sldMasterIdLst>
  <p:notesMasterIdLst>
    <p:notesMasterId xmlns:r="http://schemas.openxmlformats.org/officeDocument/2006/relationships" r:id="R43c80f7c6fa748eb"/>
  </p:notesMasterIdLst>
  <p:sldIdLst>
    <p:sldId xmlns:r="http://schemas.openxmlformats.org/officeDocument/2006/relationships" id="256" r:id="Rc53f0c42718a44bf"/>
    <p:sldId xmlns:r="http://schemas.openxmlformats.org/officeDocument/2006/relationships" id="257" r:id="R89511cc4b1324269"/>
    <p:sldId xmlns:r="http://schemas.openxmlformats.org/officeDocument/2006/relationships" id="258" r:id="R6feef7e1ecca4ff0"/>
    <p:sldId xmlns:r="http://schemas.openxmlformats.org/officeDocument/2006/relationships" id="259" r:id="R8a85775faf6e409f"/>
    <p:sldId xmlns:r="http://schemas.openxmlformats.org/officeDocument/2006/relationships" id="260" r:id="R1b1b2de938ed44b6"/>
    <p:sldId xmlns:r="http://schemas.openxmlformats.org/officeDocument/2006/relationships" id="261" r:id="Rdb9065753e3449c8"/>
    <p:sldId xmlns:r="http://schemas.openxmlformats.org/officeDocument/2006/relationships" id="262" r:id="R91d1a5694fa848ea"/>
    <p:sldId xmlns:r="http://schemas.openxmlformats.org/officeDocument/2006/relationships" id="263" r:id="R0712471df0de44f0"/>
    <p:sldId xmlns:r="http://schemas.openxmlformats.org/officeDocument/2006/relationships" id="264" r:id="Re78196f203894689"/>
    <p:sldId xmlns:r="http://schemas.openxmlformats.org/officeDocument/2006/relationships" id="265" r:id="R67382c3a6a174321"/>
    <p:sldId xmlns:r="http://schemas.openxmlformats.org/officeDocument/2006/relationships" id="266" r:id="R02f4dd78da014e2e"/>
    <p:sldId xmlns:r="http://schemas.openxmlformats.org/officeDocument/2006/relationships" id="267" r:id="Ra4bd7914003f43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88d2bb96de47f9" /><Relationship Type="http://schemas.openxmlformats.org/officeDocument/2006/relationships/slideMaster" Target="/ppt/slideMasters/slideMaster1.xml" Id="Rb31604c9930d454c" /><Relationship Type="http://schemas.openxmlformats.org/officeDocument/2006/relationships/notesMaster" Target="/ppt/notesMasters/notesMaster1.xml" Id="R43c80f7c6fa748eb" /><Relationship Type="http://schemas.openxmlformats.org/officeDocument/2006/relationships/presProps" Target="/ppt/presProps.xml" Id="Rf66267cf130446a2" /><Relationship Type="http://schemas.openxmlformats.org/officeDocument/2006/relationships/tableStyles" Target="/ppt/tableStyles.xml" Id="R37205041697f459b" /><Relationship Type="http://schemas.openxmlformats.org/officeDocument/2006/relationships/slide" Target="/ppt/slides/slide1.xml" Id="Rc53f0c42718a44bf" /><Relationship Type="http://schemas.openxmlformats.org/officeDocument/2006/relationships/slide" Target="/ppt/slides/slide2.xml" Id="R89511cc4b1324269" /><Relationship Type="http://schemas.openxmlformats.org/officeDocument/2006/relationships/slide" Target="/ppt/slides/slide3.xml" Id="R6feef7e1ecca4ff0" /><Relationship Type="http://schemas.openxmlformats.org/officeDocument/2006/relationships/slide" Target="/ppt/slides/slide4.xml" Id="R8a85775faf6e409f" /><Relationship Type="http://schemas.openxmlformats.org/officeDocument/2006/relationships/slide" Target="/ppt/slides/slide5.xml" Id="R1b1b2de938ed44b6" /><Relationship Type="http://schemas.openxmlformats.org/officeDocument/2006/relationships/slide" Target="/ppt/slides/slide6.xml" Id="Rdb9065753e3449c8" /><Relationship Type="http://schemas.openxmlformats.org/officeDocument/2006/relationships/slide" Target="/ppt/slides/slide7.xml" Id="R91d1a5694fa848ea" /><Relationship Type="http://schemas.openxmlformats.org/officeDocument/2006/relationships/slide" Target="/ppt/slides/slide8.xml" Id="R0712471df0de44f0" /><Relationship Type="http://schemas.openxmlformats.org/officeDocument/2006/relationships/slide" Target="/ppt/slides/slide9.xml" Id="Re78196f203894689" /><Relationship Type="http://schemas.openxmlformats.org/officeDocument/2006/relationships/slide" Target="/ppt/slides/slide10.xml" Id="R67382c3a6a174321" /><Relationship Type="http://schemas.openxmlformats.org/officeDocument/2006/relationships/slide" Target="/ppt/slides/slide11.xml" Id="R02f4dd78da014e2e" /><Relationship Type="http://schemas.openxmlformats.org/officeDocument/2006/relationships/slide" Target="/ppt/slides/slide12.xml" Id="Ra4bd7914003f43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3f62a4b694a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d85825dcec4fef" /><Relationship Type="http://schemas.openxmlformats.org/officeDocument/2006/relationships/notesMaster" Target="/ppt/notesMasters/notesMaster1.xml" Id="R6bbe958e413644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c076068ce04116" /><Relationship Type="http://schemas.openxmlformats.org/officeDocument/2006/relationships/notesMaster" Target="/ppt/notesMasters/notesMaster1.xml" Id="Rb8d3859bf6f74c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2692350e4e48d6" /><Relationship Type="http://schemas.openxmlformats.org/officeDocument/2006/relationships/notesMaster" Target="/ppt/notesMasters/notesMaster1.xml" Id="R539383eedb7a46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430c808fb2423a" /><Relationship Type="http://schemas.openxmlformats.org/officeDocument/2006/relationships/notesMaster" Target="/ppt/notesMasters/notesMaster1.xml" Id="Ra594a298e6b446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f45b712c5142d4" /><Relationship Type="http://schemas.openxmlformats.org/officeDocument/2006/relationships/notesMaster" Target="/ppt/notesMasters/notesMaster1.xml" Id="R2d5c85348c20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267737d64f4372" /><Relationship Type="http://schemas.openxmlformats.org/officeDocument/2006/relationships/notesMaster" Target="/ppt/notesMasters/notesMaster1.xml" Id="R4e2b9e5b906b4d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41bb5894214db9" /><Relationship Type="http://schemas.openxmlformats.org/officeDocument/2006/relationships/notesMaster" Target="/ppt/notesMasters/notesMaster1.xml" Id="R7c11a4f1469e43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c86a857168463a" /><Relationship Type="http://schemas.openxmlformats.org/officeDocument/2006/relationships/notesMaster" Target="/ppt/notesMasters/notesMaster1.xml" Id="R560c9f8315c341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cce63bf7b74dce" /><Relationship Type="http://schemas.openxmlformats.org/officeDocument/2006/relationships/notesMaster" Target="/ppt/notesMasters/notesMaster1.xml" Id="R2d8c25a9537344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4b0617a492481e" /><Relationship Type="http://schemas.openxmlformats.org/officeDocument/2006/relationships/notesMaster" Target="/ppt/notesMasters/notesMaster1.xml" Id="R794880eb25594f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0c586fd22749ac" /><Relationship Type="http://schemas.openxmlformats.org/officeDocument/2006/relationships/notesMaster" Target="/ppt/notesMasters/notesMaster1.xml" Id="R2de4c22dd0ae4b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d7c970d89e4005" /><Relationship Type="http://schemas.openxmlformats.org/officeDocument/2006/relationships/notesMaster" Target="/ppt/notesMasters/notesMaster1.xml" Id="R6b248f560549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to 0:20. Introduce the project in one sentence. OrchLang is a small, statically typed language for LLM workflow declarations. The Review 2 demonstration will move from source text to checked intermediate representation, then show controlled error handling.</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to 1:00. Explain the problem first. Workflow source has declarations that must agree. The compiler turns common configuration mistakes into static errors. Emphasize that the current scope checks source offline; it does not make provider requests.</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to 1:35. State the evaluation logic clearly. Implementation progress carries the highest weight, so the live demonstration must expose working modules. Then connect the remaining slides to correctness, compiler concepts, code quality, testing, and viva understanding.</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to 2:10. Walk left to right. Source becomes location aware tokens, then a parsed AST. The symbol table and semantic analyzer validate meaning. Valid programs lower to workflow IR. The CLI lets the reviewer observe every stage without a debugger.</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 to 2:45. Use this valid program to make the language concrete. Identify the typed input, secret, mocked model, prompt signature, typed call result, token requirement, and output. The restricted grammar is deliberate: it keeps each compiler step visible and testable.</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 to 3:25. The parser converts statement syntax into the AST shown on the right. Explain why unique_ptr is appropriate for tree ownership. Then mention parser recovery. The separate syntax-errors example will prove that recovery during the live demo.</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 to 4:10. Show that the symbol table records scope, kind, type, model metadata, and declaration location. Then distinguish semantic analysis from parsing. Cite the representative rules and say that stable codes make diagnostics and tests specific.</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to 4:50. Explain IR as the bridge from validated source to Phase 3 generation or execution. The call edge list makes data dependencies explicit. The generic DFS detector makes the IR robust for future language extensions. Carefully describe the budget calculation as a declared maximum token bound, not an estimated bill.</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 to 5:25. Lead with the verified 45 out of 45 result. Then explain that the suite has breadth across lexer, parser, semantics, IR, valid workflows, invalid workflows, and boundary cases. The live build command will make the evidence reproducible.</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5:25 to 5:50. This is the on-screen runbook. Do not spend the whole time reading commands. Use it to launch the terminal sequence, then interpret the important output. Start with reproducibility, continue through intermediate representations, then deliberately demonstrate controlled failures.</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live demo, pause only at these three views. Explain the AST as parsed structure, diagnostics as semantic safety rules with source locations, and IR as an explicit dependency graph. This explanation is the evidence for individual understanding, not just the terminal commands themselves.</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in 20 to 30 seconds. State exactly what is complete and do not claim Phase 3 features as complete. The current build has a complete Review 2 front end and evidence. Phase 3 can build on this validated AST, semantic analyzer, and IR.</a:t>
            </a:r>
          </a:p>
          <a:p xmlns:a="http://schemas.openxmlformats.org/drawingml/2006/main">
            <a:r>
              <a:t/>
            </a:r>
          </a:p>
          <a:p xmlns:a="http://schemas.openxmlformats.org/drawingml/2006/main">
            <a:r>
              <a:t>Sources: Compiler Design Laboratory Project Instruction Manual, supplied course PDF; OrchLang README, Language Specification, Review 2 Progress Report, Review Demonstration Script, and current local source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48a7c7c0c941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70a0dae742434c" /><Relationship Type="http://schemas.openxmlformats.org/officeDocument/2006/relationships/slideLayout" Target="/ppt/slideLayouts/slideLayout1.xml" Id="R0cc2b088f7494f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2b088f7494f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bcb5895f4a4305" /><Relationship Type="http://schemas.openxmlformats.org/officeDocument/2006/relationships/notesSlide" Target="/ppt/notesSlides/notesSlide1.xml" Id="Rc20caf82bf904c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15f4d554c94eea" /><Relationship Type="http://schemas.openxmlformats.org/officeDocument/2006/relationships/notesSlide" Target="/ppt/notesSlides/notesSlide2.xml" Id="Rdc13ec58295f44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16417d6f20419a" /><Relationship Type="http://schemas.openxmlformats.org/officeDocument/2006/relationships/notesSlide" Target="/ppt/notesSlides/notesSlide3.xml" Id="R2a0b1fb5e3c048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b61ddd7f3349f4" /><Relationship Type="http://schemas.openxmlformats.org/officeDocument/2006/relationships/notesSlide" Target="/ppt/notesSlides/notesSlide4.xml" Id="R44432c77d9fe43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9abacc1416478b" /><Relationship Type="http://schemas.openxmlformats.org/officeDocument/2006/relationships/notesSlide" Target="/ppt/notesSlides/notesSlide5.xml" Id="R2cdba740a44542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3cda91ea264653" /><Relationship Type="http://schemas.openxmlformats.org/officeDocument/2006/relationships/notesSlide" Target="/ppt/notesSlides/notesSlide6.xml" Id="R7afd3641f72946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3e0f38108541a2" /><Relationship Type="http://schemas.openxmlformats.org/officeDocument/2006/relationships/notesSlide" Target="/ppt/notesSlides/notesSlide7.xml" Id="R27cdac8167074d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42f185fc824be8" /><Relationship Type="http://schemas.openxmlformats.org/officeDocument/2006/relationships/notesSlide" Target="/ppt/notesSlides/notesSlide8.xml" Id="R9eea20faeb3242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2e3858c50a4610" /><Relationship Type="http://schemas.openxmlformats.org/officeDocument/2006/relationships/notesSlide" Target="/ppt/notesSlides/notesSlide9.xml" Id="R279667c212294d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978862f643449f" /><Relationship Type="http://schemas.openxmlformats.org/officeDocument/2006/relationships/notesSlide" Target="/ppt/notesSlides/notesSlide10.xml" Id="R72b6d45fb51343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613838fd1b43cb" /><Relationship Type="http://schemas.openxmlformats.org/officeDocument/2006/relationships/notesSlide" Target="/ppt/notesSlides/notesSlide11.xml" Id="R05148143861749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d21a91c9be4f68" /><Relationship Type="http://schemas.openxmlformats.org/officeDocument/2006/relationships/notesSlide" Target="/ppt/notesSlides/notesSlide12.xml" Id="R63e6697256f34f3c"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335173-334B-49D4-A1DB-2A5AB7895AB2}"/>
              </a:ext>
            </a:extLst>
          </p:cNvPr>
          <p:cNvSpPr>
            <a:spLocks xmlns:a="http://schemas.openxmlformats.org/drawingml/2006/main" noGrp="1"/>
          </p:cNvSpPr>
          <p:nvPr/>
        </p:nvSpPr>
        <p:spPr>
          <a:xfrm xmlns:a="http://schemas.openxmlformats.org/drawingml/2006/main">
            <a:off x="685800" y="1095375"/>
            <a:ext cx="1428750" cy="47625"/>
          </a:xfrm>
          <a:prstGeom xmlns:a="http://schemas.openxmlformats.org/drawingml/2006/main" prst="rect">
            <a:avLst/>
          </a:prstGeom>
          <a:solidFill xmlns:a="http://schemas.openxmlformats.org/drawingml/2006/main">
            <a:srgbClr val="67E8F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E52D62-31EC-458D-B9D7-62C5C9CDACDB}"/>
              </a:ext>
            </a:extLst>
          </p:cNvPr>
          <p:cNvSpPr>
            <a:spLocks xmlns:a="http://schemas.openxmlformats.org/drawingml/2006/main" noGrp="1"/>
          </p:cNvSpPr>
          <p:nvPr/>
        </p:nvSpPr>
        <p:spPr>
          <a:xfrm xmlns:a="http://schemas.openxmlformats.org/drawingml/2006/main">
            <a:off x="685800" y="152400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FFFFFF"/>
                </a:solidFill>
                <a:latin typeface="Helvetica Neue"/>
                <a:ea typeface="Helvetica Neue"/>
                <a:cs typeface="Helvetica Neue"/>
              </a:defRPr>
            </a:pPr>
            <a:r>
              <a:rPr sz="4050" b="1" i="0">
                <a:solidFill>
                  <a:srgbClr val="FFFFFF"/>
                </a:solidFill>
                <a:latin typeface="Helvetica Neue"/>
                <a:ea typeface="Helvetica Neue"/>
                <a:cs typeface="Helvetica Neue"/>
              </a:rPr>
              <a:t>OrchLang</a:t>
            </a:r>
          </a:p>
        </p:txBody>
      </p:sp>
      <p:sp>
        <p:nvSpPr>
          <p:cNvPr id="3" name="">
            <a:extLst xmlns:a="http://schemas.openxmlformats.org/drawingml/2006/main">
              <a:ext uri="{FF2B5EF4-FFF2-40B4-BE49-F238E27FC236}">
                <a16:creationId xmlns:a16="http://schemas.microsoft.com/office/drawing/2014/main" id="{CF1B26AD-D1CB-444C-AC92-53E7DF63DDE5}"/>
              </a:ext>
            </a:extLst>
          </p:cNvPr>
          <p:cNvSpPr>
            <a:spLocks xmlns:a="http://schemas.openxmlformats.org/drawingml/2006/main" noGrp="1"/>
          </p:cNvSpPr>
          <p:nvPr/>
        </p:nvSpPr>
        <p:spPr>
          <a:xfrm xmlns:a="http://schemas.openxmlformats.org/drawingml/2006/main">
            <a:off x="685800" y="240030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i="0">
                <a:solidFill>
                  <a:srgbClr val="C7D9E9"/>
                </a:solidFill>
                <a:latin typeface="Helvetica Neue"/>
                <a:ea typeface="Helvetica Neue"/>
                <a:cs typeface="Helvetica Neue"/>
              </a:defRPr>
            </a:pPr>
            <a:r>
              <a:rPr sz="2250" b="0" i="0">
                <a:solidFill>
                  <a:srgbClr val="C7D9E9"/>
                </a:solidFill>
                <a:latin typeface="Helvetica Neue"/>
                <a:ea typeface="Helvetica Neue"/>
                <a:cs typeface="Helvetica Neue"/>
              </a:rPr>
              <a:t>Review 2 Core Implementation</a:t>
            </a:r>
          </a:p>
        </p:txBody>
      </p:sp>
      <p:sp>
        <p:nvSpPr>
          <p:cNvPr id="4" name="">
            <a:extLst xmlns:a="http://schemas.openxmlformats.org/drawingml/2006/main">
              <a:ext uri="{FF2B5EF4-FFF2-40B4-BE49-F238E27FC236}">
                <a16:creationId xmlns:a16="http://schemas.microsoft.com/office/drawing/2014/main" id="{979819AD-9173-4B2F-A477-E648375DF58B}"/>
              </a:ext>
            </a:extLst>
          </p:cNvPr>
          <p:cNvSpPr>
            <a:spLocks xmlns:a="http://schemas.openxmlformats.org/drawingml/2006/main" noGrp="1"/>
          </p:cNvSpPr>
          <p:nvPr/>
        </p:nvSpPr>
        <p:spPr>
          <a:xfrm xmlns:a="http://schemas.openxmlformats.org/drawingml/2006/main">
            <a:off x="685800" y="32385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i="0">
                <a:solidFill>
                  <a:srgbClr val="FFFFFF"/>
                </a:solidFill>
                <a:latin typeface="Helvetica Neue"/>
                <a:ea typeface="Helvetica Neue"/>
                <a:cs typeface="Helvetica Neue"/>
              </a:defRPr>
            </a:pPr>
            <a:r>
              <a:rPr sz="1800" b="0" i="0">
                <a:solidFill>
                  <a:srgbClr val="FFFFFF"/>
                </a:solidFill>
                <a:latin typeface="Helvetica Neue"/>
                <a:ea typeface="Helvetica Neue"/>
                <a:cs typeface="Helvetica Neue"/>
              </a:rPr>
              <a:t>A statically typed language compiler for safe and cost aware LLM workflows</a:t>
            </a:r>
          </a:p>
        </p:txBody>
      </p:sp>
      <p:sp>
        <p:nvSpPr>
          <p:cNvPr id="5" name="">
            <a:extLst xmlns:a="http://schemas.openxmlformats.org/drawingml/2006/main">
              <a:ext uri="{FF2B5EF4-FFF2-40B4-BE49-F238E27FC236}">
                <a16:creationId xmlns:a16="http://schemas.microsoft.com/office/drawing/2014/main" id="{08D8CFEF-43BA-40AB-806A-3081995BAB7E}"/>
              </a:ext>
            </a:extLst>
          </p:cNvPr>
          <p:cNvSpPr>
            <a:spLocks xmlns:a="http://schemas.openxmlformats.org/drawingml/2006/main" noGrp="1"/>
          </p:cNvSpPr>
          <p:nvPr/>
        </p:nvSpPr>
        <p:spPr>
          <a:xfrm xmlns:a="http://schemas.openxmlformats.org/drawingml/2006/main">
            <a:off x="685800" y="490537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C7D9E9"/>
                </a:solidFill>
                <a:latin typeface="Helvetica Neue"/>
                <a:ea typeface="Helvetica Neue"/>
                <a:cs typeface="Helvetica Neue"/>
              </a:defRPr>
            </a:pPr>
            <a:r>
              <a:rPr sz="1350" b="0" i="0">
                <a:solidFill>
                  <a:srgbClr val="C7D9E9"/>
                </a:solidFill>
                <a:latin typeface="Helvetica Neue"/>
                <a:ea typeface="Helvetica Neue"/>
                <a:cs typeface="Helvetica Neue"/>
              </a:rPr>
              <a:t>Nambi Rajan M</a:t>
            </a:r>
          </a:p>
          <a:p xmlns:a="http://schemas.openxmlformats.org/drawingml/2006/main">
            <a:pPr>
              <a:defRPr sz="1350" b="0" i="0">
                <a:solidFill>
                  <a:srgbClr val="C7D9E9"/>
                </a:solidFill>
                <a:latin typeface="Helvetica Neue"/>
                <a:ea typeface="Helvetica Neue"/>
                <a:cs typeface="Helvetica Neue"/>
              </a:defRPr>
            </a:pPr>
            <a:r>
              <a:rPr sz="1350" b="0" i="0">
                <a:solidFill>
                  <a:srgbClr val="C7D9E9"/>
                </a:solidFill>
                <a:latin typeface="Helvetica Neue"/>
                <a:ea typeface="Helvetica Neue"/>
                <a:cs typeface="Helvetica Neue"/>
              </a:rPr>
              <a:t>24BAI0072</a:t>
            </a:r>
          </a:p>
          <a:p xmlns:a="http://schemas.openxmlformats.org/drawingml/2006/main">
            <a:pPr>
              <a:defRPr sz="1350" b="0" i="0">
                <a:solidFill>
                  <a:srgbClr val="C7D9E9"/>
                </a:solidFill>
                <a:latin typeface="Helvetica Neue"/>
                <a:ea typeface="Helvetica Neue"/>
                <a:cs typeface="Helvetica Neue"/>
              </a:defRPr>
            </a:pPr>
            <a:r>
              <a:rPr sz="1350" b="0" i="0">
                <a:solidFill>
                  <a:srgbClr val="C7D9E9"/>
                </a:solidFill>
                <a:latin typeface="Helvetica Neue"/>
                <a:ea typeface="Helvetica Neue"/>
                <a:cs typeface="Helvetica Neue"/>
              </a:rPr>
              <a:t>Compiler Design Laboratory</a:t>
            </a:r>
          </a:p>
        </p:txBody>
      </p:sp>
      <p:sp>
        <p:nvSpPr>
          <p:cNvPr id="6" name="">
            <a:extLst xmlns:a="http://schemas.openxmlformats.org/drawingml/2006/main">
              <a:ext uri="{FF2B5EF4-FFF2-40B4-BE49-F238E27FC236}">
                <a16:creationId xmlns:a16="http://schemas.microsoft.com/office/drawing/2014/main" id="{D376E7A9-E730-4C1B-8C93-63BD6153D6B2}"/>
              </a:ext>
            </a:extLst>
          </p:cNvPr>
          <p:cNvSpPr>
            <a:spLocks xmlns:a="http://schemas.openxmlformats.org/drawingml/2006/main" noGrp="1"/>
          </p:cNvSpPr>
          <p:nvPr/>
        </p:nvSpPr>
        <p:spPr>
          <a:xfrm xmlns:a="http://schemas.openxmlformats.org/drawingml/2006/main">
            <a:off x="685800" y="60960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94A3B8"/>
                </a:solidFill>
                <a:latin typeface="Helvetica Neue"/>
                <a:ea typeface="Helvetica Neue"/>
                <a:cs typeface="Helvetica Neue"/>
              </a:defRPr>
            </a:pPr>
            <a:r>
              <a:rPr sz="1050" b="0" i="0">
                <a:solidFill>
                  <a:srgbClr val="94A3B8"/>
                </a:solidFill>
                <a:latin typeface="Helvetica Neue"/>
                <a:ea typeface="Helvetica Neue"/>
                <a:cs typeface="Helvetica Neue"/>
              </a:rPr>
              <a:t>17 September 2026</a:t>
            </a:r>
          </a:p>
        </p:txBody>
      </p:sp>
    </p:spTree>
    <p:extLst>
      <p:ext uri="{BB962C8B-B14F-4D97-AF65-F5344CB8AC3E}">
        <p14:creationId xmlns:p14="http://schemas.microsoft.com/office/powerpoint/2010/main" val="86056359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06ECEA-B8F3-4899-9F29-556799733C1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2">
            <a:extLst xmlns:a="http://schemas.openxmlformats.org/drawingml/2006/main">
              <a:ext uri="{FF2B5EF4-FFF2-40B4-BE49-F238E27FC236}">
                <a16:creationId xmlns:a16="http://schemas.microsoft.com/office/drawing/2014/main" id="{B6C7F4FE-19DB-43A2-B6F0-D3B0A235DD1E}"/>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LLM Workflow Errors Before Execution</a:t>
            </a:r>
          </a:p>
        </p:txBody>
      </p:sp>
      <p:sp>
        <p:nvSpPr>
          <p:cNvPr id="3" name="">
            <a:extLst xmlns:a="http://schemas.openxmlformats.org/drawingml/2006/main">
              <a:ext uri="{FF2B5EF4-FFF2-40B4-BE49-F238E27FC236}">
                <a16:creationId xmlns:a16="http://schemas.microsoft.com/office/drawing/2014/main" id="{5D4651A5-8948-4860-B668-A75B908C27D7}"/>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C55AD06-D767-4F79-B26C-82466FB1712D}"/>
              </a:ext>
            </a:extLst>
          </p:cNvPr>
          <p:cNvSpPr>
            <a:spLocks xmlns:a="http://schemas.openxmlformats.org/drawingml/2006/main" noGrp="1"/>
          </p:cNvSpPr>
          <p:nvPr/>
        </p:nvSpPr>
        <p:spPr>
          <a:xfrm xmlns:a="http://schemas.openxmlformats.org/drawingml/2006/main">
            <a:off x="685800" y="118110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F2937"/>
                </a:solidFill>
                <a:latin typeface="Helvetica Neue"/>
                <a:ea typeface="Helvetica Neue"/>
                <a:cs typeface="Helvetica Neue"/>
              </a:defRPr>
            </a:pPr>
            <a:r>
              <a:rPr sz="2025" b="1" i="0">
                <a:solidFill>
                  <a:srgbClr val="1F2937"/>
                </a:solidFill>
                <a:latin typeface="Helvetica Neue"/>
                <a:ea typeface="Helvetica Neue"/>
                <a:cs typeface="Helvetica Neue"/>
              </a:rPr>
              <a:t>OrchLang checks workflow declarations before a provider call could run.</a:t>
            </a:r>
          </a:p>
        </p:txBody>
      </p:sp>
      <p:sp>
        <p:nvSpPr>
          <p:cNvPr id="5" name="">
            <a:extLst xmlns:a="http://schemas.openxmlformats.org/drawingml/2006/main">
              <a:ext uri="{FF2B5EF4-FFF2-40B4-BE49-F238E27FC236}">
                <a16:creationId xmlns:a16="http://schemas.microsoft.com/office/drawing/2014/main" id="{28FDB35F-6837-4DFB-8362-23506F5E2032}"/>
              </a:ext>
            </a:extLst>
          </p:cNvPr>
          <p:cNvSpPr>
            <a:spLocks xmlns:a="http://schemas.openxmlformats.org/drawingml/2006/main" noGrp="1"/>
          </p:cNvSpPr>
          <p:nvPr/>
        </p:nvSpPr>
        <p:spPr>
          <a:xfrm xmlns:a="http://schemas.openxmlformats.org/drawingml/2006/main">
            <a:off x="685800" y="2209800"/>
            <a:ext cx="47434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Names must resolve before a prompt call uses them.</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Prompt arguments and return values must match declared types.</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Secrets, selected models, and declared token limits need static checks.</a:t>
            </a:r>
          </a:p>
        </p:txBody>
      </p:sp>
      <p:sp>
        <p:nvSpPr>
          <p:cNvPr id="6" name="">
            <a:extLst xmlns:a="http://schemas.openxmlformats.org/drawingml/2006/main">
              <a:ext uri="{FF2B5EF4-FFF2-40B4-BE49-F238E27FC236}">
                <a16:creationId xmlns:a16="http://schemas.microsoft.com/office/drawing/2014/main" id="{08205E68-06D2-4634-9DC1-3EEB2AEAB522}"/>
              </a:ext>
            </a:extLst>
          </p:cNvPr>
          <p:cNvSpPr>
            <a:spLocks xmlns:a="http://schemas.openxmlformats.org/drawingml/2006/main" noGrp="1"/>
          </p:cNvSpPr>
          <p:nvPr/>
        </p:nvSpPr>
        <p:spPr>
          <a:xfrm xmlns:a="http://schemas.openxmlformats.org/drawingml/2006/main">
            <a:off x="685800" y="4857750"/>
            <a:ext cx="4705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52606D"/>
                </a:solidFill>
                <a:latin typeface="Helvetica Neue"/>
                <a:ea typeface="Helvetica Neue"/>
                <a:cs typeface="Helvetica Neue"/>
              </a:defRPr>
            </a:pPr>
            <a:r>
              <a:rPr sz="1275" b="0" i="0">
                <a:solidFill>
                  <a:srgbClr val="52606D"/>
                </a:solidFill>
                <a:latin typeface="Helvetica Neue"/>
                <a:ea typeface="Helvetica Neue"/>
                <a:cs typeface="Helvetica Neue"/>
              </a:rPr>
              <a:t>The review build is offline. It makes no live LLM call and needs no API key, database, or network connection.</a:t>
            </a:r>
          </a:p>
        </p:txBody>
      </p:sp>
      <p:sp>
        <p:nvSpPr>
          <p:cNvPr id="7" name="">
            <a:extLst xmlns:a="http://schemas.openxmlformats.org/drawingml/2006/main">
              <a:ext uri="{FF2B5EF4-FFF2-40B4-BE49-F238E27FC236}">
                <a16:creationId xmlns:a16="http://schemas.microsoft.com/office/drawing/2014/main" id="{B5734B71-DB5A-4A53-8915-CB20C1001F7C}"/>
              </a:ext>
            </a:extLst>
          </p:cNvPr>
          <p:cNvSpPr>
            <a:spLocks xmlns:a="http://schemas.openxmlformats.org/drawingml/2006/main" noGrp="1"/>
          </p:cNvSpPr>
          <p:nvPr/>
        </p:nvSpPr>
        <p:spPr>
          <a:xfrm xmlns:a="http://schemas.openxmlformats.org/drawingml/2006/main">
            <a:off x="6000750" y="1352550"/>
            <a:ext cx="5334000" cy="388620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8" name="">
            <a:extLst xmlns:a="http://schemas.openxmlformats.org/drawingml/2006/main">
              <a:ext uri="{FF2B5EF4-FFF2-40B4-BE49-F238E27FC236}">
                <a16:creationId xmlns:a16="http://schemas.microsoft.com/office/drawing/2014/main" id="{AF7E8A4C-786D-468F-86C8-930B2595BF2A}"/>
              </a:ext>
            </a:extLst>
          </p:cNvPr>
          <p:cNvSpPr>
            <a:spLocks xmlns:a="http://schemas.openxmlformats.org/drawingml/2006/main" noGrp="1"/>
          </p:cNvSpPr>
          <p:nvPr/>
        </p:nvSpPr>
        <p:spPr>
          <a:xfrm xmlns:a="http://schemas.openxmlformats.org/drawingml/2006/main">
            <a:off x="6172200" y="1466850"/>
            <a:ext cx="4991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A compact workflow declaration</a:t>
            </a:r>
          </a:p>
        </p:txBody>
      </p:sp>
      <p:sp>
        <p:nvSpPr>
          <p:cNvPr id="9" name="">
            <a:extLst xmlns:a="http://schemas.openxmlformats.org/drawingml/2006/main">
              <a:ext uri="{FF2B5EF4-FFF2-40B4-BE49-F238E27FC236}">
                <a16:creationId xmlns:a16="http://schemas.microsoft.com/office/drawing/2014/main" id="{1E778523-4145-47C1-BC4F-57D6BE5EE272}"/>
              </a:ext>
            </a:extLst>
          </p:cNvPr>
          <p:cNvSpPr>
            <a:spLocks xmlns:a="http://schemas.openxmlformats.org/drawingml/2006/main" noGrp="1"/>
          </p:cNvSpPr>
          <p:nvPr/>
        </p:nvSpPr>
        <p:spPr>
          <a:xfrm xmlns:a="http://schemas.openxmlformats.org/drawingml/2006/main">
            <a:off x="6172200" y="1733550"/>
            <a:ext cx="4991100" cy="3409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workflow SupportTriage budget 2500 {</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input ticket: text;</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secret API_KEY;</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model fast = mock("local-small")</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max_tokens 600;</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let category: text =</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call classify(ticket) using fast;</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output category;</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106E93EF-A46E-43C3-B0A3-C2289A0D5155}"/>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83635949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87E26D-B3D5-4DD9-94E9-8937296A52F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3">
            <a:extLst xmlns:a="http://schemas.openxmlformats.org/drawingml/2006/main">
              <a:ext uri="{FF2B5EF4-FFF2-40B4-BE49-F238E27FC236}">
                <a16:creationId xmlns:a16="http://schemas.microsoft.com/office/drawing/2014/main" id="{B91FB799-4465-4439-94C9-C2CE3EEAA345}"/>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Review 2 Assessment Target</a:t>
            </a:r>
          </a:p>
        </p:txBody>
      </p:sp>
      <p:sp>
        <p:nvSpPr>
          <p:cNvPr id="3" name="">
            <a:extLst xmlns:a="http://schemas.openxmlformats.org/drawingml/2006/main">
              <a:ext uri="{FF2B5EF4-FFF2-40B4-BE49-F238E27FC236}">
                <a16:creationId xmlns:a16="http://schemas.microsoft.com/office/drawing/2014/main" id="{8B80352E-3049-4251-9626-84B279AD4A2F}"/>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FA617BA-0F17-489E-82DE-DCFF495EF4E2}"/>
              </a:ext>
            </a:extLst>
          </p:cNvPr>
          <p:cNvSpPr>
            <a:spLocks xmlns:a="http://schemas.openxmlformats.org/drawingml/2006/main" noGrp="1"/>
          </p:cNvSpPr>
          <p:nvPr/>
        </p:nvSpPr>
        <p:spPr>
          <a:xfrm xmlns:a="http://schemas.openxmlformats.org/drawingml/2006/main">
            <a:off x="685800" y="1104900"/>
            <a:ext cx="757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F2937"/>
                </a:solidFill>
                <a:latin typeface="Helvetica Neue"/>
                <a:ea typeface="Helvetica Neue"/>
                <a:cs typeface="Helvetica Neue"/>
              </a:defRPr>
            </a:pPr>
            <a:r>
              <a:rPr sz="1575" b="0" i="0">
                <a:solidFill>
                  <a:srgbClr val="1F2937"/>
                </a:solidFill>
                <a:latin typeface="Helvetica Neue"/>
                <a:ea typeface="Helvetica Neue"/>
                <a:cs typeface="Helvetica Neue"/>
              </a:rPr>
              <a:t>The official Review 2 rubric totals 25 marks. The deck presents evidence in the same order as the weighting.</a:t>
            </a:r>
          </a:p>
        </p:txBody>
      </p:sp>
      <p:graphicFrame>
        <p:nvGraphicFramePr>
          <p:cNvPr id="14" name=""/>
          <p:cNvGraphicFramePr/>
          <p:nvPr/>
        </p:nvGraphicFramePr>
        <p:xfrm>
          <a:off xmlns:a="http://schemas.openxmlformats.org/drawingml/2006/main" x="685800" y="1809750"/>
          <a:ext xmlns:a="http://schemas.openxmlformats.org/drawingml/2006/main" cx="7239000" cy="3810000"/>
        </p:xfrm>
        <a:graphic xmlns:a="http://schemas.openxmlformats.org/drawingml/2006/main">
          <a:graphicData uri="http://schemas.openxmlformats.org/drawingml/2006/table">
            <a:tbl>
              <a:tblPr firstRow="1" bandRow="1"/>
              <a:tblGrid>
                <a:gridCol w="2857500"/>
                <a:gridCol w="857250"/>
                <a:gridCol w="3524250"/>
              </a:tblGrid>
              <a:tr h="544286">
                <a:tc>
                  <a:txBody>
                    <a:bodyPr/>
                    <a:lstStyle/>
                    <a:p>
                      <a:r>
                        <a:rPr sz="1125" b="1">
                          <a:solidFill>
                            <a:srgbClr val="FFFFFF"/>
                          </a:solidFill>
                          <a:latin typeface="Helvetica Neue"/>
                          <a:ea typeface="Helvetica Neue"/>
                          <a:cs typeface="Helvetica Neue"/>
                        </a:rPr>
                        <a:t>Criterion</a:t>
                      </a:r>
                    </a:p>
                  </a:txBody>
                  <a:tcPr marL="91440" marR="91440" marT="45720" marB="45720">
                    <a:solidFill>
                      <a:srgbClr val="16324F"/>
                    </a:solidFill>
                  </a:tcPr>
                </a:tc>
                <a:tc>
                  <a:txBody>
                    <a:bodyPr/>
                    <a:lstStyle/>
                    <a:p>
                      <a:r>
                        <a:rPr sz="1125" b="1">
                          <a:solidFill>
                            <a:srgbClr val="FFFFFF"/>
                          </a:solidFill>
                          <a:latin typeface="Helvetica Neue"/>
                          <a:ea typeface="Helvetica Neue"/>
                          <a:cs typeface="Helvetica Neue"/>
                        </a:rPr>
                        <a:t>Marks</a:t>
                      </a:r>
                    </a:p>
                  </a:txBody>
                  <a:tcPr marL="91440" marR="91440" marT="45720" marB="45720">
                    <a:solidFill>
                      <a:srgbClr val="16324F"/>
                    </a:solidFill>
                  </a:tcPr>
                </a:tc>
                <a:tc>
                  <a:txBody>
                    <a:bodyPr/>
                    <a:lstStyle/>
                    <a:p>
                      <a:r>
                        <a:rPr sz="1125" b="1">
                          <a:solidFill>
                            <a:srgbClr val="FFFFFF"/>
                          </a:solidFill>
                          <a:latin typeface="Helvetica Neue"/>
                          <a:ea typeface="Helvetica Neue"/>
                          <a:cs typeface="Helvetica Neue"/>
                        </a:rPr>
                        <a:t>Evidence shown</a:t>
                      </a:r>
                    </a:p>
                  </a:txBody>
                  <a:tcPr marL="91440" marR="91440" marT="45720" marB="45720">
                    <a:solidFill>
                      <a:srgbClr val="16324F"/>
                    </a:solidFill>
                  </a:tcPr>
                </a:tc>
              </a:tr>
              <a:tr h="544286">
                <a:tc>
                  <a:txBody>
                    <a:bodyPr/>
                    <a:lstStyle/>
                    <a:p>
                      <a:r>
                        <a:rPr sz="1125" b="0">
                          <a:solidFill>
                            <a:srgbClr val="1F2937"/>
                          </a:solidFill>
                          <a:latin typeface="Helvetica Neue"/>
                          <a:ea typeface="Helvetica Neue"/>
                          <a:cs typeface="Helvetica Neue"/>
                        </a:rPr>
                        <a:t>Implementation progress</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7</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Working modules and live commands</a:t>
                      </a:r>
                    </a:p>
                  </a:txBody>
                  <a:tcPr marL="91440" marR="91440" marT="45720" marB="45720">
                    <a:solidFill>
                      <a:srgbClr val="FFFFFF"/>
                    </a:solidFill>
                  </a:tcPr>
                </a:tc>
              </a:tr>
              <a:tr h="544286">
                <a:tc>
                  <a:txBody>
                    <a:bodyPr/>
                    <a:lstStyle/>
                    <a:p>
                      <a:r>
                        <a:rPr sz="1125" b="0">
                          <a:solidFill>
                            <a:srgbClr val="1F2937"/>
                          </a:solidFill>
                          <a:latin typeface="Helvetica Neue"/>
                          <a:ea typeface="Helvetica Neue"/>
                          <a:cs typeface="Helvetica Neue"/>
                        </a:rPr>
                        <a:t>Technical correctness</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5</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Valid and invalid execution results</a:t>
                      </a:r>
                    </a:p>
                  </a:txBody>
                  <a:tcPr marL="91440" marR="91440" marT="45720" marB="45720">
                    <a:solidFill>
                      <a:srgbClr val="F8FBFD"/>
                    </a:solidFill>
                  </a:tcPr>
                </a:tc>
              </a:tr>
              <a:tr h="544286">
                <a:tc>
                  <a:txBody>
                    <a:bodyPr/>
                    <a:lstStyle/>
                    <a:p>
                      <a:r>
                        <a:rPr sz="1125" b="0">
                          <a:solidFill>
                            <a:srgbClr val="1F2937"/>
                          </a:solidFill>
                          <a:latin typeface="Helvetica Neue"/>
                          <a:ea typeface="Helvetica Neue"/>
                          <a:cs typeface="Helvetica Neue"/>
                        </a:rPr>
                        <a:t>Compiler concepts</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4</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Lexer, parser, AST, symbols, semantics, IR</a:t>
                      </a:r>
                    </a:p>
                  </a:txBody>
                  <a:tcPr marL="91440" marR="91440" marT="45720" marB="45720">
                    <a:solidFill>
                      <a:srgbClr val="FFFFFF"/>
                    </a:solidFill>
                  </a:tcPr>
                </a:tc>
              </a:tr>
              <a:tr h="544286">
                <a:tc>
                  <a:txBody>
                    <a:bodyPr/>
                    <a:lstStyle/>
                    <a:p>
                      <a:r>
                        <a:rPr sz="1125" b="0">
                          <a:solidFill>
                            <a:srgbClr val="1F2937"/>
                          </a:solidFill>
                          <a:latin typeface="Helvetica Neue"/>
                          <a:ea typeface="Helvetica Neue"/>
                          <a:cs typeface="Helvetica Neue"/>
                        </a:rPr>
                        <a:t>Code quality</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3</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Modular C++17 source and documentation</a:t>
                      </a:r>
                    </a:p>
                  </a:txBody>
                  <a:tcPr marL="91440" marR="91440" marT="45720" marB="45720">
                    <a:solidFill>
                      <a:srgbClr val="F8FBFD"/>
                    </a:solidFill>
                  </a:tcPr>
                </a:tc>
              </a:tr>
              <a:tr h="544286">
                <a:tc>
                  <a:txBody>
                    <a:bodyPr/>
                    <a:lstStyle/>
                    <a:p>
                      <a:r>
                        <a:rPr sz="1125" b="0">
                          <a:solidFill>
                            <a:srgbClr val="1F2937"/>
                          </a:solidFill>
                          <a:latin typeface="Helvetica Neue"/>
                          <a:ea typeface="Helvetica Neue"/>
                          <a:cs typeface="Helvetica Neue"/>
                        </a:rPr>
                        <a:t>Testing</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3</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45 automated checks and example suites</a:t>
                      </a:r>
                    </a:p>
                  </a:txBody>
                  <a:tcPr marL="91440" marR="91440" marT="45720" marB="45720">
                    <a:solidFill>
                      <a:srgbClr val="FFFFFF"/>
                    </a:solidFill>
                  </a:tcPr>
                </a:tc>
              </a:tr>
              <a:tr h="544286">
                <a:tc>
                  <a:txBody>
                    <a:bodyPr/>
                    <a:lstStyle/>
                    <a:p>
                      <a:r>
                        <a:rPr sz="1125" b="0">
                          <a:solidFill>
                            <a:srgbClr val="1F2937"/>
                          </a:solidFill>
                          <a:latin typeface="Helvetica Neue"/>
                          <a:ea typeface="Helvetica Neue"/>
                          <a:cs typeface="Helvetica Neue"/>
                        </a:rPr>
                        <a:t>Individual understanding</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3</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Explain internal stages during demo</a:t>
                      </a:r>
                    </a:p>
                  </a:txBody>
                  <a:tcPr marL="91440" marR="91440" marT="45720" marB="45720">
                    <a:solidFill>
                      <a:srgbClr val="F8FBFD"/>
                    </a:solidFill>
                  </a:tcPr>
                </a:tc>
              </a:tr>
            </a:tbl>
          </a:graphicData>
        </a:graphic>
      </p:graphicFrame>
      <p:sp>
        <p:nvSpPr>
          <p:cNvPr id="6" name="">
            <a:extLst xmlns:a="http://schemas.openxmlformats.org/drawingml/2006/main">
              <a:ext uri="{FF2B5EF4-FFF2-40B4-BE49-F238E27FC236}">
                <a16:creationId xmlns:a16="http://schemas.microsoft.com/office/drawing/2014/main" id="{94F04282-A8E7-4E56-B28B-B369725E0E3C}"/>
              </a:ext>
            </a:extLst>
          </p:cNvPr>
          <p:cNvSpPr>
            <a:spLocks xmlns:a="http://schemas.openxmlformats.org/drawingml/2006/main" noGrp="1"/>
          </p:cNvSpPr>
          <p:nvPr/>
        </p:nvSpPr>
        <p:spPr>
          <a:xfrm xmlns:a="http://schemas.openxmlformats.org/drawingml/2006/main">
            <a:off x="8858250" y="219075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i="0">
                <a:solidFill>
                  <a:srgbClr val="0F766E"/>
                </a:solidFill>
                <a:latin typeface="Helvetica Neue"/>
                <a:ea typeface="Helvetica Neue"/>
                <a:cs typeface="Helvetica Neue"/>
              </a:defRPr>
            </a:pPr>
            <a:r>
              <a:rPr sz="5550" b="1" i="0">
                <a:solidFill>
                  <a:srgbClr val="0F766E"/>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73AE4067-1E92-4AD3-BDE9-FBC0F8F8C441}"/>
              </a:ext>
            </a:extLst>
          </p:cNvPr>
          <p:cNvSpPr>
            <a:spLocks xmlns:a="http://schemas.openxmlformats.org/drawingml/2006/main" noGrp="1"/>
          </p:cNvSpPr>
          <p:nvPr/>
        </p:nvSpPr>
        <p:spPr>
          <a:xfrm xmlns:a="http://schemas.openxmlformats.org/drawingml/2006/main">
            <a:off x="8858250" y="30480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6324F"/>
                </a:solidFill>
                <a:latin typeface="Helvetica Neue"/>
                <a:ea typeface="Helvetica Neue"/>
                <a:cs typeface="Helvetica Neue"/>
              </a:defRPr>
            </a:pPr>
            <a:r>
              <a:rPr sz="1500" b="1" i="0">
                <a:solidFill>
                  <a:srgbClr val="16324F"/>
                </a:solidFill>
                <a:latin typeface="Helvetica Neue"/>
                <a:ea typeface="Helvetica Neue"/>
                <a:cs typeface="Helvetica Neue"/>
              </a:rPr>
              <a:t>Review 2 marks</a:t>
            </a:r>
          </a:p>
        </p:txBody>
      </p:sp>
      <p:sp>
        <p:nvSpPr>
          <p:cNvPr id="8" name="">
            <a:extLst xmlns:a="http://schemas.openxmlformats.org/drawingml/2006/main">
              <a:ext uri="{FF2B5EF4-FFF2-40B4-BE49-F238E27FC236}">
                <a16:creationId xmlns:a16="http://schemas.microsoft.com/office/drawing/2014/main" id="{C4431B25-56E7-49DF-932B-71D8F275000E}"/>
              </a:ext>
            </a:extLst>
          </p:cNvPr>
          <p:cNvSpPr>
            <a:spLocks xmlns:a="http://schemas.openxmlformats.org/drawingml/2006/main" noGrp="1"/>
          </p:cNvSpPr>
          <p:nvPr/>
        </p:nvSpPr>
        <p:spPr>
          <a:xfrm xmlns:a="http://schemas.openxmlformats.org/drawingml/2006/main">
            <a:off x="8191500" y="390525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1F2937"/>
                </a:solidFill>
                <a:latin typeface="Helvetica Neue"/>
                <a:ea typeface="Helvetica Neue"/>
                <a:cs typeface="Helvetica Neue"/>
              </a:defRPr>
            </a:pPr>
            <a:r>
              <a:rPr sz="1425" b="0" i="0">
                <a:solidFill>
                  <a:srgbClr val="1F2937"/>
                </a:solidFill>
                <a:latin typeface="Helvetica Neue"/>
                <a:ea typeface="Helvetica Neue"/>
                <a:cs typeface="Helvetica Neue"/>
              </a:rPr>
              <a:t>The course manual requires a working demonstration. Showing source code alone is insufficient.</a:t>
            </a:r>
          </a:p>
        </p:txBody>
      </p:sp>
      <p:sp>
        <p:nvSpPr>
          <p:cNvPr id="9" name="">
            <a:extLst xmlns:a="http://schemas.openxmlformats.org/drawingml/2006/main">
              <a:ext uri="{FF2B5EF4-FFF2-40B4-BE49-F238E27FC236}">
                <a16:creationId xmlns:a16="http://schemas.microsoft.com/office/drawing/2014/main" id="{EE8BD95C-F53A-4E3B-8BF2-4E0EC39A8F1A}"/>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114819470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76B41DD-B957-4E0C-8AE7-39B54312A7E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4">
            <a:extLst xmlns:a="http://schemas.openxmlformats.org/drawingml/2006/main">
              <a:ext uri="{FF2B5EF4-FFF2-40B4-BE49-F238E27FC236}">
                <a16:creationId xmlns:a16="http://schemas.microsoft.com/office/drawing/2014/main" id="{11A4CFB8-D432-4E06-87DB-7E6938D33B82}"/>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Compiler Pipeline</a:t>
            </a:r>
          </a:p>
        </p:txBody>
      </p:sp>
      <p:sp>
        <p:nvSpPr>
          <p:cNvPr id="3" name="">
            <a:extLst xmlns:a="http://schemas.openxmlformats.org/drawingml/2006/main">
              <a:ext uri="{FF2B5EF4-FFF2-40B4-BE49-F238E27FC236}">
                <a16:creationId xmlns:a16="http://schemas.microsoft.com/office/drawing/2014/main" id="{BC2E9C1A-A1FE-4EBC-9BF2-5C4AA14E65C9}"/>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B0448006-6A77-4328-8862-8023531118E0}"/>
              </a:ext>
            </a:extLst>
          </p:cNvPr>
          <p:cNvSpPr>
            <a:spLocks xmlns:a="http://schemas.openxmlformats.org/drawingml/2006/main" noGrp="1"/>
          </p:cNvSpPr>
          <p:nvPr/>
        </p:nvSpPr>
        <p:spPr>
          <a:xfrm xmlns:a="http://schemas.openxmlformats.org/drawingml/2006/main">
            <a:off x="685800" y="108585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1F2937"/>
                </a:solidFill>
                <a:latin typeface="Helvetica Neue"/>
                <a:ea typeface="Helvetica Neue"/>
                <a:cs typeface="Helvetica Neue"/>
              </a:defRPr>
            </a:pPr>
            <a:r>
              <a:rPr sz="1650" b="0" i="0">
                <a:solidFill>
                  <a:srgbClr val="1F2937"/>
                </a:solidFill>
                <a:latin typeface="Helvetica Neue"/>
                <a:ea typeface="Helvetica Neue"/>
                <a:cs typeface="Helvetica Neue"/>
              </a:rPr>
              <a:t>Each stage has an explicit C++ data type and a command that exposes its result.</a:t>
            </a:r>
          </a:p>
        </p:txBody>
      </p:sp>
      <p:sp>
        <p:nvSpPr>
          <p:cNvPr id="5" name="">
            <a:extLst xmlns:a="http://schemas.openxmlformats.org/drawingml/2006/main">
              <a:ext uri="{FF2B5EF4-FFF2-40B4-BE49-F238E27FC236}">
                <a16:creationId xmlns:a16="http://schemas.microsoft.com/office/drawing/2014/main" id="{410FECB0-16B7-4CF1-9155-6C9F96FF2C95}"/>
              </a:ext>
            </a:extLst>
          </p:cNvPr>
          <p:cNvSpPr>
            <a:spLocks xmlns:a="http://schemas.openxmlformats.org/drawingml/2006/main" noGrp="1"/>
          </p:cNvSpPr>
          <p:nvPr/>
        </p:nvSpPr>
        <p:spPr>
          <a:xfrm xmlns:a="http://schemas.openxmlformats.org/drawingml/2006/main">
            <a:off x="685800"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Source</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.orch</a:t>
            </a:r>
          </a:p>
        </p:txBody>
      </p:sp>
      <p:sp>
        <p:nvSpPr>
          <p:cNvPr id="6" name="">
            <a:extLst xmlns:a="http://schemas.openxmlformats.org/drawingml/2006/main">
              <a:ext uri="{FF2B5EF4-FFF2-40B4-BE49-F238E27FC236}">
                <a16:creationId xmlns:a16="http://schemas.microsoft.com/office/drawing/2014/main" id="{C59E7B04-5BB2-4BB7-9496-E41568B25414}"/>
              </a:ext>
            </a:extLst>
          </p:cNvPr>
          <p:cNvSpPr>
            <a:spLocks xmlns:a="http://schemas.openxmlformats.org/drawingml/2006/main" noGrp="1"/>
          </p:cNvSpPr>
          <p:nvPr/>
        </p:nvSpPr>
        <p:spPr>
          <a:xfrm xmlns:a="http://schemas.openxmlformats.org/drawingml/2006/main">
            <a:off x="2162175"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Lexer</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Tokens</a:t>
            </a:r>
          </a:p>
        </p:txBody>
      </p:sp>
      <p:sp>
        <p:nvSpPr>
          <p:cNvPr id="7" name="">
            <a:extLst xmlns:a="http://schemas.openxmlformats.org/drawingml/2006/main">
              <a:ext uri="{FF2B5EF4-FFF2-40B4-BE49-F238E27FC236}">
                <a16:creationId xmlns:a16="http://schemas.microsoft.com/office/drawing/2014/main" id="{50637D06-AD47-4DEC-8AFD-0FBD5F4657BB}"/>
              </a:ext>
            </a:extLst>
          </p:cNvPr>
          <p:cNvSpPr>
            <a:spLocks xmlns:a="http://schemas.openxmlformats.org/drawingml/2006/main" noGrp="1"/>
          </p:cNvSpPr>
          <p:nvPr/>
        </p:nvSpPr>
        <p:spPr>
          <a:xfrm xmlns:a="http://schemas.openxmlformats.org/drawingml/2006/main">
            <a:off x="3638550"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Parser</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AST</a:t>
            </a:r>
          </a:p>
        </p:txBody>
      </p:sp>
      <p:sp>
        <p:nvSpPr>
          <p:cNvPr id="8" name="">
            <a:extLst xmlns:a="http://schemas.openxmlformats.org/drawingml/2006/main">
              <a:ext uri="{FF2B5EF4-FFF2-40B4-BE49-F238E27FC236}">
                <a16:creationId xmlns:a16="http://schemas.microsoft.com/office/drawing/2014/main" id="{7A485E3E-A671-4FD4-9FCA-A2A3966A657C}"/>
              </a:ext>
            </a:extLst>
          </p:cNvPr>
          <p:cNvSpPr>
            <a:spLocks xmlns:a="http://schemas.openxmlformats.org/drawingml/2006/main" noGrp="1"/>
          </p:cNvSpPr>
          <p:nvPr/>
        </p:nvSpPr>
        <p:spPr>
          <a:xfrm xmlns:a="http://schemas.openxmlformats.org/drawingml/2006/main">
            <a:off x="5114925"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Symbol</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Scopes</a:t>
            </a:r>
          </a:p>
        </p:txBody>
      </p:sp>
      <p:sp>
        <p:nvSpPr>
          <p:cNvPr id="9" name="">
            <a:extLst xmlns:a="http://schemas.openxmlformats.org/drawingml/2006/main">
              <a:ext uri="{FF2B5EF4-FFF2-40B4-BE49-F238E27FC236}">
                <a16:creationId xmlns:a16="http://schemas.microsoft.com/office/drawing/2014/main" id="{FF25D741-CA66-4E2E-8ABE-6A76F8395534}"/>
              </a:ext>
            </a:extLst>
          </p:cNvPr>
          <p:cNvSpPr>
            <a:spLocks xmlns:a="http://schemas.openxmlformats.org/drawingml/2006/main" noGrp="1"/>
          </p:cNvSpPr>
          <p:nvPr/>
        </p:nvSpPr>
        <p:spPr>
          <a:xfrm xmlns:a="http://schemas.openxmlformats.org/drawingml/2006/main">
            <a:off x="6591300" y="2381250"/>
            <a:ext cx="1238250" cy="781050"/>
          </a:xfrm>
          <a:prstGeom xmlns:a="http://schemas.openxmlformats.org/drawingml/2006/main" prst="roundRect">
            <a:avLst>
              <a:gd name="adj" fmla="val 14634"/>
            </a:avLst>
          </a:prstGeom>
          <a:solidFill xmlns:a="http://schemas.openxmlformats.org/drawingml/2006/main">
            <a:srgbClr val="E6F3F1"/>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Semantic</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Checks</a:t>
            </a:r>
          </a:p>
        </p:txBody>
      </p:sp>
      <p:sp>
        <p:nvSpPr>
          <p:cNvPr id="10" name="">
            <a:extLst xmlns:a="http://schemas.openxmlformats.org/drawingml/2006/main">
              <a:ext uri="{FF2B5EF4-FFF2-40B4-BE49-F238E27FC236}">
                <a16:creationId xmlns:a16="http://schemas.microsoft.com/office/drawing/2014/main" id="{6A30C3D1-80A8-47D9-BA48-83441A93DDB1}"/>
              </a:ext>
            </a:extLst>
          </p:cNvPr>
          <p:cNvSpPr>
            <a:spLocks xmlns:a="http://schemas.openxmlformats.org/drawingml/2006/main" noGrp="1"/>
          </p:cNvSpPr>
          <p:nvPr/>
        </p:nvSpPr>
        <p:spPr>
          <a:xfrm xmlns:a="http://schemas.openxmlformats.org/drawingml/2006/main">
            <a:off x="8067675"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Workflow</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IR</a:t>
            </a:r>
          </a:p>
        </p:txBody>
      </p:sp>
      <p:sp>
        <p:nvSpPr>
          <p:cNvPr id="11" name="">
            <a:extLst xmlns:a="http://schemas.openxmlformats.org/drawingml/2006/main">
              <a:ext uri="{FF2B5EF4-FFF2-40B4-BE49-F238E27FC236}">
                <a16:creationId xmlns:a16="http://schemas.microsoft.com/office/drawing/2014/main" id="{33FD9DB8-DFB7-424A-A7AC-991D2CD956B3}"/>
              </a:ext>
            </a:extLst>
          </p:cNvPr>
          <p:cNvSpPr>
            <a:spLocks xmlns:a="http://schemas.openxmlformats.org/drawingml/2006/main" noGrp="1"/>
          </p:cNvSpPr>
          <p:nvPr/>
        </p:nvSpPr>
        <p:spPr>
          <a:xfrm xmlns:a="http://schemas.openxmlformats.org/drawingml/2006/main">
            <a:off x="9544050" y="2381250"/>
            <a:ext cx="1238250" cy="781050"/>
          </a:xfrm>
          <a:prstGeom xmlns:a="http://schemas.openxmlformats.org/drawingml/2006/main" prst="roundRect">
            <a:avLst>
              <a:gd name="adj" fmla="val 14634"/>
            </a:avLst>
          </a:prstGeom>
          <a:solidFill xmlns:a="http://schemas.openxmlformats.org/drawingml/2006/main">
            <a:srgbClr val="EDF4F8"/>
          </a:solidFill>
          <a:ln xmlns:a="http://schemas.openxmlformats.org/drawingml/2006/main" w="9525">
            <a:solidFill>
              <a:srgbClr val="9FB3C8"/>
            </a:solidFill>
          </a:ln>
        </p:spPr>
        <p:txBody>
          <a:bodyPr xmlns:a="http://schemas.openxmlformats.org/drawingml/2006/main">
            <a:noAutofit/>
          </a:bodyPr>
          <a:lstStyle xmlns:a="http://schemas.openxmlformats.org/drawingml/2006/main"/>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CLI</a:t>
            </a:r>
          </a:p>
          <a:p xmlns:a="http://schemas.openxmlformats.org/drawingml/2006/main">
            <a:pPr>
              <a:defRPr sz="1200" b="1">
                <a:solidFill>
                  <a:srgbClr val="16324F"/>
                </a:solidFill>
                <a:latin typeface="Helvetica Neue"/>
                <a:ea typeface="Helvetica Neue"/>
                <a:cs typeface="Helvetica Neue"/>
              </a:defRPr>
            </a:pPr>
            <a:r>
              <a:rPr sz="1200" b="1">
                <a:solidFill>
                  <a:srgbClr val="16324F"/>
                </a:solidFill>
                <a:latin typeface="Helvetica Neue"/>
                <a:ea typeface="Helvetica Neue"/>
                <a:cs typeface="Helvetica Neue"/>
              </a:rPr>
              <a:t>Evidence</a:t>
            </a:r>
          </a:p>
        </p:txBody>
      </p: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1924050"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cxnSp>
        <p:nvCxnSpPr>
          <p:cNvPr id="47" name=""/>
          <p:cNvCxnSpPr>
            <a:stCxn xmlns:a="http://schemas.openxmlformats.org/drawingml/2006/main" id="6" idx="3"/>
            <a:endCxn xmlns:a="http://schemas.openxmlformats.org/drawingml/2006/main" id="7" idx="1"/>
          </p:cNvCxnSpPr>
          <p:nvPr/>
        </p:nvCxnSpPr>
        <p:spPr>
          <a:xfrm xmlns:a="http://schemas.openxmlformats.org/drawingml/2006/main">
            <a:off x="3400425"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cxnSp>
        <p:nvCxnSpPr>
          <p:cNvPr id="48" name=""/>
          <p:cNvCxnSpPr>
            <a:stCxn xmlns:a="http://schemas.openxmlformats.org/drawingml/2006/main" id="7" idx="3"/>
            <a:endCxn xmlns:a="http://schemas.openxmlformats.org/drawingml/2006/main" id="8" idx="1"/>
          </p:cNvCxnSpPr>
          <p:nvPr/>
        </p:nvCxnSpPr>
        <p:spPr>
          <a:xfrm xmlns:a="http://schemas.openxmlformats.org/drawingml/2006/main">
            <a:off x="4876800"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cxnSp>
        <p:nvCxnSpPr>
          <p:cNvPr id="49" name=""/>
          <p:cNvCxnSpPr>
            <a:stCxn xmlns:a="http://schemas.openxmlformats.org/drawingml/2006/main" id="8" idx="3"/>
            <a:endCxn xmlns:a="http://schemas.openxmlformats.org/drawingml/2006/main" id="9" idx="1"/>
          </p:cNvCxnSpPr>
          <p:nvPr/>
        </p:nvCxnSpPr>
        <p:spPr>
          <a:xfrm xmlns:a="http://schemas.openxmlformats.org/drawingml/2006/main">
            <a:off x="6353175"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cxnSp>
        <p:nvCxnSpPr>
          <p:cNvPr id="50" name=""/>
          <p:cNvCxnSpPr>
            <a:stCxn xmlns:a="http://schemas.openxmlformats.org/drawingml/2006/main" id="9" idx="3"/>
            <a:endCxn xmlns:a="http://schemas.openxmlformats.org/drawingml/2006/main" id="10" idx="1"/>
          </p:cNvCxnSpPr>
          <p:nvPr/>
        </p:nvCxnSpPr>
        <p:spPr>
          <a:xfrm xmlns:a="http://schemas.openxmlformats.org/drawingml/2006/main">
            <a:off x="7829550"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cxnSp>
        <p:nvCxnSpPr>
          <p:cNvPr id="51" name=""/>
          <p:cNvCxnSpPr>
            <a:stCxn xmlns:a="http://schemas.openxmlformats.org/drawingml/2006/main" id="10" idx="3"/>
            <a:endCxn xmlns:a="http://schemas.openxmlformats.org/drawingml/2006/main" id="11" idx="1"/>
          </p:cNvCxnSpPr>
          <p:nvPr/>
        </p:nvCxnSpPr>
        <p:spPr>
          <a:xfrm xmlns:a="http://schemas.openxmlformats.org/drawingml/2006/main">
            <a:off x="9305925" y="2771775"/>
            <a:ext cx="238125" cy="0"/>
          </a:xfrm>
          <a:prstGeom xmlns:a="http://schemas.openxmlformats.org/drawingml/2006/main" prst="straightConnector1">
            <a:avLst/>
          </a:prstGeom>
          <a:ln xmlns:a="http://schemas.openxmlformats.org/drawingml/2006/main" w="19050">
            <a:solidFill>
              <a:srgbClr val="64748B"/>
            </a:solidFill>
            <a:prstDash val="solid"/>
            <a:tailEnd type="arrow" w="med" len="med"/>
          </a:ln>
        </p:spPr>
      </p:cxnSp>
      <p:sp>
        <p:nvSpPr>
          <p:cNvPr id="18" name="">
            <a:extLst xmlns:a="http://schemas.openxmlformats.org/drawingml/2006/main">
              <a:ext uri="{FF2B5EF4-FFF2-40B4-BE49-F238E27FC236}">
                <a16:creationId xmlns:a16="http://schemas.microsoft.com/office/drawing/2014/main" id="{E63720BC-7365-45DB-BC8F-27897B244559}"/>
              </a:ext>
            </a:extLst>
          </p:cNvPr>
          <p:cNvSpPr>
            <a:spLocks xmlns:a="http://schemas.openxmlformats.org/drawingml/2006/main" noGrp="1"/>
          </p:cNvSpPr>
          <p:nvPr/>
        </p:nvSpPr>
        <p:spPr>
          <a:xfrm xmlns:a="http://schemas.openxmlformats.org/drawingml/2006/main">
            <a:off x="685800" y="40481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i="0">
                <a:solidFill>
                  <a:srgbClr val="16324F"/>
                </a:solidFill>
                <a:latin typeface="Helvetica Neue"/>
                <a:ea typeface="Helvetica Neue"/>
                <a:cs typeface="Helvetica Neue"/>
              </a:defRPr>
            </a:pPr>
            <a:r>
              <a:rPr sz="1350" b="1" i="0">
                <a:solidFill>
                  <a:srgbClr val="16324F"/>
                </a:solidFill>
                <a:latin typeface="Helvetica Neue"/>
                <a:ea typeface="Helvetica Neue"/>
                <a:cs typeface="Helvetica Neue"/>
              </a:rPr>
              <a:t>Demo views</a:t>
            </a:r>
          </a:p>
        </p:txBody>
      </p:sp>
      <p:sp>
        <p:nvSpPr>
          <p:cNvPr id="19" name="">
            <a:extLst xmlns:a="http://schemas.openxmlformats.org/drawingml/2006/main">
              <a:ext uri="{FF2B5EF4-FFF2-40B4-BE49-F238E27FC236}">
                <a16:creationId xmlns:a16="http://schemas.microsoft.com/office/drawing/2014/main" id="{984795F5-3F5B-408B-BA4D-27112351D47D}"/>
              </a:ext>
            </a:extLst>
          </p:cNvPr>
          <p:cNvSpPr>
            <a:spLocks xmlns:a="http://schemas.openxmlformats.org/drawingml/2006/main" noGrp="1"/>
          </p:cNvSpPr>
          <p:nvPr/>
        </p:nvSpPr>
        <p:spPr>
          <a:xfrm xmlns:a="http://schemas.openxmlformats.org/drawingml/2006/main">
            <a:off x="685800" y="4524375"/>
            <a:ext cx="133350" cy="133350"/>
          </a:xfrm>
          <a:prstGeom xmlns:a="http://schemas.openxmlformats.org/drawingml/2006/main" prst="ellipse">
            <a:avLst/>
          </a:prstGeom>
          <a:solidFill xmlns:a="http://schemas.openxmlformats.org/drawingml/2006/main">
            <a:srgbClr val="0F766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68EDC4B-DFAE-4990-9CB1-5BE25F71B094}"/>
              </a:ext>
            </a:extLst>
          </p:cNvPr>
          <p:cNvSpPr>
            <a:spLocks xmlns:a="http://schemas.openxmlformats.org/drawingml/2006/main" noGrp="1"/>
          </p:cNvSpPr>
          <p:nvPr/>
        </p:nvSpPr>
        <p:spPr>
          <a:xfrm xmlns:a="http://schemas.openxmlformats.org/drawingml/2006/main">
            <a:off x="895350" y="4429125"/>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16324F"/>
                </a:solidFill>
                <a:latin typeface="Helvetica Neue"/>
                <a:ea typeface="Helvetica Neue"/>
                <a:cs typeface="Helvetica Neue"/>
              </a:defRPr>
            </a:pPr>
            <a:r>
              <a:rPr sz="1200" b="1" i="0">
                <a:solidFill>
                  <a:srgbClr val="16324F"/>
                </a:solidFill>
                <a:latin typeface="Helvetica Neue"/>
                <a:ea typeface="Helvetica Neue"/>
                <a:cs typeface="Helvetica Neue"/>
              </a:rPr>
              <a:t>tokens</a:t>
            </a:r>
          </a:p>
        </p:txBody>
      </p:sp>
      <p:sp>
        <p:nvSpPr>
          <p:cNvPr id="21" name="">
            <a:extLst xmlns:a="http://schemas.openxmlformats.org/drawingml/2006/main">
              <a:ext uri="{FF2B5EF4-FFF2-40B4-BE49-F238E27FC236}">
                <a16:creationId xmlns:a16="http://schemas.microsoft.com/office/drawing/2014/main" id="{D1238DDA-0A64-4FC0-B662-8602E7B62DD4}"/>
              </a:ext>
            </a:extLst>
          </p:cNvPr>
          <p:cNvSpPr>
            <a:spLocks xmlns:a="http://schemas.openxmlformats.org/drawingml/2006/main" noGrp="1"/>
          </p:cNvSpPr>
          <p:nvPr/>
        </p:nvSpPr>
        <p:spPr>
          <a:xfrm xmlns:a="http://schemas.openxmlformats.org/drawingml/2006/main">
            <a:off x="895350" y="47053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52606D"/>
                </a:solidFill>
                <a:latin typeface="Helvetica Neue"/>
                <a:ea typeface="Helvetica Neue"/>
                <a:cs typeface="Helvetica Neue"/>
              </a:defRPr>
            </a:pPr>
            <a:r>
              <a:rPr sz="1050" b="0" i="0">
                <a:solidFill>
                  <a:srgbClr val="52606D"/>
                </a:solidFill>
                <a:latin typeface="Helvetica Neue"/>
                <a:ea typeface="Helvetica Neue"/>
                <a:cs typeface="Helvetica Neue"/>
              </a:rPr>
              <a:t>Location aware lexical output</a:t>
            </a:r>
          </a:p>
        </p:txBody>
      </p:sp>
      <p:sp>
        <p:nvSpPr>
          <p:cNvPr id="22" name="">
            <a:extLst xmlns:a="http://schemas.openxmlformats.org/drawingml/2006/main">
              <a:ext uri="{FF2B5EF4-FFF2-40B4-BE49-F238E27FC236}">
                <a16:creationId xmlns:a16="http://schemas.microsoft.com/office/drawing/2014/main" id="{63914987-DF37-46F7-80A3-77278AD4A8BC}"/>
              </a:ext>
            </a:extLst>
          </p:cNvPr>
          <p:cNvSpPr>
            <a:spLocks xmlns:a="http://schemas.openxmlformats.org/drawingml/2006/main" noGrp="1"/>
          </p:cNvSpPr>
          <p:nvPr/>
        </p:nvSpPr>
        <p:spPr>
          <a:xfrm xmlns:a="http://schemas.openxmlformats.org/drawingml/2006/main">
            <a:off x="2809875" y="4524375"/>
            <a:ext cx="133350" cy="133350"/>
          </a:xfrm>
          <a:prstGeom xmlns:a="http://schemas.openxmlformats.org/drawingml/2006/main" prst="ellipse">
            <a:avLst/>
          </a:prstGeom>
          <a:solidFill xmlns:a="http://schemas.openxmlformats.org/drawingml/2006/main">
            <a:srgbClr val="0F766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8FDC751-2E50-4458-AC4D-939CD69A9D39}"/>
              </a:ext>
            </a:extLst>
          </p:cNvPr>
          <p:cNvSpPr>
            <a:spLocks xmlns:a="http://schemas.openxmlformats.org/drawingml/2006/main" noGrp="1"/>
          </p:cNvSpPr>
          <p:nvPr/>
        </p:nvSpPr>
        <p:spPr>
          <a:xfrm xmlns:a="http://schemas.openxmlformats.org/drawingml/2006/main">
            <a:off x="3019425" y="4429125"/>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16324F"/>
                </a:solidFill>
                <a:latin typeface="Helvetica Neue"/>
                <a:ea typeface="Helvetica Neue"/>
                <a:cs typeface="Helvetica Neue"/>
              </a:defRPr>
            </a:pPr>
            <a:r>
              <a:rPr sz="1200" b="1" i="0">
                <a:solidFill>
                  <a:srgbClr val="16324F"/>
                </a:solidFill>
                <a:latin typeface="Helvetica Neue"/>
                <a:ea typeface="Helvetica Neue"/>
                <a:cs typeface="Helvetica Neue"/>
              </a:rPr>
              <a:t>ast</a:t>
            </a:r>
          </a:p>
        </p:txBody>
      </p:sp>
      <p:sp>
        <p:nvSpPr>
          <p:cNvPr id="24" name="">
            <a:extLst xmlns:a="http://schemas.openxmlformats.org/drawingml/2006/main">
              <a:ext uri="{FF2B5EF4-FFF2-40B4-BE49-F238E27FC236}">
                <a16:creationId xmlns:a16="http://schemas.microsoft.com/office/drawing/2014/main" id="{0229D510-F4A3-4C97-A820-E9F0E2FC6667}"/>
              </a:ext>
            </a:extLst>
          </p:cNvPr>
          <p:cNvSpPr>
            <a:spLocks xmlns:a="http://schemas.openxmlformats.org/drawingml/2006/main" noGrp="1"/>
          </p:cNvSpPr>
          <p:nvPr/>
        </p:nvSpPr>
        <p:spPr>
          <a:xfrm xmlns:a="http://schemas.openxmlformats.org/drawingml/2006/main">
            <a:off x="3019425" y="47053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52606D"/>
                </a:solidFill>
                <a:latin typeface="Helvetica Neue"/>
                <a:ea typeface="Helvetica Neue"/>
                <a:cs typeface="Helvetica Neue"/>
              </a:defRPr>
            </a:pPr>
            <a:r>
              <a:rPr sz="1050" b="0" i="0">
                <a:solidFill>
                  <a:srgbClr val="52606D"/>
                </a:solidFill>
                <a:latin typeface="Helvetica Neue"/>
                <a:ea typeface="Helvetica Neue"/>
                <a:cs typeface="Helvetica Neue"/>
              </a:rPr>
              <a:t>Parsed workflow structure</a:t>
            </a:r>
          </a:p>
        </p:txBody>
      </p:sp>
      <p:sp>
        <p:nvSpPr>
          <p:cNvPr id="25" name="">
            <a:extLst xmlns:a="http://schemas.openxmlformats.org/drawingml/2006/main">
              <a:ext uri="{FF2B5EF4-FFF2-40B4-BE49-F238E27FC236}">
                <a16:creationId xmlns:a16="http://schemas.microsoft.com/office/drawing/2014/main" id="{3102AA58-E11A-4597-AC6E-A4EF756EDA7C}"/>
              </a:ext>
            </a:extLst>
          </p:cNvPr>
          <p:cNvSpPr>
            <a:spLocks xmlns:a="http://schemas.openxmlformats.org/drawingml/2006/main" noGrp="1"/>
          </p:cNvSpPr>
          <p:nvPr/>
        </p:nvSpPr>
        <p:spPr>
          <a:xfrm xmlns:a="http://schemas.openxmlformats.org/drawingml/2006/main">
            <a:off x="4933950" y="4524375"/>
            <a:ext cx="133350" cy="133350"/>
          </a:xfrm>
          <a:prstGeom xmlns:a="http://schemas.openxmlformats.org/drawingml/2006/main" prst="ellipse">
            <a:avLst/>
          </a:prstGeom>
          <a:solidFill xmlns:a="http://schemas.openxmlformats.org/drawingml/2006/main">
            <a:srgbClr val="0F766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BAF7551-69C3-417C-BB7E-AE9C51500BCD}"/>
              </a:ext>
            </a:extLst>
          </p:cNvPr>
          <p:cNvSpPr>
            <a:spLocks xmlns:a="http://schemas.openxmlformats.org/drawingml/2006/main" noGrp="1"/>
          </p:cNvSpPr>
          <p:nvPr/>
        </p:nvSpPr>
        <p:spPr>
          <a:xfrm xmlns:a="http://schemas.openxmlformats.org/drawingml/2006/main">
            <a:off x="5143500" y="4429125"/>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16324F"/>
                </a:solidFill>
                <a:latin typeface="Helvetica Neue"/>
                <a:ea typeface="Helvetica Neue"/>
                <a:cs typeface="Helvetica Neue"/>
              </a:defRPr>
            </a:pPr>
            <a:r>
              <a:rPr sz="1200" b="1" i="0">
                <a:solidFill>
                  <a:srgbClr val="16324F"/>
                </a:solidFill>
                <a:latin typeface="Helvetica Neue"/>
                <a:ea typeface="Helvetica Neue"/>
                <a:cs typeface="Helvetica Neue"/>
              </a:rPr>
              <a:t>symbols</a:t>
            </a:r>
          </a:p>
        </p:txBody>
      </p:sp>
      <p:sp>
        <p:nvSpPr>
          <p:cNvPr id="27" name="">
            <a:extLst xmlns:a="http://schemas.openxmlformats.org/drawingml/2006/main">
              <a:ext uri="{FF2B5EF4-FFF2-40B4-BE49-F238E27FC236}">
                <a16:creationId xmlns:a16="http://schemas.microsoft.com/office/drawing/2014/main" id="{6A2C3A48-DC24-4485-AD40-7197F4D56FC4}"/>
              </a:ext>
            </a:extLst>
          </p:cNvPr>
          <p:cNvSpPr>
            <a:spLocks xmlns:a="http://schemas.openxmlformats.org/drawingml/2006/main" noGrp="1"/>
          </p:cNvSpPr>
          <p:nvPr/>
        </p:nvSpPr>
        <p:spPr>
          <a:xfrm xmlns:a="http://schemas.openxmlformats.org/drawingml/2006/main">
            <a:off x="5143500" y="47053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52606D"/>
                </a:solidFill>
                <a:latin typeface="Helvetica Neue"/>
                <a:ea typeface="Helvetica Neue"/>
                <a:cs typeface="Helvetica Neue"/>
              </a:defRPr>
            </a:pPr>
            <a:r>
              <a:rPr sz="1050" b="0" i="0">
                <a:solidFill>
                  <a:srgbClr val="52606D"/>
                </a:solidFill>
                <a:latin typeface="Helvetica Neue"/>
                <a:ea typeface="Helvetica Neue"/>
                <a:cs typeface="Helvetica Neue"/>
              </a:rPr>
              <a:t>Scoped declarations and types</a:t>
            </a:r>
          </a:p>
        </p:txBody>
      </p:sp>
      <p:sp>
        <p:nvSpPr>
          <p:cNvPr id="28" name="">
            <a:extLst xmlns:a="http://schemas.openxmlformats.org/drawingml/2006/main">
              <a:ext uri="{FF2B5EF4-FFF2-40B4-BE49-F238E27FC236}">
                <a16:creationId xmlns:a16="http://schemas.microsoft.com/office/drawing/2014/main" id="{12084827-3760-4E78-AA55-C13CD41C64DC}"/>
              </a:ext>
            </a:extLst>
          </p:cNvPr>
          <p:cNvSpPr>
            <a:spLocks xmlns:a="http://schemas.openxmlformats.org/drawingml/2006/main" noGrp="1"/>
          </p:cNvSpPr>
          <p:nvPr/>
        </p:nvSpPr>
        <p:spPr>
          <a:xfrm xmlns:a="http://schemas.openxmlformats.org/drawingml/2006/main">
            <a:off x="7058025" y="4524375"/>
            <a:ext cx="133350" cy="133350"/>
          </a:xfrm>
          <a:prstGeom xmlns:a="http://schemas.openxmlformats.org/drawingml/2006/main" prst="ellipse">
            <a:avLst/>
          </a:prstGeom>
          <a:solidFill xmlns:a="http://schemas.openxmlformats.org/drawingml/2006/main">
            <a:srgbClr val="0F766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336C99D-FD22-480E-84F4-A0E6990FB70C}"/>
              </a:ext>
            </a:extLst>
          </p:cNvPr>
          <p:cNvSpPr>
            <a:spLocks xmlns:a="http://schemas.openxmlformats.org/drawingml/2006/main" noGrp="1"/>
          </p:cNvSpPr>
          <p:nvPr/>
        </p:nvSpPr>
        <p:spPr>
          <a:xfrm xmlns:a="http://schemas.openxmlformats.org/drawingml/2006/main">
            <a:off x="7267575" y="4429125"/>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16324F"/>
                </a:solidFill>
                <a:latin typeface="Helvetica Neue"/>
                <a:ea typeface="Helvetica Neue"/>
                <a:cs typeface="Helvetica Neue"/>
              </a:defRPr>
            </a:pPr>
            <a:r>
              <a:rPr sz="1200" b="1" i="0">
                <a:solidFill>
                  <a:srgbClr val="16324F"/>
                </a:solidFill>
                <a:latin typeface="Helvetica Neue"/>
                <a:ea typeface="Helvetica Neue"/>
                <a:cs typeface="Helvetica Neue"/>
              </a:rPr>
              <a:t>check</a:t>
            </a:r>
          </a:p>
        </p:txBody>
      </p:sp>
      <p:sp>
        <p:nvSpPr>
          <p:cNvPr id="30" name="">
            <a:extLst xmlns:a="http://schemas.openxmlformats.org/drawingml/2006/main">
              <a:ext uri="{FF2B5EF4-FFF2-40B4-BE49-F238E27FC236}">
                <a16:creationId xmlns:a16="http://schemas.microsoft.com/office/drawing/2014/main" id="{BC6BA1DC-32B2-45D7-A678-195054B65031}"/>
              </a:ext>
            </a:extLst>
          </p:cNvPr>
          <p:cNvSpPr>
            <a:spLocks xmlns:a="http://schemas.openxmlformats.org/drawingml/2006/main" noGrp="1"/>
          </p:cNvSpPr>
          <p:nvPr/>
        </p:nvSpPr>
        <p:spPr>
          <a:xfrm xmlns:a="http://schemas.openxmlformats.org/drawingml/2006/main">
            <a:off x="7267575" y="47053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52606D"/>
                </a:solidFill>
                <a:latin typeface="Helvetica Neue"/>
                <a:ea typeface="Helvetica Neue"/>
                <a:cs typeface="Helvetica Neue"/>
              </a:defRPr>
            </a:pPr>
            <a:r>
              <a:rPr sz="1050" b="0" i="0">
                <a:solidFill>
                  <a:srgbClr val="52606D"/>
                </a:solidFill>
                <a:latin typeface="Helvetica Neue"/>
                <a:ea typeface="Helvetica Neue"/>
                <a:cs typeface="Helvetica Neue"/>
              </a:rPr>
              <a:t>Source located diagnostics</a:t>
            </a:r>
          </a:p>
        </p:txBody>
      </p:sp>
      <p:sp>
        <p:nvSpPr>
          <p:cNvPr id="31" name="">
            <a:extLst xmlns:a="http://schemas.openxmlformats.org/drawingml/2006/main">
              <a:ext uri="{FF2B5EF4-FFF2-40B4-BE49-F238E27FC236}">
                <a16:creationId xmlns:a16="http://schemas.microsoft.com/office/drawing/2014/main" id="{A8027FC9-79D4-499E-852E-B84D212A1006}"/>
              </a:ext>
            </a:extLst>
          </p:cNvPr>
          <p:cNvSpPr>
            <a:spLocks xmlns:a="http://schemas.openxmlformats.org/drawingml/2006/main" noGrp="1"/>
          </p:cNvSpPr>
          <p:nvPr/>
        </p:nvSpPr>
        <p:spPr>
          <a:xfrm xmlns:a="http://schemas.openxmlformats.org/drawingml/2006/main">
            <a:off x="9182100" y="4524375"/>
            <a:ext cx="133350" cy="133350"/>
          </a:xfrm>
          <a:prstGeom xmlns:a="http://schemas.openxmlformats.org/drawingml/2006/main" prst="ellipse">
            <a:avLst/>
          </a:prstGeom>
          <a:solidFill xmlns:a="http://schemas.openxmlformats.org/drawingml/2006/main">
            <a:srgbClr val="0F766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F86CFB5-CC02-47FD-895B-D1EB94174D6F}"/>
              </a:ext>
            </a:extLst>
          </p:cNvPr>
          <p:cNvSpPr>
            <a:spLocks xmlns:a="http://schemas.openxmlformats.org/drawingml/2006/main" noGrp="1"/>
          </p:cNvSpPr>
          <p:nvPr/>
        </p:nvSpPr>
        <p:spPr>
          <a:xfrm xmlns:a="http://schemas.openxmlformats.org/drawingml/2006/main">
            <a:off x="9391650" y="4429125"/>
            <a:ext cx="1638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16324F"/>
                </a:solidFill>
                <a:latin typeface="Helvetica Neue"/>
                <a:ea typeface="Helvetica Neue"/>
                <a:cs typeface="Helvetica Neue"/>
              </a:defRPr>
            </a:pPr>
            <a:r>
              <a:rPr sz="1200" b="1" i="0">
                <a:solidFill>
                  <a:srgbClr val="16324F"/>
                </a:solidFill>
                <a:latin typeface="Helvetica Neue"/>
                <a:ea typeface="Helvetica Neue"/>
                <a:cs typeface="Helvetica Neue"/>
              </a:rPr>
              <a:t>ir / ir-json</a:t>
            </a:r>
          </a:p>
        </p:txBody>
      </p:sp>
      <p:sp>
        <p:nvSpPr>
          <p:cNvPr id="33" name="">
            <a:extLst xmlns:a="http://schemas.openxmlformats.org/drawingml/2006/main">
              <a:ext uri="{FF2B5EF4-FFF2-40B4-BE49-F238E27FC236}">
                <a16:creationId xmlns:a16="http://schemas.microsoft.com/office/drawing/2014/main" id="{D2D3F0B4-C325-4885-B3CE-CB6180CBC0A0}"/>
              </a:ext>
            </a:extLst>
          </p:cNvPr>
          <p:cNvSpPr>
            <a:spLocks xmlns:a="http://schemas.openxmlformats.org/drawingml/2006/main" noGrp="1"/>
          </p:cNvSpPr>
          <p:nvPr/>
        </p:nvSpPr>
        <p:spPr>
          <a:xfrm xmlns:a="http://schemas.openxmlformats.org/drawingml/2006/main">
            <a:off x="9391650" y="47053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i="0">
                <a:solidFill>
                  <a:srgbClr val="52606D"/>
                </a:solidFill>
                <a:latin typeface="Helvetica Neue"/>
                <a:ea typeface="Helvetica Neue"/>
                <a:cs typeface="Helvetica Neue"/>
              </a:defRPr>
            </a:pPr>
            <a:r>
              <a:rPr sz="1050" b="0" i="0">
                <a:solidFill>
                  <a:srgbClr val="52606D"/>
                </a:solidFill>
                <a:latin typeface="Helvetica Neue"/>
                <a:ea typeface="Helvetica Neue"/>
                <a:cs typeface="Helvetica Neue"/>
              </a:rPr>
              <a:t>Dependencies and static safety</a:t>
            </a:r>
          </a:p>
        </p:txBody>
      </p:sp>
      <p:sp>
        <p:nvSpPr>
          <p:cNvPr id="34" name="">
            <a:extLst xmlns:a="http://schemas.openxmlformats.org/drawingml/2006/main">
              <a:ext uri="{FF2B5EF4-FFF2-40B4-BE49-F238E27FC236}">
                <a16:creationId xmlns:a16="http://schemas.microsoft.com/office/drawing/2014/main" id="{8FCC8921-B9F3-4DA8-B0C5-2EE717C33DC8}"/>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158237243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43DD33-8E99-4498-9C9B-8ECAAD9B6FB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5">
            <a:extLst xmlns:a="http://schemas.openxmlformats.org/drawingml/2006/main">
              <a:ext uri="{FF2B5EF4-FFF2-40B4-BE49-F238E27FC236}">
                <a16:creationId xmlns:a16="http://schemas.microsoft.com/office/drawing/2014/main" id="{A0A550CC-272C-411C-8650-0848C4A4702A}"/>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Language Design</a:t>
            </a:r>
          </a:p>
        </p:txBody>
      </p:sp>
      <p:sp>
        <p:nvSpPr>
          <p:cNvPr id="3" name="">
            <a:extLst xmlns:a="http://schemas.openxmlformats.org/drawingml/2006/main">
              <a:ext uri="{FF2B5EF4-FFF2-40B4-BE49-F238E27FC236}">
                <a16:creationId xmlns:a16="http://schemas.microsoft.com/office/drawing/2014/main" id="{DFD6C0CD-BAFE-4167-A223-CB352CD05C09}"/>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89B16870-D5CD-4CD9-A4BF-FE11492893E1}"/>
              </a:ext>
            </a:extLst>
          </p:cNvPr>
          <p:cNvSpPr>
            <a:spLocks xmlns:a="http://schemas.openxmlformats.org/drawingml/2006/main" noGrp="1"/>
          </p:cNvSpPr>
          <p:nvPr/>
        </p:nvSpPr>
        <p:spPr>
          <a:xfrm xmlns:a="http://schemas.openxmlformats.org/drawingml/2006/main">
            <a:off x="685800" y="10668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F2937"/>
                </a:solidFill>
                <a:latin typeface="Helvetica Neue"/>
                <a:ea typeface="Helvetica Neue"/>
                <a:cs typeface="Helvetica Neue"/>
              </a:defRPr>
            </a:pPr>
            <a:r>
              <a:rPr sz="1575" b="0" i="0">
                <a:solidFill>
                  <a:srgbClr val="1F2937"/>
                </a:solidFill>
                <a:latin typeface="Helvetica Neue"/>
                <a:ea typeface="Helvetica Neue"/>
                <a:cs typeface="Helvetica Neue"/>
              </a:rPr>
              <a:t>The grammar stays small enough for a viva while exercising the key compiler stages.</a:t>
            </a:r>
          </a:p>
        </p:txBody>
      </p:sp>
      <p:sp>
        <p:nvSpPr>
          <p:cNvPr id="5" name="">
            <a:extLst xmlns:a="http://schemas.openxmlformats.org/drawingml/2006/main">
              <a:ext uri="{FF2B5EF4-FFF2-40B4-BE49-F238E27FC236}">
                <a16:creationId xmlns:a16="http://schemas.microsoft.com/office/drawing/2014/main" id="{3282B87D-49CD-42F5-ACE8-5D8020787CC6}"/>
              </a:ext>
            </a:extLst>
          </p:cNvPr>
          <p:cNvSpPr>
            <a:spLocks xmlns:a="http://schemas.openxmlformats.org/drawingml/2006/main" noGrp="1"/>
          </p:cNvSpPr>
          <p:nvPr/>
        </p:nvSpPr>
        <p:spPr>
          <a:xfrm xmlns:a="http://schemas.openxmlformats.org/drawingml/2006/main">
            <a:off x="685800" y="1619250"/>
            <a:ext cx="6429375" cy="390525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F342F1EF-0BCF-45E2-9198-78C1515A2E38}"/>
              </a:ext>
            </a:extLst>
          </p:cNvPr>
          <p:cNvSpPr>
            <a:spLocks xmlns:a="http://schemas.openxmlformats.org/drawingml/2006/main" noGrp="1"/>
          </p:cNvSpPr>
          <p:nvPr/>
        </p:nvSpPr>
        <p:spPr>
          <a:xfrm xmlns:a="http://schemas.openxmlformats.org/drawingml/2006/main">
            <a:off x="857250" y="1733550"/>
            <a:ext cx="60864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Valid OrchLang program</a:t>
            </a:r>
          </a:p>
        </p:txBody>
      </p:sp>
      <p:sp>
        <p:nvSpPr>
          <p:cNvPr id="7" name="">
            <a:extLst xmlns:a="http://schemas.openxmlformats.org/drawingml/2006/main">
              <a:ext uri="{FF2B5EF4-FFF2-40B4-BE49-F238E27FC236}">
                <a16:creationId xmlns:a16="http://schemas.microsoft.com/office/drawing/2014/main" id="{092801D7-F6C6-490D-B0A2-E56F2603FE1E}"/>
              </a:ext>
            </a:extLst>
          </p:cNvPr>
          <p:cNvSpPr>
            <a:spLocks xmlns:a="http://schemas.openxmlformats.org/drawingml/2006/main" noGrp="1"/>
          </p:cNvSpPr>
          <p:nvPr/>
        </p:nvSpPr>
        <p:spPr>
          <a:xfrm xmlns:a="http://schemas.openxmlformats.org/drawingml/2006/main">
            <a:off x="857250" y="2000250"/>
            <a:ext cx="60864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workflow SupportTriage budget 2500 {</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input ticket: text;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secret API_KEY;</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model fast = mock("local-small") max_tokens 600;</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prompt classify(message: text) -&gt; text =</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"Classify: {message}";</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let category: text = call classify(ticket) using fast;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require tokens(category) &lt;= 600;</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output category;</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A7040E56-4A13-4ACE-961F-5EEC845806AA}"/>
              </a:ext>
            </a:extLst>
          </p:cNvPr>
          <p:cNvSpPr>
            <a:spLocks xmlns:a="http://schemas.openxmlformats.org/drawingml/2006/main" noGrp="1"/>
          </p:cNvSpPr>
          <p:nvPr/>
        </p:nvSpPr>
        <p:spPr>
          <a:xfrm xmlns:a="http://schemas.openxmlformats.org/drawingml/2006/main">
            <a:off x="7715250" y="17621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6324F"/>
                </a:solidFill>
                <a:latin typeface="Helvetica Neue"/>
                <a:ea typeface="Helvetica Neue"/>
                <a:cs typeface="Helvetica Neue"/>
              </a:defRPr>
            </a:pPr>
            <a:r>
              <a:rPr sz="1650" b="1" i="0">
                <a:solidFill>
                  <a:srgbClr val="16324F"/>
                </a:solidFill>
                <a:latin typeface="Helvetica Neue"/>
                <a:ea typeface="Helvetica Neue"/>
                <a:cs typeface="Helvetica Neue"/>
              </a:rPr>
              <a:t>What the syntax gives the compiler</a:t>
            </a:r>
          </a:p>
        </p:txBody>
      </p:sp>
      <p:sp>
        <p:nvSpPr>
          <p:cNvPr id="9" name="">
            <a:extLst xmlns:a="http://schemas.openxmlformats.org/drawingml/2006/main">
              <a:ext uri="{FF2B5EF4-FFF2-40B4-BE49-F238E27FC236}">
                <a16:creationId xmlns:a16="http://schemas.microsoft.com/office/drawing/2014/main" id="{410DF244-78D9-4FB1-B177-19E77B2A662D}"/>
              </a:ext>
            </a:extLst>
          </p:cNvPr>
          <p:cNvSpPr>
            <a:spLocks xmlns:a="http://schemas.openxmlformats.org/drawingml/2006/main" noGrp="1"/>
          </p:cNvSpPr>
          <p:nvPr/>
        </p:nvSpPr>
        <p:spPr>
          <a:xfrm xmlns:a="http://schemas.openxmlformats.org/drawingml/2006/main">
            <a:off x="7562850" y="2266950"/>
            <a:ext cx="36385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Typed input and result declarations provide static type information.</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Prompt signatures connect template placeholders to call arguments.</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A model declaration records a mock provider name and max_tokens limit.</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The output statement defines the single workflow result.</a:t>
            </a:r>
          </a:p>
        </p:txBody>
      </p:sp>
      <p:sp>
        <p:nvSpPr>
          <p:cNvPr id="10" name="">
            <a:extLst xmlns:a="http://schemas.openxmlformats.org/drawingml/2006/main">
              <a:ext uri="{FF2B5EF4-FFF2-40B4-BE49-F238E27FC236}">
                <a16:creationId xmlns:a16="http://schemas.microsoft.com/office/drawing/2014/main" id="{979FC225-9395-4013-9568-50447AE8CAD4}"/>
              </a:ext>
            </a:extLst>
          </p:cNvPr>
          <p:cNvSpPr>
            <a:spLocks xmlns:a="http://schemas.openxmlformats.org/drawingml/2006/main" noGrp="1"/>
          </p:cNvSpPr>
          <p:nvPr/>
        </p:nvSpPr>
        <p:spPr>
          <a:xfrm xmlns:a="http://schemas.openxmlformats.org/drawingml/2006/main">
            <a:off x="7715250" y="50958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52606D"/>
                </a:solidFill>
                <a:latin typeface="Helvetica Neue"/>
                <a:ea typeface="Helvetica Neue"/>
                <a:cs typeface="Helvetica Neue"/>
              </a:defRPr>
            </a:pPr>
            <a:r>
              <a:rPr sz="1200" b="0" i="0">
                <a:solidFill>
                  <a:srgbClr val="52606D"/>
                </a:solidFill>
                <a:latin typeface="Helvetica Neue"/>
                <a:ea typeface="Helvetica Neue"/>
                <a:cs typeface="Helvetica Neue"/>
              </a:rPr>
              <a:t>The lexer also recognizes strings, numbers, booleans, comments, delimiters, and comparison operators.</a:t>
            </a:r>
          </a:p>
        </p:txBody>
      </p:sp>
      <p:sp>
        <p:nvSpPr>
          <p:cNvPr id="11" name="">
            <a:extLst xmlns:a="http://schemas.openxmlformats.org/drawingml/2006/main">
              <a:ext uri="{FF2B5EF4-FFF2-40B4-BE49-F238E27FC236}">
                <a16:creationId xmlns:a16="http://schemas.microsoft.com/office/drawing/2014/main" id="{B9BCC494-3DF0-4142-9580-4ACA3006525A}"/>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448545793"/>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6DD254A-1911-4F5F-A243-6D36E8724AF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6">
            <a:extLst xmlns:a="http://schemas.openxmlformats.org/drawingml/2006/main">
              <a:ext uri="{FF2B5EF4-FFF2-40B4-BE49-F238E27FC236}">
                <a16:creationId xmlns:a16="http://schemas.microsoft.com/office/drawing/2014/main" id="{348F0D7E-4343-4E59-908F-3D63B301C0D1}"/>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From Source Text to Abstract Syntax Tree</a:t>
            </a:r>
          </a:p>
        </p:txBody>
      </p:sp>
      <p:sp>
        <p:nvSpPr>
          <p:cNvPr id="3" name="">
            <a:extLst xmlns:a="http://schemas.openxmlformats.org/drawingml/2006/main">
              <a:ext uri="{FF2B5EF4-FFF2-40B4-BE49-F238E27FC236}">
                <a16:creationId xmlns:a16="http://schemas.microsoft.com/office/drawing/2014/main" id="{1B884082-983C-4382-BB3E-46B8FDEA82EE}"/>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03F2F82A-A9C8-49E4-802D-821E9DB7C2D8}"/>
              </a:ext>
            </a:extLst>
          </p:cNvPr>
          <p:cNvSpPr>
            <a:spLocks xmlns:a="http://schemas.openxmlformats.org/drawingml/2006/main" noGrp="1"/>
          </p:cNvSpPr>
          <p:nvPr/>
        </p:nvSpPr>
        <p:spPr>
          <a:xfrm xmlns:a="http://schemas.openxmlformats.org/drawingml/2006/main">
            <a:off x="685800" y="1066800"/>
            <a:ext cx="895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1F2937"/>
                </a:solidFill>
                <a:latin typeface="Helvetica Neue"/>
                <a:ea typeface="Helvetica Neue"/>
                <a:cs typeface="Helvetica Neue"/>
              </a:defRPr>
            </a:pPr>
            <a:r>
              <a:rPr sz="1650" b="0" i="0">
                <a:solidFill>
                  <a:srgbClr val="1F2937"/>
                </a:solidFill>
                <a:latin typeface="Helvetica Neue"/>
                <a:ea typeface="Helvetica Neue"/>
                <a:cs typeface="Helvetica Neue"/>
              </a:rPr>
              <a:t>The recursive descent parser uses one token lookahead and builds an owned AST.</a:t>
            </a:r>
          </a:p>
        </p:txBody>
      </p:sp>
      <p:sp>
        <p:nvSpPr>
          <p:cNvPr id="5" name="">
            <a:extLst xmlns:a="http://schemas.openxmlformats.org/drawingml/2006/main">
              <a:ext uri="{FF2B5EF4-FFF2-40B4-BE49-F238E27FC236}">
                <a16:creationId xmlns:a16="http://schemas.microsoft.com/office/drawing/2014/main" id="{D8C2FF36-0467-4973-92A8-713062040702}"/>
              </a:ext>
            </a:extLst>
          </p:cNvPr>
          <p:cNvSpPr>
            <a:spLocks xmlns:a="http://schemas.openxmlformats.org/drawingml/2006/main" noGrp="1"/>
          </p:cNvSpPr>
          <p:nvPr/>
        </p:nvSpPr>
        <p:spPr>
          <a:xfrm xmlns:a="http://schemas.openxmlformats.org/drawingml/2006/main">
            <a:off x="685800" y="1733550"/>
            <a:ext cx="4476750" cy="312420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E63B19A3-9175-4468-8C9E-28C12829AC12}"/>
              </a:ext>
            </a:extLst>
          </p:cNvPr>
          <p:cNvSpPr>
            <a:spLocks xmlns:a="http://schemas.openxmlformats.org/drawingml/2006/main" noGrp="1"/>
          </p:cNvSpPr>
          <p:nvPr/>
        </p:nvSpPr>
        <p:spPr>
          <a:xfrm xmlns:a="http://schemas.openxmlformats.org/drawingml/2006/main">
            <a:off x="857250" y="1847850"/>
            <a:ext cx="413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Source statements</a:t>
            </a:r>
          </a:p>
        </p:txBody>
      </p:sp>
      <p:sp>
        <p:nvSpPr>
          <p:cNvPr id="7" name="">
            <a:extLst xmlns:a="http://schemas.openxmlformats.org/drawingml/2006/main">
              <a:ext uri="{FF2B5EF4-FFF2-40B4-BE49-F238E27FC236}">
                <a16:creationId xmlns:a16="http://schemas.microsoft.com/office/drawing/2014/main" id="{9D580415-E30E-4365-B5AF-47186BED4711}"/>
              </a:ext>
            </a:extLst>
          </p:cNvPr>
          <p:cNvSpPr>
            <a:spLocks xmlns:a="http://schemas.openxmlformats.org/drawingml/2006/main" noGrp="1"/>
          </p:cNvSpPr>
          <p:nvPr/>
        </p:nvSpPr>
        <p:spPr>
          <a:xfrm xmlns:a="http://schemas.openxmlformats.org/drawingml/2006/main">
            <a:off x="857250" y="2114550"/>
            <a:ext cx="41338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input ticket: text;</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secret API_KEY;</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model fast = mock("local-small")</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max_tokens 600;</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let category: text =</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    call classify(ticket) using fast;</a:t>
            </a:r>
          </a:p>
          <a:p xmlns:a="http://schemas.openxmlformats.org/drawingml/2006/main">
            <a:pPr>
              <a:defRPr sz="1275" b="0" i="0">
                <a:solidFill>
                  <a:srgbClr val="E2E8F0"/>
                </a:solidFill>
                <a:latin typeface="Helvetica Neue"/>
                <a:ea typeface="Helvetica Neue"/>
                <a:cs typeface="Helvetica Neue"/>
              </a:defRPr>
            </a:pPr>
            <a:r>
              <a:rPr sz="1275" b="0" i="0">
                <a:solidFill>
                  <a:srgbClr val="E2E8F0"/>
                </a:solidFill>
                <a:latin typeface="Helvetica Neue"/>
                <a:ea typeface="Helvetica Neue"/>
                <a:cs typeface="Helvetica Neue"/>
              </a:rPr>
              <a:t>output category;</a:t>
            </a:r>
          </a:p>
        </p:txBody>
      </p:sp>
      <p:sp>
        <p:nvSpPr>
          <p:cNvPr id="8" name="">
            <a:extLst xmlns:a="http://schemas.openxmlformats.org/drawingml/2006/main">
              <a:ext uri="{FF2B5EF4-FFF2-40B4-BE49-F238E27FC236}">
                <a16:creationId xmlns:a16="http://schemas.microsoft.com/office/drawing/2014/main" id="{271E49ED-E9C4-4EE2-B0F8-D2F18DD48487}"/>
              </a:ext>
            </a:extLst>
          </p:cNvPr>
          <p:cNvSpPr>
            <a:spLocks xmlns:a="http://schemas.openxmlformats.org/drawingml/2006/main" noGrp="1"/>
          </p:cNvSpPr>
          <p:nvPr/>
        </p:nvSpPr>
        <p:spPr>
          <a:xfrm xmlns:a="http://schemas.openxmlformats.org/drawingml/2006/main">
            <a:off x="5657850" y="1733550"/>
            <a:ext cx="5657850" cy="312420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9" name="">
            <a:extLst xmlns:a="http://schemas.openxmlformats.org/drawingml/2006/main">
              <a:ext uri="{FF2B5EF4-FFF2-40B4-BE49-F238E27FC236}">
                <a16:creationId xmlns:a16="http://schemas.microsoft.com/office/drawing/2014/main" id="{3910C5C1-FD9F-4C31-988B-41620C0F7779}"/>
              </a:ext>
            </a:extLst>
          </p:cNvPr>
          <p:cNvSpPr>
            <a:spLocks xmlns:a="http://schemas.openxmlformats.org/drawingml/2006/main" noGrp="1"/>
          </p:cNvSpPr>
          <p:nvPr/>
        </p:nvSpPr>
        <p:spPr>
          <a:xfrm xmlns:a="http://schemas.openxmlformats.org/drawingml/2006/main">
            <a:off x="5829300" y="1847850"/>
            <a:ext cx="5314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orchc ast output</a:t>
            </a:r>
          </a:p>
        </p:txBody>
      </p:sp>
      <p:sp>
        <p:nvSpPr>
          <p:cNvPr id="10" name="">
            <a:extLst xmlns:a="http://schemas.openxmlformats.org/drawingml/2006/main">
              <a:ext uri="{FF2B5EF4-FFF2-40B4-BE49-F238E27FC236}">
                <a16:creationId xmlns:a16="http://schemas.microsoft.com/office/drawing/2014/main" id="{D3D0E963-9F4E-440C-8B50-7D5C5847B33B}"/>
              </a:ext>
            </a:extLst>
          </p:cNvPr>
          <p:cNvSpPr>
            <a:spLocks xmlns:a="http://schemas.openxmlformats.org/drawingml/2006/main" noGrp="1"/>
          </p:cNvSpPr>
          <p:nvPr/>
        </p:nvSpPr>
        <p:spPr>
          <a:xfrm xmlns:a="http://schemas.openxmlformats.org/drawingml/2006/main">
            <a:off x="5829300" y="2114550"/>
            <a:ext cx="53149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Workflow SupportTriage budget=2500</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Input ticket : text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Secret API_KEY</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Model fast provider=mock</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name=local-small max_tokens=600</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Prompt classify(message:text) -&gt; text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Let category : text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Call classify(ticket) using fast</a:t>
            </a:r>
          </a:p>
          <a:p xmlns:a="http://schemas.openxmlformats.org/drawingml/2006/main">
            <a:pPr>
              <a:defRPr sz="1163" b="0" i="0">
                <a:solidFill>
                  <a:srgbClr val="E2E8F0"/>
                </a:solidFill>
                <a:latin typeface="Helvetica Neue"/>
                <a:ea typeface="Helvetica Neue"/>
                <a:cs typeface="Helvetica Neue"/>
              </a:defRPr>
            </a:pPr>
            <a:r>
              <a:rPr sz="1163" b="0" i="0">
                <a:solidFill>
                  <a:srgbClr val="E2E8F0"/>
                </a:solidFill>
                <a:latin typeface="Helvetica Neue"/>
                <a:ea typeface="Helvetica Neue"/>
                <a:cs typeface="Helvetica Neue"/>
              </a:rPr>
              <a:t>  Output category</a:t>
            </a:r>
          </a:p>
        </p:txBody>
      </p:sp>
      <p:sp>
        <p:nvSpPr>
          <p:cNvPr id="11" name="">
            <a:extLst xmlns:a="http://schemas.openxmlformats.org/drawingml/2006/main">
              <a:ext uri="{FF2B5EF4-FFF2-40B4-BE49-F238E27FC236}">
                <a16:creationId xmlns:a16="http://schemas.microsoft.com/office/drawing/2014/main" id="{22760820-7FA3-4B3D-9945-3C6527FE459C}"/>
              </a:ext>
            </a:extLst>
          </p:cNvPr>
          <p:cNvSpPr>
            <a:spLocks xmlns:a="http://schemas.openxmlformats.org/drawingml/2006/main" noGrp="1"/>
          </p:cNvSpPr>
          <p:nvPr/>
        </p:nvSpPr>
        <p:spPr>
          <a:xfrm xmlns:a="http://schemas.openxmlformats.org/drawingml/2006/main">
            <a:off x="685800" y="52863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16324F"/>
                </a:solidFill>
                <a:latin typeface="Helvetica Neue"/>
                <a:ea typeface="Helvetica Neue"/>
                <a:cs typeface="Helvetica Neue"/>
              </a:defRPr>
            </a:pPr>
            <a:r>
              <a:rPr sz="1425" b="1" i="0">
                <a:solidFill>
                  <a:srgbClr val="16324F"/>
                </a:solidFill>
                <a:latin typeface="Helvetica Neue"/>
                <a:ea typeface="Helvetica Neue"/>
                <a:cs typeface="Helvetica Neue"/>
              </a:rPr>
              <a:t>Ownership</a:t>
            </a:r>
          </a:p>
        </p:txBody>
      </p:sp>
      <p:sp>
        <p:nvSpPr>
          <p:cNvPr id="12" name="">
            <a:extLst xmlns:a="http://schemas.openxmlformats.org/drawingml/2006/main">
              <a:ext uri="{FF2B5EF4-FFF2-40B4-BE49-F238E27FC236}">
                <a16:creationId xmlns:a16="http://schemas.microsoft.com/office/drawing/2014/main" id="{C4724079-F53D-4BCE-88B8-ECAD4FCBDE50}"/>
              </a:ext>
            </a:extLst>
          </p:cNvPr>
          <p:cNvSpPr>
            <a:spLocks xmlns:a="http://schemas.openxmlformats.org/drawingml/2006/main" noGrp="1"/>
          </p:cNvSpPr>
          <p:nvPr/>
        </p:nvSpPr>
        <p:spPr>
          <a:xfrm xmlns:a="http://schemas.openxmlformats.org/drawingml/2006/main">
            <a:off x="1866900" y="5257800"/>
            <a:ext cx="4171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1F2937"/>
                </a:solidFill>
                <a:latin typeface="Helvetica Neue"/>
                <a:ea typeface="Helvetica Neue"/>
                <a:cs typeface="Helvetica Neue"/>
              </a:defRPr>
            </a:pPr>
            <a:r>
              <a:rPr sz="1275" b="0" i="0">
                <a:solidFill>
                  <a:srgbClr val="1F2937"/>
                </a:solidFill>
                <a:latin typeface="Helvetica Neue"/>
                <a:ea typeface="Helvetica Neue"/>
                <a:cs typeface="Helvetica Neue"/>
              </a:rPr>
              <a:t>AST children use std::unique_ptr, which gives each node a clear lifetime without raw owning pointers.</a:t>
            </a:r>
          </a:p>
        </p:txBody>
      </p:sp>
      <p:sp>
        <p:nvSpPr>
          <p:cNvPr id="13" name="">
            <a:extLst xmlns:a="http://schemas.openxmlformats.org/drawingml/2006/main">
              <a:ext uri="{FF2B5EF4-FFF2-40B4-BE49-F238E27FC236}">
                <a16:creationId xmlns:a16="http://schemas.microsoft.com/office/drawing/2014/main" id="{F1562C23-7652-43D3-8F30-13BBDBAD4580}"/>
              </a:ext>
            </a:extLst>
          </p:cNvPr>
          <p:cNvSpPr>
            <a:spLocks xmlns:a="http://schemas.openxmlformats.org/drawingml/2006/main" noGrp="1"/>
          </p:cNvSpPr>
          <p:nvPr/>
        </p:nvSpPr>
        <p:spPr>
          <a:xfrm xmlns:a="http://schemas.openxmlformats.org/drawingml/2006/main">
            <a:off x="6781800" y="52863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16324F"/>
                </a:solidFill>
                <a:latin typeface="Helvetica Neue"/>
                <a:ea typeface="Helvetica Neue"/>
                <a:cs typeface="Helvetica Neue"/>
              </a:defRPr>
            </a:pPr>
            <a:r>
              <a:rPr sz="1425" b="1" i="0">
                <a:solidFill>
                  <a:srgbClr val="16324F"/>
                </a:solidFill>
                <a:latin typeface="Helvetica Neue"/>
                <a:ea typeface="Helvetica Neue"/>
                <a:cs typeface="Helvetica Neue"/>
              </a:rPr>
              <a:t>Recovery</a:t>
            </a:r>
          </a:p>
        </p:txBody>
      </p:sp>
      <p:sp>
        <p:nvSpPr>
          <p:cNvPr id="14" name="">
            <a:extLst xmlns:a="http://schemas.openxmlformats.org/drawingml/2006/main">
              <a:ext uri="{FF2B5EF4-FFF2-40B4-BE49-F238E27FC236}">
                <a16:creationId xmlns:a16="http://schemas.microsoft.com/office/drawing/2014/main" id="{B237C22F-79E7-4B32-9B5E-C6577317B138}"/>
              </a:ext>
            </a:extLst>
          </p:cNvPr>
          <p:cNvSpPr>
            <a:spLocks xmlns:a="http://schemas.openxmlformats.org/drawingml/2006/main" noGrp="1"/>
          </p:cNvSpPr>
          <p:nvPr/>
        </p:nvSpPr>
        <p:spPr>
          <a:xfrm xmlns:a="http://schemas.openxmlformats.org/drawingml/2006/main">
            <a:off x="7867650" y="52578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1F2937"/>
                </a:solidFill>
                <a:latin typeface="Helvetica Neue"/>
                <a:ea typeface="Helvetica Neue"/>
                <a:cs typeface="Helvetica Neue"/>
              </a:defRPr>
            </a:pPr>
            <a:r>
              <a:rPr sz="1275" b="0" i="0">
                <a:solidFill>
                  <a:srgbClr val="1F2937"/>
                </a:solidFill>
                <a:latin typeface="Helvetica Neue"/>
                <a:ea typeface="Helvetica Neue"/>
                <a:cs typeface="Helvetica Neue"/>
              </a:rPr>
              <a:t>After malformed syntax, parsing synchronizes at a semicolon, closing brace, or next statement keyword.</a:t>
            </a:r>
          </a:p>
        </p:txBody>
      </p:sp>
      <p:sp>
        <p:nvSpPr>
          <p:cNvPr id="15" name="">
            <a:extLst xmlns:a="http://schemas.openxmlformats.org/drawingml/2006/main">
              <a:ext uri="{FF2B5EF4-FFF2-40B4-BE49-F238E27FC236}">
                <a16:creationId xmlns:a16="http://schemas.microsoft.com/office/drawing/2014/main" id="{720E7E0D-27A2-4A97-AB17-AE07F1D551D0}"/>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267712406"/>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8ED450-50C7-4CB2-B374-77D79966055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7">
            <a:extLst xmlns:a="http://schemas.openxmlformats.org/drawingml/2006/main">
              <a:ext uri="{FF2B5EF4-FFF2-40B4-BE49-F238E27FC236}">
                <a16:creationId xmlns:a16="http://schemas.microsoft.com/office/drawing/2014/main" id="{EDE67BB9-8A8E-4E9E-8C3F-72B03A71507B}"/>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Scopes and Semantic Checks</a:t>
            </a:r>
          </a:p>
        </p:txBody>
      </p:sp>
      <p:sp>
        <p:nvSpPr>
          <p:cNvPr id="3" name="">
            <a:extLst xmlns:a="http://schemas.openxmlformats.org/drawingml/2006/main">
              <a:ext uri="{FF2B5EF4-FFF2-40B4-BE49-F238E27FC236}">
                <a16:creationId xmlns:a16="http://schemas.microsoft.com/office/drawing/2014/main" id="{64A1B4E1-8DAD-4465-9CE5-F7F9B9E50637}"/>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C5582431-A27E-4223-9B90-771177E2C65B}"/>
              </a:ext>
            </a:extLst>
          </p:cNvPr>
          <p:cNvSpPr>
            <a:spLocks xmlns:a="http://schemas.openxmlformats.org/drawingml/2006/main" noGrp="1"/>
          </p:cNvSpPr>
          <p:nvPr/>
        </p:nvSpPr>
        <p:spPr>
          <a:xfrm xmlns:a="http://schemas.openxmlformats.org/drawingml/2006/main">
            <a:off x="685800" y="10668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1F2937"/>
                </a:solidFill>
                <a:latin typeface="Helvetica Neue"/>
                <a:ea typeface="Helvetica Neue"/>
                <a:cs typeface="Helvetica Neue"/>
              </a:defRPr>
            </a:pPr>
            <a:r>
              <a:rPr sz="1650" b="0" i="0">
                <a:solidFill>
                  <a:srgbClr val="1F2937"/>
                </a:solidFill>
                <a:latin typeface="Helvetica Neue"/>
                <a:ea typeface="Helvetica Neue"/>
                <a:cs typeface="Helvetica Neue"/>
              </a:rPr>
              <a:t>The parser recognizes structure. The semantic analyzer checks whether that structure is meaningful and safe.</a:t>
            </a:r>
          </a:p>
        </p:txBody>
      </p:sp>
      <p:sp>
        <p:nvSpPr>
          <p:cNvPr id="5" name="">
            <a:extLst xmlns:a="http://schemas.openxmlformats.org/drawingml/2006/main">
              <a:ext uri="{FF2B5EF4-FFF2-40B4-BE49-F238E27FC236}">
                <a16:creationId xmlns:a16="http://schemas.microsoft.com/office/drawing/2014/main" id="{E1B9E6AD-51DD-43F5-BF0A-2565DFF41E68}"/>
              </a:ext>
            </a:extLst>
          </p:cNvPr>
          <p:cNvSpPr>
            <a:spLocks xmlns:a="http://schemas.openxmlformats.org/drawingml/2006/main" noGrp="1"/>
          </p:cNvSpPr>
          <p:nvPr/>
        </p:nvSpPr>
        <p:spPr>
          <a:xfrm xmlns:a="http://schemas.openxmlformats.org/drawingml/2006/main">
            <a:off x="685800" y="1714500"/>
            <a:ext cx="5572125" cy="361950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5FFC372F-386C-491C-AAF2-2BDA76A62648}"/>
              </a:ext>
            </a:extLst>
          </p:cNvPr>
          <p:cNvSpPr>
            <a:spLocks xmlns:a="http://schemas.openxmlformats.org/drawingml/2006/main" noGrp="1"/>
          </p:cNvSpPr>
          <p:nvPr/>
        </p:nvSpPr>
        <p:spPr>
          <a:xfrm xmlns:a="http://schemas.openxmlformats.org/drawingml/2006/main">
            <a:off x="857250" y="1828800"/>
            <a:ext cx="52292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orchc symbols output</a:t>
            </a:r>
          </a:p>
        </p:txBody>
      </p:sp>
      <p:sp>
        <p:nvSpPr>
          <p:cNvPr id="7" name="">
            <a:extLst xmlns:a="http://schemas.openxmlformats.org/drawingml/2006/main">
              <a:ext uri="{FF2B5EF4-FFF2-40B4-BE49-F238E27FC236}">
                <a16:creationId xmlns:a16="http://schemas.microsoft.com/office/drawing/2014/main" id="{939211A7-0A47-40CA-8FB3-31596356E092}"/>
              </a:ext>
            </a:extLst>
          </p:cNvPr>
          <p:cNvSpPr>
            <a:spLocks xmlns:a="http://schemas.openxmlformats.org/drawingml/2006/main" noGrp="1"/>
          </p:cNvSpPr>
          <p:nvPr/>
        </p:nvSpPr>
        <p:spPr>
          <a:xfrm xmlns:a="http://schemas.openxmlformats.org/drawingml/2006/main">
            <a:off x="857250" y="2095500"/>
            <a:ext cx="52292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Scope workflow:SupportTriage</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secret API_KEY</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local-result category : text</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prompt classify : text (message:text) -&gt; text</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model fast provider=mock name=local-small</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max_tokens=600</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input ticket : text</a:t>
            </a:r>
          </a:p>
          <a:p xmlns:a="http://schemas.openxmlformats.org/drawingml/2006/main">
            <a:r>
              <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Scope workflow:SupportTriage::prompt:classify</a:t>
            </a:r>
          </a:p>
          <a:p xmlns:a="http://schemas.openxmlformats.org/drawingml/2006/main">
            <a:pPr>
              <a:defRPr sz="1140" b="0" i="0">
                <a:solidFill>
                  <a:srgbClr val="E2E8F0"/>
                </a:solidFill>
                <a:latin typeface="Helvetica Neue"/>
                <a:ea typeface="Helvetica Neue"/>
                <a:cs typeface="Helvetica Neue"/>
              </a:defRPr>
            </a:pPr>
            <a:r>
              <a:rPr sz="1140" b="0" i="0">
                <a:solidFill>
                  <a:srgbClr val="E2E8F0"/>
                </a:solidFill>
                <a:latin typeface="Helvetica Neue"/>
                <a:ea typeface="Helvetica Neue"/>
                <a:cs typeface="Helvetica Neue"/>
              </a:rPr>
              <a:t>  prompt-parameter message : text</a:t>
            </a:r>
          </a:p>
        </p:txBody>
      </p:sp>
      <p:sp>
        <p:nvSpPr>
          <p:cNvPr id="8" name="">
            <a:extLst xmlns:a="http://schemas.openxmlformats.org/drawingml/2006/main">
              <a:ext uri="{FF2B5EF4-FFF2-40B4-BE49-F238E27FC236}">
                <a16:creationId xmlns:a16="http://schemas.microsoft.com/office/drawing/2014/main" id="{64B30261-8A83-4F17-A621-2C1E821EC6E2}"/>
              </a:ext>
            </a:extLst>
          </p:cNvPr>
          <p:cNvSpPr>
            <a:spLocks xmlns:a="http://schemas.openxmlformats.org/drawingml/2006/main" noGrp="1"/>
          </p:cNvSpPr>
          <p:nvPr/>
        </p:nvSpPr>
        <p:spPr>
          <a:xfrm xmlns:a="http://schemas.openxmlformats.org/drawingml/2006/main">
            <a:off x="6905625" y="1771650"/>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6324F"/>
                </a:solidFill>
                <a:latin typeface="Helvetica Neue"/>
                <a:ea typeface="Helvetica Neue"/>
                <a:cs typeface="Helvetica Neue"/>
              </a:defRPr>
            </a:pPr>
            <a:r>
              <a:rPr sz="1650" b="1" i="0">
                <a:solidFill>
                  <a:srgbClr val="16324F"/>
                </a:solidFill>
                <a:latin typeface="Helvetica Neue"/>
                <a:ea typeface="Helvetica Neue"/>
                <a:cs typeface="Helvetica Neue"/>
              </a:rPr>
              <a:t>Representative semantic rules</a:t>
            </a:r>
          </a:p>
        </p:txBody>
      </p:sp>
      <p:sp>
        <p:nvSpPr>
          <p:cNvPr id="9" name="">
            <a:extLst xmlns:a="http://schemas.openxmlformats.org/drawingml/2006/main">
              <a:ext uri="{FF2B5EF4-FFF2-40B4-BE49-F238E27FC236}">
                <a16:creationId xmlns:a16="http://schemas.microsoft.com/office/drawing/2014/main" id="{4F52A8EA-5951-49F6-8F42-E6BBE0C42484}"/>
              </a:ext>
            </a:extLst>
          </p:cNvPr>
          <p:cNvSpPr>
            <a:spLocks xmlns:a="http://schemas.openxmlformats.org/drawingml/2006/main" noGrp="1"/>
          </p:cNvSpPr>
          <p:nvPr/>
        </p:nvSpPr>
        <p:spPr>
          <a:xfrm xmlns:a="http://schemas.openxmlformats.org/drawingml/2006/main">
            <a:off x="6715125" y="2247900"/>
            <a:ext cx="42862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313">
                <a:solidFill>
                  <a:srgbClr val="1F2937"/>
                </a:solidFill>
                <a:latin typeface="Helvetica Neue"/>
                <a:ea typeface="Helvetica Neue"/>
                <a:cs typeface="Helvetica Neue"/>
              </a:defRPr>
            </a:pPr>
            <a:r>
              <a:rPr sz="1313">
                <a:solidFill>
                  <a:srgbClr val="1F2937"/>
                </a:solidFill>
                <a:latin typeface="Helvetica Neue"/>
                <a:ea typeface="Helvetica Neue"/>
                <a:cs typeface="Helvetica Neue"/>
              </a:rPr>
              <a:t>E201 and E202: reject duplicate declarations and use before declaration.</a:t>
            </a:r>
          </a:p>
          <a:p xmlns:a="http://schemas.openxmlformats.org/drawingml/2006/main">
            <a:pPr marL="228600" indent="-114300">
              <a:spcAft>
                <a:spcPts val="900"/>
              </a:spcAft>
              <a:buChar char="•"/>
              <a:defRPr sz="1313">
                <a:solidFill>
                  <a:srgbClr val="1F2937"/>
                </a:solidFill>
                <a:latin typeface="Helvetica Neue"/>
                <a:ea typeface="Helvetica Neue"/>
                <a:cs typeface="Helvetica Neue"/>
              </a:defRPr>
            </a:pPr>
            <a:r>
              <a:rPr sz="1313">
                <a:solidFill>
                  <a:srgbClr val="1F2937"/>
                </a:solidFill>
                <a:latin typeface="Helvetica Neue"/>
                <a:ea typeface="Helvetica Neue"/>
                <a:cs typeface="Helvetica Neue"/>
              </a:rPr>
              <a:t>E210 to E223: validate call result types, prompt lookup, arity, arguments, and placeholders.</a:t>
            </a:r>
          </a:p>
          <a:p xmlns:a="http://schemas.openxmlformats.org/drawingml/2006/main">
            <a:pPr marL="228600" indent="-114300">
              <a:spcAft>
                <a:spcPts val="900"/>
              </a:spcAft>
              <a:buChar char="•"/>
              <a:defRPr sz="1313">
                <a:solidFill>
                  <a:srgbClr val="1F2937"/>
                </a:solidFill>
                <a:latin typeface="Helvetica Neue"/>
                <a:ea typeface="Helvetica Neue"/>
                <a:cs typeface="Helvetica Neue"/>
              </a:defRPr>
            </a:pPr>
            <a:r>
              <a:rPr sz="1313">
                <a:solidFill>
                  <a:srgbClr val="1F2937"/>
                </a:solidFill>
                <a:latin typeface="Helvetica Neue"/>
                <a:ea typeface="Helvetica Neue"/>
                <a:cs typeface="Helvetica Neue"/>
              </a:rPr>
              <a:t>E230, E241, and E260: block secret exposure, unknown models, and declared token bounds above budget.</a:t>
            </a:r>
          </a:p>
          <a:p xmlns:a="http://schemas.openxmlformats.org/drawingml/2006/main">
            <a:pPr marL="228600" indent="-114300">
              <a:spcAft>
                <a:spcPts val="900"/>
              </a:spcAft>
              <a:buChar char="•"/>
              <a:defRPr sz="1313">
                <a:solidFill>
                  <a:srgbClr val="1F2937"/>
                </a:solidFill>
                <a:latin typeface="Helvetica Neue"/>
                <a:ea typeface="Helvetica Neue"/>
                <a:cs typeface="Helvetica Neue"/>
              </a:defRPr>
            </a:pPr>
            <a:r>
              <a:rPr sz="1313">
                <a:solidFill>
                  <a:srgbClr val="1F2937"/>
                </a:solidFill>
                <a:latin typeface="Helvetica Neue"/>
                <a:ea typeface="Helvetica Neue"/>
                <a:cs typeface="Helvetica Neue"/>
              </a:rPr>
              <a:t>E270 and E271: require exactly one output statement.</a:t>
            </a:r>
          </a:p>
        </p:txBody>
      </p:sp>
      <p:sp>
        <p:nvSpPr>
          <p:cNvPr id="10" name="">
            <a:extLst xmlns:a="http://schemas.openxmlformats.org/drawingml/2006/main">
              <a:ext uri="{FF2B5EF4-FFF2-40B4-BE49-F238E27FC236}">
                <a16:creationId xmlns:a16="http://schemas.microsoft.com/office/drawing/2014/main" id="{57854A8C-37EC-4773-952F-0BC1A6D32221}"/>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1459690627"/>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33B00D-D5BB-49B9-A667-6C28702DE66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8">
            <a:extLst xmlns:a="http://schemas.openxmlformats.org/drawingml/2006/main">
              <a:ext uri="{FF2B5EF4-FFF2-40B4-BE49-F238E27FC236}">
                <a16:creationId xmlns:a16="http://schemas.microsoft.com/office/drawing/2014/main" id="{F22F8D04-D5B3-4D36-8858-F844A6F51195}"/>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Workflow Intermediate Representation</a:t>
            </a:r>
          </a:p>
        </p:txBody>
      </p:sp>
      <p:sp>
        <p:nvSpPr>
          <p:cNvPr id="3" name="">
            <a:extLst xmlns:a="http://schemas.openxmlformats.org/drawingml/2006/main">
              <a:ext uri="{FF2B5EF4-FFF2-40B4-BE49-F238E27FC236}">
                <a16:creationId xmlns:a16="http://schemas.microsoft.com/office/drawing/2014/main" id="{2F134F2E-F51D-4235-A452-E68D1830AE2B}"/>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AA18F3B-9A0D-4126-AD54-2F6B7C7674D8}"/>
              </a:ext>
            </a:extLst>
          </p:cNvPr>
          <p:cNvSpPr>
            <a:spLocks xmlns:a="http://schemas.openxmlformats.org/drawingml/2006/main" noGrp="1"/>
          </p:cNvSpPr>
          <p:nvPr/>
        </p:nvSpPr>
        <p:spPr>
          <a:xfrm xmlns:a="http://schemas.openxmlformats.org/drawingml/2006/main">
            <a:off x="685800" y="1066800"/>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1F2937"/>
                </a:solidFill>
                <a:latin typeface="Helvetica Neue"/>
                <a:ea typeface="Helvetica Neue"/>
                <a:cs typeface="Helvetica Neue"/>
              </a:defRPr>
            </a:pPr>
            <a:r>
              <a:rPr sz="1650" b="0" i="0">
                <a:solidFill>
                  <a:srgbClr val="1F2937"/>
                </a:solidFill>
                <a:latin typeface="Helvetica Neue"/>
                <a:ea typeface="Helvetica Neue"/>
                <a:cs typeface="Helvetica Neue"/>
              </a:rPr>
              <a:t>Only a semantically valid program lowers to numbered dependency aware IR nodes.</a:t>
            </a:r>
          </a:p>
        </p:txBody>
      </p:sp>
      <p:sp>
        <p:nvSpPr>
          <p:cNvPr id="5" name="">
            <a:extLst xmlns:a="http://schemas.openxmlformats.org/drawingml/2006/main">
              <a:ext uri="{FF2B5EF4-FFF2-40B4-BE49-F238E27FC236}">
                <a16:creationId xmlns:a16="http://schemas.microsoft.com/office/drawing/2014/main" id="{209F712F-59C2-4A25-960E-7101A1EFD57C}"/>
              </a:ext>
            </a:extLst>
          </p:cNvPr>
          <p:cNvSpPr>
            <a:spLocks xmlns:a="http://schemas.openxmlformats.org/drawingml/2006/main" noGrp="1"/>
          </p:cNvSpPr>
          <p:nvPr/>
        </p:nvSpPr>
        <p:spPr>
          <a:xfrm xmlns:a="http://schemas.openxmlformats.org/drawingml/2006/main">
            <a:off x="685800" y="1733550"/>
            <a:ext cx="6572250" cy="347662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088DB75C-46DF-4DEE-8B24-E0F065D11F56}"/>
              </a:ext>
            </a:extLst>
          </p:cNvPr>
          <p:cNvSpPr>
            <a:spLocks xmlns:a="http://schemas.openxmlformats.org/drawingml/2006/main" noGrp="1"/>
          </p:cNvSpPr>
          <p:nvPr/>
        </p:nvSpPr>
        <p:spPr>
          <a:xfrm xmlns:a="http://schemas.openxmlformats.org/drawingml/2006/main">
            <a:off x="857250" y="1847850"/>
            <a:ext cx="6229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orchc ir output</a:t>
            </a:r>
          </a:p>
        </p:txBody>
      </p:sp>
      <p:sp>
        <p:nvSpPr>
          <p:cNvPr id="7" name="">
            <a:extLst xmlns:a="http://schemas.openxmlformats.org/drawingml/2006/main">
              <a:ext uri="{FF2B5EF4-FFF2-40B4-BE49-F238E27FC236}">
                <a16:creationId xmlns:a16="http://schemas.microsoft.com/office/drawing/2014/main" id="{00965442-3934-4D2A-9232-6D658B48A124}"/>
              </a:ext>
            </a:extLst>
          </p:cNvPr>
          <p:cNvSpPr>
            <a:spLocks xmlns:a="http://schemas.openxmlformats.org/drawingml/2006/main" noGrp="1"/>
          </p:cNvSpPr>
          <p:nvPr/>
        </p:nvSpPr>
        <p:spPr>
          <a:xfrm xmlns:a="http://schemas.openxmlformats.org/drawingml/2006/main">
            <a:off x="857250" y="2114550"/>
            <a:ext cx="62293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[3] Model fast deps=[]</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    provider=mock name=local-small max_tokens=600</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[4] Prompt classify : text deps=[] parameters=1</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[5] Call category : text deps=[4, 3, 1]</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    prompt=classify model=fast max_tokens=600</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[6] Requirement tokens(category) : boolean deps=[5]</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    operator=&lt;= limit=600</a:t>
            </a:r>
          </a:p>
          <a:p xmlns:a="http://schemas.openxmlformats.org/drawingml/2006/main">
            <a:pPr>
              <a:defRPr sz="1200" b="0" i="0">
                <a:solidFill>
                  <a:srgbClr val="E2E8F0"/>
                </a:solidFill>
                <a:latin typeface="Helvetica Neue"/>
                <a:ea typeface="Helvetica Neue"/>
                <a:cs typeface="Helvetica Neue"/>
              </a:defRPr>
            </a:pPr>
            <a:r>
              <a:rPr sz="1200" b="0" i="0">
                <a:solidFill>
                  <a:srgbClr val="E2E8F0"/>
                </a:solidFill>
                <a:latin typeface="Helvetica Neue"/>
                <a:ea typeface="Helvetica Neue"/>
                <a:cs typeface="Helvetica Neue"/>
              </a:rPr>
              <a:t>[7] Output category : text deps=[5]</a:t>
            </a:r>
          </a:p>
        </p:txBody>
      </p:sp>
      <p:sp>
        <p:nvSpPr>
          <p:cNvPr id="8" name="">
            <a:extLst xmlns:a="http://schemas.openxmlformats.org/drawingml/2006/main">
              <a:ext uri="{FF2B5EF4-FFF2-40B4-BE49-F238E27FC236}">
                <a16:creationId xmlns:a16="http://schemas.microsoft.com/office/drawing/2014/main" id="{F9EFA9BA-41CA-41D1-B055-706FE33727B8}"/>
              </a:ext>
            </a:extLst>
          </p:cNvPr>
          <p:cNvSpPr>
            <a:spLocks xmlns:a="http://schemas.openxmlformats.org/drawingml/2006/main" noGrp="1"/>
          </p:cNvSpPr>
          <p:nvPr/>
        </p:nvSpPr>
        <p:spPr>
          <a:xfrm xmlns:a="http://schemas.openxmlformats.org/drawingml/2006/main">
            <a:off x="8096250" y="17621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6324F"/>
                </a:solidFill>
                <a:latin typeface="Helvetica Neue"/>
                <a:ea typeface="Helvetica Neue"/>
                <a:cs typeface="Helvetica Neue"/>
              </a:defRPr>
            </a:pPr>
            <a:r>
              <a:rPr sz="1650" b="1" i="0">
                <a:solidFill>
                  <a:srgbClr val="16324F"/>
                </a:solidFill>
                <a:latin typeface="Helvetica Neue"/>
                <a:ea typeface="Helvetica Neue"/>
                <a:cs typeface="Helvetica Neue"/>
              </a:rPr>
              <a:t>Static safety checks</a:t>
            </a:r>
          </a:p>
        </p:txBody>
      </p:sp>
      <p:sp>
        <p:nvSpPr>
          <p:cNvPr id="9" name="">
            <a:extLst xmlns:a="http://schemas.openxmlformats.org/drawingml/2006/main">
              <a:ext uri="{FF2B5EF4-FFF2-40B4-BE49-F238E27FC236}">
                <a16:creationId xmlns:a16="http://schemas.microsoft.com/office/drawing/2014/main" id="{65BA6DFC-0B61-43F8-BF92-CB821A35063A}"/>
              </a:ext>
            </a:extLst>
          </p:cNvPr>
          <p:cNvSpPr>
            <a:spLocks xmlns:a="http://schemas.openxmlformats.org/drawingml/2006/main" noGrp="1"/>
          </p:cNvSpPr>
          <p:nvPr/>
        </p:nvSpPr>
        <p:spPr>
          <a:xfrm xmlns:a="http://schemas.openxmlformats.org/drawingml/2006/main">
            <a:off x="7905750" y="2286000"/>
            <a:ext cx="32575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The call node depends on the prompt, model, and input it uses.</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A depth first search rejects dependency cycles before accepting IR.</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The budget check sums declared max_tokens limits. For SupportTriage, 600 is within the 2500 budget.</a:t>
            </a:r>
          </a:p>
        </p:txBody>
      </p:sp>
      <p:sp>
        <p:nvSpPr>
          <p:cNvPr id="10" name="">
            <a:extLst xmlns:a="http://schemas.openxmlformats.org/drawingml/2006/main">
              <a:ext uri="{FF2B5EF4-FFF2-40B4-BE49-F238E27FC236}">
                <a16:creationId xmlns:a16="http://schemas.microsoft.com/office/drawing/2014/main" id="{7CDD5B6C-2EDB-43AF-AE0F-840B8F159407}"/>
              </a:ext>
            </a:extLst>
          </p:cNvPr>
          <p:cNvSpPr>
            <a:spLocks xmlns:a="http://schemas.openxmlformats.org/drawingml/2006/main" noGrp="1"/>
          </p:cNvSpPr>
          <p:nvPr/>
        </p:nvSpPr>
        <p:spPr>
          <a:xfrm xmlns:a="http://schemas.openxmlformats.org/drawingml/2006/main">
            <a:off x="7905750" y="47625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52606D"/>
                </a:solidFill>
                <a:latin typeface="Helvetica Neue"/>
                <a:ea typeface="Helvetica Neue"/>
                <a:cs typeface="Helvetica Neue"/>
              </a:defRPr>
            </a:pPr>
            <a:r>
              <a:rPr sz="1200" b="0" i="0">
                <a:solidFill>
                  <a:srgbClr val="52606D"/>
                </a:solidFill>
                <a:latin typeface="Helvetica Neue"/>
                <a:ea typeface="Helvetica Neue"/>
                <a:cs typeface="Helvetica Neue"/>
              </a:rPr>
              <a:t>The budget is a conservative static bound. It does not estimate provider billing, prompt tokens, retries, or runtime consumption.</a:t>
            </a:r>
          </a:p>
        </p:txBody>
      </p:sp>
      <p:sp>
        <p:nvSpPr>
          <p:cNvPr id="11" name="">
            <a:extLst xmlns:a="http://schemas.openxmlformats.org/drawingml/2006/main">
              <a:ext uri="{FF2B5EF4-FFF2-40B4-BE49-F238E27FC236}">
                <a16:creationId xmlns:a16="http://schemas.microsoft.com/office/drawing/2014/main" id="{6717CB56-310D-4E14-9B89-9BE35F377DE3}"/>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47609280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427DA1-FBC4-4307-BEA8-24842B67C95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9">
            <a:extLst xmlns:a="http://schemas.openxmlformats.org/drawingml/2006/main">
              <a:ext uri="{FF2B5EF4-FFF2-40B4-BE49-F238E27FC236}">
                <a16:creationId xmlns:a16="http://schemas.microsoft.com/office/drawing/2014/main" id="{E30C4EEA-685C-4CAB-8FAA-2F38C45A7358}"/>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Testing Evidence</a:t>
            </a:r>
          </a:p>
        </p:txBody>
      </p:sp>
      <p:sp>
        <p:nvSpPr>
          <p:cNvPr id="3" name="">
            <a:extLst xmlns:a="http://schemas.openxmlformats.org/drawingml/2006/main">
              <a:ext uri="{FF2B5EF4-FFF2-40B4-BE49-F238E27FC236}">
                <a16:creationId xmlns:a16="http://schemas.microsoft.com/office/drawing/2014/main" id="{C28A83B1-60A9-4B2A-A6E7-65F26DF8DB9B}"/>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FF49D15D-071A-4D3D-B1E6-23F68C6FCC3C}"/>
              </a:ext>
            </a:extLst>
          </p:cNvPr>
          <p:cNvSpPr>
            <a:spLocks xmlns:a="http://schemas.openxmlformats.org/drawingml/2006/main" noGrp="1"/>
          </p:cNvSpPr>
          <p:nvPr/>
        </p:nvSpPr>
        <p:spPr>
          <a:xfrm xmlns:a="http://schemas.openxmlformats.org/drawingml/2006/main">
            <a:off x="685800" y="1219200"/>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i="0">
                <a:solidFill>
                  <a:srgbClr val="0F766E"/>
                </a:solidFill>
                <a:latin typeface="Helvetica Neue"/>
                <a:ea typeface="Helvetica Neue"/>
                <a:cs typeface="Helvetica Neue"/>
              </a:defRPr>
            </a:pPr>
            <a:r>
              <a:rPr sz="5250" b="1" i="0">
                <a:solidFill>
                  <a:srgbClr val="0F766E"/>
                </a:solidFill>
                <a:latin typeface="Helvetica Neue"/>
                <a:ea typeface="Helvetica Neue"/>
                <a:cs typeface="Helvetica Neue"/>
              </a:rPr>
              <a:t>45/45</a:t>
            </a:r>
          </a:p>
        </p:txBody>
      </p:sp>
      <p:sp>
        <p:nvSpPr>
          <p:cNvPr id="5" name="">
            <a:extLst xmlns:a="http://schemas.openxmlformats.org/drawingml/2006/main">
              <a:ext uri="{FF2B5EF4-FFF2-40B4-BE49-F238E27FC236}">
                <a16:creationId xmlns:a16="http://schemas.microsoft.com/office/drawing/2014/main" id="{C43E872B-C7BC-458A-B54C-354B4252382B}"/>
              </a:ext>
            </a:extLst>
          </p:cNvPr>
          <p:cNvSpPr>
            <a:spLocks xmlns:a="http://schemas.openxmlformats.org/drawingml/2006/main" noGrp="1"/>
          </p:cNvSpPr>
          <p:nvPr/>
        </p:nvSpPr>
        <p:spPr>
          <a:xfrm xmlns:a="http://schemas.openxmlformats.org/drawingml/2006/main">
            <a:off x="3000375" y="1362075"/>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6324F"/>
                </a:solidFill>
                <a:latin typeface="Helvetica Neue"/>
                <a:ea typeface="Helvetica Neue"/>
                <a:cs typeface="Helvetica Neue"/>
              </a:defRPr>
            </a:pPr>
            <a:r>
              <a:rPr sz="1725" b="1" i="0">
                <a:solidFill>
                  <a:srgbClr val="16324F"/>
                </a:solidFill>
                <a:latin typeface="Helvetica Neue"/>
                <a:ea typeface="Helvetica Neue"/>
                <a:cs typeface="Helvetica Neue"/>
              </a:rPr>
              <a:t>automated assertions passed in a clean C++17 build with -Wall -Wextra -pedantic</a:t>
            </a:r>
          </a:p>
        </p:txBody>
      </p:sp>
      <p:sp>
        <p:nvSpPr>
          <p:cNvPr id="6" name="">
            <a:extLst xmlns:a="http://schemas.openxmlformats.org/drawingml/2006/main">
              <a:ext uri="{FF2B5EF4-FFF2-40B4-BE49-F238E27FC236}">
                <a16:creationId xmlns:a16="http://schemas.microsoft.com/office/drawing/2014/main" id="{F345CB61-DF04-41D4-92CA-373EFB9E91C5}"/>
              </a:ext>
            </a:extLst>
          </p:cNvPr>
          <p:cNvSpPr>
            <a:spLocks xmlns:a="http://schemas.openxmlformats.org/drawingml/2006/main" noGrp="1"/>
          </p:cNvSpPr>
          <p:nvPr/>
        </p:nvSpPr>
        <p:spPr>
          <a:xfrm xmlns:a="http://schemas.openxmlformats.org/drawingml/2006/main">
            <a:off x="8858250" y="1257300"/>
            <a:ext cx="2476500" cy="1066800"/>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7" name="">
            <a:extLst xmlns:a="http://schemas.openxmlformats.org/drawingml/2006/main">
              <a:ext uri="{FF2B5EF4-FFF2-40B4-BE49-F238E27FC236}">
                <a16:creationId xmlns:a16="http://schemas.microsoft.com/office/drawing/2014/main" id="{2F78A100-4240-4DEF-8D24-F8E1B75BEF20}"/>
              </a:ext>
            </a:extLst>
          </p:cNvPr>
          <p:cNvSpPr>
            <a:spLocks xmlns:a="http://schemas.openxmlformats.org/drawingml/2006/main" noGrp="1"/>
          </p:cNvSpPr>
          <p:nvPr/>
        </p:nvSpPr>
        <p:spPr>
          <a:xfrm xmlns:a="http://schemas.openxmlformats.org/drawingml/2006/main">
            <a:off x="9029700" y="1371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Build result</a:t>
            </a:r>
          </a:p>
        </p:txBody>
      </p:sp>
      <p:sp>
        <p:nvSpPr>
          <p:cNvPr id="8" name="">
            <a:extLst xmlns:a="http://schemas.openxmlformats.org/drawingml/2006/main">
              <a:ext uri="{FF2B5EF4-FFF2-40B4-BE49-F238E27FC236}">
                <a16:creationId xmlns:a16="http://schemas.microsoft.com/office/drawing/2014/main" id="{C9D18A45-86AE-49FC-93CA-6FFB7F4B218A}"/>
              </a:ext>
            </a:extLst>
          </p:cNvPr>
          <p:cNvSpPr>
            <a:spLocks xmlns:a="http://schemas.openxmlformats.org/drawingml/2006/main" noGrp="1"/>
          </p:cNvSpPr>
          <p:nvPr/>
        </p:nvSpPr>
        <p:spPr>
          <a:xfrm xmlns:a="http://schemas.openxmlformats.org/drawingml/2006/main">
            <a:off x="9029700" y="1638300"/>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make clean &amp;&amp; make check</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Passed 45/45 tests.</a:t>
            </a:r>
          </a:p>
        </p:txBody>
      </p:sp>
      <p:graphicFrame>
        <p:nvGraphicFramePr>
          <p:cNvPr id="20" name=""/>
          <p:cNvGraphicFramePr/>
          <p:nvPr/>
        </p:nvGraphicFramePr>
        <p:xfrm>
          <a:off xmlns:a="http://schemas.openxmlformats.org/drawingml/2006/main" x="685800" y="2667000"/>
          <a:ext xmlns:a="http://schemas.openxmlformats.org/drawingml/2006/main" cx="10629900" cy="2428875"/>
        </p:xfrm>
        <a:graphic xmlns:a="http://schemas.openxmlformats.org/drawingml/2006/main">
          <a:graphicData uri="http://schemas.openxmlformats.org/drawingml/2006/table">
            <a:tbl>
              <a:tblPr firstRow="1" bandRow="1"/>
              <a:tblGrid>
                <a:gridCol w="2762250"/>
                <a:gridCol w="7867650"/>
              </a:tblGrid>
              <a:tr h="485775">
                <a:tc>
                  <a:txBody>
                    <a:bodyPr/>
                    <a:lstStyle/>
                    <a:p>
                      <a:r>
                        <a:rPr sz="1125" b="1">
                          <a:solidFill>
                            <a:srgbClr val="FFFFFF"/>
                          </a:solidFill>
                          <a:latin typeface="Helvetica Neue"/>
                          <a:ea typeface="Helvetica Neue"/>
                          <a:cs typeface="Helvetica Neue"/>
                        </a:rPr>
                        <a:t>Test group</a:t>
                      </a:r>
                    </a:p>
                  </a:txBody>
                  <a:tcPr marL="91440" marR="91440" marT="45720" marB="45720">
                    <a:solidFill>
                      <a:srgbClr val="16324F"/>
                    </a:solidFill>
                  </a:tcPr>
                </a:tc>
                <a:tc>
                  <a:txBody>
                    <a:bodyPr/>
                    <a:lstStyle/>
                    <a:p>
                      <a:r>
                        <a:rPr sz="1125" b="1">
                          <a:solidFill>
                            <a:srgbClr val="FFFFFF"/>
                          </a:solidFill>
                          <a:latin typeface="Helvetica Neue"/>
                          <a:ea typeface="Helvetica Neue"/>
                          <a:cs typeface="Helvetica Neue"/>
                        </a:rPr>
                        <a:t>Evidence</a:t>
                      </a:r>
                    </a:p>
                  </a:txBody>
                  <a:tcPr marL="91440" marR="91440" marT="45720" marB="45720">
                    <a:solidFill>
                      <a:srgbClr val="16324F"/>
                    </a:solidFill>
                  </a:tcPr>
                </a:tc>
              </a:tr>
              <a:tr h="485775">
                <a:tc>
                  <a:txBody>
                    <a:bodyPr/>
                    <a:lstStyle/>
                    <a:p>
                      <a:r>
                        <a:rPr sz="1125" b="0">
                          <a:solidFill>
                            <a:srgbClr val="1F2937"/>
                          </a:solidFill>
                          <a:latin typeface="Helvetica Neue"/>
                          <a:ea typeface="Helvetica Neue"/>
                          <a:cs typeface="Helvetica Neue"/>
                        </a:rPr>
                        <a:t>Lexer</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Keywords, locations, string escapes, numbers, bad characters, and unterminated strings.</a:t>
                      </a:r>
                    </a:p>
                  </a:txBody>
                  <a:tcPr marL="91440" marR="91440" marT="45720" marB="45720">
                    <a:solidFill>
                      <a:srgbClr val="FFFFFF"/>
                    </a:solidFill>
                  </a:tcPr>
                </a:tc>
              </a:tr>
              <a:tr h="485775">
                <a:tc>
                  <a:txBody>
                    <a:bodyPr/>
                    <a:lstStyle/>
                    <a:p>
                      <a:r>
                        <a:rPr sz="1125" b="0">
                          <a:solidFill>
                            <a:srgbClr val="1F2937"/>
                          </a:solidFill>
                          <a:latin typeface="Helvetica Neue"/>
                          <a:ea typeface="Helvetica Neue"/>
                          <a:cs typeface="Helvetica Neue"/>
                        </a:rPr>
                        <a:t>Parser and AST</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Full statement forms, malformed syntax, recovery, boundaries, and AST printing.</a:t>
                      </a:r>
                    </a:p>
                  </a:txBody>
                  <a:tcPr marL="91440" marR="91440" marT="45720" marB="45720">
                    <a:solidFill>
                      <a:srgbClr val="F8FBFD"/>
                    </a:solidFill>
                  </a:tcPr>
                </a:tc>
              </a:tr>
              <a:tr h="485775">
                <a:tc>
                  <a:txBody>
                    <a:bodyPr/>
                    <a:lstStyle/>
                    <a:p>
                      <a:r>
                        <a:rPr sz="1125" b="0">
                          <a:solidFill>
                            <a:srgbClr val="1F2937"/>
                          </a:solidFill>
                          <a:latin typeface="Helvetica Neue"/>
                          <a:ea typeface="Helvetica Neue"/>
                          <a:cs typeface="Helvetica Neue"/>
                        </a:rPr>
                        <a:t>Semantic analysis</a:t>
                      </a:r>
                    </a:p>
                  </a:txBody>
                  <a:tcPr marL="91440" marR="91440" marT="45720" marB="45720">
                    <a:solidFill>
                      <a:srgbClr val="FFFFFF"/>
                    </a:solidFill>
                  </a:tcPr>
                </a:tc>
                <a:tc>
                  <a:txBody>
                    <a:bodyPr/>
                    <a:lstStyle/>
                    <a:p>
                      <a:r>
                        <a:rPr sz="1125" b="0">
                          <a:solidFill>
                            <a:srgbClr val="1F2937"/>
                          </a:solidFill>
                          <a:latin typeface="Helvetica Neue"/>
                          <a:ea typeface="Helvetica Neue"/>
                          <a:cs typeface="Helvetica Neue"/>
                        </a:rPr>
                        <a:t>Names, types, prompts, placeholders, models, secrets, budgets, and outputs.</a:t>
                      </a:r>
                    </a:p>
                  </a:txBody>
                  <a:tcPr marL="91440" marR="91440" marT="45720" marB="45720">
                    <a:solidFill>
                      <a:srgbClr val="FFFFFF"/>
                    </a:solidFill>
                  </a:tcPr>
                </a:tc>
              </a:tr>
              <a:tr h="485775">
                <a:tc>
                  <a:txBody>
                    <a:bodyPr/>
                    <a:lstStyle/>
                    <a:p>
                      <a:r>
                        <a:rPr sz="1125" b="0">
                          <a:solidFill>
                            <a:srgbClr val="1F2937"/>
                          </a:solidFill>
                          <a:latin typeface="Helvetica Neue"/>
                          <a:ea typeface="Helvetica Neue"/>
                          <a:cs typeface="Helvetica Neue"/>
                        </a:rPr>
                        <a:t>IR and examples</a:t>
                      </a:r>
                    </a:p>
                  </a:txBody>
                  <a:tcPr marL="91440" marR="91440" marT="45720" marB="45720">
                    <a:solidFill>
                      <a:srgbClr val="F8FBFD"/>
                    </a:solidFill>
                  </a:tcPr>
                </a:tc>
                <a:tc>
                  <a:txBody>
                    <a:bodyPr/>
                    <a:lstStyle/>
                    <a:p>
                      <a:r>
                        <a:rPr sz="1125" b="0">
                          <a:solidFill>
                            <a:srgbClr val="1F2937"/>
                          </a:solidFill>
                          <a:latin typeface="Helvetica Neue"/>
                          <a:ea typeface="Helvetica Neue"/>
                          <a:cs typeface="Helvetica Neue"/>
                        </a:rPr>
                        <a:t>Valid lowering, invalid rejection, cycle detection, JSON export, valid, invalid, and boundary workflows.</a:t>
                      </a:r>
                    </a:p>
                  </a:txBody>
                  <a:tcPr marL="91440" marR="91440" marT="45720" marB="45720">
                    <a:solidFill>
                      <a:srgbClr val="F8FBFD"/>
                    </a:solidFill>
                  </a:tcPr>
                </a:tc>
              </a:tr>
            </a:tbl>
          </a:graphicData>
        </a:graphic>
      </p:graphicFrame>
      <p:sp>
        <p:nvSpPr>
          <p:cNvPr id="10" name="">
            <a:extLst xmlns:a="http://schemas.openxmlformats.org/drawingml/2006/main">
              <a:ext uri="{FF2B5EF4-FFF2-40B4-BE49-F238E27FC236}">
                <a16:creationId xmlns:a16="http://schemas.microsoft.com/office/drawing/2014/main" id="{524169A6-52C1-4C59-9CB6-B819C6A3E8E5}"/>
              </a:ext>
            </a:extLst>
          </p:cNvPr>
          <p:cNvSpPr>
            <a:spLocks xmlns:a="http://schemas.openxmlformats.org/drawingml/2006/main" noGrp="1"/>
          </p:cNvSpPr>
          <p:nvPr/>
        </p:nvSpPr>
        <p:spPr>
          <a:xfrm xmlns:a="http://schemas.openxmlformats.org/drawingml/2006/main">
            <a:off x="685800" y="54483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1F2937"/>
                </a:solidFill>
                <a:latin typeface="Helvetica Neue"/>
                <a:ea typeface="Helvetica Neue"/>
                <a:cs typeface="Helvetica Neue"/>
              </a:defRPr>
            </a:pPr>
            <a:r>
              <a:rPr sz="1350" b="0" i="0">
                <a:solidFill>
                  <a:srgbClr val="1F2937"/>
                </a:solidFill>
                <a:latin typeface="Helvetica Neue"/>
                <a:ea typeface="Helvetica Neue"/>
                <a:cs typeface="Helvetica Neue"/>
              </a:rPr>
              <a:t>The Makefile also runs three valid workflows, nine invalid workflows, and boundary cases for zero budget, long identifier, and empty workflow.</a:t>
            </a:r>
          </a:p>
        </p:txBody>
      </p:sp>
      <p:sp>
        <p:nvSpPr>
          <p:cNvPr id="11" name="">
            <a:extLst xmlns:a="http://schemas.openxmlformats.org/drawingml/2006/main">
              <a:ext uri="{FF2B5EF4-FFF2-40B4-BE49-F238E27FC236}">
                <a16:creationId xmlns:a16="http://schemas.microsoft.com/office/drawing/2014/main" id="{F2C875BA-5138-4819-BFC8-4DC15987C6AD}"/>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162236168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A5F423-B9B9-4AF1-98E9-BB181821A3F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10">
            <a:extLst xmlns:a="http://schemas.openxmlformats.org/drawingml/2006/main">
              <a:ext uri="{FF2B5EF4-FFF2-40B4-BE49-F238E27FC236}">
                <a16:creationId xmlns:a16="http://schemas.microsoft.com/office/drawing/2014/main" id="{D1F9DE58-B71C-4969-A114-389F9548DCA1}"/>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Live Demonstration Commands</a:t>
            </a:r>
          </a:p>
        </p:txBody>
      </p:sp>
      <p:sp>
        <p:nvSpPr>
          <p:cNvPr id="3" name="">
            <a:extLst xmlns:a="http://schemas.openxmlformats.org/drawingml/2006/main">
              <a:ext uri="{FF2B5EF4-FFF2-40B4-BE49-F238E27FC236}">
                <a16:creationId xmlns:a16="http://schemas.microsoft.com/office/drawing/2014/main" id="{3D91C6F7-F018-4099-82E4-51023E8AE6CB}"/>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DE1B1944-EED2-437A-ABE4-6FD6CF7C436B}"/>
              </a:ext>
            </a:extLst>
          </p:cNvPr>
          <p:cNvSpPr>
            <a:spLocks xmlns:a="http://schemas.openxmlformats.org/drawingml/2006/main" noGrp="1"/>
          </p:cNvSpPr>
          <p:nvPr/>
        </p:nvSpPr>
        <p:spPr>
          <a:xfrm xmlns:a="http://schemas.openxmlformats.org/drawingml/2006/main">
            <a:off x="685800" y="10668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F2937"/>
                </a:solidFill>
                <a:latin typeface="Helvetica Neue"/>
                <a:ea typeface="Helvetica Neue"/>
                <a:cs typeface="Helvetica Neue"/>
              </a:defRPr>
            </a:pPr>
            <a:r>
              <a:rPr sz="1575" b="0" i="0">
                <a:solidFill>
                  <a:srgbClr val="1F2937"/>
                </a:solidFill>
                <a:latin typeface="Helvetica Neue"/>
                <a:ea typeface="Helvetica Neue"/>
                <a:cs typeface="Helvetica Neue"/>
              </a:rPr>
              <a:t>Run the live terminal from the project directory. The sequence takes about six to eight minutes.</a:t>
            </a:r>
          </a:p>
        </p:txBody>
      </p:sp>
      <p:sp>
        <p:nvSpPr>
          <p:cNvPr id="5" name="">
            <a:extLst xmlns:a="http://schemas.openxmlformats.org/drawingml/2006/main">
              <a:ext uri="{FF2B5EF4-FFF2-40B4-BE49-F238E27FC236}">
                <a16:creationId xmlns:a16="http://schemas.microsoft.com/office/drawing/2014/main" id="{51DF928E-6F77-4B79-BBFC-AC04A0B9A43A}"/>
              </a:ext>
            </a:extLst>
          </p:cNvPr>
          <p:cNvSpPr>
            <a:spLocks xmlns:a="http://schemas.openxmlformats.org/drawingml/2006/main" noGrp="1"/>
          </p:cNvSpPr>
          <p:nvPr/>
        </p:nvSpPr>
        <p:spPr>
          <a:xfrm xmlns:a="http://schemas.openxmlformats.org/drawingml/2006/main">
            <a:off x="685800" y="1676400"/>
            <a:ext cx="5048250" cy="328612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AF9599F5-C0DC-4227-897C-9A96D78B64BB}"/>
              </a:ext>
            </a:extLst>
          </p:cNvPr>
          <p:cNvSpPr>
            <a:spLocks xmlns:a="http://schemas.openxmlformats.org/drawingml/2006/main" noGrp="1"/>
          </p:cNvSpPr>
          <p:nvPr/>
        </p:nvSpPr>
        <p:spPr>
          <a:xfrm xmlns:a="http://schemas.openxmlformats.org/drawingml/2006/main">
            <a:off x="857250" y="1790700"/>
            <a:ext cx="4705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Build and inspect</a:t>
            </a:r>
          </a:p>
        </p:txBody>
      </p:sp>
      <p:sp>
        <p:nvSpPr>
          <p:cNvPr id="7" name="">
            <a:extLst xmlns:a="http://schemas.openxmlformats.org/drawingml/2006/main">
              <a:ext uri="{FF2B5EF4-FFF2-40B4-BE49-F238E27FC236}">
                <a16:creationId xmlns:a16="http://schemas.microsoft.com/office/drawing/2014/main" id="{6ED84EAE-A50F-4610-9925-29A1CCEE52FD}"/>
              </a:ext>
            </a:extLst>
          </p:cNvPr>
          <p:cNvSpPr>
            <a:spLocks xmlns:a="http://schemas.openxmlformats.org/drawingml/2006/main" noGrp="1"/>
          </p:cNvSpPr>
          <p:nvPr/>
        </p:nvSpPr>
        <p:spPr>
          <a:xfrm xmlns:a="http://schemas.openxmlformats.org/drawingml/2006/main">
            <a:off x="857250" y="2057400"/>
            <a:ext cx="470535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cd /Users/nambi/Documents/Codex/2026-09-16/</a:t>
            </a:r>
          </a:p>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files-mentioned-by-the-user-nambi/orchlang</a:t>
            </a:r>
          </a:p>
          <a:p xmlns:a="http://schemas.openxmlformats.org/drawingml/2006/main">
            <a:r>
              <a:t/>
            </a:r>
          </a:p>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make clean &amp;&amp; make check</a:t>
            </a:r>
          </a:p>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./orchc tokens examples/valid/support_triage.orch</a:t>
            </a:r>
          </a:p>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./orchc ast examples/valid/support_triage.orch</a:t>
            </a:r>
          </a:p>
          <a:p xmlns:a="http://schemas.openxmlformats.org/drawingml/2006/main">
            <a:pPr>
              <a:defRPr sz="1088" b="0" i="0">
                <a:solidFill>
                  <a:srgbClr val="E2E8F0"/>
                </a:solidFill>
                <a:latin typeface="Helvetica Neue"/>
                <a:ea typeface="Helvetica Neue"/>
                <a:cs typeface="Helvetica Neue"/>
              </a:defRPr>
            </a:pPr>
            <a:r>
              <a:rPr sz="1088" b="0" i="0">
                <a:solidFill>
                  <a:srgbClr val="E2E8F0"/>
                </a:solidFill>
                <a:latin typeface="Helvetica Neue"/>
                <a:ea typeface="Helvetica Neue"/>
                <a:cs typeface="Helvetica Neue"/>
              </a:rPr>
              <a:t>./orchc symbols examples/valid/support_triage.orch</a:t>
            </a:r>
          </a:p>
        </p:txBody>
      </p:sp>
      <p:sp>
        <p:nvSpPr>
          <p:cNvPr id="8" name="">
            <a:extLst xmlns:a="http://schemas.openxmlformats.org/drawingml/2006/main">
              <a:ext uri="{FF2B5EF4-FFF2-40B4-BE49-F238E27FC236}">
                <a16:creationId xmlns:a16="http://schemas.microsoft.com/office/drawing/2014/main" id="{D329E97A-26F6-48BC-B3C1-90BC2EA168ED}"/>
              </a:ext>
            </a:extLst>
          </p:cNvPr>
          <p:cNvSpPr>
            <a:spLocks xmlns:a="http://schemas.openxmlformats.org/drawingml/2006/main" noGrp="1"/>
          </p:cNvSpPr>
          <p:nvPr/>
        </p:nvSpPr>
        <p:spPr>
          <a:xfrm xmlns:a="http://schemas.openxmlformats.org/drawingml/2006/main">
            <a:off x="6457950" y="1676400"/>
            <a:ext cx="5048250" cy="328612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9" name="">
            <a:extLst xmlns:a="http://schemas.openxmlformats.org/drawingml/2006/main">
              <a:ext uri="{FF2B5EF4-FFF2-40B4-BE49-F238E27FC236}">
                <a16:creationId xmlns:a16="http://schemas.microsoft.com/office/drawing/2014/main" id="{AF0066DB-F868-4BCC-BCD7-AEE688B459A4}"/>
              </a:ext>
            </a:extLst>
          </p:cNvPr>
          <p:cNvSpPr>
            <a:spLocks xmlns:a="http://schemas.openxmlformats.org/drawingml/2006/main" noGrp="1"/>
          </p:cNvSpPr>
          <p:nvPr/>
        </p:nvSpPr>
        <p:spPr>
          <a:xfrm xmlns:a="http://schemas.openxmlformats.org/drawingml/2006/main">
            <a:off x="6629400" y="1790700"/>
            <a:ext cx="4705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Reject errors and inspect IR</a:t>
            </a:r>
          </a:p>
        </p:txBody>
      </p:sp>
      <p:sp>
        <p:nvSpPr>
          <p:cNvPr id="10" name="">
            <a:extLst xmlns:a="http://schemas.openxmlformats.org/drawingml/2006/main">
              <a:ext uri="{FF2B5EF4-FFF2-40B4-BE49-F238E27FC236}">
                <a16:creationId xmlns:a16="http://schemas.microsoft.com/office/drawing/2014/main" id="{06572D00-31CC-43FB-B916-7C2548CF8061}"/>
              </a:ext>
            </a:extLst>
          </p:cNvPr>
          <p:cNvSpPr>
            <a:spLocks xmlns:a="http://schemas.openxmlformats.org/drawingml/2006/main" noGrp="1"/>
          </p:cNvSpPr>
          <p:nvPr/>
        </p:nvSpPr>
        <p:spPr>
          <a:xfrm xmlns:a="http://schemas.openxmlformats.org/drawingml/2006/main">
            <a:off x="6629400" y="2057400"/>
            <a:ext cx="470535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65" b="0" i="0">
                <a:solidFill>
                  <a:srgbClr val="E2E8F0"/>
                </a:solidFill>
                <a:latin typeface="Helvetica Neue"/>
                <a:ea typeface="Helvetica Neue"/>
                <a:cs typeface="Helvetica Neue"/>
              </a:defRPr>
            </a:pPr>
            <a:r>
              <a:rPr sz="1065" b="0" i="0">
                <a:solidFill>
                  <a:srgbClr val="E2E8F0"/>
                </a:solidFill>
                <a:latin typeface="Helvetica Neue"/>
                <a:ea typeface="Helvetica Neue"/>
                <a:cs typeface="Helvetica Neue"/>
              </a:rPr>
              <a:t>./orchc check examples/invalid/multiple_errors.orch</a:t>
            </a:r>
          </a:p>
          <a:p xmlns:a="http://schemas.openxmlformats.org/drawingml/2006/main">
            <a:pPr>
              <a:defRPr sz="1065" b="0" i="0">
                <a:solidFill>
                  <a:srgbClr val="E2E8F0"/>
                </a:solidFill>
                <a:latin typeface="Helvetica Neue"/>
                <a:ea typeface="Helvetica Neue"/>
                <a:cs typeface="Helvetica Neue"/>
              </a:defRPr>
            </a:pPr>
            <a:r>
              <a:rPr sz="1065" b="0" i="0">
                <a:solidFill>
                  <a:srgbClr val="E2E8F0"/>
                </a:solidFill>
                <a:latin typeface="Helvetica Neue"/>
                <a:ea typeface="Helvetica Neue"/>
                <a:cs typeface="Helvetica Neue"/>
              </a:rPr>
              <a:t>./orchc check examples/invalid/syntax_errors.orch</a:t>
            </a:r>
          </a:p>
          <a:p xmlns:a="http://schemas.openxmlformats.org/drawingml/2006/main">
            <a:pPr>
              <a:defRPr sz="1065" b="0" i="0">
                <a:solidFill>
                  <a:srgbClr val="E2E8F0"/>
                </a:solidFill>
                <a:latin typeface="Helvetica Neue"/>
                <a:ea typeface="Helvetica Neue"/>
                <a:cs typeface="Helvetica Neue"/>
              </a:defRPr>
            </a:pPr>
            <a:r>
              <a:rPr sz="1065" b="0" i="0">
                <a:solidFill>
                  <a:srgbClr val="E2E8F0"/>
                </a:solidFill>
                <a:latin typeface="Helvetica Neue"/>
                <a:ea typeface="Helvetica Neue"/>
                <a:cs typeface="Helvetica Neue"/>
              </a:rPr>
              <a:t>./orchc ir examples/valid/support_triage.orch</a:t>
            </a:r>
          </a:p>
          <a:p xmlns:a="http://schemas.openxmlformats.org/drawingml/2006/main">
            <a:pPr>
              <a:defRPr sz="1065" b="0" i="0">
                <a:solidFill>
                  <a:srgbClr val="E2E8F0"/>
                </a:solidFill>
                <a:latin typeface="Helvetica Neue"/>
                <a:ea typeface="Helvetica Neue"/>
                <a:cs typeface="Helvetica Neue"/>
              </a:defRPr>
            </a:pPr>
            <a:r>
              <a:rPr sz="1065" b="0" i="0">
                <a:solidFill>
                  <a:srgbClr val="E2E8F0"/>
                </a:solidFill>
                <a:latin typeface="Helvetica Neue"/>
                <a:ea typeface="Helvetica Neue"/>
                <a:cs typeface="Helvetica Neue"/>
              </a:rPr>
              <a:t>./orchc check examples/boundary/zero_budget.orch</a:t>
            </a:r>
          </a:p>
          <a:p xmlns:a="http://schemas.openxmlformats.org/drawingml/2006/main">
            <a:pPr>
              <a:defRPr sz="1065" b="0" i="0">
                <a:solidFill>
                  <a:srgbClr val="E2E8F0"/>
                </a:solidFill>
                <a:latin typeface="Helvetica Neue"/>
                <a:ea typeface="Helvetica Neue"/>
                <a:cs typeface="Helvetica Neue"/>
              </a:defRPr>
            </a:pPr>
            <a:r>
              <a:rPr sz="1065" b="0" i="0">
                <a:solidFill>
                  <a:srgbClr val="E2E8F0"/>
                </a:solidFill>
                <a:latin typeface="Helvetica Neue"/>
                <a:ea typeface="Helvetica Neue"/>
                <a:cs typeface="Helvetica Neue"/>
              </a:rPr>
              <a:t>./orchc ir-json examples/valid/two_step_workflow.orch</a:t>
            </a:r>
          </a:p>
        </p:txBody>
      </p:sp>
      <p:sp>
        <p:nvSpPr>
          <p:cNvPr id="11" name="">
            <a:extLst xmlns:a="http://schemas.openxmlformats.org/drawingml/2006/main">
              <a:ext uri="{FF2B5EF4-FFF2-40B4-BE49-F238E27FC236}">
                <a16:creationId xmlns:a16="http://schemas.microsoft.com/office/drawing/2014/main" id="{59B8D924-CD26-4906-B5A0-885D5322DB1D}"/>
              </a:ext>
            </a:extLst>
          </p:cNvPr>
          <p:cNvSpPr>
            <a:spLocks xmlns:a="http://schemas.openxmlformats.org/drawingml/2006/main" noGrp="1"/>
          </p:cNvSpPr>
          <p:nvPr/>
        </p:nvSpPr>
        <p:spPr>
          <a:xfrm xmlns:a="http://schemas.openxmlformats.org/drawingml/2006/main">
            <a:off x="685800" y="54292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i="0">
                <a:solidFill>
                  <a:srgbClr val="16324F"/>
                </a:solidFill>
                <a:latin typeface="Helvetica Neue"/>
                <a:ea typeface="Helvetica Neue"/>
                <a:cs typeface="Helvetica Neue"/>
              </a:defRPr>
            </a:pPr>
            <a:r>
              <a:rPr sz="1425" b="1" i="0">
                <a:solidFill>
                  <a:srgbClr val="16324F"/>
                </a:solidFill>
                <a:latin typeface="Helvetica Neue"/>
                <a:ea typeface="Helvetica Neue"/>
                <a:cs typeface="Helvetica Neue"/>
              </a:rPr>
              <a:t>Build first. Then show tokens, AST, and scopes. Next prove semantic diagnostics and syntax recovery. End with IR, the zero budget boundary, and JSON export.</a:t>
            </a:r>
          </a:p>
        </p:txBody>
      </p:sp>
      <p:sp>
        <p:nvSpPr>
          <p:cNvPr id="12" name="">
            <a:extLst xmlns:a="http://schemas.openxmlformats.org/drawingml/2006/main">
              <a:ext uri="{FF2B5EF4-FFF2-40B4-BE49-F238E27FC236}">
                <a16:creationId xmlns:a16="http://schemas.microsoft.com/office/drawing/2014/main" id="{9A48A999-62D6-4811-9548-B6DEA9A5A457}"/>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684751527"/>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2B97E8-FF23-4054-B0F5-5F9ACFEAD33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11">
            <a:extLst xmlns:a="http://schemas.openxmlformats.org/drawingml/2006/main">
              <a:ext uri="{FF2B5EF4-FFF2-40B4-BE49-F238E27FC236}">
                <a16:creationId xmlns:a16="http://schemas.microsoft.com/office/drawing/2014/main" id="{C0F3A790-EF01-4C4E-874B-7E73D59E69D6}"/>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Interpreting the Live Output</a:t>
            </a:r>
          </a:p>
        </p:txBody>
      </p:sp>
      <p:sp>
        <p:nvSpPr>
          <p:cNvPr id="3" name="">
            <a:extLst xmlns:a="http://schemas.openxmlformats.org/drawingml/2006/main">
              <a:ext uri="{FF2B5EF4-FFF2-40B4-BE49-F238E27FC236}">
                <a16:creationId xmlns:a16="http://schemas.microsoft.com/office/drawing/2014/main" id="{B2AADD64-6DCF-4E1E-ADC9-67B69EA537EF}"/>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912D27A-EE5B-41BB-9272-3DAF002CA5D2}"/>
              </a:ext>
            </a:extLst>
          </p:cNvPr>
          <p:cNvSpPr>
            <a:spLocks xmlns:a="http://schemas.openxmlformats.org/drawingml/2006/main" noGrp="1"/>
          </p:cNvSpPr>
          <p:nvPr/>
        </p:nvSpPr>
        <p:spPr>
          <a:xfrm xmlns:a="http://schemas.openxmlformats.org/drawingml/2006/main">
            <a:off x="685800" y="1066800"/>
            <a:ext cx="809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F2937"/>
                </a:solidFill>
                <a:latin typeface="Helvetica Neue"/>
                <a:ea typeface="Helvetica Neue"/>
                <a:cs typeface="Helvetica Neue"/>
              </a:defRPr>
            </a:pPr>
            <a:r>
              <a:rPr sz="1575" b="0" i="0">
                <a:solidFill>
                  <a:srgbClr val="1F2937"/>
                </a:solidFill>
                <a:latin typeface="Helvetica Neue"/>
                <a:ea typeface="Helvetica Neue"/>
                <a:cs typeface="Helvetica Neue"/>
              </a:rPr>
              <a:t>Connect each terminal view to one compiler concept and one rubric item.</a:t>
            </a:r>
          </a:p>
        </p:txBody>
      </p:sp>
      <p:sp>
        <p:nvSpPr>
          <p:cNvPr id="5" name="">
            <a:extLst xmlns:a="http://schemas.openxmlformats.org/drawingml/2006/main">
              <a:ext uri="{FF2B5EF4-FFF2-40B4-BE49-F238E27FC236}">
                <a16:creationId xmlns:a16="http://schemas.microsoft.com/office/drawing/2014/main" id="{16ACCAE6-7B0A-4C7B-9986-42AC8FD4E81E}"/>
              </a:ext>
            </a:extLst>
          </p:cNvPr>
          <p:cNvSpPr>
            <a:spLocks xmlns:a="http://schemas.openxmlformats.org/drawingml/2006/main" noGrp="1"/>
          </p:cNvSpPr>
          <p:nvPr/>
        </p:nvSpPr>
        <p:spPr>
          <a:xfrm xmlns:a="http://schemas.openxmlformats.org/drawingml/2006/main">
            <a:off x="685800" y="1733550"/>
            <a:ext cx="3238500" cy="242887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6" name="">
            <a:extLst xmlns:a="http://schemas.openxmlformats.org/drawingml/2006/main">
              <a:ext uri="{FF2B5EF4-FFF2-40B4-BE49-F238E27FC236}">
                <a16:creationId xmlns:a16="http://schemas.microsoft.com/office/drawing/2014/main" id="{C4A17895-F40F-4797-926E-6878548FF89E}"/>
              </a:ext>
            </a:extLst>
          </p:cNvPr>
          <p:cNvSpPr>
            <a:spLocks xmlns:a="http://schemas.openxmlformats.org/drawingml/2006/main" noGrp="1"/>
          </p:cNvSpPr>
          <p:nvPr/>
        </p:nvSpPr>
        <p:spPr>
          <a:xfrm xmlns:a="http://schemas.openxmlformats.org/drawingml/2006/main">
            <a:off x="857250" y="1847850"/>
            <a:ext cx="2895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AST view</a:t>
            </a:r>
          </a:p>
        </p:txBody>
      </p:sp>
      <p:sp>
        <p:nvSpPr>
          <p:cNvPr id="7" name="">
            <a:extLst xmlns:a="http://schemas.openxmlformats.org/drawingml/2006/main">
              <a:ext uri="{FF2B5EF4-FFF2-40B4-BE49-F238E27FC236}">
                <a16:creationId xmlns:a16="http://schemas.microsoft.com/office/drawing/2014/main" id="{F462445B-ABD4-46F5-834C-6DC338CF5897}"/>
              </a:ext>
            </a:extLst>
          </p:cNvPr>
          <p:cNvSpPr>
            <a:spLocks xmlns:a="http://schemas.openxmlformats.org/drawingml/2006/main" noGrp="1"/>
          </p:cNvSpPr>
          <p:nvPr/>
        </p:nvSpPr>
        <p:spPr>
          <a:xfrm xmlns:a="http://schemas.openxmlformats.org/drawingml/2006/main">
            <a:off x="857250" y="2114550"/>
            <a:ext cx="28956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Workflow SupportTriage budget=2500</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  Input ticket : text</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  Model fast provider=mock</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  Let category : text</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    Call classify(ticket) using fast</a:t>
            </a:r>
          </a:p>
        </p:txBody>
      </p:sp>
      <p:sp>
        <p:nvSpPr>
          <p:cNvPr id="8" name="">
            <a:extLst xmlns:a="http://schemas.openxmlformats.org/drawingml/2006/main">
              <a:ext uri="{FF2B5EF4-FFF2-40B4-BE49-F238E27FC236}">
                <a16:creationId xmlns:a16="http://schemas.microsoft.com/office/drawing/2014/main" id="{4150E246-A2D8-4930-B0FB-2079A416EBE2}"/>
              </a:ext>
            </a:extLst>
          </p:cNvPr>
          <p:cNvSpPr>
            <a:spLocks xmlns:a="http://schemas.openxmlformats.org/drawingml/2006/main" noGrp="1"/>
          </p:cNvSpPr>
          <p:nvPr/>
        </p:nvSpPr>
        <p:spPr>
          <a:xfrm xmlns:a="http://schemas.openxmlformats.org/drawingml/2006/main">
            <a:off x="4476750" y="1733550"/>
            <a:ext cx="3238500" cy="242887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9" name="">
            <a:extLst xmlns:a="http://schemas.openxmlformats.org/drawingml/2006/main">
              <a:ext uri="{FF2B5EF4-FFF2-40B4-BE49-F238E27FC236}">
                <a16:creationId xmlns:a16="http://schemas.microsoft.com/office/drawing/2014/main" id="{1A2AD00E-2DD3-4959-A76D-98ABD5BCACBC}"/>
              </a:ext>
            </a:extLst>
          </p:cNvPr>
          <p:cNvSpPr>
            <a:spLocks xmlns:a="http://schemas.openxmlformats.org/drawingml/2006/main" noGrp="1"/>
          </p:cNvSpPr>
          <p:nvPr/>
        </p:nvSpPr>
        <p:spPr>
          <a:xfrm xmlns:a="http://schemas.openxmlformats.org/drawingml/2006/main">
            <a:off x="4648200" y="1847850"/>
            <a:ext cx="2895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Diagnostics view</a:t>
            </a:r>
          </a:p>
        </p:txBody>
      </p:sp>
      <p:sp>
        <p:nvSpPr>
          <p:cNvPr id="10" name="">
            <a:extLst xmlns:a="http://schemas.openxmlformats.org/drawingml/2006/main">
              <a:ext uri="{FF2B5EF4-FFF2-40B4-BE49-F238E27FC236}">
                <a16:creationId xmlns:a16="http://schemas.microsoft.com/office/drawing/2014/main" id="{7722582C-3535-47FB-8B9C-7AAB76FC2F86}"/>
              </a:ext>
            </a:extLst>
          </p:cNvPr>
          <p:cNvSpPr>
            <a:spLocks xmlns:a="http://schemas.openxmlformats.org/drawingml/2006/main" noGrp="1"/>
          </p:cNvSpPr>
          <p:nvPr/>
        </p:nvSpPr>
        <p:spPr>
          <a:xfrm xmlns:a="http://schemas.openxmlformats.org/drawingml/2006/main">
            <a:off x="4648200" y="2114550"/>
            <a:ext cx="28956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error [E230] secret 'API_KEY'</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cannot be passed to a prompt call</a:t>
            </a:r>
          </a:p>
          <a:p xmlns:a="http://schemas.openxmlformats.org/drawingml/2006/main">
            <a:r>
              <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error [E241] unknown model</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'missing_model' in using clause</a:t>
            </a:r>
          </a:p>
        </p:txBody>
      </p:sp>
      <p:sp>
        <p:nvSpPr>
          <p:cNvPr id="11" name="">
            <a:extLst xmlns:a="http://schemas.openxmlformats.org/drawingml/2006/main">
              <a:ext uri="{FF2B5EF4-FFF2-40B4-BE49-F238E27FC236}">
                <a16:creationId xmlns:a16="http://schemas.microsoft.com/office/drawing/2014/main" id="{217A8933-C830-431C-9FDA-A7A7A66746FD}"/>
              </a:ext>
            </a:extLst>
          </p:cNvPr>
          <p:cNvSpPr>
            <a:spLocks xmlns:a="http://schemas.openxmlformats.org/drawingml/2006/main" noGrp="1"/>
          </p:cNvSpPr>
          <p:nvPr/>
        </p:nvSpPr>
        <p:spPr>
          <a:xfrm xmlns:a="http://schemas.openxmlformats.org/drawingml/2006/main">
            <a:off x="8953500" y="1733550"/>
            <a:ext cx="2552700" cy="2428875"/>
          </a:xfrm>
          <a:prstGeom xmlns:a="http://schemas.openxmlformats.org/drawingml/2006/main" prst="rect">
            <a:avLst/>
          </a:prstGeom>
          <a:solidFill xmlns:a="http://schemas.openxmlformats.org/drawingml/2006/main">
            <a:srgbClr val="0F172A"/>
          </a:solidFill>
          <a:ln xmlns:a="http://schemas.openxmlformats.org/drawingml/2006/main" w="9525">
            <a:solidFill>
              <a:srgbClr val="334155"/>
            </a:solidFill>
          </a:ln>
        </p:spPr>
      </p:sp>
      <p:sp>
        <p:nvSpPr>
          <p:cNvPr id="12" name="">
            <a:extLst xmlns:a="http://schemas.openxmlformats.org/drawingml/2006/main">
              <a:ext uri="{FF2B5EF4-FFF2-40B4-BE49-F238E27FC236}">
                <a16:creationId xmlns:a16="http://schemas.microsoft.com/office/drawing/2014/main" id="{A050AFAA-063D-4169-B71B-F80506FB630A}"/>
              </a:ext>
            </a:extLst>
          </p:cNvPr>
          <p:cNvSpPr>
            <a:spLocks xmlns:a="http://schemas.openxmlformats.org/drawingml/2006/main" noGrp="1"/>
          </p:cNvSpPr>
          <p:nvPr/>
        </p:nvSpPr>
        <p:spPr>
          <a:xfrm xmlns:a="http://schemas.openxmlformats.org/drawingml/2006/main">
            <a:off x="9124950" y="1847850"/>
            <a:ext cx="2209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93C5FD"/>
                </a:solidFill>
                <a:latin typeface="Helvetica Neue"/>
                <a:ea typeface="Helvetica Neue"/>
                <a:cs typeface="Helvetica Neue"/>
              </a:defRPr>
            </a:pPr>
            <a:r>
              <a:rPr sz="900" b="1" i="0">
                <a:solidFill>
                  <a:srgbClr val="93C5FD"/>
                </a:solidFill>
                <a:latin typeface="Helvetica Neue"/>
                <a:ea typeface="Helvetica Neue"/>
                <a:cs typeface="Helvetica Neue"/>
              </a:rPr>
              <a:t>IR view</a:t>
            </a:r>
          </a:p>
        </p:txBody>
      </p:sp>
      <p:sp>
        <p:nvSpPr>
          <p:cNvPr id="13" name="">
            <a:extLst xmlns:a="http://schemas.openxmlformats.org/drawingml/2006/main">
              <a:ext uri="{FF2B5EF4-FFF2-40B4-BE49-F238E27FC236}">
                <a16:creationId xmlns:a16="http://schemas.microsoft.com/office/drawing/2014/main" id="{C285821A-3B61-40F5-B9BE-1F9423264576}"/>
              </a:ext>
            </a:extLst>
          </p:cNvPr>
          <p:cNvSpPr>
            <a:spLocks xmlns:a="http://schemas.openxmlformats.org/drawingml/2006/main" noGrp="1"/>
          </p:cNvSpPr>
          <p:nvPr/>
        </p:nvSpPr>
        <p:spPr>
          <a:xfrm xmlns:a="http://schemas.openxmlformats.org/drawingml/2006/main">
            <a:off x="9124950" y="2114550"/>
            <a:ext cx="2209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[5] Call category : text</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deps=[4, 3, 1]</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prompt=classify</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model=fast</a:t>
            </a:r>
          </a:p>
          <a:p xmlns:a="http://schemas.openxmlformats.org/drawingml/2006/main">
            <a:pPr>
              <a:defRPr sz="1125" b="0" i="0">
                <a:solidFill>
                  <a:srgbClr val="E2E8F0"/>
                </a:solidFill>
                <a:latin typeface="Helvetica Neue"/>
                <a:ea typeface="Helvetica Neue"/>
                <a:cs typeface="Helvetica Neue"/>
              </a:defRPr>
            </a:pPr>
            <a:r>
              <a:rPr sz="1125" b="0" i="0">
                <a:solidFill>
                  <a:srgbClr val="E2E8F0"/>
                </a:solidFill>
                <a:latin typeface="Helvetica Neue"/>
                <a:ea typeface="Helvetica Neue"/>
                <a:cs typeface="Helvetica Neue"/>
              </a:rPr>
              <a:t>max_tokens=600</a:t>
            </a:r>
          </a:p>
        </p:txBody>
      </p:sp>
      <p:sp>
        <p:nvSpPr>
          <p:cNvPr id="14" name="">
            <a:extLst xmlns:a="http://schemas.openxmlformats.org/drawingml/2006/main">
              <a:ext uri="{FF2B5EF4-FFF2-40B4-BE49-F238E27FC236}">
                <a16:creationId xmlns:a16="http://schemas.microsoft.com/office/drawing/2014/main" id="{760B13CE-4271-459F-A34D-BF1EA5F5119F}"/>
              </a:ext>
            </a:extLst>
          </p:cNvPr>
          <p:cNvSpPr>
            <a:spLocks xmlns:a="http://schemas.openxmlformats.org/drawingml/2006/main" noGrp="1"/>
          </p:cNvSpPr>
          <p:nvPr/>
        </p:nvSpPr>
        <p:spPr>
          <a:xfrm xmlns:a="http://schemas.openxmlformats.org/drawingml/2006/main">
            <a:off x="685800" y="485775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16324F"/>
                </a:solidFill>
                <a:latin typeface="Helvetica Neue"/>
                <a:ea typeface="Helvetica Neue"/>
                <a:cs typeface="Helvetica Neue"/>
              </a:defRPr>
            </a:pPr>
            <a:r>
              <a:rPr sz="1650" b="1" i="0">
                <a:solidFill>
                  <a:srgbClr val="16324F"/>
                </a:solidFill>
                <a:latin typeface="Helvetica Neue"/>
                <a:ea typeface="Helvetica Neue"/>
                <a:cs typeface="Helvetica Neue"/>
              </a:rPr>
              <a:t>Explain the reason behind the output</a:t>
            </a:r>
          </a:p>
        </p:txBody>
      </p:sp>
      <p:sp>
        <p:nvSpPr>
          <p:cNvPr id="15" name="">
            <a:extLst xmlns:a="http://schemas.openxmlformats.org/drawingml/2006/main">
              <a:ext uri="{FF2B5EF4-FFF2-40B4-BE49-F238E27FC236}">
                <a16:creationId xmlns:a16="http://schemas.microsoft.com/office/drawing/2014/main" id="{FA6B83F6-583E-4535-94B7-D0C39821BB47}"/>
              </a:ext>
            </a:extLst>
          </p:cNvPr>
          <p:cNvSpPr>
            <a:spLocks xmlns:a="http://schemas.openxmlformats.org/drawingml/2006/main" noGrp="1"/>
          </p:cNvSpPr>
          <p:nvPr/>
        </p:nvSpPr>
        <p:spPr>
          <a:xfrm xmlns:a="http://schemas.openxmlformats.org/drawingml/2006/main">
            <a:off x="685800" y="52863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AST proves syntax analysis and structured program representation.</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Diagnostics prove semantic rules and source located error reporting.</a:t>
            </a:r>
          </a:p>
          <a:p xmlns:a="http://schemas.openxmlformats.org/drawingml/2006/main">
            <a:pPr marL="228600" indent="-114300">
              <a:spcAft>
                <a:spcPts val="900"/>
              </a:spcAft>
              <a:buChar char="•"/>
              <a:defRPr sz="1350">
                <a:solidFill>
                  <a:srgbClr val="1F2937"/>
                </a:solidFill>
                <a:latin typeface="Helvetica Neue"/>
                <a:ea typeface="Helvetica Neue"/>
                <a:cs typeface="Helvetica Neue"/>
              </a:defRPr>
            </a:pPr>
            <a:r>
              <a:rPr sz="1350">
                <a:solidFill>
                  <a:srgbClr val="1F2937"/>
                </a:solidFill>
                <a:latin typeface="Helvetica Neue"/>
                <a:ea typeface="Helvetica Neue"/>
                <a:cs typeface="Helvetica Neue"/>
              </a:rPr>
              <a:t>IR proves dependency analysis and the Phase 2 bridge to final execution.</a:t>
            </a:r>
          </a:p>
        </p:txBody>
      </p:sp>
      <p:sp>
        <p:nvSpPr>
          <p:cNvPr id="16" name="">
            <a:extLst xmlns:a="http://schemas.openxmlformats.org/drawingml/2006/main">
              <a:ext uri="{FF2B5EF4-FFF2-40B4-BE49-F238E27FC236}">
                <a16:creationId xmlns:a16="http://schemas.microsoft.com/office/drawing/2014/main" id="{C67B7534-E783-4D82-8494-A3EA81C8BF47}"/>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1996413820"/>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0E9EA7-1BF1-463F-8728-4B1AD54D390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2" name="title-12">
            <a:extLst xmlns:a="http://schemas.openxmlformats.org/drawingml/2006/main">
              <a:ext uri="{FF2B5EF4-FFF2-40B4-BE49-F238E27FC236}">
                <a16:creationId xmlns:a16="http://schemas.microsoft.com/office/drawing/2014/main" id="{49828161-96E4-438B-B786-A9961BD6785B}"/>
              </a:ext>
            </a:extLst>
          </p:cNvPr>
          <p:cNvSpPr>
            <a:spLocks xmlns:a="http://schemas.openxmlformats.org/drawingml/2006/main" noGrp="1"/>
          </p:cNvSpPr>
          <p:nvPr/>
        </p:nvSpPr>
        <p:spPr>
          <a:xfrm xmlns:a="http://schemas.openxmlformats.org/drawingml/2006/main">
            <a:off x="685800" y="400050"/>
            <a:ext cx="933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6324F"/>
                </a:solidFill>
                <a:latin typeface="Helvetica Neue"/>
                <a:ea typeface="Helvetica Neue"/>
                <a:cs typeface="Helvetica Neue"/>
              </a:defRPr>
            </a:pPr>
            <a:r>
              <a:rPr sz="2700" b="1" i="0">
                <a:solidFill>
                  <a:srgbClr val="16324F"/>
                </a:solidFill>
                <a:latin typeface="Helvetica Neue"/>
                <a:ea typeface="Helvetica Neue"/>
                <a:cs typeface="Helvetica Neue"/>
              </a:rPr>
              <a:t>Review 2 Status and Phase 3 Boundary</a:t>
            </a:r>
          </a:p>
        </p:txBody>
      </p:sp>
      <p:sp>
        <p:nvSpPr>
          <p:cNvPr id="3" name="">
            <a:extLst xmlns:a="http://schemas.openxmlformats.org/drawingml/2006/main">
              <a:ext uri="{FF2B5EF4-FFF2-40B4-BE49-F238E27FC236}">
                <a16:creationId xmlns:a16="http://schemas.microsoft.com/office/drawing/2014/main" id="{380793B6-AF36-4BEF-8229-9A883EB795A7}"/>
              </a:ext>
            </a:extLst>
          </p:cNvPr>
          <p:cNvSpPr>
            <a:spLocks xmlns:a="http://schemas.openxmlformats.org/drawingml/2006/main" noGrp="1"/>
          </p:cNvSpPr>
          <p:nvPr/>
        </p:nvSpPr>
        <p:spPr>
          <a:xfrm xmlns:a="http://schemas.openxmlformats.org/drawingml/2006/main">
            <a:off x="10820400" y="485775"/>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i="0">
                <a:solidFill>
                  <a:srgbClr val="52606D"/>
                </a:solidFill>
                <a:latin typeface="Helvetica Neue"/>
                <a:ea typeface="Helvetica Neue"/>
                <a:cs typeface="Helvetica Neue"/>
              </a:defRPr>
            </a:pPr>
            <a:r>
              <a:rPr sz="1125" b="1" i="0">
                <a:solidFill>
                  <a:srgbClr val="52606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B3C19AF3-E5D4-49B7-946A-9AE60988A97B}"/>
              </a:ext>
            </a:extLst>
          </p:cNvPr>
          <p:cNvSpPr>
            <a:spLocks xmlns:a="http://schemas.openxmlformats.org/drawingml/2006/main" noGrp="1"/>
          </p:cNvSpPr>
          <p:nvPr/>
        </p:nvSpPr>
        <p:spPr>
          <a:xfrm xmlns:a="http://schemas.openxmlformats.org/drawingml/2006/main">
            <a:off x="685800" y="13906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Completed Review 2 scope</a:t>
            </a:r>
          </a:p>
        </p:txBody>
      </p:sp>
      <p:sp>
        <p:nvSpPr>
          <p:cNvPr id="5" name="">
            <a:extLst xmlns:a="http://schemas.openxmlformats.org/drawingml/2006/main">
              <a:ext uri="{FF2B5EF4-FFF2-40B4-BE49-F238E27FC236}">
                <a16:creationId xmlns:a16="http://schemas.microsoft.com/office/drawing/2014/main" id="{3FCA628F-F7BB-4797-9E16-43D4A175653C}"/>
              </a:ext>
            </a:extLst>
          </p:cNvPr>
          <p:cNvSpPr>
            <a:spLocks xmlns:a="http://schemas.openxmlformats.org/drawingml/2006/main" noGrp="1"/>
          </p:cNvSpPr>
          <p:nvPr/>
        </p:nvSpPr>
        <p:spPr>
          <a:xfrm xmlns:a="http://schemas.openxmlformats.org/drawingml/2006/main">
            <a:off x="685800" y="1962150"/>
            <a:ext cx="4476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Hand written lexer and recursive descent parser</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Owned AST, scoped symbol table, and semantic analyzer</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Workflow IR, cycle detector, diagnostics, CLI views, examples, and tests</a:t>
            </a:r>
          </a:p>
        </p:txBody>
      </p:sp>
      <p:sp>
        <p:nvSpPr>
          <p:cNvPr id="6" name="">
            <a:extLst xmlns:a="http://schemas.openxmlformats.org/drawingml/2006/main">
              <a:ext uri="{FF2B5EF4-FFF2-40B4-BE49-F238E27FC236}">
                <a16:creationId xmlns:a16="http://schemas.microsoft.com/office/drawing/2014/main" id="{E9C0BD87-4B2B-4487-929F-2590E10D443B}"/>
              </a:ext>
            </a:extLst>
          </p:cNvPr>
          <p:cNvSpPr>
            <a:spLocks xmlns:a="http://schemas.openxmlformats.org/drawingml/2006/main" noGrp="1"/>
          </p:cNvSpPr>
          <p:nvPr/>
        </p:nvSpPr>
        <p:spPr>
          <a:xfrm xmlns:a="http://schemas.openxmlformats.org/drawingml/2006/main">
            <a:off x="6076950" y="1428750"/>
            <a:ext cx="28575" cy="3429000"/>
          </a:xfrm>
          <a:prstGeom xmlns:a="http://schemas.openxmlformats.org/drawingml/2006/main" prst="rect">
            <a:avLst/>
          </a:prstGeom>
          <a:solidFill xmlns:a="http://schemas.openxmlformats.org/drawingml/2006/main">
            <a:srgbClr val="94A3B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56BB15-35DD-4D5E-BED2-68D78408BE7A}"/>
              </a:ext>
            </a:extLst>
          </p:cNvPr>
          <p:cNvSpPr>
            <a:spLocks xmlns:a="http://schemas.openxmlformats.org/drawingml/2006/main" noGrp="1"/>
          </p:cNvSpPr>
          <p:nvPr/>
        </p:nvSpPr>
        <p:spPr>
          <a:xfrm xmlns:a="http://schemas.openxmlformats.org/drawingml/2006/main">
            <a:off x="6858000" y="13906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6324F"/>
                </a:solidFill>
                <a:latin typeface="Helvetica Neue"/>
                <a:ea typeface="Helvetica Neue"/>
                <a:cs typeface="Helvetica Neue"/>
              </a:defRPr>
            </a:pPr>
            <a:r>
              <a:rPr sz="1875" b="1" i="0">
                <a:solidFill>
                  <a:srgbClr val="16324F"/>
                </a:solidFill>
                <a:latin typeface="Helvetica Neue"/>
                <a:ea typeface="Helvetica Neue"/>
                <a:cs typeface="Helvetica Neue"/>
              </a:rPr>
              <a:t>Planned Phase 3 work</a:t>
            </a:r>
          </a:p>
        </p:txBody>
      </p:sp>
      <p:sp>
        <p:nvSpPr>
          <p:cNvPr id="8" name="">
            <a:extLst xmlns:a="http://schemas.openxmlformats.org/drawingml/2006/main">
              <a:ext uri="{FF2B5EF4-FFF2-40B4-BE49-F238E27FC236}">
                <a16:creationId xmlns:a16="http://schemas.microsoft.com/office/drawing/2014/main" id="{39E73715-56B0-43B1-8702-2E2C74617010}"/>
              </a:ext>
            </a:extLst>
          </p:cNvPr>
          <p:cNvSpPr>
            <a:spLocks xmlns:a="http://schemas.openxmlformats.org/drawingml/2006/main" noGrp="1"/>
          </p:cNvSpPr>
          <p:nvPr/>
        </p:nvSpPr>
        <p:spPr>
          <a:xfrm xmlns:a="http://schemas.openxmlformats.org/drawingml/2006/main">
            <a:off x="6667500" y="1962150"/>
            <a:ext cx="4381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IR optimization</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Offline Python code generation</a:t>
            </a:r>
          </a:p>
          <a:p xmlns:a="http://schemas.openxmlformats.org/drawingml/2006/main">
            <a:pPr marL="228600" indent="-114300">
              <a:spcAft>
                <a:spcPts val="900"/>
              </a:spcAft>
              <a:buChar char="•"/>
              <a:defRPr sz="1500">
                <a:solidFill>
                  <a:srgbClr val="1F2937"/>
                </a:solidFill>
                <a:latin typeface="Helvetica Neue"/>
                <a:ea typeface="Helvetica Neue"/>
                <a:cs typeface="Helvetica Neue"/>
              </a:defRPr>
            </a:pPr>
            <a:r>
              <a:rPr sz="1500">
                <a:solidFill>
                  <a:srgbClr val="1F2937"/>
                </a:solidFill>
                <a:latin typeface="Helvetica Neue"/>
                <a:ea typeface="Helvetica Neue"/>
                <a:cs typeface="Helvetica Neue"/>
              </a:rPr>
              <a:t>Deterministic mock execution runtime and end to end generated workflow tests</a:t>
            </a:r>
          </a:p>
        </p:txBody>
      </p:sp>
      <p:sp>
        <p:nvSpPr>
          <p:cNvPr id="9" name="">
            <a:extLst xmlns:a="http://schemas.openxmlformats.org/drawingml/2006/main">
              <a:ext uri="{FF2B5EF4-FFF2-40B4-BE49-F238E27FC236}">
                <a16:creationId xmlns:a16="http://schemas.microsoft.com/office/drawing/2014/main" id="{BAF3E1D8-0923-46DB-910D-C5815387EC59}"/>
              </a:ext>
            </a:extLst>
          </p:cNvPr>
          <p:cNvSpPr>
            <a:spLocks xmlns:a="http://schemas.openxmlformats.org/drawingml/2006/main" noGrp="1"/>
          </p:cNvSpPr>
          <p:nvPr/>
        </p:nvSpPr>
        <p:spPr>
          <a:xfrm xmlns:a="http://schemas.openxmlformats.org/drawingml/2006/main">
            <a:off x="685800" y="528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0F766E"/>
                </a:solidFill>
                <a:latin typeface="Helvetica Neue"/>
                <a:ea typeface="Helvetica Neue"/>
                <a:cs typeface="Helvetica Neue"/>
              </a:defRPr>
            </a:pPr>
            <a:r>
              <a:rPr sz="1725" b="1" i="0">
                <a:solidFill>
                  <a:srgbClr val="0F766E"/>
                </a:solidFill>
                <a:latin typeface="Helvetica Neue"/>
                <a:ea typeface="Helvetica Neue"/>
                <a:cs typeface="Helvetica Neue"/>
              </a:rPr>
              <a:t>Review 2 conclusion: the project demonstrates a working compiler front end backed by 45 automated assertions and a live, observable pipeline.</a:t>
            </a:r>
          </a:p>
        </p:txBody>
      </p:sp>
      <p:sp>
        <p:nvSpPr>
          <p:cNvPr id="10" name="">
            <a:extLst xmlns:a="http://schemas.openxmlformats.org/drawingml/2006/main">
              <a:ext uri="{FF2B5EF4-FFF2-40B4-BE49-F238E27FC236}">
                <a16:creationId xmlns:a16="http://schemas.microsoft.com/office/drawing/2014/main" id="{30686FC6-7186-42E7-BFB4-30FE84E8F05B}"/>
              </a:ext>
            </a:extLst>
          </p:cNvPr>
          <p:cNvSpPr>
            <a:spLocks xmlns:a="http://schemas.openxmlformats.org/drawingml/2006/main" noGrp="1"/>
          </p:cNvSpPr>
          <p:nvPr/>
        </p:nvSpPr>
        <p:spPr>
          <a:xfrm xmlns:a="http://schemas.openxmlformats.org/drawingml/2006/main">
            <a:off x="685800" y="6515100"/>
            <a:ext cx="800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i="0">
                <a:solidFill>
                  <a:srgbClr val="52606D"/>
                </a:solidFill>
                <a:latin typeface="Helvetica Neue"/>
                <a:ea typeface="Helvetica Neue"/>
                <a:cs typeface="Helvetica Neue"/>
              </a:defRPr>
            </a:pPr>
            <a:r>
              <a:rPr sz="750" b="0" i="0">
                <a:solidFill>
                  <a:srgbClr val="52606D"/>
                </a:solidFill>
                <a:latin typeface="Helvetica Neue"/>
                <a:ea typeface="Helvetica Neue"/>
                <a:cs typeface="Helvetica Neue"/>
              </a:rPr>
              <a:t>OrchLang  |  Compiler Design Laboratory  |  Nambi Rajan M</a:t>
            </a:r>
          </a:p>
        </p:txBody>
      </p:sp>
    </p:spTree>
    <p:extLst>
      <p:ext uri="{BB962C8B-B14F-4D97-AF65-F5344CB8AC3E}">
        <p14:creationId xmlns:p14="http://schemas.microsoft.com/office/powerpoint/2010/main" val="564706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2026-09-16T20:45:20.3870000Z</dcterms:created>
  <dcterms:modified xsi:type="dcterms:W3CDTF">2026-09-16T20:45:20.3870000Z</dcterms:modified>
</coreProperties>
</file>